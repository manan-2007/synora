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is the HTML5 + CSS3 case study for Synora — how the semester's markup and styling concepts were used to build a real, responsive product. It deliberately excludes JavaScript, which is covered in the main project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HTML5 defines what the content IS; CSS3 defines how it LOOKS and behaves visually. The screenshot is the real running app. Viva Q: What is the difference between HTML and CSS? A: HTML is structure and meaning; CSS is presentation and layout.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Synora page opens with the same HTML5 skeleton. Highlight the viewport meta — it is the single line that makes the whole responsive strategy possible. Viva Q: What does the viewport meta tag do? A: It maps the CSS pixel width to the device width so mobile layouts and media queries behave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Synora uses real landmark elements — header, nav, main, section, article, footer — not generic divs. Viva Q: Why use semantic HTML instead of divs? A: Semantic elements describe the role of the content, which improves accessibility, SEO and maintainability, and makes the structure self-documenting.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Forms use HTML5 features: typed inputs (email/tel), required, placeholder, autocomplete, and novalidate (validation is themed in JS). Accessibility begins with meaningful HTML. Be honest: no formal WCAG audit. Viva Q: How is the form accessible? A: Each input has a &lt;label for&gt; bound to its id, controls are real buttons, inputs are correctly typed, and decorative graphics are hidden from assistive tech.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colour, spacing step and radius is a CSS variable in tokens.css. Components reference them with var(). This is the cascade + custom properties in action. Viva Q: Why use CSS variables? A: They centralise design decisions, keep the UI consistent, and make theming (light/dark) a one-line change instead of editing every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Synora sets box-sizing: border-box globally, then every card, field and button is built from padding, border, radius and margin. Viva Q: Difference between margin and padding? A: Padding is space inside the element between its content and border; margin is space outside the border, between elements. Viva Q: What does border-box do? A: It includes padding and border inside the declared width/height, making sizing predictable.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Flexbox handles Synora's one-dimensional rows: the sticky top bar and every card header (justify-content: space-between pushes the title and its control apart, flex-wrap lets them stack when narrow). Viva Q: When do you reach for Flexbox? A: For a single row or column of items that need alignment and spacing — navbars, headers, button groups.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Grid builds Synora's two-dimensional layouts. The dashboard columns start stacked and become a 1.6fr/1fr split at 1000px; the stat cards use repeat(auto-fit, minmax(150px,1fr)) to reflow automatically. Viva Q: Why Grid over Flexbox for the dashboard? A: The dashboard is a genuine two-dimensional arrangement of cards across rows and columns, which Grid expresses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classic viva question. Flexbox is one-dimensional (align a line of items); Grid is two-dimensional (define rows and columns). Synora uses Flexbox for the top bar and card headers, and Grid for the dashboard and stat cards. Viva Q: Why Flexbox here but Grid there? A: The navbar is a single row needing alignment (Flexbox); the dashboard is a 2-D arrangement of cards (Grid).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mandatory responsive slide: the same landing page at 1440 / 768 / 390 px, identical content. Point out the concrete changes — the full navbar collapses into a CSS-only hamburger menu (a checkbox + label, no JavaScript), the two-column hero stacks into one, and the multi-column sections reflow to a single column. This is the syllabus' static responsive landing page, built with fluid units, Flexbox, Grid and media queries.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 queries are where the adaptation happens. Synora's real breakpoints: landing at 1024/940/860/720/400, the app sidebar→drawer at 900, the timetable stacks at 560, and the dashboard adds a column at min-width 1000. Do not invent values — these are the actual ones. Viva Q: What is a media query? A: A CSS rule that applies styles only when the viewport meets a condition, such as max-width: 900px.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viva point. Synora's CSS is predominantly desktop-first: base styles are the desktop layout and max-width queries adapt down (graceful degradation). Some components are mobile-first (.dash-cols starts stacked and expands at min-width: 1000px) or intrinsically responsive (.stat-grid auto-fit). Do not claim pure mobile-first. Viva Q: Is your project mobile-first? A: Predominantly desktop-first with max-width breakpoints, plus a few mobile-first/intrinsically-responsive components — I'd describe it as breakpoint-based responsive adaptation.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landing page is the syllabus mini-project made real: a static, responsive marketing page demonstrating semantic HTML, CSS typography and box model, Flexbox, Grid and media queries — all in one artefact. Its navbar is actually a 3-track grid that keeps the links viewport-centred, and the feature sections are grid layouts that reflow at the landing breakpoints.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HTML5 gave structure and meaning, CSS3 gave a token-driven design system, Flexbox and Grid handled layout, and media queries made it responsive. Synora turns the HTML5 + CSS3 syllabus into a real, polished product. Close on the tagline.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2.png"/><Relationship Id="rId5" Type="http://schemas.openxmlformats.org/officeDocument/2006/relationships/image" Target="../media/image-2-5.png"/><Relationship Id="rId6" Type="http://schemas.openxmlformats.org/officeDocument/2006/relationships/image" Target="../media/image-2-2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943600" cy="5943600"/>
          </a:xfrm>
          <a:prstGeom prst="oval">
            <a:avLst/>
          </a:prstGeom>
          <a:solidFill>
            <a:srgbClr val="53655C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3840480"/>
            <a:ext cx="5669280" cy="5669280"/>
          </a:xfrm>
          <a:prstGeom prst="oval">
            <a:avLst/>
          </a:prstGeom>
          <a:solidFill>
            <a:srgbClr val="B09F95">
              <a:alpha val="12000"/>
            </a:srgbClr>
          </a:solidFill>
          <a:ln/>
        </p:spPr>
      </p:sp>
      <p:pic>
        <p:nvPicPr>
          <p:cNvPr id="4" name="Image 0" descr="/Users/manan/Coding Data/College/Sem_3_FEE_II/Synora/presentation/assets/logo-locku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417320"/>
            <a:ext cx="3867912" cy="9966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6974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 +  CSS3  Implementation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371600" y="3310128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responsive student productivity workspace with modern web fundamentals.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09160" y="4114800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2C3037"/>
          </a:solidFill>
          <a:ln w="12700">
            <a:solidFill>
              <a:srgbClr val="3A414A"/>
            </a:solidFill>
            <a:prstDash val="solid"/>
          </a:ln>
        </p:spPr>
      </p:sp>
      <p:pic>
        <p:nvPicPr>
          <p:cNvPr id="8" name="Image 1" descr="/Users/manan/Coding Data/College/Sem_3_FEE_II/Synora/presentation/assets/icons/layout-tau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4242816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66360" y="4114800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17920" y="4114800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2C3037"/>
          </a:solidFill>
          <a:ln w="12700">
            <a:solidFill>
              <a:srgbClr val="3A414A"/>
            </a:solidFill>
            <a:prstDash val="solid"/>
          </a:ln>
        </p:spPr>
      </p:sp>
      <p:pic>
        <p:nvPicPr>
          <p:cNvPr id="11" name="Image 2" descr="/Users/manan/Coding Data/College/Sem_3_FEE_II/Synora/presentation/assets/icons/code-tau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424281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75120" y="4114800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480560" y="5029200"/>
            <a:ext cx="3227832" cy="0"/>
          </a:xfrm>
          <a:prstGeom prst="line">
            <a:avLst/>
          </a:prstGeom>
          <a:noFill/>
          <a:ln w="12700">
            <a:solidFill>
              <a:srgbClr val="3A404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48640" y="60533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· Semester 3 · Syllabus: HTML5 &amp; CSS3 (Lectures 1–6)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153912" y="60533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Manan Kochhar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OVERVIEW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markup to interface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37944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6" name="Image 0" descr="/Users/manan/Coding Data/College/Sem_3_FEE_II/Synora/presentation/assets/icons/layout-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738" y="1956450"/>
            <a:ext cx="256764" cy="2567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180136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53312" y="211226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— what the content is</a:t>
            </a:r>
            <a:endParaRPr lang="en-US" sz="1100" dirty="0"/>
          </a:p>
        </p:txBody>
      </p:sp>
      <p:pic>
        <p:nvPicPr>
          <p:cNvPr id="9" name="Image 1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2496312"/>
            <a:ext cx="201168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2651760"/>
            <a:ext cx="52578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13232" y="2798064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F4EDE8"/>
          </a:solidFill>
          <a:ln/>
        </p:spPr>
      </p:sp>
      <p:pic>
        <p:nvPicPr>
          <p:cNvPr id="12" name="Image 2" descr="/Users/manan/Coding Data/College/Sem_3_FEE_II/Synora/presentation/assets/icons/code-tau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38" y="2916570"/>
            <a:ext cx="256764" cy="2567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53312" y="276148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353312" y="307238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— how it looks</a:t>
            </a:r>
            <a:endParaRPr lang="en-US" sz="1100" dirty="0"/>
          </a:p>
        </p:txBody>
      </p:sp>
      <p:pic>
        <p:nvPicPr>
          <p:cNvPr id="15" name="Image 3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3456432"/>
            <a:ext cx="201168" cy="20116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48640" y="3611880"/>
            <a:ext cx="52578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13232" y="3758184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18" name="Image 4" descr="/Users/manan/Coding Data/College/Sem_3_FEE_II/Synora/presentation/assets/icons/smartphone-s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738" y="3876690"/>
            <a:ext cx="256764" cy="25676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53312" y="372160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1353312" y="403250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every screen</a:t>
            </a:r>
            <a:endParaRPr lang="en-US" sz="1100" dirty="0"/>
          </a:p>
        </p:txBody>
      </p:sp>
      <p:pic>
        <p:nvPicPr>
          <p:cNvPr id="21" name="Image 5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0" y="4416552"/>
            <a:ext cx="201168" cy="20116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48640" y="4572000"/>
            <a:ext cx="52578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713232" y="4718304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F4EDE8"/>
          </a:solidFill>
          <a:ln/>
        </p:spPr>
      </p:sp>
      <p:pic>
        <p:nvPicPr>
          <p:cNvPr id="24" name="Image 6" descr="/Users/manan/Coding Data/College/Sem_3_FEE_II/Synora/presentation/assets/icons/grid-taup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738" y="4836810"/>
            <a:ext cx="256764" cy="25676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353312" y="468172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 UI</a:t>
            </a:r>
            <a:endParaRPr lang="en-US" sz="1500" dirty="0"/>
          </a:p>
        </p:txBody>
      </p:sp>
      <p:sp>
        <p:nvSpPr>
          <p:cNvPr id="26" name="Text 17"/>
          <p:cNvSpPr/>
          <p:nvPr/>
        </p:nvSpPr>
        <p:spPr>
          <a:xfrm>
            <a:off x="1353312" y="499262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finished interface</a:t>
            </a:r>
            <a:endParaRPr lang="en-US" sz="1100" dirty="0"/>
          </a:p>
        </p:txBody>
      </p:sp>
      <p:pic>
        <p:nvPicPr>
          <p:cNvPr id="27" name="Image 7" descr="/Users/manan/Coding Data/College/Sem_3_FEE_II/Synora/presentation/screenshots/framed/hero_dashboar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1783080"/>
            <a:ext cx="5532120" cy="345643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126480" y="5303520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gives the page meaning; CSS gives it the calm, consistent look of the Synora dashboard.</a:t>
            </a:r>
            <a:endParaRPr lang="en-US" sz="1050" dirty="0"/>
          </a:p>
        </p:txBody>
      </p:sp>
      <p:sp>
        <p:nvSpPr>
          <p:cNvPr id="29" name="Shape 19"/>
          <p:cNvSpPr/>
          <p:nvPr/>
        </p:nvSpPr>
        <p:spPr>
          <a:xfrm>
            <a:off x="6126480" y="5715000"/>
            <a:ext cx="5532120" cy="658368"/>
          </a:xfrm>
          <a:prstGeom prst="roundRect">
            <a:avLst>
              <a:gd name="adj" fmla="val 16667"/>
            </a:avLst>
          </a:prstGeom>
          <a:solidFill>
            <a:srgbClr val="22252B"/>
          </a:solidFill>
          <a:ln w="12700">
            <a:solidFill>
              <a:srgbClr val="22252B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6355080" y="571500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9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 </a:t>
            </a:r>
            <a:pPr indent="0" marL="0">
              <a:buNone/>
            </a:pPr>
            <a:r>
              <a:rPr lang="en-US" sz="120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form the entire foundation of Synora’s interface.</a:t>
            </a:r>
            <a:endParaRPr lang="en-US" sz="1200" dirty="0"/>
          </a:p>
        </p:txBody>
      </p:sp>
      <p:sp>
        <p:nvSpPr>
          <p:cNvPr id="31" name="Text 21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 · HTML + CSS</a:t>
            </a:r>
            <a:endParaRPr lang="en-US" sz="850" dirty="0"/>
          </a:p>
        </p:txBody>
      </p:sp>
      <p:sp>
        <p:nvSpPr>
          <p:cNvPr id="32" name="Text 22"/>
          <p:cNvSpPr/>
          <p:nvPr/>
        </p:nvSpPr>
        <p:spPr>
          <a:xfrm>
            <a:off x="10881360" y="65105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HTML5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 foundation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263640" cy="4343400"/>
          </a:xfrm>
          <a:prstGeom prst="roundRect">
            <a:avLst>
              <a:gd name="adj" fmla="val 1895"/>
            </a:avLst>
          </a:prstGeom>
          <a:solidFill>
            <a:srgbClr val="1A1D22"/>
          </a:solidFill>
          <a:ln w="12700">
            <a:solidFill>
              <a:srgbClr val="3137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691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6C63"/>
                </a:solidFill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E1B45A"/>
                </a:solidFill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6E9070"/>
                </a:solidFill>
              </a:rPr>
              <a:t>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984248"/>
            <a:ext cx="6263640" cy="0"/>
          </a:xfrm>
          <a:prstGeom prst="line">
            <a:avLst/>
          </a:prstGeom>
          <a:noFill/>
          <a:ln w="12700">
            <a:solidFill>
              <a:srgbClr val="2A2F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12264"/>
            <a:ext cx="29260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" y="2112264"/>
            <a:ext cx="5495544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DOCTYPE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"en"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charset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"viewport"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"width=device-width, initial-scale=1"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A6BD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Synora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calm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"color-scheme"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"light dark"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"stylesheet"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"styles/tokens.css"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"stylesheet"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"styles/app.css"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"app"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data-page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"dashboard"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86600" y="1627632"/>
            <a:ext cx="4553712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69480" y="1700784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269480" y="1938528"/>
            <a:ext cx="4187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HTML5 — standards mode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86600" y="2286000"/>
            <a:ext cx="4553712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2359152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lang="en"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269480" y="2596896"/>
            <a:ext cx="4187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language for screen readers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86600" y="2944368"/>
            <a:ext cx="4553712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3017520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 charset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269480" y="3255264"/>
            <a:ext cx="4187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UTF-8 text encoding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86600" y="3602736"/>
            <a:ext cx="4553712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3675888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 viewport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269480" y="3913632"/>
            <a:ext cx="4187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to responsive design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86600" y="4261104"/>
            <a:ext cx="4553712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9480" y="4334256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 stylesheet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269480" y="4572000"/>
            <a:ext cx="4187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CSS, loaded in order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086600" y="4992624"/>
            <a:ext cx="4553712" cy="960120"/>
          </a:xfrm>
          <a:prstGeom prst="roundRect">
            <a:avLst>
              <a:gd name="adj" fmla="val 11429"/>
            </a:avLst>
          </a:prstGeom>
          <a:solidFill>
            <a:srgbClr val="E7EDE9"/>
          </a:solidFill>
          <a:ln w="12700">
            <a:solidFill>
              <a:srgbClr val="D5E0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87768" y="4992624"/>
            <a:ext cx="41513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&lt;meta viewport&gt; tag tells mobile browsers to use the device width — without it, media queries and mobile layouts don’t work.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 · HTML + CSS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881360" y="65105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HTML5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989320" cy="3200400"/>
          </a:xfrm>
          <a:prstGeom prst="roundRect">
            <a:avLst>
              <a:gd name="adj" fmla="val 2571"/>
            </a:avLst>
          </a:prstGeom>
          <a:solidFill>
            <a:srgbClr val="1A1D22"/>
          </a:solidFill>
          <a:ln w="12700">
            <a:solidFill>
              <a:srgbClr val="3137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691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6C63"/>
                </a:solidFill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E1B45A"/>
                </a:solidFill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6E9070"/>
                </a:solidFill>
              </a:rPr>
              <a:t>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 — landing structure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984248"/>
            <a:ext cx="5989320" cy="0"/>
          </a:xfrm>
          <a:prstGeom prst="line">
            <a:avLst/>
          </a:prstGeom>
          <a:noFill/>
          <a:ln w="12700">
            <a:solidFill>
              <a:srgbClr val="2A2F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12264"/>
            <a:ext cx="2926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1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78992" y="2112264"/>
            <a:ext cx="52212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"site-header"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aria-label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"Primary"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"main"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"hero"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"features"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"site-footer"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aria-label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"Footer"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956048"/>
            <a:ext cx="5989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used: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&lt;article&gt; wraps each attendance subject card — a self-contained unit of content.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0" y="1600200"/>
            <a:ext cx="478231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32320" y="1755648"/>
            <a:ext cx="4233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TAGS SYNORA USES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0" y="2148840"/>
            <a:ext cx="1283208" cy="603504"/>
          </a:xfrm>
          <a:prstGeom prst="roundRect">
            <a:avLst>
              <a:gd name="adj" fmla="val 12121"/>
            </a:avLst>
          </a:prstGeom>
          <a:solidFill>
            <a:srgbClr val="F3F1EE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2148840"/>
            <a:ext cx="12832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43544" y="2148840"/>
            <a:ext cx="1283208" cy="603504"/>
          </a:xfrm>
          <a:prstGeom prst="roundRect">
            <a:avLst>
              <a:gd name="adj" fmla="val 12121"/>
            </a:avLst>
          </a:prstGeom>
          <a:solidFill>
            <a:srgbClr val="F3F1EE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3544" y="2148840"/>
            <a:ext cx="12832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954768" y="2148840"/>
            <a:ext cx="1283208" cy="603504"/>
          </a:xfrm>
          <a:prstGeom prst="roundRect">
            <a:avLst>
              <a:gd name="adj" fmla="val 12121"/>
            </a:avLst>
          </a:prstGeom>
          <a:solidFill>
            <a:srgbClr val="F3F1EE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54768" y="2148840"/>
            <a:ext cx="12832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32320" y="2898648"/>
            <a:ext cx="1283208" cy="603504"/>
          </a:xfrm>
          <a:prstGeom prst="roundRect">
            <a:avLst>
              <a:gd name="adj" fmla="val 12121"/>
            </a:avLst>
          </a:prstGeom>
          <a:solidFill>
            <a:srgbClr val="F3F1EE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2898648"/>
            <a:ext cx="12832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43544" y="2898648"/>
            <a:ext cx="1283208" cy="603504"/>
          </a:xfrm>
          <a:prstGeom prst="roundRect">
            <a:avLst>
              <a:gd name="adj" fmla="val 12121"/>
            </a:avLst>
          </a:prstGeom>
          <a:solidFill>
            <a:srgbClr val="F3F1EE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43544" y="2898648"/>
            <a:ext cx="12832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954768" y="2898648"/>
            <a:ext cx="1283208" cy="603504"/>
          </a:xfrm>
          <a:prstGeom prst="roundRect">
            <a:avLst>
              <a:gd name="adj" fmla="val 12121"/>
            </a:avLst>
          </a:prstGeom>
          <a:solidFill>
            <a:srgbClr val="F3F1EE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54768" y="2898648"/>
            <a:ext cx="12832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0" y="4041648"/>
            <a:ext cx="4782312" cy="1417320"/>
          </a:xfrm>
          <a:prstGeom prst="roundRect">
            <a:avLst>
              <a:gd name="adj" fmla="val 7742"/>
            </a:avLst>
          </a:prstGeom>
          <a:solidFill>
            <a:srgbClr val="E7EDE9"/>
          </a:solidFill>
          <a:ln w="12700">
            <a:solidFill>
              <a:srgbClr val="D5E0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59168" y="4041648"/>
            <a:ext cx="437997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tags give the document a meaningful hierarchy — better accessibility, easier maintenance, and clear DOM targeting — instead of a wall of &lt;div&gt;s.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 · HTML + CSS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881360" y="65105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HTML5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 forms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989320" cy="2880360"/>
          </a:xfrm>
          <a:prstGeom prst="roundRect">
            <a:avLst>
              <a:gd name="adj" fmla="val 2857"/>
            </a:avLst>
          </a:prstGeom>
          <a:solidFill>
            <a:srgbClr val="1A1D22"/>
          </a:solidFill>
          <a:ln w="12700">
            <a:solidFill>
              <a:srgbClr val="3137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691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6C63"/>
                </a:solidFill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E1B45A"/>
                </a:solidFill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6E9070"/>
                </a:solidFill>
              </a:rPr>
              <a:t>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 — Get in Touch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984248"/>
            <a:ext cx="5989320" cy="0"/>
          </a:xfrm>
          <a:prstGeom prst="line">
            <a:avLst/>
          </a:prstGeom>
          <a:noFill/>
          <a:ln w="12700">
            <a:solidFill>
              <a:srgbClr val="2A2F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12264"/>
            <a:ext cx="29260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" y="2112264"/>
            <a:ext cx="52212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"contact-form"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novalidate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"field"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"contact-email"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"email"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"contact-email"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"email"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autocomplete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"email"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placeholder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"you@example.com"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"submit"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1600200"/>
            <a:ext cx="4782312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0" y="1755648"/>
            <a:ext cx="4233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PRACTICES IN SYNORA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0" y="2139696"/>
            <a:ext cx="427939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&lt;label for&gt; tied to every input id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&lt;button&gt;s, never clickable &lt;div&gt;s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inputs — email, tel — aid entry &amp; keyboards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Decorative SVGs marked aria-hidden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aria-label on icon-only controls; aria-live toasts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keyboard focus rings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Form</a:t>
            </a:r>
            <a:pPr indent="0" marL="0">
              <a:buNone/>
            </a:pPr>
            <a:r>
              <a:rPr lang="en-US" sz="11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User input  →  Validation attributes (required, type)  →  handed to JavaScript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138928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F4EDE8"/>
          </a:solidFill>
          <a:ln w="12700">
            <a:solidFill>
              <a:srgbClr val="E4D6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138928"/>
            <a:ext cx="10607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 follows solid accessibility fundamentals (semantics, labels, focus, contrast) — it has not been formally WCAG-audited, so it is described as accessible-by-construction, not certified.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 · HTML + CSS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881360" y="65105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CSS3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design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263640" cy="3977640"/>
          </a:xfrm>
          <a:prstGeom prst="roundRect">
            <a:avLst>
              <a:gd name="adj" fmla="val 2069"/>
            </a:avLst>
          </a:prstGeom>
          <a:solidFill>
            <a:srgbClr val="1A1D22"/>
          </a:solidFill>
          <a:ln w="12700">
            <a:solidFill>
              <a:srgbClr val="3137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691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6C63"/>
                </a:solidFill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E1B45A"/>
                </a:solidFill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6E9070"/>
                </a:solidFill>
              </a:rPr>
              <a:t>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tokens.css + components.css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984248"/>
            <a:ext cx="6263640" cy="0"/>
          </a:xfrm>
          <a:prstGeom prst="line">
            <a:avLst/>
          </a:prstGeom>
          <a:noFill/>
          <a:ln w="12700">
            <a:solidFill>
              <a:srgbClr val="2A2F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12264"/>
            <a:ext cx="29260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" y="2112264"/>
            <a:ext cx="549554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color-brand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#53655C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algn="l" indent="0" marL="0">
              <a:lnSpc>
                <a:spcPct val="142000"/>
              </a:lnSpc>
              <a:buNone/>
            </a:pPr>
            <a:r>
              <a:rPr lang="en-US" sz="1100" i="1" dirty="0">
                <a:solidFill>
                  <a:srgbClr val="728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sage  */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color-accent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#B09F95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algn="l" indent="0" marL="0">
              <a:lnSpc>
                <a:spcPct val="142000"/>
              </a:lnSpc>
              <a:buNone/>
            </a:pPr>
            <a:r>
              <a:rPr lang="en-US" sz="1100" i="1" dirty="0">
                <a:solidFill>
                  <a:srgbClr val="728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taupe */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color-bg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#FAF9F7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color-text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#22252B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space-24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radius-lg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btn--primary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color-brand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space-24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border-radius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radius-lg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86600" y="1600200"/>
            <a:ext cx="455371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60920" y="1755648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LANGUAGE, EVERY SCREEN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79208" y="212140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22252B"/>
          </a:solidFill>
          <a:ln w="12700">
            <a:solidFill>
              <a:srgbClr val="CFD5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24344" y="2798064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287768" y="2999232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3AE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#22252B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8202168" y="212140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53655C"/>
          </a:solidFill>
          <a:ln w="12700">
            <a:solidFill>
              <a:srgbClr val="CFD5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47304" y="2798064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110728" y="2999232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3AE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#53655C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9025128" y="212140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A3AEB1"/>
          </a:solidFill>
          <a:ln w="12700">
            <a:solidFill>
              <a:srgbClr val="CFD5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0264" y="2798064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933688" y="2999232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3AE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#A3AEB1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9848088" y="212140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5E8EB"/>
          </a:solidFill>
          <a:ln w="12700">
            <a:solidFill>
              <a:srgbClr val="CFD5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93224" y="2798064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756648" y="2999232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3AE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#E5E8EB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0671048" y="212140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B09F95"/>
          </a:solidFill>
          <a:ln w="12700">
            <a:solidFill>
              <a:srgbClr val="CFD5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16184" y="2798064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Taupe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579608" y="2999232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3AE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#B09F95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086600" y="3657600"/>
            <a:ext cx="4553712" cy="1920240"/>
          </a:xfrm>
          <a:prstGeom prst="roundRect">
            <a:avLst>
              <a:gd name="adj" fmla="val 5714"/>
            </a:avLst>
          </a:prstGeom>
          <a:solidFill>
            <a:srgbClr val="E7EDE9"/>
          </a:solidFill>
          <a:ln w="12700">
            <a:solidFill>
              <a:srgbClr val="D5E0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87768" y="3657600"/>
            <a:ext cx="415137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properties centralise every colour, space and radius as one reusable token set — so buttons, cards, forms and the dashboard all share one visual language, and dark mode is a single re-declaration.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 · HTML + CSS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881360" y="65105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CSS3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0" cy="3200400"/>
          </a:xfrm>
          <a:prstGeom prst="rect">
            <a:avLst/>
          </a:prstGeom>
          <a:solidFill>
            <a:srgbClr val="F0ECE7"/>
          </a:solidFill>
          <a:ln w="15240">
            <a:solidFill>
              <a:srgbClr val="B09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4650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88720" y="2148840"/>
            <a:ext cx="3291840" cy="2286000"/>
          </a:xfrm>
          <a:prstGeom prst="rect">
            <a:avLst/>
          </a:prstGeom>
          <a:solidFill>
            <a:srgbClr val="E7EDE9"/>
          </a:solidFill>
          <a:ln w="15240">
            <a:solidFill>
              <a:srgbClr val="5365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20370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35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2606040"/>
            <a:ext cx="201168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5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266090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3017520"/>
            <a:ext cx="822960" cy="548640"/>
          </a:xfrm>
          <a:prstGeom prst="rect">
            <a:avLst/>
          </a:prstGeom>
          <a:solidFill>
            <a:srgbClr val="22252B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30175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0" y="1691640"/>
            <a:ext cx="6172200" cy="2788920"/>
          </a:xfrm>
          <a:prstGeom prst="roundRect">
            <a:avLst>
              <a:gd name="adj" fmla="val 2951"/>
            </a:avLst>
          </a:prstGeom>
          <a:solidFill>
            <a:srgbClr val="1A1D22"/>
          </a:solidFill>
          <a:ln w="12700">
            <a:solidFill>
              <a:srgbClr val="3137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32704" y="17830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6C63"/>
                </a:solidFill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E1B45A"/>
                </a:solidFill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6E9070"/>
                </a:solidFill>
              </a:rPr>
              <a:t>●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263640" y="1783080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base.css + app.css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0" y="2075688"/>
            <a:ext cx="6172200" cy="0"/>
          </a:xfrm>
          <a:prstGeom prst="line">
            <a:avLst/>
          </a:prstGeom>
          <a:noFill/>
          <a:ln w="12700">
            <a:solidFill>
              <a:srgbClr val="2A2F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50992" y="2203704"/>
            <a:ext cx="29260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16752" y="2203704"/>
            <a:ext cx="540410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box-sizing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border-box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algn="l" indent="0" marL="0">
              <a:lnSpc>
                <a:spcPct val="142000"/>
              </a:lnSpc>
              <a:buNone/>
            </a:pPr>
            <a:r>
              <a:rPr lang="en-US" sz="1100" i="1" dirty="0">
                <a:solidFill>
                  <a:srgbClr val="728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base.css */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att-card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space-16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solid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color-border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border-radius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radius-lg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space-12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4663440"/>
            <a:ext cx="6172200" cy="1097280"/>
          </a:xfrm>
          <a:prstGeom prst="roundRect">
            <a:avLst>
              <a:gd name="adj" fmla="val 10000"/>
            </a:avLst>
          </a:prstGeom>
          <a:solidFill>
            <a:srgbClr val="E7EDE9"/>
          </a:solidFill>
          <a:ln w="12700">
            <a:solidFill>
              <a:srgbClr val="D5E0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87568" y="4663440"/>
            <a:ext cx="57698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box-sizing: border-box makes width include padding and border — so a card is exactly the size you set, and layouts never break from added padding. Margin is space outside the element; padding is space inside, around the content.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 · HTML + CSS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881360" y="65105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CSS3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— one-dimensional layout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989320" cy="3200400"/>
          </a:xfrm>
          <a:prstGeom prst="roundRect">
            <a:avLst>
              <a:gd name="adj" fmla="val 2571"/>
            </a:avLst>
          </a:prstGeom>
          <a:solidFill>
            <a:srgbClr val="1A1D22"/>
          </a:solidFill>
          <a:ln w="12700">
            <a:solidFill>
              <a:srgbClr val="3137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691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6C63"/>
                </a:solidFill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E1B45A"/>
                </a:solidFill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6E9070"/>
                </a:solidFill>
              </a:rPr>
              <a:t>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app.css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984248"/>
            <a:ext cx="5989320" cy="0"/>
          </a:xfrm>
          <a:prstGeom prst="line">
            <a:avLst/>
          </a:prstGeom>
          <a:noFill/>
          <a:ln w="12700">
            <a:solidFill>
              <a:srgbClr val="2A2F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12264"/>
            <a:ext cx="2926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" y="2112264"/>
            <a:ext cx="52212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topbar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align-items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space-16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card__header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align-items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justify-content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space-between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flex-wrap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wrap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1600200"/>
            <a:ext cx="478231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0" y="1755648"/>
            <a:ext cx="4233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AXIS  →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0" y="2148840"/>
            <a:ext cx="1319784" cy="603504"/>
          </a:xfrm>
          <a:prstGeom prst="roundRect">
            <a:avLst>
              <a:gd name="adj" fmla="val 15152"/>
            </a:avLst>
          </a:prstGeom>
          <a:solidFill>
            <a:srgbClr val="F3F1EE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2148840"/>
            <a:ext cx="13197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89264" y="2148840"/>
            <a:ext cx="1319784" cy="603504"/>
          </a:xfrm>
          <a:prstGeom prst="roundRect">
            <a:avLst>
              <a:gd name="adj" fmla="val 15152"/>
            </a:avLst>
          </a:prstGeom>
          <a:solidFill>
            <a:srgbClr val="E7EDE9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89264" y="2148840"/>
            <a:ext cx="13197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46208" y="2148840"/>
            <a:ext cx="1319784" cy="603504"/>
          </a:xfrm>
          <a:prstGeom prst="roundRect">
            <a:avLst>
              <a:gd name="adj" fmla="val 15152"/>
            </a:avLst>
          </a:prstGeom>
          <a:solidFill>
            <a:srgbClr val="F3F1EE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46208" y="2148840"/>
            <a:ext cx="13197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0" y="2852928"/>
            <a:ext cx="4233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 spreads · align-items centres · gap spaces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0" y="3474720"/>
            <a:ext cx="4782312" cy="914400"/>
          </a:xfrm>
          <a:prstGeom prst="roundRect">
            <a:avLst>
              <a:gd name="adj" fmla="val 10000"/>
            </a:avLst>
          </a:prstGeom>
          <a:solidFill>
            <a:srgbClr val="F3F1EE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3474720"/>
            <a:ext cx="4325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bar, card headers, button groups, steppers — anything laid out along a single row or column.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11091672" cy="786384"/>
          </a:xfrm>
          <a:prstGeom prst="roundRect">
            <a:avLst>
              <a:gd name="adj" fmla="val 13953"/>
            </a:avLst>
          </a:prstGeom>
          <a:solidFill>
            <a:srgbClr val="E7EDE9"/>
          </a:solidFill>
          <a:ln w="12700">
            <a:solidFill>
              <a:srgbClr val="D5E0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029200"/>
            <a:ext cx="1068933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aligns and distributes items along one axis with almost no math — ideal for toolbars and headers where content sizes vary.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 · HTML + CSS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881360" y="65105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CSS3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— two-dimensional layout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989320" cy="4069080"/>
          </a:xfrm>
          <a:prstGeom prst="roundRect">
            <a:avLst>
              <a:gd name="adj" fmla="val 2022"/>
            </a:avLst>
          </a:prstGeom>
          <a:solidFill>
            <a:srgbClr val="1A1D22"/>
          </a:solidFill>
          <a:ln w="12700">
            <a:solidFill>
              <a:srgbClr val="3137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691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6C63"/>
                </a:solidFill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E1B45A"/>
                </a:solidFill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6E9070"/>
                </a:solidFill>
              </a:rPr>
              <a:t>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app.css — dashboard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984248"/>
            <a:ext cx="5989320" cy="0"/>
          </a:xfrm>
          <a:prstGeom prst="line">
            <a:avLst/>
          </a:prstGeom>
          <a:noFill/>
          <a:ln w="12700">
            <a:solidFill>
              <a:srgbClr val="2A2F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12264"/>
            <a:ext cx="29260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78992" y="2112264"/>
            <a:ext cx="522122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dash-cols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grid-template-columns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algn="l" indent="0" marL="0">
              <a:lnSpc>
                <a:spcPct val="142000"/>
              </a:lnSpc>
              <a:buNone/>
            </a:pPr>
            <a:r>
              <a:rPr lang="en-US" sz="1050" i="1" dirty="0">
                <a:solidFill>
                  <a:srgbClr val="728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stacked */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min-width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dash-cols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grid-template-columns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minmax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minmax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stat-grid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grid-template-columns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auto-fit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minmax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pic>
        <p:nvPicPr>
          <p:cNvPr id="10" name="Image 0" descr="/Users/manan/Coding Data/College/Sem_3_FEE_II/Synora/presentation/screenshots/framed/card_dashboard_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737360"/>
            <a:ext cx="4937760" cy="30861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20840" y="488289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dashboard: a grid of cards that reflow by column.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720840" y="5212080"/>
            <a:ext cx="4937760" cy="1051560"/>
          </a:xfrm>
          <a:prstGeom prst="roundRect">
            <a:avLst>
              <a:gd name="adj" fmla="val 10435"/>
            </a:avLst>
          </a:prstGeom>
          <a:solidFill>
            <a:srgbClr val="E7EDE9"/>
          </a:solidFill>
          <a:ln w="12700">
            <a:solidFill>
              <a:srgbClr val="D5E0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22008" y="5212080"/>
            <a:ext cx="45354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controls rows and columns at once — perfect for the dashboard. repeat(auto-fit, minmax()) even reflows the stat cards responsively with no media query.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 · HTML + CSS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0881360" y="65105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CSS3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layout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6" name="Image 0" descr="/Users/manan/Coding Data/College/Sem_3_FEE_II/Synora/presentation/assets/icons/menu-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952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83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17320" y="217627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One-dimensional — a row OR a column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99632" y="1691640"/>
            <a:ext cx="54406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187452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4EDE8"/>
          </a:solidFill>
          <a:ln/>
        </p:spPr>
      </p:sp>
      <p:pic>
        <p:nvPicPr>
          <p:cNvPr id="11" name="Image 1" descr="/Users/manan/Coding Data/College/Sem_3_FEE_II/Synora/presentation/assets/icons/grid-tau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933" y="199522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68312" y="1783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068312" y="217627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Two-dimensional — rows AND columns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2788920"/>
            <a:ext cx="11091672" cy="749808"/>
          </a:xfrm>
          <a:prstGeom prst="rect">
            <a:avLst/>
          </a:prstGeom>
          <a:solidFill>
            <a:srgbClr val="F5F3F0"/>
          </a:solidFill>
          <a:ln/>
        </p:spPr>
      </p:sp>
      <p:sp>
        <p:nvSpPr>
          <p:cNvPr id="15" name="Text 11"/>
          <p:cNvSpPr/>
          <p:nvPr/>
        </p:nvSpPr>
        <p:spPr>
          <a:xfrm>
            <a:off x="731520" y="2788920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834640" y="2788920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along one axis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223760" y="278892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across two axes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31520" y="3538728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834640" y="3538728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Navbars, headers, controls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223760" y="3538728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card layouts, pages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48640" y="4288536"/>
            <a:ext cx="11091672" cy="749808"/>
          </a:xfrm>
          <a:prstGeom prst="rect">
            <a:avLst/>
          </a:prstGeom>
          <a:solidFill>
            <a:srgbClr val="F5F3F0"/>
          </a:solidFill>
          <a:ln/>
        </p:spPr>
      </p:sp>
      <p:sp>
        <p:nvSpPr>
          <p:cNvPr id="22" name="Text 18"/>
          <p:cNvSpPr/>
          <p:nvPr/>
        </p:nvSpPr>
        <p:spPr>
          <a:xfrm>
            <a:off x="731520" y="4288536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Synora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2834640" y="4288536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.topbar · .card__header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223760" y="4288536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.dash-cols · .stat-grid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731520" y="5038344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flow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2834640" y="5038344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 to its content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7223760" y="5038344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track structure first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7040880" y="2788920"/>
            <a:ext cx="0" cy="2999232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pPr algn="ctr" indent="0" marL="0">
              <a:buNone/>
            </a:pPr>
            <a:r>
              <a:rPr lang="en-US" sz="1200" i="1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in a line → Flexbox;  a structured grid of things → Grid.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 · HTML + CSS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10881360" y="65105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CSS3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workspace, every screen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landing page at three real viewports. The full navbar collapses into a CSS-only hamburger menu, the two-column hero stacks into one, and every section reflows to a single column.</a:t>
            </a:r>
            <a:endParaRPr lang="en-US" sz="1250" dirty="0"/>
          </a:p>
        </p:txBody>
      </p:sp>
      <p:pic>
        <p:nvPicPr>
          <p:cNvPr id="5" name="Image 0" descr="/Users/manan/Coding Data/College/Sem_3_FEE_II/Synora/presentation/screenshots/framed/frame_land_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32863"/>
            <a:ext cx="5074920" cy="31718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55955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1440px · Desktop</a:t>
            </a:r>
            <a:endParaRPr lang="en-US" sz="1150" dirty="0"/>
          </a:p>
        </p:txBody>
      </p:sp>
      <p:pic>
        <p:nvPicPr>
          <p:cNvPr id="7" name="Image 1" descr="/Users/manan/Coding Data/College/Sem_3_FEE_II/Synora/presentation/screenshots/framed/frame_land_tab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938528"/>
            <a:ext cx="2674620" cy="3566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15000" y="5559552"/>
            <a:ext cx="32232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768px · Tablet</a:t>
            </a:r>
            <a:endParaRPr lang="en-US" sz="1150" dirty="0"/>
          </a:p>
        </p:txBody>
      </p:sp>
      <p:pic>
        <p:nvPicPr>
          <p:cNvPr id="9" name="Image 2" descr="/Users/manan/Coding Data/College/Sem_3_FEE_II/Synora/presentation/screenshots/framed/frame_land_mob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1801368"/>
            <a:ext cx="1711250" cy="3703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98280" y="5559552"/>
            <a:ext cx="28085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390px · Mobile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1729588" y="5961888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22252B"/>
          </a:solidFill>
          <a:ln/>
        </p:spPr>
      </p:sp>
      <p:sp>
        <p:nvSpPr>
          <p:cNvPr id="12" name="Text 7"/>
          <p:cNvSpPr/>
          <p:nvPr/>
        </p:nvSpPr>
        <p:spPr>
          <a:xfrm>
            <a:off x="1729588" y="59618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units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3969868" y="5961888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22252B"/>
          </a:solidFill>
          <a:ln/>
        </p:spPr>
      </p:sp>
      <p:sp>
        <p:nvSpPr>
          <p:cNvPr id="14" name="Text 9"/>
          <p:cNvSpPr/>
          <p:nvPr/>
        </p:nvSpPr>
        <p:spPr>
          <a:xfrm>
            <a:off x="3969868" y="59618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210148" y="5961888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22252B"/>
          </a:solidFill>
          <a:ln/>
        </p:spPr>
      </p:sp>
      <p:sp>
        <p:nvSpPr>
          <p:cNvPr id="16" name="Text 11"/>
          <p:cNvSpPr/>
          <p:nvPr/>
        </p:nvSpPr>
        <p:spPr>
          <a:xfrm>
            <a:off x="6210148" y="59618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450428" y="5961888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22252B"/>
          </a:solidFill>
          <a:ln/>
        </p:spPr>
      </p:sp>
      <p:sp>
        <p:nvSpPr>
          <p:cNvPr id="18" name="Text 13"/>
          <p:cNvSpPr/>
          <p:nvPr/>
        </p:nvSpPr>
        <p:spPr>
          <a:xfrm>
            <a:off x="8450428" y="59618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 · HTML + CSS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10881360" y="65105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CSS3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 — adapting the layout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263640" cy="4160520"/>
          </a:xfrm>
          <a:prstGeom prst="roundRect">
            <a:avLst>
              <a:gd name="adj" fmla="val 1978"/>
            </a:avLst>
          </a:prstGeom>
          <a:solidFill>
            <a:srgbClr val="1A1D22"/>
          </a:solidFill>
          <a:ln w="12700">
            <a:solidFill>
              <a:srgbClr val="3137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691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6C63"/>
                </a:solidFill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E1B45A"/>
                </a:solidFill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6E9070"/>
                </a:solidFill>
              </a:rPr>
              <a:t>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app.css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984248"/>
            <a:ext cx="6263640" cy="0"/>
          </a:xfrm>
          <a:prstGeom prst="line">
            <a:avLst/>
          </a:prstGeom>
          <a:noFill/>
          <a:ln w="12700">
            <a:solidFill>
              <a:srgbClr val="2A2F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12264"/>
            <a:ext cx="292608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78992" y="2112264"/>
            <a:ext cx="5495544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050" i="1" dirty="0">
                <a:solidFill>
                  <a:srgbClr val="728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below 900px: sidebar becomes a drawer */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max-width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translateX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nav-open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translateX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menu-btn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inline-flex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i="1" dirty="0">
                <a:solidFill>
                  <a:srgbClr val="728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below 560px: 7-col timetable stacks */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max-width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560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tt-grid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grid-template-columns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086600" y="1627632"/>
            <a:ext cx="4553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BREAKPOINTS IN SYNORA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86600" y="2011680"/>
            <a:ext cx="4553712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87768" y="2103120"/>
            <a:ext cx="4151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 / 940 / 720px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87768" y="2377440"/>
            <a:ext cx="4151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sections reflow to fewer columns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086600" y="2798064"/>
            <a:ext cx="4553712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87768" y="2889504"/>
            <a:ext cx="4151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900px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87768" y="3163824"/>
            <a:ext cx="4151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sidebar → off-canvas drawer + hamburger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86600" y="3584448"/>
            <a:ext cx="4553712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87768" y="3675888"/>
            <a:ext cx="4151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560px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87768" y="3950208"/>
            <a:ext cx="4151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grid → stacked day cards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86600" y="4370832"/>
            <a:ext cx="4553712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87768" y="4462272"/>
            <a:ext cx="4151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1000px (min)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87768" y="4736592"/>
            <a:ext cx="4151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gains its two-column split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 · HTML + CSS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881360" y="65105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CSS3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responsive strategy — honestly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6" name="Image 0" descr="/Users/manan/Coding Data/College/Sem_3_FEE_II/Synora/presentation/assets/icons/monitor-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0519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385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Predominantly desktop-first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(unqualified) styles describe the full desktop layout; max-width media queries progressively adapt it down.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" y="338328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2252B"/>
                </a:solidFill>
              </a:rPr>
              <a:t>Desktop base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35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@media (max-width: 900px)  →  @media (max-width: 560px)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4160520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i="1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of Synora’s media queries use max-width — the graceful-degradation pattern.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99632" y="1691640"/>
            <a:ext cx="5440680" cy="3200400"/>
          </a:xfrm>
          <a:prstGeom prst="roundRect">
            <a:avLst>
              <a:gd name="adj" fmla="val 2857"/>
            </a:avLst>
          </a:prstGeom>
          <a:solidFill>
            <a:srgbClr val="F3F1EE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28232" y="19202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4EDE8"/>
          </a:solidFill>
          <a:ln/>
        </p:spPr>
      </p:sp>
      <p:pic>
        <p:nvPicPr>
          <p:cNvPr id="13" name="Image 1" descr="/Users/manan/Coding Data/College/Sem_3_FEE_II/Synora/presentation/assets/icons/smartphone-tau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906" y="205191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14032" y="19385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mobile-first components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428232" y="2606040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parts are authored the other way — stacked by default, expanding upward — or reflow with no query at all.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428232" y="3337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.dash-cols — 1 column, then min-width: 1000px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.stat-grid — repeat(auto-fit, minmax()) reflows freely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type with clamp() in the tokens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51206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7EDE9"/>
          </a:solidFill>
          <a:ln w="12700">
            <a:solidFill>
              <a:srgbClr val="D5E0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49808" y="5120640"/>
            <a:ext cx="10689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Stating this correctly is a viva safeguard: Synora is not a pure mobile-first cascade — it is breakpoint-based adaptation from a desktop base, with intrinsically-responsive components layered in. Naming it accurately shows you understand the difference.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 · HTML + CSS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0881360" y="65105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MINI PROJECT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Synora landing page</a:t>
            </a:r>
            <a:endParaRPr lang="en-US" sz="3000" dirty="0"/>
          </a:p>
        </p:txBody>
      </p:sp>
      <p:pic>
        <p:nvPicPr>
          <p:cNvPr id="4" name="Image 0" descr="/Users/manan/Coding Data/College/Sem_3_FEE_II/Synora/presentation/screenshots/framed/card_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7632"/>
            <a:ext cx="6766560" cy="4229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07024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landing page — the syllabus’ “static responsive landing page”, grown into a product’s marketing entry point.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543800" y="1627632"/>
            <a:ext cx="409651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90104" y="17739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8" name="Image 1" descr="/Users/manan/Coding Data/College/Sem_3_FEE_II/Synora/presentation/assets/icons/layout-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2" y="1883664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75320" y="1719072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275320" y="1993392"/>
            <a:ext cx="322783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header / nav / main / section / footer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543800" y="2487168"/>
            <a:ext cx="409651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90104" y="26334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4EDE8"/>
          </a:solidFill>
          <a:ln/>
        </p:spPr>
      </p:sp>
      <p:pic>
        <p:nvPicPr>
          <p:cNvPr id="13" name="Image 2" descr="/Users/manan/Coding Data/College/Sem_3_FEE_II/Synora/presentation/assets/icons/code-tau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832" y="274320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75320" y="2578608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275320" y="2852928"/>
            <a:ext cx="322783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tokens, typography &amp; the box model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7543800" y="3346704"/>
            <a:ext cx="409651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690104" y="34930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18" name="Image 3" descr="/Users/manan/Coding Data/College/Sem_3_FEE_II/Synora/presentation/assets/icons/menu-s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2" y="360273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75320" y="3438144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275320" y="3712464"/>
            <a:ext cx="322783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actions, hero and footer rows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7543800" y="4206240"/>
            <a:ext cx="409651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690104" y="43525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4EDE8"/>
          </a:solidFill>
          <a:ln/>
        </p:spPr>
      </p:sp>
      <p:pic>
        <p:nvPicPr>
          <p:cNvPr id="23" name="Image 4" descr="/Users/manan/Coding Data/College/Sem_3_FEE_II/Synora/presentation/assets/icons/grid-taup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832" y="4462272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275320" y="4297680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8275320" y="4572000"/>
            <a:ext cx="322783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Centered navbar &amp; the feature sections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7543800" y="5065776"/>
            <a:ext cx="409651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7690104" y="5212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28" name="Image 5" descr="/Users/manan/Coding Data/College/Sem_3_FEE_II/Synora/presentation/assets/icons/smartphone-sa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9832" y="5321808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275320" y="5157216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8275320" y="5431536"/>
            <a:ext cx="322783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Reflows at 1024 / 940 / 720 / 400px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 · HTML + CSS</a:t>
            </a:r>
            <a:endParaRPr lang="en-US" sz="850" dirty="0"/>
          </a:p>
        </p:txBody>
      </p:sp>
      <p:sp>
        <p:nvSpPr>
          <p:cNvPr id="32" name="Text 24"/>
          <p:cNvSpPr/>
          <p:nvPr/>
        </p:nvSpPr>
        <p:spPr>
          <a:xfrm>
            <a:off x="10881360" y="65105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2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94560"/>
            <a:ext cx="5852160" cy="5852160"/>
          </a:xfrm>
          <a:prstGeom prst="oval">
            <a:avLst/>
          </a:prstGeom>
          <a:solidFill>
            <a:srgbClr val="53655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291840"/>
            <a:ext cx="5852160" cy="5852160"/>
          </a:xfrm>
          <a:prstGeom prst="oval">
            <a:avLst/>
          </a:prstGeom>
          <a:solidFill>
            <a:srgbClr val="B09F95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B09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CONCLUSION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2C3037"/>
          </a:solidFill>
          <a:ln w="12700">
            <a:solidFill>
              <a:srgbClr val="3A41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203911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43B43"/>
          </a:solidFill>
          <a:ln/>
        </p:spPr>
      </p:sp>
      <p:pic>
        <p:nvPicPr>
          <p:cNvPr id="8" name="Image 0" descr="/Users/manan/Coding Data/College/Sem_3_FEE_II/Synora/presentation/assets/icons/layout-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2170786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0391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463040" y="24414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9B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meaning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15968" y="178308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2C3037"/>
          </a:solidFill>
          <a:ln w="12700">
            <a:solidFill>
              <a:srgbClr val="3A41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53712" y="203911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43B43"/>
          </a:solidFill>
          <a:ln/>
        </p:spPr>
      </p:sp>
      <p:pic>
        <p:nvPicPr>
          <p:cNvPr id="13" name="Image 1" descr="/Users/manan/Coding Data/College/Sem_3_FEE_II/Synora/presentation/assets/icons/check-circle-tau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386" y="2170786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0368" y="20391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230368" y="24414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9B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Accessible, maintainable markup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83296" y="178308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2C3037"/>
          </a:solidFill>
          <a:ln w="12700">
            <a:solidFill>
              <a:srgbClr val="3A414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21040" y="203911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43B43"/>
          </a:solidFill>
          <a:ln/>
        </p:spPr>
      </p:sp>
      <p:pic>
        <p:nvPicPr>
          <p:cNvPr id="18" name="Image 2" descr="/Users/manan/Coding Data/College/Sem_3_FEE_II/Synora/presentation/assets/icons/code-s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714" y="2170786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97696" y="20391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997696" y="24414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9B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token-driven design system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3355848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2C3037"/>
          </a:solidFill>
          <a:ln w="12700">
            <a:solidFill>
              <a:srgbClr val="3A414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86384" y="36118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43B43"/>
          </a:solidFill>
          <a:ln/>
        </p:spPr>
      </p:sp>
      <p:pic>
        <p:nvPicPr>
          <p:cNvPr id="23" name="Image 3" descr="/Users/manan/Coding Data/College/Sem_3_FEE_II/Synora/presentation/assets/icons/grid-taup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58" y="3743554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63040" y="36118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+ Grid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1463040" y="401421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9B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 &amp; two-dimensional layout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315968" y="3355848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2C3037"/>
          </a:solidFill>
          <a:ln w="12700">
            <a:solidFill>
              <a:srgbClr val="3A414A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553712" y="36118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43B43"/>
          </a:solidFill>
          <a:ln/>
        </p:spPr>
      </p:sp>
      <p:pic>
        <p:nvPicPr>
          <p:cNvPr id="28" name="Image 4" descr="/Users/manan/Coding Data/College/Sem_3_FEE_II/Synora/presentation/assets/icons/smartphone-s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386" y="3743554"/>
            <a:ext cx="285293" cy="28529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30368" y="36118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5230368" y="401421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9B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to every screen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8083296" y="3355848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2C3037"/>
          </a:solidFill>
          <a:ln w="12700">
            <a:solidFill>
              <a:srgbClr val="3A414A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321040" y="36118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43B43"/>
          </a:solidFill>
          <a:ln/>
        </p:spPr>
      </p:sp>
      <p:pic>
        <p:nvPicPr>
          <p:cNvPr id="33" name="Image 5" descr="/Users/manan/Coding Data/College/Sem_3_FEE_II/Synora/presentation/assets/icons/monitor-taup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2714" y="3743554"/>
            <a:ext cx="285293" cy="28529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997696" y="36118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8997696" y="401421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9B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workspace, any device</a:t>
            </a:r>
            <a:endParaRPr lang="en-US" sz="1050" dirty="0"/>
          </a:p>
        </p:txBody>
      </p:sp>
      <p:pic>
        <p:nvPicPr>
          <p:cNvPr id="36" name="Image 6" descr="/Users/manan/Coding Data/College/Sem_3_FEE_II/Synora/presentation/assets/logo-lockup-dar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048" y="5440680"/>
            <a:ext cx="2286000" cy="58521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14400" y="6089904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calm home for everything you’re studying.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Synora — HTML5 + CSS3 Implementation</dc:title>
  <dc:subject>PptxGenJS Presentation</dc:subject>
  <dc:creator>Synora</dc:creator>
  <cp:lastModifiedBy>Synora</cp:lastModifiedBy>
  <cp:revision>1</cp:revision>
  <dcterms:created xsi:type="dcterms:W3CDTF">2026-08-18T10:16:29Z</dcterms:created>
  <dcterms:modified xsi:type="dcterms:W3CDTF">2026-08-18T10:16:29Z</dcterms:modified>
</cp:coreProperties>
</file>