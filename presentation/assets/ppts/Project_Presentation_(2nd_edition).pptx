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product, not the theory. Synora is a real, working student-productivity web app built only with HTML5, CSS3 and vanilla JavaScript — no frameworks. This deck shows how the syllabus concepts became this product, and what we built beyond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Synora is a single workspace for a student's whole semester: tasks, calendar, notes, timetable, attendance, CGPA, achievements and notifications. Everything is per-user and saved in the browser. Viva: it's a single-page-per-feature app, all vanilla JS.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is fragmentation, not a lack of tools. Students already use six apps that don't share anything. Our approach: pull the academic essentials into one quiet, unified workspace. This framing sets up why a single well-structured web app is the right shape.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stack as layers, each with a single responsibility. This is the deck's thesis slide: we didn't learn the syllabus separately from building Synora — the syllabus IS the foundation, and Synora is what we assembled on top. localStorage is genuinely used (16 call-sites) for persistence.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key conceptual diagram. Each syllabus layer answers one question: HTML = what exists, CSS = how it looks, JS = how it behaves, DOM = how JS changes the page, Events = how user actions trigger behaviour. Together they produce the product. Likely viva question: 'how do HTML, CSS and JS relate?' — answer with this line-up.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Semantic tags carry meaning. header/nav/main/section/aside/footer appear across every page — main 14×, section 11×, aside 12×. Sections use aria-labelledby to tie a heading to its region. Viva: why semantic HTML? Accessibility, SEO, and maintainable structure our JS can target reliably.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this is accessibility BASICS, not certified WCAG compliance. What's genuinely there: labels (16), aria-* (91), correct input types, alt text (18), a skip-link and a visually-hidden utility. Viva: what makes a form accessible? Programmatic label-to-input association and correct input types.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CSS3 was used to build a design SYSTEM, not to style each page by hand. ~142 custom properties in tokens.css hold the palette, type scale, spacing, radii and shadows; light/dark themes swap the same tokens. Viva: why CSS variables? Single source of truth — change a token, the whole app updates.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box model is not theory here — every card IS a box. .stat-card sets padding (space inside), a 1px border, rounded corners and a soft shadow, all via tokens. Viva: name the four box-model layers from inside out — content, padding, border, margin.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Flexbox and Grid do different jobs. Flexbox (116 rules) lays out one-dimensional rows — the sticky top bar, toolbars, button groups. Grid (51 rules) handles two-dimensional structure — the calendar's 7 columns, the dashboard cards, the notes masonry. Viva: why Grid for the dashboard? It's a real 2-D arrangement of rows and columns.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proves responsiveness rather than claiming it — the SAME landing page at 1440/768/390. Note the grid hero collapses to one column, buttons go full-width, and the navbar becomes a hamburger. Be accurate: the strategy is DESKTOP-FIRST (max-width breakpoints adapting down), not mobile-first. The menu toggle is pure CSS — a hidden checkbox, no JavaScript.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each fundamental to something concrete. State lives in variables; render() and toggleComplete() are reusable functions; tasks/subjects are arrays; each task is an object; .map / .filter / .forEach are the loops. The snippet shows all five working together. Viva: difference between an array and an object? Ordered list vs keyed record.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 = the browser's live object model of the HTML. We select nodes (querySelector 161×, querySelectorAll 23×, getElementById 9×), read/write text and classes, and create/remove nodes. The toast shows the full node lifecycle: createElement → configure → appendChild → remove. Viva: what is the DOM? A tree of objects representing the document that JS can change on the fly.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Events are the whole interaction model. The flow: user acts → event fires → addEventListener's handler runs → it changes data/DOM → the screen re-renders. Real examples: the add-task click, the search input firing on every keystroke, attendance +/- buttons. addEventListener appears ~93 times; preventDefault ~11.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honesty slide the brief demands. USED: bubbling, delegation via closest() (28 handlers), preventDefault. NOT a real pattern: explicit event capturing — say so plainly. Explain why delegation matters here: rows are re-rendered, so one durable listener on the parent is more robust than per-button listeners. Viva: bubbling vs capturing — bubbling goes child→parent, capturing parent→child.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Validation is layered. HTML attributes (required, type=email, minlength) are the first gate. On submit, JS calls preventDefault(), trims input, tests it against regexes, and shows friendly inline errors instead of the browser default. Errors clear live as the user fixes the field. Viva: why validate in JS if HTML already does? Custom messages, cross-field checks like password confirmation, and control over UX.</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splash is a real UX + technical feature. Mechanism, honestly: the animation is pure CSS @keyframes; the exit is a CSS transition on .is-hidden; JavaScript only controls TIMING — it shows the splash for at least 2000ms, waits for DOMContentLoaded, toggles is-ready/is-hidden, then removes the node. prefers-reduced-motion is respected. Viva: is the animation JS or CSS? The motion is CSS; JS just decides when it ends.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pay-off. Beyond the listed concepts we built a full dashboard, task manager, calendar, attendance calculator (tells you how many classes you can miss), a live CGPA calculator, an achievements system, notifications, personalization with avatars, light/dark themes, per-user workspaces and on-device persistence. Subjects are the single source of truth that attendance, CGPA and the timetable all reference.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 scorecard. Almost everything is ticked and genuinely implemented. The one open circle is explicit event capturing — we understand it but don't use it as a pattern; delegation via bubbling is what the app relies on. Keeping that circle open is what makes every tick credible.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restating the thesis as a pipeline: syllabus concepts → implementation techniques → the Synora product. We used core web-development concepts to build a real, responsive, interactive student-productivity app, then extended them. End on the tagline.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2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lockup-dark.png"/>
          <p:cNvPicPr>
            <a:picLocks noChangeAspect="1"/>
          </p:cNvPicPr>
          <p:nvPr/>
        </p:nvPicPr>
        <p:blipFill>
          <a:blip r:embed="rId2"/>
          <a:stretch>
            <a:fillRect/>
          </a:stretch>
        </p:blipFill>
        <p:spPr>
          <a:xfrm>
            <a:off x="640080" y="566928"/>
            <a:ext cx="1965960" cy="504722"/>
          </a:xfrm>
          <a:prstGeom prst="rect">
            <a:avLst/>
          </a:prstGeom>
          <a:effectLst/>
        </p:spPr>
      </p:pic>
      <p:sp>
        <p:nvSpPr>
          <p:cNvPr id="4" name="TextBox 3"/>
          <p:cNvSpPr txBox="1"/>
          <p:nvPr/>
        </p:nvSpPr>
        <p:spPr>
          <a:xfrm>
            <a:off x="640080" y="2148840"/>
            <a:ext cx="5852160" cy="2926080"/>
          </a:xfrm>
          <a:prstGeom prst="rect">
            <a:avLst/>
          </a:prstGeom>
          <a:noFill/>
        </p:spPr>
        <p:txBody>
          <a:bodyPr wrap="square" lIns="0" rIns="0" tIns="0" bIns="0" anchor="t">
            <a:spAutoFit/>
          </a:bodyPr>
          <a:lstStyle/>
          <a:p>
            <a:pPr algn="l">
              <a:lnSpc>
                <a:spcPct val="102000"/>
              </a:lnSpc>
            </a:pPr>
            <a:r>
              <a:rPr sz="4400" b="1">
                <a:solidFill>
                  <a:srgbClr val="F3F1EC"/>
                </a:solidFill>
                <a:latin typeface="Arial"/>
              </a:rPr>
              <a:t>One </a:t>
            </a:r>
            <a:r>
              <a:rPr sz="4400" b="1">
                <a:solidFill>
                  <a:srgbClr val="9FB6A6"/>
                </a:solidFill>
                <a:latin typeface="Arial"/>
              </a:rPr>
              <a:t>calm</a:t>
            </a:r>
            <a:r>
              <a:rPr sz="4400" b="1">
                <a:solidFill>
                  <a:srgbClr val="F3F1EC"/>
                </a:solidFill>
                <a:latin typeface="Arial"/>
              </a:rPr>
              <a:t> home</a:t>
            </a:r>
          </a:p>
          <a:p>
            <a:pPr algn="l">
              <a:lnSpc>
                <a:spcPct val="102000"/>
              </a:lnSpc>
            </a:pPr>
            <a:r>
              <a:rPr sz="4400" b="1">
                <a:solidFill>
                  <a:srgbClr val="F3F1EC"/>
                </a:solidFill>
                <a:latin typeface="Arial"/>
              </a:rPr>
              <a:t>for everything</a:t>
            </a:r>
          </a:p>
          <a:p>
            <a:pPr algn="l">
              <a:lnSpc>
                <a:spcPct val="102000"/>
              </a:lnSpc>
            </a:pPr>
            <a:r>
              <a:rPr sz="4400" b="1">
                <a:solidFill>
                  <a:srgbClr val="F3F1EC"/>
                </a:solidFill>
                <a:latin typeface="Arial"/>
              </a:rPr>
              <a:t>you're studying.</a:t>
            </a:r>
          </a:p>
        </p:txBody>
      </p:sp>
      <p:sp>
        <p:nvSpPr>
          <p:cNvPr id="5" name="TextBox 4"/>
          <p:cNvSpPr txBox="1"/>
          <p:nvPr/>
        </p:nvSpPr>
        <p:spPr>
          <a:xfrm>
            <a:off x="640080" y="4443984"/>
            <a:ext cx="5486400" cy="822960"/>
          </a:xfrm>
          <a:prstGeom prst="rect">
            <a:avLst/>
          </a:prstGeom>
          <a:noFill/>
        </p:spPr>
        <p:txBody>
          <a:bodyPr wrap="square" lIns="0" rIns="0" tIns="0" bIns="0" anchor="t">
            <a:spAutoFit/>
          </a:bodyPr>
          <a:lstStyle/>
          <a:p>
            <a:pPr algn="l">
              <a:lnSpc>
                <a:spcPct val="128000"/>
              </a:lnSpc>
            </a:pPr>
            <a:r>
              <a:rPr sz="1450" b="0">
                <a:solidFill>
                  <a:srgbClr val="9AA2AC"/>
                </a:solidFill>
                <a:latin typeface="Arial"/>
              </a:rPr>
              <a:t>A student productivity &amp; academic management workspace —</a:t>
            </a:r>
          </a:p>
          <a:p>
            <a:pPr algn="l">
              <a:lnSpc>
                <a:spcPct val="128000"/>
              </a:lnSpc>
            </a:pPr>
            <a:r>
              <a:rPr sz="1450" b="0">
                <a:solidFill>
                  <a:srgbClr val="9AA2AC"/>
                </a:solidFill>
                <a:latin typeface="Arial"/>
              </a:rPr>
              <a:t>built from the HTML5, CSS3 &amp; JavaScript syllabus.</a:t>
            </a:r>
          </a:p>
        </p:txBody>
      </p:sp>
      <p:sp>
        <p:nvSpPr>
          <p:cNvPr id="6" name="Rounded Rectangle 5"/>
          <p:cNvSpPr/>
          <p:nvPr/>
        </p:nvSpPr>
        <p:spPr>
          <a:xfrm>
            <a:off x="640080" y="5440680"/>
            <a:ext cx="651052" cy="365760"/>
          </a:xfrm>
          <a:prstGeom prst="roundRect">
            <a:avLst>
              <a:gd name="adj" fmla="val 50000"/>
            </a:avLst>
          </a:prstGeom>
          <a:solidFill>
            <a:srgbClr val="2B2F37"/>
          </a:solidFill>
          <a:ln w="12700">
            <a:solidFill>
              <a:srgbClr val="53655C"/>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3F1EC"/>
                </a:solidFill>
                <a:latin typeface="Arial"/>
              </a:rPr>
              <a:t>HTML5</a:t>
            </a:r>
          </a:p>
        </p:txBody>
      </p:sp>
      <p:sp>
        <p:nvSpPr>
          <p:cNvPr id="7" name="Rounded Rectangle 6"/>
          <p:cNvSpPr/>
          <p:nvPr/>
        </p:nvSpPr>
        <p:spPr>
          <a:xfrm>
            <a:off x="1419148" y="5440680"/>
            <a:ext cx="583021" cy="365760"/>
          </a:xfrm>
          <a:prstGeom prst="roundRect">
            <a:avLst>
              <a:gd name="adj" fmla="val 50000"/>
            </a:avLst>
          </a:prstGeom>
          <a:solidFill>
            <a:srgbClr val="2B2F37"/>
          </a:solidFill>
          <a:ln w="12700">
            <a:solidFill>
              <a:srgbClr val="53655C"/>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3F1EC"/>
                </a:solidFill>
                <a:latin typeface="Arial"/>
              </a:rPr>
              <a:t>CSS3</a:t>
            </a:r>
          </a:p>
        </p:txBody>
      </p:sp>
      <p:sp>
        <p:nvSpPr>
          <p:cNvPr id="8" name="Rounded Rectangle 7"/>
          <p:cNvSpPr/>
          <p:nvPr/>
        </p:nvSpPr>
        <p:spPr>
          <a:xfrm>
            <a:off x="2130186" y="5440680"/>
            <a:ext cx="991209" cy="365760"/>
          </a:xfrm>
          <a:prstGeom prst="roundRect">
            <a:avLst>
              <a:gd name="adj" fmla="val 50000"/>
            </a:avLst>
          </a:prstGeom>
          <a:solidFill>
            <a:srgbClr val="2B2F37"/>
          </a:solidFill>
          <a:ln w="12700">
            <a:solidFill>
              <a:srgbClr val="53655C"/>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3F1EC"/>
                </a:solidFill>
                <a:latin typeface="Arial"/>
              </a:rPr>
              <a:t>JavaScript</a:t>
            </a:r>
          </a:p>
        </p:txBody>
      </p:sp>
      <p:sp>
        <p:nvSpPr>
          <p:cNvPr id="9" name="Rounded Rectangle 8"/>
          <p:cNvSpPr/>
          <p:nvPr/>
        </p:nvSpPr>
        <p:spPr>
          <a:xfrm>
            <a:off x="3249411" y="5440680"/>
            <a:ext cx="514990" cy="365760"/>
          </a:xfrm>
          <a:prstGeom prst="roundRect">
            <a:avLst>
              <a:gd name="adj" fmla="val 50000"/>
            </a:avLst>
          </a:prstGeom>
          <a:solidFill>
            <a:srgbClr val="2B2F37"/>
          </a:solidFill>
          <a:ln w="12700">
            <a:solidFill>
              <a:srgbClr val="53655C"/>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3F1EC"/>
                </a:solidFill>
                <a:latin typeface="Arial"/>
              </a:rPr>
              <a:t>DOM</a:t>
            </a:r>
          </a:p>
        </p:txBody>
      </p:sp>
      <p:sp>
        <p:nvSpPr>
          <p:cNvPr id="10" name="Rounded Rectangle 9"/>
          <p:cNvSpPr/>
          <p:nvPr/>
        </p:nvSpPr>
        <p:spPr>
          <a:xfrm>
            <a:off x="3892417" y="5440680"/>
            <a:ext cx="719084" cy="365760"/>
          </a:xfrm>
          <a:prstGeom prst="roundRect">
            <a:avLst>
              <a:gd name="adj" fmla="val 50000"/>
            </a:avLst>
          </a:prstGeom>
          <a:solidFill>
            <a:srgbClr val="2B2F37"/>
          </a:solidFill>
          <a:ln w="12700">
            <a:solidFill>
              <a:srgbClr val="53655C"/>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3F1EC"/>
                </a:solidFill>
                <a:latin typeface="Arial"/>
              </a:rPr>
              <a:t>Events</a:t>
            </a:r>
          </a:p>
        </p:txBody>
      </p:sp>
      <p:sp>
        <p:nvSpPr>
          <p:cNvPr id="11" name="Rounded Rectangle 10"/>
          <p:cNvSpPr/>
          <p:nvPr/>
        </p:nvSpPr>
        <p:spPr>
          <a:xfrm>
            <a:off x="6720840" y="1783080"/>
            <a:ext cx="4892040" cy="3057524"/>
          </a:xfrm>
          <a:prstGeom prst="roundRect">
            <a:avLst>
              <a:gd name="adj" fmla="val 4500"/>
            </a:avLst>
          </a:prstGeom>
          <a:solidFill>
            <a:srgbClr val="FFFFFF"/>
          </a:solidFill>
          <a:ln>
            <a:noFill/>
          </a:ln>
          <a:effectLst>
            <a:outerShdw blurRad="91440" dist="50292" dir="5400000" rotWithShape="0">
              <a:srgbClr val="000000">
                <a:alpha val="3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dashboard_desktop.png"/>
          <p:cNvPicPr>
            <a:picLocks noChangeAspect="1"/>
          </p:cNvPicPr>
          <p:nvPr/>
        </p:nvPicPr>
        <p:blipFill>
          <a:blip r:embed="rId3"/>
          <a:stretch>
            <a:fillRect/>
          </a:stretch>
        </p:blipFill>
        <p:spPr>
          <a:xfrm>
            <a:off x="6720840" y="1783080"/>
            <a:ext cx="4892040" cy="3057524"/>
          </a:xfrm>
          <a:prstGeom prst="rect">
            <a:avLst/>
          </a:prstGeom>
          <a:effectLst/>
        </p:spPr>
      </p:pic>
      <p:sp>
        <p:nvSpPr>
          <p:cNvPr id="13" name="TextBox 12"/>
          <p:cNvSpPr txBox="1"/>
          <p:nvPr/>
        </p:nvSpPr>
        <p:spPr>
          <a:xfrm>
            <a:off x="6720840" y="5138928"/>
            <a:ext cx="4892040" cy="274320"/>
          </a:xfrm>
          <a:prstGeom prst="rect">
            <a:avLst/>
          </a:prstGeom>
          <a:noFill/>
        </p:spPr>
        <p:txBody>
          <a:bodyPr wrap="square" lIns="0" rIns="0" tIns="0" bIns="0" anchor="t">
            <a:spAutoFit/>
          </a:bodyPr>
          <a:lstStyle/>
          <a:p>
            <a:pPr algn="l">
              <a:lnSpc>
                <a:spcPct val="100000"/>
              </a:lnSpc>
            </a:pPr>
            <a:r>
              <a:rPr sz="1050" b="0" i="1">
                <a:solidFill>
                  <a:srgbClr val="9AA2AC"/>
                </a:solidFill>
                <a:latin typeface="Arial"/>
              </a:rPr>
              <a:t>The Synora dashboard — the product this deck is about.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7315200" cy="274320"/>
          </a:xfrm>
          <a:prstGeom prst="rect">
            <a:avLst/>
          </a:prstGeom>
          <a:noFill/>
        </p:spPr>
        <p:txBody>
          <a:bodyPr wrap="square" lIns="0" rIns="0" tIns="0" bIns="0" anchor="t">
            <a:spAutoFit/>
          </a:bodyPr>
          <a:lstStyle/>
          <a:p>
            <a:pPr algn="l">
              <a:lnSpc>
                <a:spcPct val="100000"/>
              </a:lnSpc>
            </a:pPr>
            <a:r>
              <a:rPr sz="1200" b="1" spc="180">
                <a:solidFill>
                  <a:srgbClr val="B09F95"/>
                </a:solidFill>
                <a:latin typeface="Arial"/>
              </a:rPr>
              <a:t>THE PRODUCT</a:t>
            </a:r>
          </a:p>
        </p:txBody>
      </p:sp>
      <p:sp>
        <p:nvSpPr>
          <p:cNvPr id="4" name="TextBox 3"/>
          <p:cNvSpPr txBox="1"/>
          <p:nvPr/>
        </p:nvSpPr>
        <p:spPr>
          <a:xfrm>
            <a:off x="640080" y="841247"/>
            <a:ext cx="10911535" cy="822960"/>
          </a:xfrm>
          <a:prstGeom prst="rect">
            <a:avLst/>
          </a:prstGeom>
          <a:noFill/>
        </p:spPr>
        <p:txBody>
          <a:bodyPr wrap="square" lIns="0" rIns="0" tIns="0" bIns="0" anchor="t">
            <a:spAutoFit/>
          </a:bodyPr>
          <a:lstStyle/>
          <a:p>
            <a:pPr algn="l">
              <a:lnSpc>
                <a:spcPct val="100000"/>
              </a:lnSpc>
            </a:pPr>
            <a:r>
              <a:rPr sz="3000" b="1">
                <a:solidFill>
                  <a:srgbClr val="22252B"/>
                </a:solidFill>
                <a:latin typeface="Arial"/>
              </a:rPr>
              <a:t>What is Synora?</a:t>
            </a:r>
          </a:p>
        </p:txBody>
      </p:sp>
      <p:sp>
        <p:nvSpPr>
          <p:cNvPr id="5" name="TextBox 4"/>
          <p:cNvSpPr txBox="1"/>
          <p:nvPr/>
        </p:nvSpPr>
        <p:spPr>
          <a:xfrm>
            <a:off x="640080" y="1572768"/>
            <a:ext cx="4846320" cy="2011680"/>
          </a:xfrm>
          <a:prstGeom prst="rect">
            <a:avLst/>
          </a:prstGeom>
          <a:noFill/>
        </p:spPr>
        <p:txBody>
          <a:bodyPr wrap="square" lIns="0" rIns="0" tIns="0" bIns="0" anchor="t">
            <a:spAutoFit/>
          </a:bodyPr>
          <a:lstStyle/>
          <a:p>
            <a:pPr algn="l">
              <a:lnSpc>
                <a:spcPct val="134000"/>
              </a:lnSpc>
            </a:pPr>
            <a:r>
              <a:rPr sz="1500" b="0">
                <a:solidFill>
                  <a:srgbClr val="606772"/>
                </a:solidFill>
                <a:latin typeface="Arial"/>
              </a:rPr>
              <a:t>Synora brings everything a student juggles into one calm, personal workspace — so time goes to studying, not to organising eight different apps.</a:t>
            </a:r>
          </a:p>
        </p:txBody>
      </p:sp>
      <p:sp>
        <p:nvSpPr>
          <p:cNvPr id="6" name="Rounded Rectangle 5"/>
          <p:cNvSpPr/>
          <p:nvPr/>
        </p:nvSpPr>
        <p:spPr>
          <a:xfrm>
            <a:off x="640080" y="3246120"/>
            <a:ext cx="720090" cy="420624"/>
          </a:xfrm>
          <a:prstGeom prst="roundRect">
            <a:avLst>
              <a:gd name="adj" fmla="val 50000"/>
            </a:avLst>
          </a:prstGeom>
          <a:solidFill>
            <a:srgbClr val="FFFFFF"/>
          </a:solidFill>
          <a:ln w="12700">
            <a:solidFill>
              <a:srgbClr val="E5E8EB"/>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50" b="1">
                <a:solidFill>
                  <a:srgbClr val="22252B"/>
                </a:solidFill>
                <a:latin typeface="Arial"/>
              </a:rPr>
              <a:t>Tasks</a:t>
            </a:r>
          </a:p>
        </p:txBody>
      </p:sp>
      <p:sp>
        <p:nvSpPr>
          <p:cNvPr id="7" name="Rounded Rectangle 6"/>
          <p:cNvSpPr/>
          <p:nvPr/>
        </p:nvSpPr>
        <p:spPr>
          <a:xfrm>
            <a:off x="2971800" y="3246120"/>
            <a:ext cx="932688" cy="420624"/>
          </a:xfrm>
          <a:prstGeom prst="roundRect">
            <a:avLst>
              <a:gd name="adj" fmla="val 50000"/>
            </a:avLst>
          </a:prstGeom>
          <a:solidFill>
            <a:srgbClr val="FFFFFF"/>
          </a:solidFill>
          <a:ln w="12700">
            <a:solidFill>
              <a:srgbClr val="E5E8EB"/>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50" b="1">
                <a:solidFill>
                  <a:srgbClr val="22252B"/>
                </a:solidFill>
                <a:latin typeface="Arial"/>
              </a:rPr>
              <a:t>Calendar</a:t>
            </a:r>
          </a:p>
        </p:txBody>
      </p:sp>
      <p:sp>
        <p:nvSpPr>
          <p:cNvPr id="8" name="Rounded Rectangle 7"/>
          <p:cNvSpPr/>
          <p:nvPr/>
        </p:nvSpPr>
        <p:spPr>
          <a:xfrm>
            <a:off x="640080" y="3813048"/>
            <a:ext cx="1145286" cy="420624"/>
          </a:xfrm>
          <a:prstGeom prst="roundRect">
            <a:avLst>
              <a:gd name="adj" fmla="val 50000"/>
            </a:avLst>
          </a:prstGeom>
          <a:solidFill>
            <a:srgbClr val="FFFFFF"/>
          </a:solidFill>
          <a:ln w="12700">
            <a:solidFill>
              <a:srgbClr val="E5E8EB"/>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50" b="1">
                <a:solidFill>
                  <a:srgbClr val="22252B"/>
                </a:solidFill>
                <a:latin typeface="Arial"/>
              </a:rPr>
              <a:t>Quick Notes</a:t>
            </a:r>
          </a:p>
        </p:txBody>
      </p:sp>
      <p:sp>
        <p:nvSpPr>
          <p:cNvPr id="9" name="Rounded Rectangle 8"/>
          <p:cNvSpPr/>
          <p:nvPr/>
        </p:nvSpPr>
        <p:spPr>
          <a:xfrm>
            <a:off x="2971800" y="3813048"/>
            <a:ext cx="1003554" cy="420624"/>
          </a:xfrm>
          <a:prstGeom prst="roundRect">
            <a:avLst>
              <a:gd name="adj" fmla="val 50000"/>
            </a:avLst>
          </a:prstGeom>
          <a:solidFill>
            <a:srgbClr val="FFFFFF"/>
          </a:solidFill>
          <a:ln w="12700">
            <a:solidFill>
              <a:srgbClr val="E5E8EB"/>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50" b="1">
                <a:solidFill>
                  <a:srgbClr val="22252B"/>
                </a:solidFill>
                <a:latin typeface="Arial"/>
              </a:rPr>
              <a:t>Timetable</a:t>
            </a:r>
          </a:p>
        </p:txBody>
      </p:sp>
      <p:sp>
        <p:nvSpPr>
          <p:cNvPr id="10" name="Rounded Rectangle 9"/>
          <p:cNvSpPr/>
          <p:nvPr/>
        </p:nvSpPr>
        <p:spPr>
          <a:xfrm>
            <a:off x="640080" y="4379976"/>
            <a:ext cx="1074420" cy="420624"/>
          </a:xfrm>
          <a:prstGeom prst="roundRect">
            <a:avLst>
              <a:gd name="adj" fmla="val 50000"/>
            </a:avLst>
          </a:prstGeom>
          <a:solidFill>
            <a:srgbClr val="FFFFFF"/>
          </a:solidFill>
          <a:ln w="12700">
            <a:solidFill>
              <a:srgbClr val="E5E8EB"/>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50" b="1">
                <a:solidFill>
                  <a:srgbClr val="22252B"/>
                </a:solidFill>
                <a:latin typeface="Arial"/>
              </a:rPr>
              <a:t>Attendance</a:t>
            </a:r>
          </a:p>
        </p:txBody>
      </p:sp>
      <p:sp>
        <p:nvSpPr>
          <p:cNvPr id="11" name="Rounded Rectangle 10"/>
          <p:cNvSpPr/>
          <p:nvPr/>
        </p:nvSpPr>
        <p:spPr>
          <a:xfrm>
            <a:off x="2971800" y="4379976"/>
            <a:ext cx="649224" cy="420624"/>
          </a:xfrm>
          <a:prstGeom prst="roundRect">
            <a:avLst>
              <a:gd name="adj" fmla="val 50000"/>
            </a:avLst>
          </a:prstGeom>
          <a:solidFill>
            <a:srgbClr val="FFFFFF"/>
          </a:solidFill>
          <a:ln w="12700">
            <a:solidFill>
              <a:srgbClr val="E5E8EB"/>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50" b="1">
                <a:solidFill>
                  <a:srgbClr val="22252B"/>
                </a:solidFill>
                <a:latin typeface="Arial"/>
              </a:rPr>
              <a:t>CGPA</a:t>
            </a:r>
          </a:p>
        </p:txBody>
      </p:sp>
      <p:sp>
        <p:nvSpPr>
          <p:cNvPr id="12" name="Rounded Rectangle 11"/>
          <p:cNvSpPr/>
          <p:nvPr/>
        </p:nvSpPr>
        <p:spPr>
          <a:xfrm>
            <a:off x="640080" y="4946904"/>
            <a:ext cx="1216152" cy="420624"/>
          </a:xfrm>
          <a:prstGeom prst="roundRect">
            <a:avLst>
              <a:gd name="adj" fmla="val 50000"/>
            </a:avLst>
          </a:prstGeom>
          <a:solidFill>
            <a:srgbClr val="FFFFFF"/>
          </a:solidFill>
          <a:ln w="12700">
            <a:solidFill>
              <a:srgbClr val="E5E8EB"/>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50" b="1">
                <a:solidFill>
                  <a:srgbClr val="22252B"/>
                </a:solidFill>
                <a:latin typeface="Arial"/>
              </a:rPr>
              <a:t>Achievements</a:t>
            </a:r>
          </a:p>
        </p:txBody>
      </p:sp>
      <p:sp>
        <p:nvSpPr>
          <p:cNvPr id="13" name="Rounded Rectangle 12"/>
          <p:cNvSpPr/>
          <p:nvPr/>
        </p:nvSpPr>
        <p:spPr>
          <a:xfrm>
            <a:off x="2971800" y="4946904"/>
            <a:ext cx="1287018" cy="420624"/>
          </a:xfrm>
          <a:prstGeom prst="roundRect">
            <a:avLst>
              <a:gd name="adj" fmla="val 50000"/>
            </a:avLst>
          </a:prstGeom>
          <a:solidFill>
            <a:srgbClr val="FFFFFF"/>
          </a:solidFill>
          <a:ln w="12700">
            <a:solidFill>
              <a:srgbClr val="E5E8EB"/>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50" b="1">
                <a:solidFill>
                  <a:srgbClr val="22252B"/>
                </a:solidFill>
                <a:latin typeface="Arial"/>
              </a:rPr>
              <a:t>Notifications</a:t>
            </a:r>
          </a:p>
        </p:txBody>
      </p:sp>
      <p:sp>
        <p:nvSpPr>
          <p:cNvPr id="14" name="TextBox 13"/>
          <p:cNvSpPr txBox="1"/>
          <p:nvPr/>
        </p:nvSpPr>
        <p:spPr>
          <a:xfrm>
            <a:off x="640080" y="5806440"/>
            <a:ext cx="4846320" cy="457200"/>
          </a:xfrm>
          <a:prstGeom prst="rect">
            <a:avLst/>
          </a:prstGeom>
          <a:noFill/>
        </p:spPr>
        <p:txBody>
          <a:bodyPr wrap="square" lIns="0" rIns="0" tIns="0" bIns="0" anchor="t">
            <a:spAutoFit/>
          </a:bodyPr>
          <a:lstStyle/>
          <a:p>
            <a:pPr algn="l">
              <a:lnSpc>
                <a:spcPct val="100000"/>
              </a:lnSpc>
            </a:pPr>
            <a:r>
              <a:rPr sz="1250" b="1">
                <a:solidFill>
                  <a:srgbClr val="53655C"/>
                </a:solidFill>
                <a:latin typeface="Arial"/>
              </a:rPr>
              <a:t>One account.  One quiet home for the whole semester.</a:t>
            </a:r>
          </a:p>
        </p:txBody>
      </p:sp>
      <p:sp>
        <p:nvSpPr>
          <p:cNvPr id="15" name="Rounded Rectangle 14"/>
          <p:cNvSpPr/>
          <p:nvPr/>
        </p:nvSpPr>
        <p:spPr>
          <a:xfrm>
            <a:off x="5806440" y="1371600"/>
            <a:ext cx="5760720" cy="3600449"/>
          </a:xfrm>
          <a:prstGeom prst="roundRect">
            <a:avLst>
              <a:gd name="adj" fmla="val 4500"/>
            </a:avLst>
          </a:prstGeom>
          <a:solidFill>
            <a:srgbClr val="FFFFFF"/>
          </a:solidFill>
          <a:ln>
            <a:noFill/>
          </a:ln>
          <a:effectLst>
            <a:outerShdw blurRad="91440" dist="50292" dir="5400000" rotWithShape="0">
              <a:srgbClr val="22252B">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dashboard_desktop.png"/>
          <p:cNvPicPr>
            <a:picLocks noChangeAspect="1"/>
          </p:cNvPicPr>
          <p:nvPr/>
        </p:nvPicPr>
        <p:blipFill>
          <a:blip r:embed="rId2"/>
          <a:stretch>
            <a:fillRect/>
          </a:stretch>
        </p:blipFill>
        <p:spPr>
          <a:xfrm>
            <a:off x="5806440" y="1371600"/>
            <a:ext cx="5760720" cy="3600449"/>
          </a:xfrm>
          <a:prstGeom prst="rect">
            <a:avLst/>
          </a:prstGeom>
          <a:effectLst/>
        </p:spPr>
      </p:pic>
      <p:sp>
        <p:nvSpPr>
          <p:cNvPr id="17" name="TextBox 16"/>
          <p:cNvSpPr txBox="1"/>
          <p:nvPr/>
        </p:nvSpPr>
        <p:spPr>
          <a:xfrm>
            <a:off x="5806440" y="5138928"/>
            <a:ext cx="5760720" cy="274320"/>
          </a:xfrm>
          <a:prstGeom prst="rect">
            <a:avLst/>
          </a:prstGeom>
          <a:noFill/>
        </p:spPr>
        <p:txBody>
          <a:bodyPr wrap="square" lIns="0" rIns="0" tIns="0" bIns="0" anchor="t">
            <a:spAutoFit/>
          </a:bodyPr>
          <a:lstStyle/>
          <a:p>
            <a:pPr algn="l">
              <a:lnSpc>
                <a:spcPct val="100000"/>
              </a:lnSpc>
            </a:pPr>
            <a:r>
              <a:rPr sz="1050" b="0" i="1">
                <a:solidFill>
                  <a:srgbClr val="A3AEB1"/>
                </a:solidFill>
                <a:latin typeface="Arial"/>
              </a:rPr>
              <a:t>Dashboard — today's tasks, weekly progress and a mini-calendar at a glance.</a:t>
            </a:r>
          </a:p>
        </p:txBody>
      </p:sp>
      <p:sp>
        <p:nvSpPr>
          <p:cNvPr id="18" name="TextBox 17"/>
          <p:cNvSpPr txBox="1"/>
          <p:nvPr/>
        </p:nvSpPr>
        <p:spPr>
          <a:xfrm>
            <a:off x="640080" y="6455664"/>
            <a:ext cx="4572000" cy="274320"/>
          </a:xfrm>
          <a:prstGeom prst="rect">
            <a:avLst/>
          </a:prstGeom>
          <a:noFill/>
        </p:spPr>
        <p:txBody>
          <a:bodyPr wrap="square" lIns="0" rIns="0" tIns="0" bIns="0" anchor="t">
            <a:spAutoFit/>
          </a:bodyPr>
          <a:lstStyle/>
          <a:p>
            <a:pPr algn="l">
              <a:lnSpc>
                <a:spcPct val="100000"/>
              </a:lnSpc>
            </a:pPr>
            <a:r>
              <a:rPr sz="950" b="0">
                <a:solidFill>
                  <a:srgbClr val="A3AEB1"/>
                </a:solidFill>
                <a:latin typeface="Arial"/>
              </a:rPr>
              <a:t>Synora  ·  Web Development Project</a:t>
            </a:r>
          </a:p>
        </p:txBody>
      </p:sp>
      <p:sp>
        <p:nvSpPr>
          <p:cNvPr id="19" name="TextBox 18"/>
          <p:cNvSpPr txBox="1"/>
          <p:nvPr/>
        </p:nvSpPr>
        <p:spPr>
          <a:xfrm>
            <a:off x="9722815" y="6455664"/>
            <a:ext cx="1828800" cy="274320"/>
          </a:xfrm>
          <a:prstGeom prst="rect">
            <a:avLst/>
          </a:prstGeom>
          <a:noFill/>
        </p:spPr>
        <p:txBody>
          <a:bodyPr wrap="square" lIns="0" rIns="0" tIns="0" bIns="0" anchor="t">
            <a:spAutoFit/>
          </a:bodyPr>
          <a:lstStyle/>
          <a:p>
            <a:pPr algn="r">
              <a:lnSpc>
                <a:spcPct val="100000"/>
              </a:lnSpc>
            </a:pPr>
            <a:r>
              <a:rPr sz="950" b="0">
                <a:solidFill>
                  <a:srgbClr val="A3AEB1"/>
                </a:solidFill>
                <a:latin typeface="Arial"/>
              </a:rPr>
              <a:t>02 / 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7315200" cy="274320"/>
          </a:xfrm>
          <a:prstGeom prst="rect">
            <a:avLst/>
          </a:prstGeom>
          <a:noFill/>
        </p:spPr>
        <p:txBody>
          <a:bodyPr wrap="square" lIns="0" rIns="0" tIns="0" bIns="0" anchor="t">
            <a:spAutoFit/>
          </a:bodyPr>
          <a:lstStyle/>
          <a:p>
            <a:pPr algn="l">
              <a:lnSpc>
                <a:spcPct val="100000"/>
              </a:lnSpc>
            </a:pPr>
            <a:r>
              <a:rPr sz="1200" b="1" spc="180">
                <a:solidFill>
                  <a:srgbClr val="B09F95"/>
                </a:solidFill>
                <a:latin typeface="Arial"/>
              </a:rPr>
              <a:t>THE PROBLEM</a:t>
            </a:r>
          </a:p>
        </p:txBody>
      </p:sp>
      <p:sp>
        <p:nvSpPr>
          <p:cNvPr id="4" name="TextBox 3"/>
          <p:cNvSpPr txBox="1"/>
          <p:nvPr/>
        </p:nvSpPr>
        <p:spPr>
          <a:xfrm>
            <a:off x="640080" y="841247"/>
            <a:ext cx="10911535" cy="822960"/>
          </a:xfrm>
          <a:prstGeom prst="rect">
            <a:avLst/>
          </a:prstGeom>
          <a:noFill/>
        </p:spPr>
        <p:txBody>
          <a:bodyPr wrap="square" lIns="0" rIns="0" tIns="0" bIns="0" anchor="t">
            <a:spAutoFit/>
          </a:bodyPr>
          <a:lstStyle/>
          <a:p>
            <a:pPr algn="l">
              <a:lnSpc>
                <a:spcPct val="100000"/>
              </a:lnSpc>
            </a:pPr>
            <a:r>
              <a:rPr sz="3000" b="1">
                <a:solidFill>
                  <a:srgbClr val="22252B"/>
                </a:solidFill>
                <a:latin typeface="Arial"/>
              </a:rPr>
              <a:t>Why we built it</a:t>
            </a:r>
          </a:p>
        </p:txBody>
      </p:sp>
      <p:sp>
        <p:nvSpPr>
          <p:cNvPr id="5" name="TextBox 4"/>
          <p:cNvSpPr txBox="1"/>
          <p:nvPr/>
        </p:nvSpPr>
        <p:spPr>
          <a:xfrm>
            <a:off x="640080" y="1554480"/>
            <a:ext cx="4937760" cy="1554480"/>
          </a:xfrm>
          <a:prstGeom prst="rect">
            <a:avLst/>
          </a:prstGeom>
          <a:noFill/>
        </p:spPr>
        <p:txBody>
          <a:bodyPr wrap="square" lIns="0" rIns="0" tIns="0" bIns="0" anchor="t">
            <a:spAutoFit/>
          </a:bodyPr>
          <a:lstStyle/>
          <a:p>
            <a:pPr algn="l">
              <a:lnSpc>
                <a:spcPct val="134000"/>
              </a:lnSpc>
            </a:pPr>
            <a:r>
              <a:rPr sz="1450" b="0">
                <a:solidFill>
                  <a:srgbClr val="606772"/>
                </a:solidFill>
                <a:latin typeface="Arial"/>
              </a:rPr>
              <a:t>A student's semester is scattered across a to-do app, the class WhatsApp, a notes app, a spreadsheet for attendance and another for grades. Nothing talks to anything.</a:t>
            </a:r>
          </a:p>
        </p:txBody>
      </p:sp>
      <p:sp>
        <p:nvSpPr>
          <p:cNvPr id="6" name="Rounded Rectangle 5"/>
          <p:cNvSpPr/>
          <p:nvPr/>
        </p:nvSpPr>
        <p:spPr>
          <a:xfrm>
            <a:off x="640080" y="3246120"/>
            <a:ext cx="2057400" cy="512064"/>
          </a:xfrm>
          <a:prstGeom prst="roundRect">
            <a:avLst>
              <a:gd name="adj" fmla="val 14000"/>
            </a:avLst>
          </a:prstGeom>
          <a:solidFill>
            <a:srgbClr val="FFFFFF"/>
          </a:solidFill>
          <a:ln w="15240">
            <a:solidFill>
              <a:srgbClr val="E5E8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3246120"/>
            <a:ext cx="2057400" cy="512064"/>
          </a:xfrm>
          <a:prstGeom prst="rect">
            <a:avLst/>
          </a:prstGeom>
          <a:noFill/>
        </p:spPr>
        <p:txBody>
          <a:bodyPr wrap="square" lIns="0" rIns="0" tIns="0" bIns="0" anchor="ctr">
            <a:spAutoFit/>
          </a:bodyPr>
          <a:lstStyle/>
          <a:p>
            <a:pPr algn="ctr">
              <a:lnSpc>
                <a:spcPct val="100000"/>
              </a:lnSpc>
            </a:pPr>
            <a:r>
              <a:rPr sz="1200" b="0">
                <a:solidFill>
                  <a:srgbClr val="606772"/>
                </a:solidFill>
                <a:latin typeface="Arial"/>
              </a:rPr>
              <a:t>To-do app</a:t>
            </a:r>
          </a:p>
        </p:txBody>
      </p:sp>
      <p:sp>
        <p:nvSpPr>
          <p:cNvPr id="8" name="Rounded Rectangle 7"/>
          <p:cNvSpPr/>
          <p:nvPr/>
        </p:nvSpPr>
        <p:spPr>
          <a:xfrm>
            <a:off x="2880360" y="3246120"/>
            <a:ext cx="2057400" cy="512064"/>
          </a:xfrm>
          <a:prstGeom prst="roundRect">
            <a:avLst>
              <a:gd name="adj" fmla="val 14000"/>
            </a:avLst>
          </a:prstGeom>
          <a:solidFill>
            <a:srgbClr val="FFFFFF"/>
          </a:solidFill>
          <a:ln w="15240">
            <a:solidFill>
              <a:srgbClr val="E5E8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80360" y="3246120"/>
            <a:ext cx="2057400" cy="512064"/>
          </a:xfrm>
          <a:prstGeom prst="rect">
            <a:avLst/>
          </a:prstGeom>
          <a:noFill/>
        </p:spPr>
        <p:txBody>
          <a:bodyPr wrap="square" lIns="0" rIns="0" tIns="0" bIns="0" anchor="ctr">
            <a:spAutoFit/>
          </a:bodyPr>
          <a:lstStyle/>
          <a:p>
            <a:pPr algn="ctr">
              <a:lnSpc>
                <a:spcPct val="100000"/>
              </a:lnSpc>
            </a:pPr>
            <a:r>
              <a:rPr sz="1200" b="0">
                <a:solidFill>
                  <a:srgbClr val="606772"/>
                </a:solidFill>
                <a:latin typeface="Arial"/>
              </a:rPr>
              <a:t>Sticky notes</a:t>
            </a:r>
          </a:p>
        </p:txBody>
      </p:sp>
      <p:sp>
        <p:nvSpPr>
          <p:cNvPr id="10" name="Rounded Rectangle 9"/>
          <p:cNvSpPr/>
          <p:nvPr/>
        </p:nvSpPr>
        <p:spPr>
          <a:xfrm>
            <a:off x="640080" y="3904487"/>
            <a:ext cx="2057400" cy="512064"/>
          </a:xfrm>
          <a:prstGeom prst="roundRect">
            <a:avLst>
              <a:gd name="adj" fmla="val 14000"/>
            </a:avLst>
          </a:prstGeom>
          <a:solidFill>
            <a:srgbClr val="FFFFFF"/>
          </a:solidFill>
          <a:ln w="15240">
            <a:solidFill>
              <a:srgbClr val="E5E8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904487"/>
            <a:ext cx="2057400" cy="512064"/>
          </a:xfrm>
          <a:prstGeom prst="rect">
            <a:avLst/>
          </a:prstGeom>
          <a:noFill/>
        </p:spPr>
        <p:txBody>
          <a:bodyPr wrap="square" lIns="0" rIns="0" tIns="0" bIns="0" anchor="ctr">
            <a:spAutoFit/>
          </a:bodyPr>
          <a:lstStyle/>
          <a:p>
            <a:pPr algn="ctr">
              <a:lnSpc>
                <a:spcPct val="100000"/>
              </a:lnSpc>
            </a:pPr>
            <a:r>
              <a:rPr sz="1200" b="0">
                <a:solidFill>
                  <a:srgbClr val="606772"/>
                </a:solidFill>
                <a:latin typeface="Arial"/>
              </a:rPr>
              <a:t>Spreadsheet</a:t>
            </a:r>
          </a:p>
        </p:txBody>
      </p:sp>
      <p:sp>
        <p:nvSpPr>
          <p:cNvPr id="12" name="Rounded Rectangle 11"/>
          <p:cNvSpPr/>
          <p:nvPr/>
        </p:nvSpPr>
        <p:spPr>
          <a:xfrm>
            <a:off x="2880360" y="3904487"/>
            <a:ext cx="2057400" cy="512064"/>
          </a:xfrm>
          <a:prstGeom prst="roundRect">
            <a:avLst>
              <a:gd name="adj" fmla="val 14000"/>
            </a:avLst>
          </a:prstGeom>
          <a:solidFill>
            <a:srgbClr val="FFFFFF"/>
          </a:solidFill>
          <a:ln w="15240">
            <a:solidFill>
              <a:srgbClr val="E5E8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80360" y="3904487"/>
            <a:ext cx="2057400" cy="512064"/>
          </a:xfrm>
          <a:prstGeom prst="rect">
            <a:avLst/>
          </a:prstGeom>
          <a:noFill/>
        </p:spPr>
        <p:txBody>
          <a:bodyPr wrap="square" lIns="0" rIns="0" tIns="0" bIns="0" anchor="ctr">
            <a:spAutoFit/>
          </a:bodyPr>
          <a:lstStyle/>
          <a:p>
            <a:pPr algn="ctr">
              <a:lnSpc>
                <a:spcPct val="100000"/>
              </a:lnSpc>
            </a:pPr>
            <a:r>
              <a:rPr sz="1200" b="0">
                <a:solidFill>
                  <a:srgbClr val="606772"/>
                </a:solidFill>
                <a:latin typeface="Arial"/>
              </a:rPr>
              <a:t>Group chat</a:t>
            </a:r>
          </a:p>
        </p:txBody>
      </p:sp>
      <p:sp>
        <p:nvSpPr>
          <p:cNvPr id="14" name="Rounded Rectangle 13"/>
          <p:cNvSpPr/>
          <p:nvPr/>
        </p:nvSpPr>
        <p:spPr>
          <a:xfrm>
            <a:off x="640080" y="4562856"/>
            <a:ext cx="2057400" cy="512064"/>
          </a:xfrm>
          <a:prstGeom prst="roundRect">
            <a:avLst>
              <a:gd name="adj" fmla="val 14000"/>
            </a:avLst>
          </a:prstGeom>
          <a:solidFill>
            <a:srgbClr val="FFFFFF"/>
          </a:solidFill>
          <a:ln w="15240">
            <a:solidFill>
              <a:srgbClr val="E5E8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562856"/>
            <a:ext cx="2057400" cy="512064"/>
          </a:xfrm>
          <a:prstGeom prst="rect">
            <a:avLst/>
          </a:prstGeom>
          <a:noFill/>
        </p:spPr>
        <p:txBody>
          <a:bodyPr wrap="square" lIns="0" rIns="0" tIns="0" bIns="0" anchor="ctr">
            <a:spAutoFit/>
          </a:bodyPr>
          <a:lstStyle/>
          <a:p>
            <a:pPr algn="ctr">
              <a:lnSpc>
                <a:spcPct val="100000"/>
              </a:lnSpc>
            </a:pPr>
            <a:r>
              <a:rPr sz="1200" b="0">
                <a:solidFill>
                  <a:srgbClr val="606772"/>
                </a:solidFill>
                <a:latin typeface="Arial"/>
              </a:rPr>
              <a:t>Calendar</a:t>
            </a:r>
          </a:p>
        </p:txBody>
      </p:sp>
      <p:sp>
        <p:nvSpPr>
          <p:cNvPr id="16" name="Rounded Rectangle 15"/>
          <p:cNvSpPr/>
          <p:nvPr/>
        </p:nvSpPr>
        <p:spPr>
          <a:xfrm>
            <a:off x="2880360" y="4562856"/>
            <a:ext cx="2057400" cy="512064"/>
          </a:xfrm>
          <a:prstGeom prst="roundRect">
            <a:avLst>
              <a:gd name="adj" fmla="val 14000"/>
            </a:avLst>
          </a:prstGeom>
          <a:solidFill>
            <a:srgbClr val="FFFFFF"/>
          </a:solidFill>
          <a:ln w="15240">
            <a:solidFill>
              <a:srgbClr val="E5E8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80360" y="4562856"/>
            <a:ext cx="2057400" cy="512064"/>
          </a:xfrm>
          <a:prstGeom prst="rect">
            <a:avLst/>
          </a:prstGeom>
          <a:noFill/>
        </p:spPr>
        <p:txBody>
          <a:bodyPr wrap="square" lIns="0" rIns="0" tIns="0" bIns="0" anchor="ctr">
            <a:spAutoFit/>
          </a:bodyPr>
          <a:lstStyle/>
          <a:p>
            <a:pPr algn="ctr">
              <a:lnSpc>
                <a:spcPct val="100000"/>
              </a:lnSpc>
            </a:pPr>
            <a:r>
              <a:rPr sz="1200" b="0">
                <a:solidFill>
                  <a:srgbClr val="606772"/>
                </a:solidFill>
                <a:latin typeface="Arial"/>
              </a:rPr>
              <a:t>Reminders</a:t>
            </a:r>
          </a:p>
        </p:txBody>
      </p:sp>
      <p:sp>
        <p:nvSpPr>
          <p:cNvPr id="18" name="TextBox 17"/>
          <p:cNvSpPr txBox="1"/>
          <p:nvPr/>
        </p:nvSpPr>
        <p:spPr>
          <a:xfrm>
            <a:off x="640080" y="5440680"/>
            <a:ext cx="4754880" cy="365760"/>
          </a:xfrm>
          <a:prstGeom prst="rect">
            <a:avLst/>
          </a:prstGeom>
          <a:noFill/>
        </p:spPr>
        <p:txBody>
          <a:bodyPr wrap="square" lIns="0" rIns="0" tIns="0" bIns="0" anchor="t">
            <a:spAutoFit/>
          </a:bodyPr>
          <a:lstStyle/>
          <a:p>
            <a:pPr algn="l">
              <a:lnSpc>
                <a:spcPct val="100000"/>
              </a:lnSpc>
            </a:pPr>
            <a:r>
              <a:rPr sz="1200" b="0" i="1">
                <a:solidFill>
                  <a:srgbClr val="A3AEB1"/>
                </a:solidFill>
                <a:latin typeface="Arial"/>
              </a:rPr>
              <a:t>Scattered tools, constant context-switching</a:t>
            </a:r>
          </a:p>
        </p:txBody>
      </p:sp>
      <p:sp>
        <p:nvSpPr>
          <p:cNvPr id="19" name="Chevron 18"/>
          <p:cNvSpPr/>
          <p:nvPr/>
        </p:nvSpPr>
        <p:spPr>
          <a:xfrm>
            <a:off x="5806440" y="3337560"/>
            <a:ext cx="502920" cy="457200"/>
          </a:xfrm>
          <a:prstGeom prst="chevron">
            <a:avLst/>
          </a:prstGeom>
          <a:solidFill>
            <a:srgbClr val="B09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720840" y="1874519"/>
            <a:ext cx="4846320" cy="3566160"/>
          </a:xfrm>
          <a:prstGeom prst="roundRect">
            <a:avLst>
              <a:gd name="adj" fmla="val 5000"/>
            </a:avLst>
          </a:prstGeom>
          <a:solidFill>
            <a:srgbClr val="22252B"/>
          </a:solidFill>
          <a:ln>
            <a:noFill/>
          </a:ln>
          <a:effectLst>
            <a:outerShdw blurRad="91440" dist="50292" dir="5400000" rotWithShape="0">
              <a:srgbClr val="22252B">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ogo-mark-dark.png"/>
          <p:cNvPicPr>
            <a:picLocks noChangeAspect="1"/>
          </p:cNvPicPr>
          <p:nvPr/>
        </p:nvPicPr>
        <p:blipFill>
          <a:blip r:embed="rId2"/>
          <a:stretch>
            <a:fillRect/>
          </a:stretch>
        </p:blipFill>
        <p:spPr>
          <a:xfrm>
            <a:off x="7086600" y="2286000"/>
            <a:ext cx="658368" cy="605971"/>
          </a:xfrm>
          <a:prstGeom prst="rect">
            <a:avLst/>
          </a:prstGeom>
          <a:effectLst/>
        </p:spPr>
      </p:pic>
      <p:sp>
        <p:nvSpPr>
          <p:cNvPr id="22" name="TextBox 21"/>
          <p:cNvSpPr txBox="1"/>
          <p:nvPr/>
        </p:nvSpPr>
        <p:spPr>
          <a:xfrm>
            <a:off x="7882127" y="2304288"/>
            <a:ext cx="3291840" cy="640080"/>
          </a:xfrm>
          <a:prstGeom prst="rect">
            <a:avLst/>
          </a:prstGeom>
          <a:noFill/>
        </p:spPr>
        <p:txBody>
          <a:bodyPr wrap="square" lIns="0" rIns="0" tIns="0" bIns="0" anchor="ctr">
            <a:spAutoFit/>
          </a:bodyPr>
          <a:lstStyle/>
          <a:p>
            <a:pPr algn="l">
              <a:lnSpc>
                <a:spcPct val="100000"/>
              </a:lnSpc>
            </a:pPr>
            <a:r>
              <a:rPr sz="2400" b="1">
                <a:solidFill>
                  <a:srgbClr val="F3F1EC"/>
                </a:solidFill>
                <a:latin typeface="Arial"/>
              </a:rPr>
              <a:t>Synora</a:t>
            </a:r>
          </a:p>
        </p:txBody>
      </p:sp>
      <p:sp>
        <p:nvSpPr>
          <p:cNvPr id="23" name="TextBox 22"/>
          <p:cNvSpPr txBox="1"/>
          <p:nvPr/>
        </p:nvSpPr>
        <p:spPr>
          <a:xfrm>
            <a:off x="7086600" y="3200400"/>
            <a:ext cx="4114800" cy="365760"/>
          </a:xfrm>
          <a:prstGeom prst="rect">
            <a:avLst/>
          </a:prstGeom>
          <a:noFill/>
        </p:spPr>
        <p:txBody>
          <a:bodyPr wrap="square" lIns="0" rIns="0" tIns="0" bIns="0" anchor="t">
            <a:spAutoFit/>
          </a:bodyPr>
          <a:lstStyle/>
          <a:p>
            <a:pPr algn="l">
              <a:lnSpc>
                <a:spcPct val="100000"/>
              </a:lnSpc>
            </a:pPr>
            <a:r>
              <a:rPr sz="1100" b="1" spc="180">
                <a:solidFill>
                  <a:srgbClr val="C9B9AE"/>
                </a:solidFill>
                <a:latin typeface="Arial"/>
              </a:rPr>
              <a:t>ONE CALM WORKSPACE</a:t>
            </a:r>
          </a:p>
        </p:txBody>
      </p:sp>
      <p:sp>
        <p:nvSpPr>
          <p:cNvPr id="24" name="TextBox 23"/>
          <p:cNvSpPr txBox="1"/>
          <p:nvPr/>
        </p:nvSpPr>
        <p:spPr>
          <a:xfrm>
            <a:off x="7223760" y="3611880"/>
            <a:ext cx="4206240" cy="365760"/>
          </a:xfrm>
          <a:prstGeom prst="rect">
            <a:avLst/>
          </a:prstGeom>
          <a:noFill/>
        </p:spPr>
        <p:txBody>
          <a:bodyPr wrap="square" lIns="0" rIns="0" tIns="0" bIns="0" anchor="t">
            <a:spAutoFit/>
          </a:bodyPr>
          <a:lstStyle/>
          <a:p>
            <a:pPr algn="l">
              <a:lnSpc>
                <a:spcPct val="110000"/>
              </a:lnSpc>
            </a:pPr>
            <a:r>
              <a:rPr sz="1250" b="0">
                <a:solidFill>
                  <a:srgbClr val="F3F1EC"/>
                </a:solidFill>
                <a:latin typeface="Arial"/>
              </a:rPr>
              <a:t>—  Tasks, deadlines &amp; notes in one place</a:t>
            </a:r>
          </a:p>
        </p:txBody>
      </p:sp>
      <p:sp>
        <p:nvSpPr>
          <p:cNvPr id="25" name="TextBox 24"/>
          <p:cNvSpPr txBox="1"/>
          <p:nvPr/>
        </p:nvSpPr>
        <p:spPr>
          <a:xfrm>
            <a:off x="7223760" y="4014216"/>
            <a:ext cx="4206240" cy="365760"/>
          </a:xfrm>
          <a:prstGeom prst="rect">
            <a:avLst/>
          </a:prstGeom>
          <a:noFill/>
        </p:spPr>
        <p:txBody>
          <a:bodyPr wrap="square" lIns="0" rIns="0" tIns="0" bIns="0" anchor="t">
            <a:spAutoFit/>
          </a:bodyPr>
          <a:lstStyle/>
          <a:p>
            <a:pPr algn="l">
              <a:lnSpc>
                <a:spcPct val="110000"/>
              </a:lnSpc>
            </a:pPr>
            <a:r>
              <a:rPr sz="1250" b="0">
                <a:solidFill>
                  <a:srgbClr val="F3F1EC"/>
                </a:solidFill>
                <a:latin typeface="Arial"/>
              </a:rPr>
              <a:t>—  Attendance and CGPA that update live</a:t>
            </a:r>
          </a:p>
        </p:txBody>
      </p:sp>
      <p:sp>
        <p:nvSpPr>
          <p:cNvPr id="26" name="TextBox 25"/>
          <p:cNvSpPr txBox="1"/>
          <p:nvPr/>
        </p:nvSpPr>
        <p:spPr>
          <a:xfrm>
            <a:off x="7223760" y="4416552"/>
            <a:ext cx="4206240" cy="365760"/>
          </a:xfrm>
          <a:prstGeom prst="rect">
            <a:avLst/>
          </a:prstGeom>
          <a:noFill/>
        </p:spPr>
        <p:txBody>
          <a:bodyPr wrap="square" lIns="0" rIns="0" tIns="0" bIns="0" anchor="t">
            <a:spAutoFit/>
          </a:bodyPr>
          <a:lstStyle/>
          <a:p>
            <a:pPr algn="l">
              <a:lnSpc>
                <a:spcPct val="110000"/>
              </a:lnSpc>
            </a:pPr>
            <a:r>
              <a:rPr sz="1250" b="0">
                <a:solidFill>
                  <a:srgbClr val="F3F1EC"/>
                </a:solidFill>
                <a:latin typeface="Arial"/>
              </a:rPr>
              <a:t>—  Timetable, calendar and reminders together</a:t>
            </a:r>
          </a:p>
        </p:txBody>
      </p:sp>
      <p:sp>
        <p:nvSpPr>
          <p:cNvPr id="27" name="TextBox 26"/>
          <p:cNvSpPr txBox="1"/>
          <p:nvPr/>
        </p:nvSpPr>
        <p:spPr>
          <a:xfrm>
            <a:off x="7223760" y="4818888"/>
            <a:ext cx="4206240" cy="365760"/>
          </a:xfrm>
          <a:prstGeom prst="rect">
            <a:avLst/>
          </a:prstGeom>
          <a:noFill/>
        </p:spPr>
        <p:txBody>
          <a:bodyPr wrap="square" lIns="0" rIns="0" tIns="0" bIns="0" anchor="t">
            <a:spAutoFit/>
          </a:bodyPr>
          <a:lstStyle/>
          <a:p>
            <a:pPr algn="l">
              <a:lnSpc>
                <a:spcPct val="110000"/>
              </a:lnSpc>
            </a:pPr>
            <a:r>
              <a:rPr sz="1250" b="0">
                <a:solidFill>
                  <a:srgbClr val="F3F1EC"/>
                </a:solidFill>
                <a:latin typeface="Arial"/>
              </a:rPr>
              <a:t>—  Personal to each student, saved on-device</a:t>
            </a:r>
          </a:p>
        </p:txBody>
      </p:sp>
      <p:sp>
        <p:nvSpPr>
          <p:cNvPr id="28" name="TextBox 27"/>
          <p:cNvSpPr txBox="1"/>
          <p:nvPr/>
        </p:nvSpPr>
        <p:spPr>
          <a:xfrm>
            <a:off x="640080" y="6455664"/>
            <a:ext cx="4572000" cy="274320"/>
          </a:xfrm>
          <a:prstGeom prst="rect">
            <a:avLst/>
          </a:prstGeom>
          <a:noFill/>
        </p:spPr>
        <p:txBody>
          <a:bodyPr wrap="square" lIns="0" rIns="0" tIns="0" bIns="0" anchor="t">
            <a:spAutoFit/>
          </a:bodyPr>
          <a:lstStyle/>
          <a:p>
            <a:pPr algn="l">
              <a:lnSpc>
                <a:spcPct val="100000"/>
              </a:lnSpc>
            </a:pPr>
            <a:r>
              <a:rPr sz="950" b="0">
                <a:solidFill>
                  <a:srgbClr val="A3AEB1"/>
                </a:solidFill>
                <a:latin typeface="Arial"/>
              </a:rPr>
              <a:t>Synora  ·  Web Development Project</a:t>
            </a:r>
          </a:p>
        </p:txBody>
      </p:sp>
      <p:sp>
        <p:nvSpPr>
          <p:cNvPr id="29" name="TextBox 28"/>
          <p:cNvSpPr txBox="1"/>
          <p:nvPr/>
        </p:nvSpPr>
        <p:spPr>
          <a:xfrm>
            <a:off x="9722815" y="6455664"/>
            <a:ext cx="1828800" cy="274320"/>
          </a:xfrm>
          <a:prstGeom prst="rect">
            <a:avLst/>
          </a:prstGeom>
          <a:noFill/>
        </p:spPr>
        <p:txBody>
          <a:bodyPr wrap="square" lIns="0" rIns="0" tIns="0" bIns="0" anchor="t">
            <a:spAutoFit/>
          </a:bodyPr>
          <a:lstStyle/>
          <a:p>
            <a:pPr algn="r">
              <a:lnSpc>
                <a:spcPct val="100000"/>
              </a:lnSpc>
            </a:pPr>
            <a:r>
              <a:rPr sz="950" b="0">
                <a:solidFill>
                  <a:srgbClr val="A3AEB1"/>
                </a:solidFill>
                <a:latin typeface="Arial"/>
              </a:rPr>
              <a:t>03 / 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7315200" cy="274320"/>
          </a:xfrm>
          <a:prstGeom prst="rect">
            <a:avLst/>
          </a:prstGeom>
          <a:noFill/>
        </p:spPr>
        <p:txBody>
          <a:bodyPr wrap="square" lIns="0" rIns="0" tIns="0" bIns="0" anchor="t">
            <a:spAutoFit/>
          </a:bodyPr>
          <a:lstStyle/>
          <a:p>
            <a:pPr algn="l">
              <a:lnSpc>
                <a:spcPct val="100000"/>
              </a:lnSpc>
            </a:pPr>
            <a:r>
              <a:rPr sz="1200" b="1" spc="180">
                <a:solidFill>
                  <a:srgbClr val="B09F95"/>
                </a:solidFill>
                <a:latin typeface="Arial"/>
              </a:rPr>
              <a:t>THE FOUNDATION</a:t>
            </a:r>
          </a:p>
        </p:txBody>
      </p:sp>
      <p:sp>
        <p:nvSpPr>
          <p:cNvPr id="4" name="TextBox 3"/>
          <p:cNvSpPr txBox="1"/>
          <p:nvPr/>
        </p:nvSpPr>
        <p:spPr>
          <a:xfrm>
            <a:off x="640080" y="841247"/>
            <a:ext cx="10911535" cy="822960"/>
          </a:xfrm>
          <a:prstGeom prst="rect">
            <a:avLst/>
          </a:prstGeom>
          <a:noFill/>
        </p:spPr>
        <p:txBody>
          <a:bodyPr wrap="square" lIns="0" rIns="0" tIns="0" bIns="0" anchor="t">
            <a:spAutoFit/>
          </a:bodyPr>
          <a:lstStyle/>
          <a:p>
            <a:pPr algn="l">
              <a:lnSpc>
                <a:spcPct val="100000"/>
              </a:lnSpc>
            </a:pPr>
            <a:r>
              <a:rPr sz="3000" b="1">
                <a:solidFill>
                  <a:srgbClr val="22252B"/>
                </a:solidFill>
                <a:latin typeface="Arial"/>
              </a:rPr>
              <a:t>How Synora is built</a:t>
            </a:r>
          </a:p>
        </p:txBody>
      </p:sp>
      <p:sp>
        <p:nvSpPr>
          <p:cNvPr id="5" name="TextBox 4"/>
          <p:cNvSpPr txBox="1"/>
          <p:nvPr/>
        </p:nvSpPr>
        <p:spPr>
          <a:xfrm>
            <a:off x="640080" y="1517904"/>
            <a:ext cx="10911535" cy="457200"/>
          </a:xfrm>
          <a:prstGeom prst="rect">
            <a:avLst/>
          </a:prstGeom>
          <a:noFill/>
        </p:spPr>
        <p:txBody>
          <a:bodyPr wrap="square" lIns="0" rIns="0" tIns="0" bIns="0" anchor="t">
            <a:spAutoFit/>
          </a:bodyPr>
          <a:lstStyle/>
          <a:p>
            <a:pPr algn="l">
              <a:lnSpc>
                <a:spcPct val="100000"/>
              </a:lnSpc>
            </a:pPr>
            <a:r>
              <a:rPr sz="1450" b="0">
                <a:solidFill>
                  <a:srgbClr val="606772"/>
                </a:solidFill>
                <a:latin typeface="Arial"/>
              </a:rPr>
              <a:t>The syllabus building blocks are the whole foundation of the product — each layer does one job.</a:t>
            </a:r>
          </a:p>
        </p:txBody>
      </p:sp>
      <p:sp>
        <p:nvSpPr>
          <p:cNvPr id="6" name="Rounded Rectangle 5"/>
          <p:cNvSpPr/>
          <p:nvPr/>
        </p:nvSpPr>
        <p:spPr>
          <a:xfrm>
            <a:off x="640080" y="2194560"/>
            <a:ext cx="7040880" cy="603504"/>
          </a:xfrm>
          <a:prstGeom prst="roundRect">
            <a:avLst>
              <a:gd name="adj" fmla="val 9000"/>
            </a:avLst>
          </a:prstGeom>
          <a:solidFill>
            <a:srgbClr val="FFFFFF"/>
          </a:solidFill>
          <a:ln w="15240">
            <a:solidFill>
              <a:srgbClr val="E5E8EB"/>
            </a:solidFill>
          </a:ln>
          <a:effectLst>
            <a:outerShdw blurRad="91440" dist="50292" dir="5400000" rotWithShape="0">
              <a:srgbClr val="22252B">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68096" y="2295144"/>
            <a:ext cx="1481328" cy="402336"/>
          </a:xfrm>
          <a:prstGeom prst="roundRect">
            <a:avLst>
              <a:gd name="adj" fmla="val 16000"/>
            </a:avLst>
          </a:prstGeom>
          <a:solidFill>
            <a:srgbClr val="536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2295144"/>
            <a:ext cx="1481328" cy="402336"/>
          </a:xfrm>
          <a:prstGeom prst="rect">
            <a:avLst/>
          </a:prstGeom>
          <a:noFill/>
        </p:spPr>
        <p:txBody>
          <a:bodyPr wrap="square" lIns="0" rIns="0" tIns="0" bIns="0" anchor="ctr">
            <a:spAutoFit/>
          </a:bodyPr>
          <a:lstStyle/>
          <a:p>
            <a:pPr algn="ctr">
              <a:lnSpc>
                <a:spcPct val="100000"/>
              </a:lnSpc>
            </a:pPr>
            <a:r>
              <a:rPr sz="1300" b="1">
                <a:solidFill>
                  <a:srgbClr val="FFFFFF"/>
                </a:solidFill>
                <a:latin typeface="Arial"/>
              </a:rPr>
              <a:t>HTML5</a:t>
            </a:r>
          </a:p>
        </p:txBody>
      </p:sp>
      <p:sp>
        <p:nvSpPr>
          <p:cNvPr id="9" name="TextBox 8"/>
          <p:cNvSpPr txBox="1"/>
          <p:nvPr/>
        </p:nvSpPr>
        <p:spPr>
          <a:xfrm>
            <a:off x="2468880" y="2276856"/>
            <a:ext cx="2743200" cy="603504"/>
          </a:xfrm>
          <a:prstGeom prst="rect">
            <a:avLst/>
          </a:prstGeom>
          <a:noFill/>
        </p:spPr>
        <p:txBody>
          <a:bodyPr wrap="square" lIns="0" rIns="0" tIns="0" bIns="0" anchor="ctr">
            <a:spAutoFit/>
          </a:bodyPr>
          <a:lstStyle/>
          <a:p>
            <a:pPr algn="l">
              <a:lnSpc>
                <a:spcPct val="100000"/>
              </a:lnSpc>
            </a:pPr>
            <a:r>
              <a:rPr sz="1350" b="1">
                <a:solidFill>
                  <a:srgbClr val="22252B"/>
                </a:solidFill>
                <a:latin typeface="Arial"/>
              </a:rPr>
              <a:t>Structure &amp; meaning</a:t>
            </a:r>
          </a:p>
        </p:txBody>
      </p:sp>
      <p:sp>
        <p:nvSpPr>
          <p:cNvPr id="10" name="TextBox 9"/>
          <p:cNvSpPr txBox="1"/>
          <p:nvPr/>
        </p:nvSpPr>
        <p:spPr>
          <a:xfrm>
            <a:off x="4617720" y="2276856"/>
            <a:ext cx="3017520" cy="603504"/>
          </a:xfrm>
          <a:prstGeom prst="rect">
            <a:avLst/>
          </a:prstGeom>
          <a:noFill/>
        </p:spPr>
        <p:txBody>
          <a:bodyPr wrap="square" lIns="0" rIns="0" tIns="0" bIns="0" anchor="ctr">
            <a:spAutoFit/>
          </a:bodyPr>
          <a:lstStyle/>
          <a:p>
            <a:pPr algn="l">
              <a:lnSpc>
                <a:spcPct val="105000"/>
              </a:lnSpc>
            </a:pPr>
            <a:r>
              <a:rPr sz="1150" b="0">
                <a:solidFill>
                  <a:srgbClr val="606772"/>
                </a:solidFill>
                <a:latin typeface="Arial"/>
              </a:rPr>
              <a:t>Semantic pages, forms, accessible controls</a:t>
            </a:r>
          </a:p>
        </p:txBody>
      </p:sp>
      <p:sp>
        <p:nvSpPr>
          <p:cNvPr id="11" name="Rounded Rectangle 10"/>
          <p:cNvSpPr/>
          <p:nvPr/>
        </p:nvSpPr>
        <p:spPr>
          <a:xfrm>
            <a:off x="640080" y="2907791"/>
            <a:ext cx="7040880" cy="603504"/>
          </a:xfrm>
          <a:prstGeom prst="roundRect">
            <a:avLst>
              <a:gd name="adj" fmla="val 9000"/>
            </a:avLst>
          </a:prstGeom>
          <a:solidFill>
            <a:srgbClr val="FFFFFF"/>
          </a:solidFill>
          <a:ln w="15240">
            <a:solidFill>
              <a:srgbClr val="E5E8EB"/>
            </a:solidFill>
          </a:ln>
          <a:effectLst>
            <a:outerShdw blurRad="91440" dist="50292" dir="5400000" rotWithShape="0">
              <a:srgbClr val="22252B">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68096" y="3008375"/>
            <a:ext cx="1481328" cy="402336"/>
          </a:xfrm>
          <a:prstGeom prst="roundRect">
            <a:avLst>
              <a:gd name="adj" fmla="val 16000"/>
            </a:avLst>
          </a:prstGeom>
          <a:solidFill>
            <a:srgbClr val="B09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3008375"/>
            <a:ext cx="1481328" cy="402336"/>
          </a:xfrm>
          <a:prstGeom prst="rect">
            <a:avLst/>
          </a:prstGeom>
          <a:noFill/>
        </p:spPr>
        <p:txBody>
          <a:bodyPr wrap="square" lIns="0" rIns="0" tIns="0" bIns="0" anchor="ctr">
            <a:spAutoFit/>
          </a:bodyPr>
          <a:lstStyle/>
          <a:p>
            <a:pPr algn="ctr">
              <a:lnSpc>
                <a:spcPct val="100000"/>
              </a:lnSpc>
            </a:pPr>
            <a:r>
              <a:rPr sz="1300" b="1">
                <a:solidFill>
                  <a:srgbClr val="FFFFFF"/>
                </a:solidFill>
                <a:latin typeface="Arial"/>
              </a:rPr>
              <a:t>CSS3</a:t>
            </a:r>
          </a:p>
        </p:txBody>
      </p:sp>
      <p:sp>
        <p:nvSpPr>
          <p:cNvPr id="14" name="TextBox 13"/>
          <p:cNvSpPr txBox="1"/>
          <p:nvPr/>
        </p:nvSpPr>
        <p:spPr>
          <a:xfrm>
            <a:off x="2468880" y="2990087"/>
            <a:ext cx="2743200" cy="603504"/>
          </a:xfrm>
          <a:prstGeom prst="rect">
            <a:avLst/>
          </a:prstGeom>
          <a:noFill/>
        </p:spPr>
        <p:txBody>
          <a:bodyPr wrap="square" lIns="0" rIns="0" tIns="0" bIns="0" anchor="ctr">
            <a:spAutoFit/>
          </a:bodyPr>
          <a:lstStyle/>
          <a:p>
            <a:pPr algn="l">
              <a:lnSpc>
                <a:spcPct val="100000"/>
              </a:lnSpc>
            </a:pPr>
            <a:r>
              <a:rPr sz="1350" b="1">
                <a:solidFill>
                  <a:srgbClr val="22252B"/>
                </a:solidFill>
                <a:latin typeface="Arial"/>
              </a:rPr>
              <a:t>Design &amp; responsive layout</a:t>
            </a:r>
          </a:p>
        </p:txBody>
      </p:sp>
      <p:sp>
        <p:nvSpPr>
          <p:cNvPr id="15" name="TextBox 14"/>
          <p:cNvSpPr txBox="1"/>
          <p:nvPr/>
        </p:nvSpPr>
        <p:spPr>
          <a:xfrm>
            <a:off x="4617720" y="2990087"/>
            <a:ext cx="3017520" cy="603504"/>
          </a:xfrm>
          <a:prstGeom prst="rect">
            <a:avLst/>
          </a:prstGeom>
          <a:noFill/>
        </p:spPr>
        <p:txBody>
          <a:bodyPr wrap="square" lIns="0" rIns="0" tIns="0" bIns="0" anchor="ctr">
            <a:spAutoFit/>
          </a:bodyPr>
          <a:lstStyle/>
          <a:p>
            <a:pPr algn="l">
              <a:lnSpc>
                <a:spcPct val="105000"/>
              </a:lnSpc>
            </a:pPr>
            <a:r>
              <a:rPr sz="1150" b="0">
                <a:solidFill>
                  <a:srgbClr val="606772"/>
                </a:solidFill>
                <a:latin typeface="Arial"/>
              </a:rPr>
              <a:t>Design tokens, Flexbox, Grid, media queries</a:t>
            </a:r>
          </a:p>
        </p:txBody>
      </p:sp>
      <p:sp>
        <p:nvSpPr>
          <p:cNvPr id="16" name="Rounded Rectangle 15"/>
          <p:cNvSpPr/>
          <p:nvPr/>
        </p:nvSpPr>
        <p:spPr>
          <a:xfrm>
            <a:off x="640080" y="3621024"/>
            <a:ext cx="7040880" cy="603504"/>
          </a:xfrm>
          <a:prstGeom prst="roundRect">
            <a:avLst>
              <a:gd name="adj" fmla="val 9000"/>
            </a:avLst>
          </a:prstGeom>
          <a:solidFill>
            <a:srgbClr val="FFFFFF"/>
          </a:solidFill>
          <a:ln w="15240">
            <a:solidFill>
              <a:srgbClr val="E5E8EB"/>
            </a:solidFill>
          </a:ln>
          <a:effectLst>
            <a:outerShdw blurRad="91440" dist="50292" dir="5400000" rotWithShape="0">
              <a:srgbClr val="22252B">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68096" y="3721608"/>
            <a:ext cx="1481328" cy="402336"/>
          </a:xfrm>
          <a:prstGeom prst="roundRect">
            <a:avLst>
              <a:gd name="adj" fmla="val 16000"/>
            </a:avLst>
          </a:prstGeom>
          <a:solidFill>
            <a:srgbClr val="536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3721608"/>
            <a:ext cx="1481328" cy="402336"/>
          </a:xfrm>
          <a:prstGeom prst="rect">
            <a:avLst/>
          </a:prstGeom>
          <a:noFill/>
        </p:spPr>
        <p:txBody>
          <a:bodyPr wrap="square" lIns="0" rIns="0" tIns="0" bIns="0" anchor="ctr">
            <a:spAutoFit/>
          </a:bodyPr>
          <a:lstStyle/>
          <a:p>
            <a:pPr algn="ctr">
              <a:lnSpc>
                <a:spcPct val="100000"/>
              </a:lnSpc>
            </a:pPr>
            <a:r>
              <a:rPr sz="1300" b="1">
                <a:solidFill>
                  <a:srgbClr val="FFFFFF"/>
                </a:solidFill>
                <a:latin typeface="Arial"/>
              </a:rPr>
              <a:t>JavaScript</a:t>
            </a:r>
          </a:p>
        </p:txBody>
      </p:sp>
      <p:sp>
        <p:nvSpPr>
          <p:cNvPr id="19" name="TextBox 18"/>
          <p:cNvSpPr txBox="1"/>
          <p:nvPr/>
        </p:nvSpPr>
        <p:spPr>
          <a:xfrm>
            <a:off x="2468880" y="3703320"/>
            <a:ext cx="2743200" cy="603504"/>
          </a:xfrm>
          <a:prstGeom prst="rect">
            <a:avLst/>
          </a:prstGeom>
          <a:noFill/>
        </p:spPr>
        <p:txBody>
          <a:bodyPr wrap="square" lIns="0" rIns="0" tIns="0" bIns="0" anchor="ctr">
            <a:spAutoFit/>
          </a:bodyPr>
          <a:lstStyle/>
          <a:p>
            <a:pPr algn="l">
              <a:lnSpc>
                <a:spcPct val="100000"/>
              </a:lnSpc>
            </a:pPr>
            <a:r>
              <a:rPr sz="1350" b="1">
                <a:solidFill>
                  <a:srgbClr val="22252B"/>
                </a:solidFill>
                <a:latin typeface="Arial"/>
              </a:rPr>
              <a:t>Logic &amp; interactivity</a:t>
            </a:r>
          </a:p>
        </p:txBody>
      </p:sp>
      <p:sp>
        <p:nvSpPr>
          <p:cNvPr id="20" name="TextBox 19"/>
          <p:cNvSpPr txBox="1"/>
          <p:nvPr/>
        </p:nvSpPr>
        <p:spPr>
          <a:xfrm>
            <a:off x="4617720" y="3703320"/>
            <a:ext cx="3017520" cy="603504"/>
          </a:xfrm>
          <a:prstGeom prst="rect">
            <a:avLst/>
          </a:prstGeom>
          <a:noFill/>
        </p:spPr>
        <p:txBody>
          <a:bodyPr wrap="square" lIns="0" rIns="0" tIns="0" bIns="0" anchor="ctr">
            <a:spAutoFit/>
          </a:bodyPr>
          <a:lstStyle/>
          <a:p>
            <a:pPr algn="l">
              <a:lnSpc>
                <a:spcPct val="105000"/>
              </a:lnSpc>
            </a:pPr>
            <a:r>
              <a:rPr sz="1150" b="0">
                <a:solidFill>
                  <a:srgbClr val="606772"/>
                </a:solidFill>
                <a:latin typeface="Arial"/>
              </a:rPr>
              <a:t>State, functions, arrays, objects, loops</a:t>
            </a:r>
          </a:p>
        </p:txBody>
      </p:sp>
      <p:sp>
        <p:nvSpPr>
          <p:cNvPr id="21" name="Rounded Rectangle 20"/>
          <p:cNvSpPr/>
          <p:nvPr/>
        </p:nvSpPr>
        <p:spPr>
          <a:xfrm>
            <a:off x="640080" y="4334256"/>
            <a:ext cx="7040880" cy="603504"/>
          </a:xfrm>
          <a:prstGeom prst="roundRect">
            <a:avLst>
              <a:gd name="adj" fmla="val 9000"/>
            </a:avLst>
          </a:prstGeom>
          <a:solidFill>
            <a:srgbClr val="FFFFFF"/>
          </a:solidFill>
          <a:ln w="15240">
            <a:solidFill>
              <a:srgbClr val="E5E8EB"/>
            </a:solidFill>
          </a:ln>
          <a:effectLst>
            <a:outerShdw blurRad="91440" dist="50292" dir="5400000" rotWithShape="0">
              <a:srgbClr val="22252B">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68096" y="4434840"/>
            <a:ext cx="1481328" cy="402336"/>
          </a:xfrm>
          <a:prstGeom prst="roundRect">
            <a:avLst>
              <a:gd name="adj" fmla="val 16000"/>
            </a:avLst>
          </a:prstGeom>
          <a:solidFill>
            <a:srgbClr val="B09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4434840"/>
            <a:ext cx="1481328" cy="402336"/>
          </a:xfrm>
          <a:prstGeom prst="rect">
            <a:avLst/>
          </a:prstGeom>
          <a:noFill/>
        </p:spPr>
        <p:txBody>
          <a:bodyPr wrap="square" lIns="0" rIns="0" tIns="0" bIns="0" anchor="ctr">
            <a:spAutoFit/>
          </a:bodyPr>
          <a:lstStyle/>
          <a:p>
            <a:pPr algn="ctr">
              <a:lnSpc>
                <a:spcPct val="100000"/>
              </a:lnSpc>
            </a:pPr>
            <a:r>
              <a:rPr sz="1300" b="1">
                <a:solidFill>
                  <a:srgbClr val="FFFFFF"/>
                </a:solidFill>
                <a:latin typeface="Arial"/>
              </a:rPr>
              <a:t>DOM APIs</a:t>
            </a:r>
          </a:p>
        </p:txBody>
      </p:sp>
      <p:sp>
        <p:nvSpPr>
          <p:cNvPr id="24" name="TextBox 23"/>
          <p:cNvSpPr txBox="1"/>
          <p:nvPr/>
        </p:nvSpPr>
        <p:spPr>
          <a:xfrm>
            <a:off x="2468880" y="4416552"/>
            <a:ext cx="2743200" cy="603504"/>
          </a:xfrm>
          <a:prstGeom prst="rect">
            <a:avLst/>
          </a:prstGeom>
          <a:noFill/>
        </p:spPr>
        <p:txBody>
          <a:bodyPr wrap="square" lIns="0" rIns="0" tIns="0" bIns="0" anchor="ctr">
            <a:spAutoFit/>
          </a:bodyPr>
          <a:lstStyle/>
          <a:p>
            <a:pPr algn="l">
              <a:lnSpc>
                <a:spcPct val="100000"/>
              </a:lnSpc>
            </a:pPr>
            <a:r>
              <a:rPr sz="1350" b="1">
                <a:solidFill>
                  <a:srgbClr val="22252B"/>
                </a:solidFill>
                <a:latin typeface="Arial"/>
              </a:rPr>
              <a:t>A dynamic interface</a:t>
            </a:r>
          </a:p>
        </p:txBody>
      </p:sp>
      <p:sp>
        <p:nvSpPr>
          <p:cNvPr id="25" name="TextBox 24"/>
          <p:cNvSpPr txBox="1"/>
          <p:nvPr/>
        </p:nvSpPr>
        <p:spPr>
          <a:xfrm>
            <a:off x="4617720" y="4416552"/>
            <a:ext cx="3017520" cy="603504"/>
          </a:xfrm>
          <a:prstGeom prst="rect">
            <a:avLst/>
          </a:prstGeom>
          <a:noFill/>
        </p:spPr>
        <p:txBody>
          <a:bodyPr wrap="square" lIns="0" rIns="0" tIns="0" bIns="0" anchor="ctr">
            <a:spAutoFit/>
          </a:bodyPr>
          <a:lstStyle/>
          <a:p>
            <a:pPr algn="l">
              <a:lnSpc>
                <a:spcPct val="105000"/>
              </a:lnSpc>
            </a:pPr>
            <a:r>
              <a:rPr sz="1150" b="0">
                <a:solidFill>
                  <a:srgbClr val="606772"/>
                </a:solidFill>
                <a:latin typeface="Arial"/>
              </a:rPr>
              <a:t>Select, read, write, create &amp; remove nodes</a:t>
            </a:r>
          </a:p>
        </p:txBody>
      </p:sp>
      <p:sp>
        <p:nvSpPr>
          <p:cNvPr id="26" name="Rounded Rectangle 25"/>
          <p:cNvSpPr/>
          <p:nvPr/>
        </p:nvSpPr>
        <p:spPr>
          <a:xfrm>
            <a:off x="640080" y="5047488"/>
            <a:ext cx="7040880" cy="603504"/>
          </a:xfrm>
          <a:prstGeom prst="roundRect">
            <a:avLst>
              <a:gd name="adj" fmla="val 9000"/>
            </a:avLst>
          </a:prstGeom>
          <a:solidFill>
            <a:srgbClr val="FFFFFF"/>
          </a:solidFill>
          <a:ln w="15240">
            <a:solidFill>
              <a:srgbClr val="E5E8EB"/>
            </a:solidFill>
          </a:ln>
          <a:effectLst>
            <a:outerShdw blurRad="91440" dist="50292" dir="5400000" rotWithShape="0">
              <a:srgbClr val="22252B">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68096" y="5148072"/>
            <a:ext cx="1481328" cy="402336"/>
          </a:xfrm>
          <a:prstGeom prst="roundRect">
            <a:avLst>
              <a:gd name="adj" fmla="val 16000"/>
            </a:avLst>
          </a:prstGeom>
          <a:solidFill>
            <a:srgbClr val="536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148072"/>
            <a:ext cx="1481328" cy="402336"/>
          </a:xfrm>
          <a:prstGeom prst="rect">
            <a:avLst/>
          </a:prstGeom>
          <a:noFill/>
        </p:spPr>
        <p:txBody>
          <a:bodyPr wrap="square" lIns="0" rIns="0" tIns="0" bIns="0" anchor="ctr">
            <a:spAutoFit/>
          </a:bodyPr>
          <a:lstStyle/>
          <a:p>
            <a:pPr algn="ctr">
              <a:lnSpc>
                <a:spcPct val="100000"/>
              </a:lnSpc>
            </a:pPr>
            <a:r>
              <a:rPr sz="1300" b="1">
                <a:solidFill>
                  <a:srgbClr val="FFFFFF"/>
                </a:solidFill>
                <a:latin typeface="Arial"/>
              </a:rPr>
              <a:t>Events</a:t>
            </a:r>
          </a:p>
        </p:txBody>
      </p:sp>
      <p:sp>
        <p:nvSpPr>
          <p:cNvPr id="29" name="TextBox 28"/>
          <p:cNvSpPr txBox="1"/>
          <p:nvPr/>
        </p:nvSpPr>
        <p:spPr>
          <a:xfrm>
            <a:off x="2468880" y="5129783"/>
            <a:ext cx="2743200" cy="603504"/>
          </a:xfrm>
          <a:prstGeom prst="rect">
            <a:avLst/>
          </a:prstGeom>
          <a:noFill/>
        </p:spPr>
        <p:txBody>
          <a:bodyPr wrap="square" lIns="0" rIns="0" tIns="0" bIns="0" anchor="ctr">
            <a:spAutoFit/>
          </a:bodyPr>
          <a:lstStyle/>
          <a:p>
            <a:pPr algn="l">
              <a:lnSpc>
                <a:spcPct val="100000"/>
              </a:lnSpc>
            </a:pPr>
            <a:r>
              <a:rPr sz="1350" b="1">
                <a:solidFill>
                  <a:srgbClr val="22252B"/>
                </a:solidFill>
                <a:latin typeface="Arial"/>
              </a:rPr>
              <a:t>Response to the user</a:t>
            </a:r>
          </a:p>
        </p:txBody>
      </p:sp>
      <p:sp>
        <p:nvSpPr>
          <p:cNvPr id="30" name="TextBox 29"/>
          <p:cNvSpPr txBox="1"/>
          <p:nvPr/>
        </p:nvSpPr>
        <p:spPr>
          <a:xfrm>
            <a:off x="4617720" y="5129783"/>
            <a:ext cx="3017520" cy="603504"/>
          </a:xfrm>
          <a:prstGeom prst="rect">
            <a:avLst/>
          </a:prstGeom>
          <a:noFill/>
        </p:spPr>
        <p:txBody>
          <a:bodyPr wrap="square" lIns="0" rIns="0" tIns="0" bIns="0" anchor="ctr">
            <a:spAutoFit/>
          </a:bodyPr>
          <a:lstStyle/>
          <a:p>
            <a:pPr algn="l">
              <a:lnSpc>
                <a:spcPct val="105000"/>
              </a:lnSpc>
            </a:pPr>
            <a:r>
              <a:rPr sz="1150" b="0">
                <a:solidFill>
                  <a:srgbClr val="606772"/>
                </a:solidFill>
                <a:latin typeface="Arial"/>
              </a:rPr>
              <a:t>addEventListener, delegation, validation</a:t>
            </a:r>
          </a:p>
        </p:txBody>
      </p:sp>
      <p:sp>
        <p:nvSpPr>
          <p:cNvPr id="31" name="Rounded Rectangle 30"/>
          <p:cNvSpPr/>
          <p:nvPr/>
        </p:nvSpPr>
        <p:spPr>
          <a:xfrm>
            <a:off x="640080" y="5760720"/>
            <a:ext cx="7040880" cy="603504"/>
          </a:xfrm>
          <a:prstGeom prst="roundRect">
            <a:avLst>
              <a:gd name="adj" fmla="val 9000"/>
            </a:avLst>
          </a:prstGeom>
          <a:solidFill>
            <a:srgbClr val="FFFFFF"/>
          </a:solidFill>
          <a:ln w="15240">
            <a:solidFill>
              <a:srgbClr val="E5E8EB"/>
            </a:solidFill>
          </a:ln>
          <a:effectLst>
            <a:outerShdw blurRad="91440" dist="50292" dir="5400000" rotWithShape="0">
              <a:srgbClr val="22252B">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68096" y="5861304"/>
            <a:ext cx="1481328" cy="402336"/>
          </a:xfrm>
          <a:prstGeom prst="roundRect">
            <a:avLst>
              <a:gd name="adj" fmla="val 16000"/>
            </a:avLst>
          </a:prstGeom>
          <a:solidFill>
            <a:srgbClr val="A3A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68096" y="5861304"/>
            <a:ext cx="1481328" cy="402336"/>
          </a:xfrm>
          <a:prstGeom prst="rect">
            <a:avLst/>
          </a:prstGeom>
          <a:noFill/>
        </p:spPr>
        <p:txBody>
          <a:bodyPr wrap="square" lIns="0" rIns="0" tIns="0" bIns="0" anchor="ctr">
            <a:spAutoFit/>
          </a:bodyPr>
          <a:lstStyle/>
          <a:p>
            <a:pPr algn="ctr">
              <a:lnSpc>
                <a:spcPct val="100000"/>
              </a:lnSpc>
            </a:pPr>
            <a:r>
              <a:rPr sz="1300" b="1">
                <a:solidFill>
                  <a:srgbClr val="FFFFFF"/>
                </a:solidFill>
                <a:latin typeface="Arial"/>
              </a:rPr>
              <a:t>localStorage</a:t>
            </a:r>
          </a:p>
        </p:txBody>
      </p:sp>
      <p:sp>
        <p:nvSpPr>
          <p:cNvPr id="34" name="TextBox 33"/>
          <p:cNvSpPr txBox="1"/>
          <p:nvPr/>
        </p:nvSpPr>
        <p:spPr>
          <a:xfrm>
            <a:off x="2468880" y="5843016"/>
            <a:ext cx="2743200" cy="603504"/>
          </a:xfrm>
          <a:prstGeom prst="rect">
            <a:avLst/>
          </a:prstGeom>
          <a:noFill/>
        </p:spPr>
        <p:txBody>
          <a:bodyPr wrap="square" lIns="0" rIns="0" tIns="0" bIns="0" anchor="ctr">
            <a:spAutoFit/>
          </a:bodyPr>
          <a:lstStyle/>
          <a:p>
            <a:pPr algn="l">
              <a:lnSpc>
                <a:spcPct val="100000"/>
              </a:lnSpc>
            </a:pPr>
            <a:r>
              <a:rPr sz="1350" b="1">
                <a:solidFill>
                  <a:srgbClr val="22252B"/>
                </a:solidFill>
                <a:latin typeface="Arial"/>
              </a:rPr>
              <a:t>Persistence</a:t>
            </a:r>
          </a:p>
        </p:txBody>
      </p:sp>
      <p:sp>
        <p:nvSpPr>
          <p:cNvPr id="35" name="TextBox 34"/>
          <p:cNvSpPr txBox="1"/>
          <p:nvPr/>
        </p:nvSpPr>
        <p:spPr>
          <a:xfrm>
            <a:off x="4617720" y="5843016"/>
            <a:ext cx="3017520" cy="603504"/>
          </a:xfrm>
          <a:prstGeom prst="rect">
            <a:avLst/>
          </a:prstGeom>
          <a:noFill/>
        </p:spPr>
        <p:txBody>
          <a:bodyPr wrap="square" lIns="0" rIns="0" tIns="0" bIns="0" anchor="ctr">
            <a:spAutoFit/>
          </a:bodyPr>
          <a:lstStyle/>
          <a:p>
            <a:pPr algn="l">
              <a:lnSpc>
                <a:spcPct val="105000"/>
              </a:lnSpc>
            </a:pPr>
            <a:r>
              <a:rPr sz="1150" b="0">
                <a:solidFill>
                  <a:srgbClr val="606772"/>
                </a:solidFill>
                <a:latin typeface="Arial"/>
              </a:rPr>
              <a:t>Every user's data saved in the browser</a:t>
            </a:r>
          </a:p>
        </p:txBody>
      </p:sp>
      <p:sp>
        <p:nvSpPr>
          <p:cNvPr id="36" name="Rounded Rectangle 35"/>
          <p:cNvSpPr/>
          <p:nvPr/>
        </p:nvSpPr>
        <p:spPr>
          <a:xfrm>
            <a:off x="8001000" y="2194560"/>
            <a:ext cx="3566160" cy="3913632"/>
          </a:xfrm>
          <a:prstGeom prst="roundRect">
            <a:avLst>
              <a:gd name="adj" fmla="val 5000"/>
            </a:avLst>
          </a:prstGeom>
          <a:solidFill>
            <a:srgbClr val="22252B"/>
          </a:solidFill>
          <a:ln>
            <a:noFill/>
          </a:ln>
          <a:effectLst>
            <a:outerShdw blurRad="91440" dist="50292" dir="5400000" rotWithShape="0">
              <a:srgbClr val="22252B">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75320" y="2487168"/>
            <a:ext cx="3063240" cy="365760"/>
          </a:xfrm>
          <a:prstGeom prst="rect">
            <a:avLst/>
          </a:prstGeom>
          <a:noFill/>
        </p:spPr>
        <p:txBody>
          <a:bodyPr wrap="square" lIns="0" rIns="0" tIns="0" bIns="0" anchor="t">
            <a:spAutoFit/>
          </a:bodyPr>
          <a:lstStyle/>
          <a:p>
            <a:pPr algn="l">
              <a:lnSpc>
                <a:spcPct val="100000"/>
              </a:lnSpc>
            </a:pPr>
            <a:r>
              <a:rPr sz="1100" b="1" spc="200">
                <a:solidFill>
                  <a:srgbClr val="C9B9AE"/>
                </a:solidFill>
                <a:latin typeface="Arial"/>
              </a:rPr>
              <a:t>OUR THESIS</a:t>
            </a:r>
          </a:p>
        </p:txBody>
      </p:sp>
      <p:sp>
        <p:nvSpPr>
          <p:cNvPr id="38" name="TextBox 37"/>
          <p:cNvSpPr txBox="1"/>
          <p:nvPr/>
        </p:nvSpPr>
        <p:spPr>
          <a:xfrm>
            <a:off x="8275320" y="2926080"/>
            <a:ext cx="3063240" cy="2926080"/>
          </a:xfrm>
          <a:prstGeom prst="rect">
            <a:avLst/>
          </a:prstGeom>
          <a:noFill/>
        </p:spPr>
        <p:txBody>
          <a:bodyPr wrap="square" lIns="0" rIns="0" tIns="0" bIns="0" anchor="t">
            <a:spAutoFit/>
          </a:bodyPr>
          <a:lstStyle/>
          <a:p>
            <a:pPr algn="l">
              <a:lnSpc>
                <a:spcPct val="132000"/>
              </a:lnSpc>
            </a:pPr>
            <a:r>
              <a:rPr sz="1550" b="0">
                <a:solidFill>
                  <a:srgbClr val="F3F1EC"/>
                </a:solidFill>
                <a:latin typeface="Arial"/>
              </a:rPr>
              <a:t>The syllabus gave us the web-development building blocks.</a:t>
            </a:r>
          </a:p>
          <a:p>
            <a:pPr algn="l">
              <a:lnSpc>
                <a:spcPct val="132000"/>
              </a:lnSpc>
            </a:pPr>
            <a:r>
              <a:rPr sz="1550" b="0">
                <a:solidFill>
                  <a:srgbClr val="F3F1EC"/>
                </a:solidFill>
                <a:latin typeface="Arial"/>
              </a:rPr>
              <a:t/>
            </a:r>
          </a:p>
          <a:p>
            <a:pPr algn="l">
              <a:lnSpc>
                <a:spcPct val="132000"/>
              </a:lnSpc>
            </a:pPr>
            <a:r>
              <a:rPr sz="1550" b="0">
                <a:solidFill>
                  <a:srgbClr val="F3F1EC"/>
                </a:solidFill>
                <a:latin typeface="Arial"/>
              </a:rPr>
              <a:t>Synora combines those concepts into one complete, responsive student-productivity product.</a:t>
            </a:r>
          </a:p>
        </p:txBody>
      </p:sp>
      <p:sp>
        <p:nvSpPr>
          <p:cNvPr id="39" name="TextBox 38"/>
          <p:cNvSpPr txBox="1"/>
          <p:nvPr/>
        </p:nvSpPr>
        <p:spPr>
          <a:xfrm>
            <a:off x="640080" y="6455664"/>
            <a:ext cx="4572000" cy="274320"/>
          </a:xfrm>
          <a:prstGeom prst="rect">
            <a:avLst/>
          </a:prstGeom>
          <a:noFill/>
        </p:spPr>
        <p:txBody>
          <a:bodyPr wrap="square" lIns="0" rIns="0" tIns="0" bIns="0" anchor="t">
            <a:spAutoFit/>
          </a:bodyPr>
          <a:lstStyle/>
          <a:p>
            <a:pPr algn="l">
              <a:lnSpc>
                <a:spcPct val="100000"/>
              </a:lnSpc>
            </a:pPr>
            <a:r>
              <a:rPr sz="950" b="0">
                <a:solidFill>
                  <a:srgbClr val="A3AEB1"/>
                </a:solidFill>
                <a:latin typeface="Arial"/>
              </a:rPr>
              <a:t>Synora  ·  Web Development Project</a:t>
            </a:r>
          </a:p>
        </p:txBody>
      </p:sp>
      <p:sp>
        <p:nvSpPr>
          <p:cNvPr id="40" name="TextBox 39"/>
          <p:cNvSpPr txBox="1"/>
          <p:nvPr/>
        </p:nvSpPr>
        <p:spPr>
          <a:xfrm>
            <a:off x="9722815" y="6455664"/>
            <a:ext cx="1828800" cy="274320"/>
          </a:xfrm>
          <a:prstGeom prst="rect">
            <a:avLst/>
          </a:prstGeom>
          <a:noFill/>
        </p:spPr>
        <p:txBody>
          <a:bodyPr wrap="square" lIns="0" rIns="0" tIns="0" bIns="0" anchor="t">
            <a:spAutoFit/>
          </a:bodyPr>
          <a:lstStyle/>
          <a:p>
            <a:pPr algn="r">
              <a:lnSpc>
                <a:spcPct val="100000"/>
              </a:lnSpc>
            </a:pPr>
            <a:r>
              <a:rPr sz="950" b="0">
                <a:solidFill>
                  <a:srgbClr val="A3AEB1"/>
                </a:solidFill>
                <a:latin typeface="Arial"/>
              </a:rPr>
              <a:t>04 / 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2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7315200" cy="274320"/>
          </a:xfrm>
          <a:prstGeom prst="rect">
            <a:avLst/>
          </a:prstGeom>
          <a:noFill/>
        </p:spPr>
        <p:txBody>
          <a:bodyPr wrap="square" lIns="0" rIns="0" tIns="0" bIns="0" anchor="t">
            <a:spAutoFit/>
          </a:bodyPr>
          <a:lstStyle/>
          <a:p>
            <a:pPr algn="l">
              <a:lnSpc>
                <a:spcPct val="100000"/>
              </a:lnSpc>
            </a:pPr>
            <a:r>
              <a:rPr sz="1200" b="1" spc="180">
                <a:solidFill>
                  <a:srgbClr val="C9B9AE"/>
                </a:solidFill>
                <a:latin typeface="Arial"/>
              </a:rPr>
              <a:t>HOW THE LAYERS WORK TOGETHER</a:t>
            </a:r>
          </a:p>
        </p:txBody>
      </p:sp>
      <p:sp>
        <p:nvSpPr>
          <p:cNvPr id="4" name="TextBox 3"/>
          <p:cNvSpPr txBox="1"/>
          <p:nvPr/>
        </p:nvSpPr>
        <p:spPr>
          <a:xfrm>
            <a:off x="640080" y="841248"/>
            <a:ext cx="10911535" cy="640080"/>
          </a:xfrm>
          <a:prstGeom prst="rect">
            <a:avLst/>
          </a:prstGeom>
          <a:noFill/>
        </p:spPr>
        <p:txBody>
          <a:bodyPr wrap="square" lIns="0" rIns="0" tIns="0" bIns="0" anchor="t">
            <a:spAutoFit/>
          </a:bodyPr>
          <a:lstStyle/>
          <a:p>
            <a:pPr algn="l">
              <a:lnSpc>
                <a:spcPct val="100000"/>
              </a:lnSpc>
            </a:pPr>
            <a:r>
              <a:rPr sz="3000" b="1">
                <a:solidFill>
                  <a:srgbClr val="F3F1EC"/>
                </a:solidFill>
                <a:latin typeface="Arial"/>
              </a:rPr>
              <a:t>Five questions, one product</a:t>
            </a:r>
          </a:p>
        </p:txBody>
      </p:sp>
      <p:sp>
        <p:nvSpPr>
          <p:cNvPr id="5" name="Rounded Rectangle 4"/>
          <p:cNvSpPr/>
          <p:nvPr/>
        </p:nvSpPr>
        <p:spPr>
          <a:xfrm>
            <a:off x="640080" y="1965960"/>
            <a:ext cx="1975104" cy="2880360"/>
          </a:xfrm>
          <a:prstGeom prst="roundRect">
            <a:avLst>
              <a:gd name="adj" fmla="val 7000"/>
            </a:avLst>
          </a:prstGeom>
          <a:solidFill>
            <a:srgbClr val="2B2F37"/>
          </a:solidFill>
          <a:ln w="12700">
            <a:solidFill>
              <a:srgbClr val="31363F"/>
            </a:solidFill>
          </a:ln>
          <a:effectLst>
            <a:outerShdw blurRad="91440" dist="50292"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112264"/>
            <a:ext cx="1975104" cy="457200"/>
          </a:xfrm>
          <a:prstGeom prst="rect">
            <a:avLst/>
          </a:prstGeom>
          <a:noFill/>
        </p:spPr>
        <p:txBody>
          <a:bodyPr wrap="square" lIns="0" rIns="0" tIns="0" bIns="0" anchor="t">
            <a:spAutoFit/>
          </a:bodyPr>
          <a:lstStyle/>
          <a:p>
            <a:pPr algn="ctr">
              <a:lnSpc>
                <a:spcPct val="100000"/>
              </a:lnSpc>
            </a:pPr>
            <a:r>
              <a:rPr sz="1650" b="1">
                <a:solidFill>
                  <a:srgbClr val="9FB6A6"/>
                </a:solidFill>
                <a:latin typeface="Arial"/>
              </a:rPr>
              <a:t>HTML5</a:t>
            </a:r>
          </a:p>
        </p:txBody>
      </p:sp>
      <p:cxnSp>
        <p:nvCxnSpPr>
          <p:cNvPr id="7" name="Connector 6"/>
          <p:cNvCxnSpPr/>
          <p:nvPr/>
        </p:nvCxnSpPr>
        <p:spPr>
          <a:xfrm>
            <a:off x="960119" y="2679191"/>
            <a:ext cx="1335025" cy="0"/>
          </a:xfrm>
          <a:prstGeom prst="line">
            <a:avLst/>
          </a:prstGeom>
          <a:ln w="12700">
            <a:solidFill>
              <a:srgbClr val="31363F"/>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86384" y="2834639"/>
            <a:ext cx="1682496" cy="1188720"/>
          </a:xfrm>
          <a:prstGeom prst="rect">
            <a:avLst/>
          </a:prstGeom>
          <a:noFill/>
        </p:spPr>
        <p:txBody>
          <a:bodyPr wrap="square" lIns="0" rIns="0" tIns="0" bIns="0" anchor="t">
            <a:spAutoFit/>
          </a:bodyPr>
          <a:lstStyle/>
          <a:p>
            <a:pPr algn="ctr">
              <a:lnSpc>
                <a:spcPct val="108000"/>
              </a:lnSpc>
            </a:pPr>
            <a:r>
              <a:rPr sz="1450" b="1">
                <a:solidFill>
                  <a:srgbClr val="F3F1EC"/>
                </a:solidFill>
                <a:latin typeface="Arial"/>
              </a:rPr>
              <a:t>What exists?</a:t>
            </a:r>
          </a:p>
        </p:txBody>
      </p:sp>
      <p:sp>
        <p:nvSpPr>
          <p:cNvPr id="9" name="TextBox 8"/>
          <p:cNvSpPr txBox="1"/>
          <p:nvPr/>
        </p:nvSpPr>
        <p:spPr>
          <a:xfrm>
            <a:off x="786384" y="4279392"/>
            <a:ext cx="1682496" cy="457200"/>
          </a:xfrm>
          <a:prstGeom prst="rect">
            <a:avLst/>
          </a:prstGeom>
          <a:noFill/>
        </p:spPr>
        <p:txBody>
          <a:bodyPr wrap="square" lIns="0" rIns="0" tIns="0" bIns="0" anchor="ctr">
            <a:spAutoFit/>
          </a:bodyPr>
          <a:lstStyle/>
          <a:p>
            <a:pPr algn="ctr">
              <a:lnSpc>
                <a:spcPct val="100000"/>
              </a:lnSpc>
            </a:pPr>
            <a:r>
              <a:rPr sz="1100" b="0">
                <a:solidFill>
                  <a:srgbClr val="9AA2AC"/>
                </a:solidFill>
                <a:latin typeface="Arial"/>
              </a:rPr>
              <a:t>Structure &amp; content</a:t>
            </a:r>
          </a:p>
        </p:txBody>
      </p:sp>
      <p:sp>
        <p:nvSpPr>
          <p:cNvPr id="10" name="Chevron 9"/>
          <p:cNvSpPr/>
          <p:nvPr/>
        </p:nvSpPr>
        <p:spPr>
          <a:xfrm>
            <a:off x="2634957" y="3287268"/>
            <a:ext cx="261518" cy="237744"/>
          </a:xfrm>
          <a:prstGeom prst="chevron">
            <a:avLst/>
          </a:prstGeom>
          <a:solidFill>
            <a:srgbClr val="B09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74187" y="1965960"/>
            <a:ext cx="1975104" cy="2880360"/>
          </a:xfrm>
          <a:prstGeom prst="roundRect">
            <a:avLst>
              <a:gd name="adj" fmla="val 7000"/>
            </a:avLst>
          </a:prstGeom>
          <a:solidFill>
            <a:srgbClr val="2B2F37"/>
          </a:solidFill>
          <a:ln w="12700">
            <a:solidFill>
              <a:srgbClr val="31363F"/>
            </a:solidFill>
          </a:ln>
          <a:effectLst>
            <a:outerShdw blurRad="91440" dist="50292"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74187" y="2112264"/>
            <a:ext cx="1975104" cy="457200"/>
          </a:xfrm>
          <a:prstGeom prst="rect">
            <a:avLst/>
          </a:prstGeom>
          <a:noFill/>
        </p:spPr>
        <p:txBody>
          <a:bodyPr wrap="square" lIns="0" rIns="0" tIns="0" bIns="0" anchor="t">
            <a:spAutoFit/>
          </a:bodyPr>
          <a:lstStyle/>
          <a:p>
            <a:pPr algn="ctr">
              <a:lnSpc>
                <a:spcPct val="100000"/>
              </a:lnSpc>
            </a:pPr>
            <a:r>
              <a:rPr sz="1650" b="1">
                <a:solidFill>
                  <a:srgbClr val="C9B9AE"/>
                </a:solidFill>
                <a:latin typeface="Arial"/>
              </a:rPr>
              <a:t>CSS3</a:t>
            </a:r>
          </a:p>
        </p:txBody>
      </p:sp>
      <p:cxnSp>
        <p:nvCxnSpPr>
          <p:cNvPr id="13" name="Connector 12"/>
          <p:cNvCxnSpPr/>
          <p:nvPr/>
        </p:nvCxnSpPr>
        <p:spPr>
          <a:xfrm>
            <a:off x="3194227" y="2679191"/>
            <a:ext cx="1335024" cy="0"/>
          </a:xfrm>
          <a:prstGeom prst="line">
            <a:avLst/>
          </a:prstGeom>
          <a:ln w="12700">
            <a:solidFill>
              <a:srgbClr val="31363F"/>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020491" y="2834639"/>
            <a:ext cx="1682496" cy="1188720"/>
          </a:xfrm>
          <a:prstGeom prst="rect">
            <a:avLst/>
          </a:prstGeom>
          <a:noFill/>
        </p:spPr>
        <p:txBody>
          <a:bodyPr wrap="square" lIns="0" rIns="0" tIns="0" bIns="0" anchor="t">
            <a:spAutoFit/>
          </a:bodyPr>
          <a:lstStyle/>
          <a:p>
            <a:pPr algn="ctr">
              <a:lnSpc>
                <a:spcPct val="108000"/>
              </a:lnSpc>
            </a:pPr>
            <a:r>
              <a:rPr sz="1450" b="1">
                <a:solidFill>
                  <a:srgbClr val="F3F1EC"/>
                </a:solidFill>
                <a:latin typeface="Arial"/>
              </a:rPr>
              <a:t>How does it look?</a:t>
            </a:r>
          </a:p>
        </p:txBody>
      </p:sp>
      <p:sp>
        <p:nvSpPr>
          <p:cNvPr id="15" name="TextBox 14"/>
          <p:cNvSpPr txBox="1"/>
          <p:nvPr/>
        </p:nvSpPr>
        <p:spPr>
          <a:xfrm>
            <a:off x="3020491" y="4279392"/>
            <a:ext cx="1682496" cy="457200"/>
          </a:xfrm>
          <a:prstGeom prst="rect">
            <a:avLst/>
          </a:prstGeom>
          <a:noFill/>
        </p:spPr>
        <p:txBody>
          <a:bodyPr wrap="square" lIns="0" rIns="0" tIns="0" bIns="0" anchor="ctr">
            <a:spAutoFit/>
          </a:bodyPr>
          <a:lstStyle/>
          <a:p>
            <a:pPr algn="ctr">
              <a:lnSpc>
                <a:spcPct val="100000"/>
              </a:lnSpc>
            </a:pPr>
            <a:r>
              <a:rPr sz="1100" b="0">
                <a:solidFill>
                  <a:srgbClr val="9AA2AC"/>
                </a:solidFill>
                <a:latin typeface="Arial"/>
              </a:rPr>
              <a:t>Design &amp; layout</a:t>
            </a:r>
          </a:p>
        </p:txBody>
      </p:sp>
      <p:sp>
        <p:nvSpPr>
          <p:cNvPr id="16" name="Chevron 15"/>
          <p:cNvSpPr/>
          <p:nvPr/>
        </p:nvSpPr>
        <p:spPr>
          <a:xfrm>
            <a:off x="4869065" y="3287268"/>
            <a:ext cx="261518" cy="237744"/>
          </a:xfrm>
          <a:prstGeom prst="chevron">
            <a:avLst/>
          </a:prstGeom>
          <a:solidFill>
            <a:srgbClr val="B09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108295" y="1965960"/>
            <a:ext cx="1975104" cy="2880360"/>
          </a:xfrm>
          <a:prstGeom prst="roundRect">
            <a:avLst>
              <a:gd name="adj" fmla="val 7000"/>
            </a:avLst>
          </a:prstGeom>
          <a:solidFill>
            <a:srgbClr val="2B2F37"/>
          </a:solidFill>
          <a:ln w="12700">
            <a:solidFill>
              <a:srgbClr val="31363F"/>
            </a:solidFill>
          </a:ln>
          <a:effectLst>
            <a:outerShdw blurRad="91440" dist="50292"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08295" y="2112264"/>
            <a:ext cx="1975104" cy="457200"/>
          </a:xfrm>
          <a:prstGeom prst="rect">
            <a:avLst/>
          </a:prstGeom>
          <a:noFill/>
        </p:spPr>
        <p:txBody>
          <a:bodyPr wrap="square" lIns="0" rIns="0" tIns="0" bIns="0" anchor="t">
            <a:spAutoFit/>
          </a:bodyPr>
          <a:lstStyle/>
          <a:p>
            <a:pPr algn="ctr">
              <a:lnSpc>
                <a:spcPct val="100000"/>
              </a:lnSpc>
            </a:pPr>
            <a:r>
              <a:rPr sz="1650" b="1">
                <a:solidFill>
                  <a:srgbClr val="9FB6A6"/>
                </a:solidFill>
                <a:latin typeface="Arial"/>
              </a:rPr>
              <a:t>JavaScript</a:t>
            </a:r>
          </a:p>
        </p:txBody>
      </p:sp>
      <p:cxnSp>
        <p:nvCxnSpPr>
          <p:cNvPr id="19" name="Connector 18"/>
          <p:cNvCxnSpPr/>
          <p:nvPr/>
        </p:nvCxnSpPr>
        <p:spPr>
          <a:xfrm>
            <a:off x="5428335" y="2679191"/>
            <a:ext cx="1335024" cy="0"/>
          </a:xfrm>
          <a:prstGeom prst="line">
            <a:avLst/>
          </a:prstGeom>
          <a:ln w="12700">
            <a:solidFill>
              <a:srgbClr val="31363F"/>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254599" y="2834639"/>
            <a:ext cx="1682496" cy="1188720"/>
          </a:xfrm>
          <a:prstGeom prst="rect">
            <a:avLst/>
          </a:prstGeom>
          <a:noFill/>
        </p:spPr>
        <p:txBody>
          <a:bodyPr wrap="square" lIns="0" rIns="0" tIns="0" bIns="0" anchor="t">
            <a:spAutoFit/>
          </a:bodyPr>
          <a:lstStyle/>
          <a:p>
            <a:pPr algn="ctr">
              <a:lnSpc>
                <a:spcPct val="108000"/>
              </a:lnSpc>
            </a:pPr>
            <a:r>
              <a:rPr sz="1450" b="1">
                <a:solidFill>
                  <a:srgbClr val="F3F1EC"/>
                </a:solidFill>
                <a:latin typeface="Arial"/>
              </a:rPr>
              <a:t>How does it behave?</a:t>
            </a:r>
          </a:p>
        </p:txBody>
      </p:sp>
      <p:sp>
        <p:nvSpPr>
          <p:cNvPr id="21" name="TextBox 20"/>
          <p:cNvSpPr txBox="1"/>
          <p:nvPr/>
        </p:nvSpPr>
        <p:spPr>
          <a:xfrm>
            <a:off x="5254599" y="4279392"/>
            <a:ext cx="1682496" cy="457200"/>
          </a:xfrm>
          <a:prstGeom prst="rect">
            <a:avLst/>
          </a:prstGeom>
          <a:noFill/>
        </p:spPr>
        <p:txBody>
          <a:bodyPr wrap="square" lIns="0" rIns="0" tIns="0" bIns="0" anchor="ctr">
            <a:spAutoFit/>
          </a:bodyPr>
          <a:lstStyle/>
          <a:p>
            <a:pPr algn="ctr">
              <a:lnSpc>
                <a:spcPct val="100000"/>
              </a:lnSpc>
            </a:pPr>
            <a:r>
              <a:rPr sz="1100" b="0">
                <a:solidFill>
                  <a:srgbClr val="9AA2AC"/>
                </a:solidFill>
                <a:latin typeface="Arial"/>
              </a:rPr>
              <a:t>Logic &amp; state</a:t>
            </a:r>
          </a:p>
        </p:txBody>
      </p:sp>
      <p:sp>
        <p:nvSpPr>
          <p:cNvPr id="22" name="Chevron 21"/>
          <p:cNvSpPr/>
          <p:nvPr/>
        </p:nvSpPr>
        <p:spPr>
          <a:xfrm>
            <a:off x="7103173" y="3287268"/>
            <a:ext cx="261518" cy="237744"/>
          </a:xfrm>
          <a:prstGeom prst="chevron">
            <a:avLst/>
          </a:prstGeom>
          <a:solidFill>
            <a:srgbClr val="B09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342403" y="1965960"/>
            <a:ext cx="1975104" cy="2880360"/>
          </a:xfrm>
          <a:prstGeom prst="roundRect">
            <a:avLst>
              <a:gd name="adj" fmla="val 7000"/>
            </a:avLst>
          </a:prstGeom>
          <a:solidFill>
            <a:srgbClr val="2B2F37"/>
          </a:solidFill>
          <a:ln w="12700">
            <a:solidFill>
              <a:srgbClr val="31363F"/>
            </a:solidFill>
          </a:ln>
          <a:effectLst>
            <a:outerShdw blurRad="91440" dist="50292"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42403" y="2112264"/>
            <a:ext cx="1975104" cy="457200"/>
          </a:xfrm>
          <a:prstGeom prst="rect">
            <a:avLst/>
          </a:prstGeom>
          <a:noFill/>
        </p:spPr>
        <p:txBody>
          <a:bodyPr wrap="square" lIns="0" rIns="0" tIns="0" bIns="0" anchor="t">
            <a:spAutoFit/>
          </a:bodyPr>
          <a:lstStyle/>
          <a:p>
            <a:pPr algn="ctr">
              <a:lnSpc>
                <a:spcPct val="100000"/>
              </a:lnSpc>
            </a:pPr>
            <a:r>
              <a:rPr sz="1650" b="1">
                <a:solidFill>
                  <a:srgbClr val="C9B9AE"/>
                </a:solidFill>
                <a:latin typeface="Arial"/>
              </a:rPr>
              <a:t>DOM</a:t>
            </a:r>
          </a:p>
        </p:txBody>
      </p:sp>
      <p:cxnSp>
        <p:nvCxnSpPr>
          <p:cNvPr id="25" name="Connector 24"/>
          <p:cNvCxnSpPr/>
          <p:nvPr/>
        </p:nvCxnSpPr>
        <p:spPr>
          <a:xfrm>
            <a:off x="7662443" y="2679191"/>
            <a:ext cx="1335024" cy="0"/>
          </a:xfrm>
          <a:prstGeom prst="line">
            <a:avLst/>
          </a:prstGeom>
          <a:ln w="12700">
            <a:solidFill>
              <a:srgbClr val="31363F"/>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488707" y="2834639"/>
            <a:ext cx="1682496" cy="1188720"/>
          </a:xfrm>
          <a:prstGeom prst="rect">
            <a:avLst/>
          </a:prstGeom>
          <a:noFill/>
        </p:spPr>
        <p:txBody>
          <a:bodyPr wrap="square" lIns="0" rIns="0" tIns="0" bIns="0" anchor="t">
            <a:spAutoFit/>
          </a:bodyPr>
          <a:lstStyle/>
          <a:p>
            <a:pPr algn="ctr">
              <a:lnSpc>
                <a:spcPct val="108000"/>
              </a:lnSpc>
            </a:pPr>
            <a:r>
              <a:rPr sz="1450" b="1">
                <a:solidFill>
                  <a:srgbClr val="F3F1EC"/>
                </a:solidFill>
                <a:latin typeface="Arial"/>
              </a:rPr>
              <a:t>How does JS change</a:t>
            </a:r>
          </a:p>
          <a:p>
            <a:pPr algn="ctr">
              <a:lnSpc>
                <a:spcPct val="108000"/>
              </a:lnSpc>
            </a:pPr>
            <a:r>
              <a:rPr sz="1450" b="1">
                <a:solidFill>
                  <a:srgbClr val="F3F1EC"/>
                </a:solidFill>
                <a:latin typeface="Arial"/>
              </a:rPr>
              <a:t>the page?</a:t>
            </a:r>
          </a:p>
        </p:txBody>
      </p:sp>
      <p:sp>
        <p:nvSpPr>
          <p:cNvPr id="27" name="TextBox 26"/>
          <p:cNvSpPr txBox="1"/>
          <p:nvPr/>
        </p:nvSpPr>
        <p:spPr>
          <a:xfrm>
            <a:off x="7488707" y="4279392"/>
            <a:ext cx="1682496" cy="457200"/>
          </a:xfrm>
          <a:prstGeom prst="rect">
            <a:avLst/>
          </a:prstGeom>
          <a:noFill/>
        </p:spPr>
        <p:txBody>
          <a:bodyPr wrap="square" lIns="0" rIns="0" tIns="0" bIns="0" anchor="ctr">
            <a:spAutoFit/>
          </a:bodyPr>
          <a:lstStyle/>
          <a:p>
            <a:pPr algn="ctr">
              <a:lnSpc>
                <a:spcPct val="100000"/>
              </a:lnSpc>
            </a:pPr>
            <a:r>
              <a:rPr sz="1100" b="0">
                <a:solidFill>
                  <a:srgbClr val="9AA2AC"/>
                </a:solidFill>
                <a:latin typeface="Arial"/>
              </a:rPr>
              <a:t>Live updates</a:t>
            </a:r>
          </a:p>
        </p:txBody>
      </p:sp>
      <p:sp>
        <p:nvSpPr>
          <p:cNvPr id="28" name="Chevron 27"/>
          <p:cNvSpPr/>
          <p:nvPr/>
        </p:nvSpPr>
        <p:spPr>
          <a:xfrm>
            <a:off x="9337281" y="3287268"/>
            <a:ext cx="261518" cy="237744"/>
          </a:xfrm>
          <a:prstGeom prst="chevron">
            <a:avLst/>
          </a:prstGeom>
          <a:solidFill>
            <a:srgbClr val="B09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576511" y="1965960"/>
            <a:ext cx="1975104" cy="2880360"/>
          </a:xfrm>
          <a:prstGeom prst="roundRect">
            <a:avLst>
              <a:gd name="adj" fmla="val 7000"/>
            </a:avLst>
          </a:prstGeom>
          <a:solidFill>
            <a:srgbClr val="2B2F37"/>
          </a:solidFill>
          <a:ln w="12700">
            <a:solidFill>
              <a:srgbClr val="31363F"/>
            </a:solidFill>
          </a:ln>
          <a:effectLst>
            <a:outerShdw blurRad="91440" dist="50292"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76511" y="2112264"/>
            <a:ext cx="1975104" cy="457200"/>
          </a:xfrm>
          <a:prstGeom prst="rect">
            <a:avLst/>
          </a:prstGeom>
          <a:noFill/>
        </p:spPr>
        <p:txBody>
          <a:bodyPr wrap="square" lIns="0" rIns="0" tIns="0" bIns="0" anchor="t">
            <a:spAutoFit/>
          </a:bodyPr>
          <a:lstStyle/>
          <a:p>
            <a:pPr algn="ctr">
              <a:lnSpc>
                <a:spcPct val="100000"/>
              </a:lnSpc>
            </a:pPr>
            <a:r>
              <a:rPr sz="1650" b="1">
                <a:solidFill>
                  <a:srgbClr val="9FB6A6"/>
                </a:solidFill>
                <a:latin typeface="Arial"/>
              </a:rPr>
              <a:t>Events</a:t>
            </a:r>
          </a:p>
        </p:txBody>
      </p:sp>
      <p:cxnSp>
        <p:nvCxnSpPr>
          <p:cNvPr id="31" name="Connector 30"/>
          <p:cNvCxnSpPr/>
          <p:nvPr/>
        </p:nvCxnSpPr>
        <p:spPr>
          <a:xfrm>
            <a:off x="9896551" y="2679191"/>
            <a:ext cx="1335024" cy="0"/>
          </a:xfrm>
          <a:prstGeom prst="line">
            <a:avLst/>
          </a:prstGeom>
          <a:ln w="12700">
            <a:solidFill>
              <a:srgbClr val="31363F"/>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722815" y="2834639"/>
            <a:ext cx="1682496" cy="1188720"/>
          </a:xfrm>
          <a:prstGeom prst="rect">
            <a:avLst/>
          </a:prstGeom>
          <a:noFill/>
        </p:spPr>
        <p:txBody>
          <a:bodyPr wrap="square" lIns="0" rIns="0" tIns="0" bIns="0" anchor="t">
            <a:spAutoFit/>
          </a:bodyPr>
          <a:lstStyle/>
          <a:p>
            <a:pPr algn="ctr">
              <a:lnSpc>
                <a:spcPct val="108000"/>
              </a:lnSpc>
            </a:pPr>
            <a:r>
              <a:rPr sz="1450" b="1">
                <a:solidFill>
                  <a:srgbClr val="F3F1EC"/>
                </a:solidFill>
                <a:latin typeface="Arial"/>
              </a:rPr>
              <a:t>How do actions</a:t>
            </a:r>
          </a:p>
          <a:p>
            <a:pPr algn="ctr">
              <a:lnSpc>
                <a:spcPct val="108000"/>
              </a:lnSpc>
            </a:pPr>
            <a:r>
              <a:rPr sz="1450" b="1">
                <a:solidFill>
                  <a:srgbClr val="F3F1EC"/>
                </a:solidFill>
                <a:latin typeface="Arial"/>
              </a:rPr>
              <a:t>trigger behaviour?</a:t>
            </a:r>
          </a:p>
        </p:txBody>
      </p:sp>
      <p:sp>
        <p:nvSpPr>
          <p:cNvPr id="33" name="TextBox 32"/>
          <p:cNvSpPr txBox="1"/>
          <p:nvPr/>
        </p:nvSpPr>
        <p:spPr>
          <a:xfrm>
            <a:off x="9722815" y="4279392"/>
            <a:ext cx="1682496" cy="457200"/>
          </a:xfrm>
          <a:prstGeom prst="rect">
            <a:avLst/>
          </a:prstGeom>
          <a:noFill/>
        </p:spPr>
        <p:txBody>
          <a:bodyPr wrap="square" lIns="0" rIns="0" tIns="0" bIns="0" anchor="ctr">
            <a:spAutoFit/>
          </a:bodyPr>
          <a:lstStyle/>
          <a:p>
            <a:pPr algn="ctr">
              <a:lnSpc>
                <a:spcPct val="100000"/>
              </a:lnSpc>
            </a:pPr>
            <a:r>
              <a:rPr sz="1100" b="0">
                <a:solidFill>
                  <a:srgbClr val="9AA2AC"/>
                </a:solidFill>
                <a:latin typeface="Arial"/>
              </a:rPr>
              <a:t>User → response</a:t>
            </a:r>
          </a:p>
        </p:txBody>
      </p:sp>
      <p:sp>
        <p:nvSpPr>
          <p:cNvPr id="34" name="Rounded Rectangle 33"/>
          <p:cNvSpPr/>
          <p:nvPr/>
        </p:nvSpPr>
        <p:spPr>
          <a:xfrm>
            <a:off x="640080" y="5349240"/>
            <a:ext cx="10911535" cy="786384"/>
          </a:xfrm>
          <a:prstGeom prst="roundRect">
            <a:avLst>
              <a:gd name="adj" fmla="val 9000"/>
            </a:avLst>
          </a:prstGeom>
          <a:solidFill>
            <a:srgbClr val="53655C"/>
          </a:solidFill>
          <a:ln>
            <a:noFill/>
          </a:ln>
          <a:effectLst>
            <a:outerShdw blurRad="91440" dist="50292" dir="5400000"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5349240"/>
            <a:ext cx="10911535" cy="786384"/>
          </a:xfrm>
          <a:prstGeom prst="rect">
            <a:avLst/>
          </a:prstGeom>
          <a:noFill/>
        </p:spPr>
        <p:txBody>
          <a:bodyPr wrap="square" lIns="0" rIns="0" tIns="0" bIns="0" anchor="ctr">
            <a:spAutoFit/>
          </a:bodyPr>
          <a:lstStyle/>
          <a:p>
            <a:pPr algn="ctr">
              <a:lnSpc>
                <a:spcPct val="100000"/>
              </a:lnSpc>
            </a:pPr>
            <a:r>
              <a:rPr sz="1500" b="0">
                <a:solidFill>
                  <a:srgbClr val="EAF0EA"/>
                </a:solidFill>
                <a:latin typeface="Arial"/>
              </a:rPr>
              <a:t>The five layers combine into  </a:t>
            </a:r>
            <a:r>
              <a:rPr sz="1700" b="1">
                <a:solidFill>
                  <a:srgbClr val="FFFFFF"/>
                </a:solidFill>
                <a:latin typeface="Arial"/>
              </a:rPr>
              <a:t>Synora</a:t>
            </a:r>
            <a:r>
              <a:rPr sz="1500" b="0">
                <a:solidFill>
                  <a:srgbClr val="EAF0EA"/>
                </a:solidFill>
                <a:latin typeface="Arial"/>
              </a:rPr>
              <a:t>  —  a student productivity workspace.</a:t>
            </a:r>
          </a:p>
        </p:txBody>
      </p:sp>
      <p:sp>
        <p:nvSpPr>
          <p:cNvPr id="36" name="TextBox 35"/>
          <p:cNvSpPr txBox="1"/>
          <p:nvPr/>
        </p:nvSpPr>
        <p:spPr>
          <a:xfrm>
            <a:off x="640080" y="6455664"/>
            <a:ext cx="4572000" cy="274320"/>
          </a:xfrm>
          <a:prstGeom prst="rect">
            <a:avLst/>
          </a:prstGeom>
          <a:noFill/>
        </p:spPr>
        <p:txBody>
          <a:bodyPr wrap="square" lIns="0" rIns="0" tIns="0" bIns="0" anchor="t">
            <a:spAutoFit/>
          </a:bodyPr>
          <a:lstStyle/>
          <a:p>
            <a:pPr algn="l">
              <a:lnSpc>
                <a:spcPct val="100000"/>
              </a:lnSpc>
            </a:pPr>
            <a:r>
              <a:rPr sz="950" b="0">
                <a:solidFill>
                  <a:srgbClr val="9AA2AC"/>
                </a:solidFill>
                <a:latin typeface="Arial"/>
              </a:rPr>
              <a:t>Synora  ·  Web Development Project</a:t>
            </a:r>
          </a:p>
        </p:txBody>
      </p:sp>
      <p:sp>
        <p:nvSpPr>
          <p:cNvPr id="37" name="TextBox 36"/>
          <p:cNvSpPr txBox="1"/>
          <p:nvPr/>
        </p:nvSpPr>
        <p:spPr>
          <a:xfrm>
            <a:off x="9722815" y="6455664"/>
            <a:ext cx="1828800" cy="274320"/>
          </a:xfrm>
          <a:prstGeom prst="rect">
            <a:avLst/>
          </a:prstGeom>
          <a:noFill/>
        </p:spPr>
        <p:txBody>
          <a:bodyPr wrap="square" lIns="0" rIns="0" tIns="0" bIns="0" anchor="t">
            <a:spAutoFit/>
          </a:bodyPr>
          <a:lstStyle/>
          <a:p>
            <a:pPr algn="r">
              <a:lnSpc>
                <a:spcPct val="100000"/>
              </a:lnSpc>
            </a:pPr>
            <a:r>
              <a:rPr sz="950" b="0">
                <a:solidFill>
                  <a:srgbClr val="9AA2AC"/>
                </a:solidFill>
                <a:latin typeface="Arial"/>
              </a:rPr>
              <a:t>05 / 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7315200" cy="274320"/>
          </a:xfrm>
          <a:prstGeom prst="rect">
            <a:avLst/>
          </a:prstGeom>
          <a:noFill/>
        </p:spPr>
        <p:txBody>
          <a:bodyPr wrap="square" lIns="0" rIns="0" tIns="0" bIns="0" anchor="t">
            <a:spAutoFit/>
          </a:bodyPr>
          <a:lstStyle/>
          <a:p>
            <a:pPr algn="l">
              <a:lnSpc>
                <a:spcPct val="100000"/>
              </a:lnSpc>
            </a:pPr>
            <a:r>
              <a:rPr sz="1200" b="1" spc="180">
                <a:solidFill>
                  <a:srgbClr val="B09F95"/>
                </a:solidFill>
                <a:latin typeface="Arial"/>
              </a:rPr>
              <a:t>LECTURE 1–6  ·  HTML5</a:t>
            </a:r>
          </a:p>
        </p:txBody>
      </p:sp>
      <p:sp>
        <p:nvSpPr>
          <p:cNvPr id="4" name="TextBox 3"/>
          <p:cNvSpPr txBox="1"/>
          <p:nvPr/>
        </p:nvSpPr>
        <p:spPr>
          <a:xfrm>
            <a:off x="640080" y="841247"/>
            <a:ext cx="10911535" cy="822960"/>
          </a:xfrm>
          <a:prstGeom prst="rect">
            <a:avLst/>
          </a:prstGeom>
          <a:noFill/>
        </p:spPr>
        <p:txBody>
          <a:bodyPr wrap="square" lIns="0" rIns="0" tIns="0" bIns="0" anchor="t">
            <a:spAutoFit/>
          </a:bodyPr>
          <a:lstStyle/>
          <a:p>
            <a:pPr algn="l">
              <a:lnSpc>
                <a:spcPct val="100000"/>
              </a:lnSpc>
            </a:pPr>
            <a:r>
              <a:rPr sz="3000" b="1">
                <a:solidFill>
                  <a:srgbClr val="22252B"/>
                </a:solidFill>
                <a:latin typeface="Arial"/>
              </a:rPr>
              <a:t>Building the structure</a:t>
            </a:r>
          </a:p>
        </p:txBody>
      </p:sp>
      <p:sp>
        <p:nvSpPr>
          <p:cNvPr id="5" name="TextBox 4"/>
          <p:cNvSpPr txBox="1"/>
          <p:nvPr/>
        </p:nvSpPr>
        <p:spPr>
          <a:xfrm>
            <a:off x="640080" y="1517904"/>
            <a:ext cx="5074920" cy="1371600"/>
          </a:xfrm>
          <a:prstGeom prst="rect">
            <a:avLst/>
          </a:prstGeom>
          <a:noFill/>
        </p:spPr>
        <p:txBody>
          <a:bodyPr wrap="square" lIns="0" rIns="0" tIns="0" bIns="0" anchor="t">
            <a:spAutoFit/>
          </a:bodyPr>
          <a:lstStyle/>
          <a:p>
            <a:pPr algn="l">
              <a:lnSpc>
                <a:spcPct val="130000"/>
              </a:lnSpc>
            </a:pPr>
            <a:r>
              <a:rPr sz="1350" b="0">
                <a:solidFill>
                  <a:srgbClr val="606772"/>
                </a:solidFill>
                <a:latin typeface="Arial"/>
              </a:rPr>
              <a:t>Every Synora page is written with semantic HTML5 — elements that describe what each region means, not just how it looks. The browser, assistive tech and our own code all read that structure.</a:t>
            </a:r>
          </a:p>
        </p:txBody>
      </p:sp>
      <p:sp>
        <p:nvSpPr>
          <p:cNvPr id="6" name="TextBox 5"/>
          <p:cNvSpPr txBox="1"/>
          <p:nvPr/>
        </p:nvSpPr>
        <p:spPr>
          <a:xfrm>
            <a:off x="640080" y="3063240"/>
            <a:ext cx="5029200" cy="365760"/>
          </a:xfrm>
          <a:prstGeom prst="rect">
            <a:avLst/>
          </a:prstGeom>
          <a:noFill/>
        </p:spPr>
        <p:txBody>
          <a:bodyPr wrap="square" lIns="0" rIns="0" tIns="0" bIns="0" anchor="t">
            <a:spAutoFit/>
          </a:bodyPr>
          <a:lstStyle/>
          <a:p>
            <a:pPr algn="l">
              <a:lnSpc>
                <a:spcPct val="100000"/>
              </a:lnSpc>
            </a:pPr>
            <a:r>
              <a:rPr sz="1300" b="1">
                <a:solidFill>
                  <a:srgbClr val="455A50"/>
                </a:solidFill>
                <a:latin typeface="Courier New"/>
              </a:rPr>
              <a:t>&lt;header&gt;</a:t>
            </a:r>
            <a:r>
              <a:rPr sz="1100" b="0">
                <a:solidFill>
                  <a:srgbClr val="A3AEB1"/>
                </a:solidFill>
                <a:latin typeface="Arial"/>
              </a:rPr>
              <a:t/>
            </a:r>
          </a:p>
        </p:txBody>
      </p:sp>
      <p:sp>
        <p:nvSpPr>
          <p:cNvPr id="7" name="TextBox 6"/>
          <p:cNvSpPr txBox="1"/>
          <p:nvPr/>
        </p:nvSpPr>
        <p:spPr>
          <a:xfrm>
            <a:off x="640080" y="3465576"/>
            <a:ext cx="5029200" cy="365760"/>
          </a:xfrm>
          <a:prstGeom prst="rect">
            <a:avLst/>
          </a:prstGeom>
          <a:noFill/>
        </p:spPr>
        <p:txBody>
          <a:bodyPr wrap="square" lIns="0" rIns="0" tIns="0" bIns="0" anchor="t">
            <a:spAutoFit/>
          </a:bodyPr>
          <a:lstStyle/>
          <a:p>
            <a:pPr algn="l">
              <a:lnSpc>
                <a:spcPct val="100000"/>
              </a:lnSpc>
            </a:pPr>
            <a:r>
              <a:rPr sz="1300" b="1">
                <a:solidFill>
                  <a:srgbClr val="455A50"/>
                </a:solidFill>
                <a:latin typeface="Courier New"/>
              </a:rPr>
              <a:t>&lt;nav&gt;</a:t>
            </a:r>
            <a:r>
              <a:rPr sz="1100" b="0">
                <a:solidFill>
                  <a:srgbClr val="A3AEB1"/>
                </a:solidFill>
                <a:latin typeface="Arial"/>
              </a:rPr>
              <a:t>   aria-label</a:t>
            </a:r>
          </a:p>
        </p:txBody>
      </p:sp>
      <p:sp>
        <p:nvSpPr>
          <p:cNvPr id="8" name="TextBox 7"/>
          <p:cNvSpPr txBox="1"/>
          <p:nvPr/>
        </p:nvSpPr>
        <p:spPr>
          <a:xfrm>
            <a:off x="640080" y="3867912"/>
            <a:ext cx="5029200" cy="365760"/>
          </a:xfrm>
          <a:prstGeom prst="rect">
            <a:avLst/>
          </a:prstGeom>
          <a:noFill/>
        </p:spPr>
        <p:txBody>
          <a:bodyPr wrap="square" lIns="0" rIns="0" tIns="0" bIns="0" anchor="t">
            <a:spAutoFit/>
          </a:bodyPr>
          <a:lstStyle/>
          <a:p>
            <a:pPr algn="l">
              <a:lnSpc>
                <a:spcPct val="100000"/>
              </a:lnSpc>
            </a:pPr>
            <a:r>
              <a:rPr sz="1300" b="1">
                <a:solidFill>
                  <a:srgbClr val="455A50"/>
                </a:solidFill>
                <a:latin typeface="Courier New"/>
              </a:rPr>
              <a:t>&lt;main&gt;</a:t>
            </a:r>
            <a:r>
              <a:rPr sz="1100" b="0">
                <a:solidFill>
                  <a:srgbClr val="A3AEB1"/>
                </a:solidFill>
                <a:latin typeface="Arial"/>
              </a:rPr>
              <a:t>   ×14</a:t>
            </a:r>
          </a:p>
        </p:txBody>
      </p:sp>
      <p:sp>
        <p:nvSpPr>
          <p:cNvPr id="9" name="TextBox 8"/>
          <p:cNvSpPr txBox="1"/>
          <p:nvPr/>
        </p:nvSpPr>
        <p:spPr>
          <a:xfrm>
            <a:off x="640080" y="4270248"/>
            <a:ext cx="5029200" cy="365760"/>
          </a:xfrm>
          <a:prstGeom prst="rect">
            <a:avLst/>
          </a:prstGeom>
          <a:noFill/>
        </p:spPr>
        <p:txBody>
          <a:bodyPr wrap="square" lIns="0" rIns="0" tIns="0" bIns="0" anchor="t">
            <a:spAutoFit/>
          </a:bodyPr>
          <a:lstStyle/>
          <a:p>
            <a:pPr algn="l">
              <a:lnSpc>
                <a:spcPct val="100000"/>
              </a:lnSpc>
            </a:pPr>
            <a:r>
              <a:rPr sz="1300" b="1">
                <a:solidFill>
                  <a:srgbClr val="455A50"/>
                </a:solidFill>
                <a:latin typeface="Courier New"/>
              </a:rPr>
              <a:t>&lt;section&gt;</a:t>
            </a:r>
            <a:r>
              <a:rPr sz="1100" b="0">
                <a:solidFill>
                  <a:srgbClr val="A3AEB1"/>
                </a:solidFill>
                <a:latin typeface="Arial"/>
              </a:rPr>
              <a:t>   ×11 / aria-labelledby</a:t>
            </a:r>
          </a:p>
        </p:txBody>
      </p:sp>
      <p:sp>
        <p:nvSpPr>
          <p:cNvPr id="10" name="TextBox 9"/>
          <p:cNvSpPr txBox="1"/>
          <p:nvPr/>
        </p:nvSpPr>
        <p:spPr>
          <a:xfrm>
            <a:off x="640080" y="4672584"/>
            <a:ext cx="5029200" cy="365760"/>
          </a:xfrm>
          <a:prstGeom prst="rect">
            <a:avLst/>
          </a:prstGeom>
          <a:noFill/>
        </p:spPr>
        <p:txBody>
          <a:bodyPr wrap="square" lIns="0" rIns="0" tIns="0" bIns="0" anchor="t">
            <a:spAutoFit/>
          </a:bodyPr>
          <a:lstStyle/>
          <a:p>
            <a:pPr algn="l">
              <a:lnSpc>
                <a:spcPct val="100000"/>
              </a:lnSpc>
            </a:pPr>
            <a:r>
              <a:rPr sz="1300" b="1">
                <a:solidFill>
                  <a:srgbClr val="455A50"/>
                </a:solidFill>
                <a:latin typeface="Courier New"/>
              </a:rPr>
              <a:t>&lt;aside&gt;</a:t>
            </a:r>
            <a:r>
              <a:rPr sz="1100" b="0">
                <a:solidFill>
                  <a:srgbClr val="A3AEB1"/>
                </a:solidFill>
                <a:latin typeface="Arial"/>
              </a:rPr>
              <a:t>   ×12 sidebar</a:t>
            </a:r>
          </a:p>
        </p:txBody>
      </p:sp>
      <p:sp>
        <p:nvSpPr>
          <p:cNvPr id="11" name="TextBox 10"/>
          <p:cNvSpPr txBox="1"/>
          <p:nvPr/>
        </p:nvSpPr>
        <p:spPr>
          <a:xfrm>
            <a:off x="640080" y="5074920"/>
            <a:ext cx="5029200" cy="365760"/>
          </a:xfrm>
          <a:prstGeom prst="rect">
            <a:avLst/>
          </a:prstGeom>
          <a:noFill/>
        </p:spPr>
        <p:txBody>
          <a:bodyPr wrap="square" lIns="0" rIns="0" tIns="0" bIns="0" anchor="t">
            <a:spAutoFit/>
          </a:bodyPr>
          <a:lstStyle/>
          <a:p>
            <a:pPr algn="l">
              <a:lnSpc>
                <a:spcPct val="100000"/>
              </a:lnSpc>
            </a:pPr>
            <a:r>
              <a:rPr sz="1300" b="1">
                <a:solidFill>
                  <a:srgbClr val="455A50"/>
                </a:solidFill>
                <a:latin typeface="Courier New"/>
              </a:rPr>
              <a:t>&lt;footer&gt;</a:t>
            </a:r>
            <a:r>
              <a:rPr sz="1100" b="0">
                <a:solidFill>
                  <a:srgbClr val="A3AEB1"/>
                </a:solidFill>
                <a:latin typeface="Arial"/>
              </a:rPr>
              <a:t/>
            </a:r>
          </a:p>
        </p:txBody>
      </p:sp>
      <p:sp>
        <p:nvSpPr>
          <p:cNvPr id="12" name="TextBox 11"/>
          <p:cNvSpPr txBox="1"/>
          <p:nvPr/>
        </p:nvSpPr>
        <p:spPr>
          <a:xfrm>
            <a:off x="640080" y="5477256"/>
            <a:ext cx="5029200" cy="365760"/>
          </a:xfrm>
          <a:prstGeom prst="rect">
            <a:avLst/>
          </a:prstGeom>
          <a:noFill/>
        </p:spPr>
        <p:txBody>
          <a:bodyPr wrap="square" lIns="0" rIns="0" tIns="0" bIns="0" anchor="t">
            <a:spAutoFit/>
          </a:bodyPr>
          <a:lstStyle/>
          <a:p>
            <a:pPr algn="l">
              <a:lnSpc>
                <a:spcPct val="100000"/>
              </a:lnSpc>
            </a:pPr>
            <a:r>
              <a:rPr sz="1300" b="1">
                <a:solidFill>
                  <a:srgbClr val="455A50"/>
                </a:solidFill>
                <a:latin typeface="Courier New"/>
              </a:rPr>
              <a:t>&lt;figure&gt;</a:t>
            </a:r>
            <a:r>
              <a:rPr sz="1100" b="0">
                <a:solidFill>
                  <a:srgbClr val="A3AEB1"/>
                </a:solidFill>
                <a:latin typeface="Arial"/>
              </a:rPr>
              <a:t>   ×3</a:t>
            </a:r>
          </a:p>
        </p:txBody>
      </p:sp>
      <p:sp>
        <p:nvSpPr>
          <p:cNvPr id="13" name="Rounded Rectangle 12"/>
          <p:cNvSpPr/>
          <p:nvPr/>
        </p:nvSpPr>
        <p:spPr>
          <a:xfrm>
            <a:off x="5989320" y="1463040"/>
            <a:ext cx="5596128" cy="3408639"/>
          </a:xfrm>
          <a:prstGeom prst="roundRect">
            <a:avLst>
              <a:gd name="adj" fmla="val 3500"/>
            </a:avLst>
          </a:prstGeom>
          <a:solidFill>
            <a:srgbClr val="1C2026"/>
          </a:solidFill>
          <a:ln>
            <a:noFill/>
          </a:ln>
          <a:effectLst>
            <a:outerShdw blurRad="91440" dist="50292" dir="5400000" rotWithShape="0">
              <a:srgbClr val="22252B">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227064" y="1618488"/>
            <a:ext cx="91440" cy="91440"/>
          </a:xfrm>
          <a:prstGeom prst="ellipse">
            <a:avLst/>
          </a:prstGeom>
          <a:solidFill>
            <a:srgbClr val="E06C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91655" y="1618488"/>
            <a:ext cx="91440" cy="91440"/>
          </a:xfrm>
          <a:prstGeom prst="ellipse">
            <a:avLst/>
          </a:prstGeom>
          <a:solidFill>
            <a:srgbClr val="E0B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556248" y="1618488"/>
            <a:ext cx="91440" cy="91440"/>
          </a:xfrm>
          <a:prstGeom prst="ellipse">
            <a:avLst/>
          </a:prstGeom>
          <a:solidFill>
            <a:srgbClr val="8FB9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93992" y="1554480"/>
            <a:ext cx="4553712" cy="256032"/>
          </a:xfrm>
          <a:prstGeom prst="rect">
            <a:avLst/>
          </a:prstGeom>
          <a:noFill/>
        </p:spPr>
        <p:txBody>
          <a:bodyPr wrap="square" lIns="0" rIns="0" tIns="0" bIns="0" anchor="ctr">
            <a:spAutoFit/>
          </a:bodyPr>
          <a:lstStyle/>
          <a:p>
            <a:pPr algn="l">
              <a:lnSpc>
                <a:spcPct val="100000"/>
              </a:lnSpc>
            </a:pPr>
            <a:r>
              <a:rPr sz="1050" b="0">
                <a:solidFill>
                  <a:srgbClr val="8A929C"/>
                </a:solidFill>
                <a:latin typeface="Courier New"/>
              </a:rPr>
              <a:t>index.html — landing structure</a:t>
            </a:r>
          </a:p>
        </p:txBody>
      </p:sp>
      <p:sp>
        <p:nvSpPr>
          <p:cNvPr id="18" name="TextBox 17"/>
          <p:cNvSpPr txBox="1"/>
          <p:nvPr/>
        </p:nvSpPr>
        <p:spPr>
          <a:xfrm>
            <a:off x="6227064" y="1977847"/>
            <a:ext cx="5120640" cy="2773680"/>
          </a:xfrm>
          <a:prstGeom prst="rect">
            <a:avLst/>
          </a:prstGeom>
          <a:noFill/>
        </p:spPr>
        <p:txBody>
          <a:bodyPr wrap="none" lIns="0" rIns="0" tIns="0" bIns="0">
            <a:spAutoFit/>
          </a:bodyPr>
          <a:lstStyle/>
          <a:p>
            <a:pPr>
              <a:lnSpc>
                <a:spcPct val="128000"/>
              </a:lnSpc>
            </a:pPr>
            <a:r>
              <a:rPr sz="1250">
                <a:solidFill>
                  <a:srgbClr val="D6C6B8"/>
                </a:solidFill>
                <a:latin typeface="Courier New"/>
              </a:rPr>
              <a:t>&lt;header </a:t>
            </a:r>
            <a:r>
              <a:rPr sz="1250">
                <a:solidFill>
                  <a:srgbClr val="A9C3B0"/>
                </a:solidFill>
                <a:latin typeface="Courier New"/>
              </a:rPr>
              <a:t>class</a:t>
            </a:r>
            <a:r>
              <a:rPr sz="1250">
                <a:solidFill>
                  <a:srgbClr val="E7EAEE"/>
                </a:solidFill>
                <a:latin typeface="Courier New"/>
              </a:rPr>
              <a:t>=</a:t>
            </a:r>
            <a:r>
              <a:rPr sz="1250">
                <a:solidFill>
                  <a:srgbClr val="CBB69F"/>
                </a:solidFill>
                <a:latin typeface="Courier New"/>
              </a:rPr>
              <a:t>"site-header"</a:t>
            </a:r>
            <a:r>
              <a:rPr sz="1250">
                <a:solidFill>
                  <a:srgbClr val="D6C6B8"/>
                </a:solidFill>
                <a:latin typeface="Courier New"/>
              </a:rPr>
              <a:t>&gt;</a:t>
            </a:r>
          </a:p>
          <a:p>
            <a:pPr>
              <a:lnSpc>
                <a:spcPct val="128000"/>
              </a:lnSpc>
            </a:pPr>
            <a:r>
              <a:rPr sz="1250">
                <a:solidFill>
                  <a:srgbClr val="D6C6B8"/>
                </a:solidFill>
                <a:latin typeface="Courier New"/>
              </a:rPr>
              <a:t>  &lt;nav </a:t>
            </a:r>
            <a:r>
              <a:rPr sz="1250">
                <a:solidFill>
                  <a:srgbClr val="A9C3B0"/>
                </a:solidFill>
                <a:latin typeface="Courier New"/>
              </a:rPr>
              <a:t>aria-label</a:t>
            </a:r>
            <a:r>
              <a:rPr sz="1250">
                <a:solidFill>
                  <a:srgbClr val="E7EAEE"/>
                </a:solidFill>
                <a:latin typeface="Courier New"/>
              </a:rPr>
              <a:t>=</a:t>
            </a:r>
            <a:r>
              <a:rPr sz="1250">
                <a:solidFill>
                  <a:srgbClr val="CBB69F"/>
                </a:solidFill>
                <a:latin typeface="Courier New"/>
              </a:rPr>
              <a:t>"Primary"</a:t>
            </a:r>
            <a:r>
              <a:rPr sz="1250">
                <a:solidFill>
                  <a:srgbClr val="D6C6B8"/>
                </a:solidFill>
                <a:latin typeface="Courier New"/>
              </a:rPr>
              <a:t>&gt; … &lt;/nav&gt;</a:t>
            </a:r>
          </a:p>
          <a:p>
            <a:pPr>
              <a:lnSpc>
                <a:spcPct val="128000"/>
              </a:lnSpc>
            </a:pPr>
            <a:r>
              <a:rPr sz="1250">
                <a:solidFill>
                  <a:srgbClr val="D6C6B8"/>
                </a:solidFill>
                <a:latin typeface="Courier New"/>
              </a:rPr>
              <a:t>&lt;/header&gt;</a:t>
            </a:r>
          </a:p>
          <a:p>
            <a:pPr>
              <a:lnSpc>
                <a:spcPct val="128000"/>
              </a:lnSpc>
            </a:pPr>
            <a:r>
              <a:rPr sz="1250">
                <a:solidFill>
                  <a:srgbClr val="E7EAEE"/>
                </a:solidFill>
                <a:latin typeface="Courier New"/>
              </a:rPr>
              <a:t/>
            </a:r>
          </a:p>
          <a:p>
            <a:pPr>
              <a:lnSpc>
                <a:spcPct val="128000"/>
              </a:lnSpc>
            </a:pPr>
            <a:r>
              <a:rPr sz="1250">
                <a:solidFill>
                  <a:srgbClr val="D6C6B8"/>
                </a:solidFill>
                <a:latin typeface="Courier New"/>
              </a:rPr>
              <a:t>&lt;main </a:t>
            </a:r>
            <a:r>
              <a:rPr sz="1250">
                <a:solidFill>
                  <a:srgbClr val="A9C3B0"/>
                </a:solidFill>
                <a:latin typeface="Courier New"/>
              </a:rPr>
              <a:t>id</a:t>
            </a:r>
            <a:r>
              <a:rPr sz="1250">
                <a:solidFill>
                  <a:srgbClr val="E7EAEE"/>
                </a:solidFill>
                <a:latin typeface="Courier New"/>
              </a:rPr>
              <a:t>=</a:t>
            </a:r>
            <a:r>
              <a:rPr sz="1250">
                <a:solidFill>
                  <a:srgbClr val="CBB69F"/>
                </a:solidFill>
                <a:latin typeface="Courier New"/>
              </a:rPr>
              <a:t>"main"</a:t>
            </a:r>
            <a:r>
              <a:rPr sz="1250">
                <a:solidFill>
                  <a:srgbClr val="D6C6B8"/>
                </a:solidFill>
                <a:latin typeface="Courier New"/>
              </a:rPr>
              <a:t>&gt;</a:t>
            </a:r>
          </a:p>
          <a:p>
            <a:pPr>
              <a:lnSpc>
                <a:spcPct val="128000"/>
              </a:lnSpc>
            </a:pPr>
            <a:r>
              <a:rPr sz="1250">
                <a:solidFill>
                  <a:srgbClr val="D6C6B8"/>
                </a:solidFill>
                <a:latin typeface="Courier New"/>
              </a:rPr>
              <a:t>  &lt;section </a:t>
            </a:r>
            <a:r>
              <a:rPr sz="1250">
                <a:solidFill>
                  <a:srgbClr val="A9C3B0"/>
                </a:solidFill>
                <a:latin typeface="Courier New"/>
              </a:rPr>
              <a:t>class</a:t>
            </a:r>
            <a:r>
              <a:rPr sz="1250">
                <a:solidFill>
                  <a:srgbClr val="E7EAEE"/>
                </a:solidFill>
                <a:latin typeface="Courier New"/>
              </a:rPr>
              <a:t>=</a:t>
            </a:r>
            <a:r>
              <a:rPr sz="1250">
                <a:solidFill>
                  <a:srgbClr val="CBB69F"/>
                </a:solidFill>
                <a:latin typeface="Courier New"/>
              </a:rPr>
              <a:t>"hero"</a:t>
            </a:r>
            <a:r>
              <a:rPr sz="1250">
                <a:solidFill>
                  <a:srgbClr val="D6C6B8"/>
                </a:solidFill>
                <a:latin typeface="Courier New"/>
              </a:rPr>
              <a:t>&gt;…&lt;/section&gt;</a:t>
            </a:r>
          </a:p>
          <a:p>
            <a:pPr>
              <a:lnSpc>
                <a:spcPct val="128000"/>
              </a:lnSpc>
            </a:pPr>
            <a:r>
              <a:rPr sz="1250">
                <a:solidFill>
                  <a:srgbClr val="D6C6B8"/>
                </a:solidFill>
                <a:latin typeface="Courier New"/>
              </a:rPr>
              <a:t>  &lt;section </a:t>
            </a:r>
            <a:r>
              <a:rPr sz="1250">
                <a:solidFill>
                  <a:srgbClr val="A9C3B0"/>
                </a:solidFill>
                <a:latin typeface="Courier New"/>
              </a:rPr>
              <a:t>aria-labelledby</a:t>
            </a:r>
            <a:r>
              <a:rPr sz="1250">
                <a:solidFill>
                  <a:srgbClr val="E7EAEE"/>
                </a:solidFill>
                <a:latin typeface="Courier New"/>
              </a:rPr>
              <a:t>=</a:t>
            </a:r>
            <a:r>
              <a:rPr sz="1250">
                <a:solidFill>
                  <a:srgbClr val="CBB69F"/>
                </a:solidFill>
                <a:latin typeface="Courier New"/>
              </a:rPr>
              <a:t>"features"</a:t>
            </a:r>
            <a:r>
              <a:rPr sz="1250">
                <a:solidFill>
                  <a:srgbClr val="D6C6B8"/>
                </a:solidFill>
                <a:latin typeface="Courier New"/>
              </a:rPr>
              <a:t>&gt;…</a:t>
            </a:r>
          </a:p>
          <a:p>
            <a:pPr>
              <a:lnSpc>
                <a:spcPct val="128000"/>
              </a:lnSpc>
            </a:pPr>
            <a:r>
              <a:rPr sz="1250">
                <a:solidFill>
                  <a:srgbClr val="D6C6B8"/>
                </a:solidFill>
                <a:latin typeface="Courier New"/>
              </a:rPr>
              <a:t>  &lt;/section&gt;</a:t>
            </a:r>
          </a:p>
          <a:p>
            <a:pPr>
              <a:lnSpc>
                <a:spcPct val="128000"/>
              </a:lnSpc>
            </a:pPr>
            <a:r>
              <a:rPr sz="1250">
                <a:solidFill>
                  <a:srgbClr val="D6C6B8"/>
                </a:solidFill>
                <a:latin typeface="Courier New"/>
              </a:rPr>
              <a:t>&lt;/main&gt;</a:t>
            </a:r>
          </a:p>
          <a:p>
            <a:pPr>
              <a:lnSpc>
                <a:spcPct val="128000"/>
              </a:lnSpc>
            </a:pPr>
            <a:r>
              <a:rPr sz="1250">
                <a:solidFill>
                  <a:srgbClr val="E7EAEE"/>
                </a:solidFill>
                <a:latin typeface="Courier New"/>
              </a:rPr>
              <a:t/>
            </a:r>
          </a:p>
          <a:p>
            <a:pPr>
              <a:lnSpc>
                <a:spcPct val="128000"/>
              </a:lnSpc>
            </a:pPr>
            <a:r>
              <a:rPr sz="1250">
                <a:solidFill>
                  <a:srgbClr val="D6C6B8"/>
                </a:solidFill>
                <a:latin typeface="Courier New"/>
              </a:rPr>
              <a:t>&lt;footer </a:t>
            </a:r>
            <a:r>
              <a:rPr sz="1250">
                <a:solidFill>
                  <a:srgbClr val="A9C3B0"/>
                </a:solidFill>
                <a:latin typeface="Courier New"/>
              </a:rPr>
              <a:t>class</a:t>
            </a:r>
            <a:r>
              <a:rPr sz="1250">
                <a:solidFill>
                  <a:srgbClr val="E7EAEE"/>
                </a:solidFill>
                <a:latin typeface="Courier New"/>
              </a:rPr>
              <a:t>=</a:t>
            </a:r>
            <a:r>
              <a:rPr sz="1250">
                <a:solidFill>
                  <a:srgbClr val="CBB69F"/>
                </a:solidFill>
                <a:latin typeface="Courier New"/>
              </a:rPr>
              <a:t>"site-footer"</a:t>
            </a:r>
            <a:r>
              <a:rPr sz="1250">
                <a:solidFill>
                  <a:srgbClr val="D6C6B8"/>
                </a:solidFill>
                <a:latin typeface="Courier New"/>
              </a:rPr>
              <a:t>&gt;…&lt;/footer&gt;</a:t>
            </a:r>
          </a:p>
        </p:txBody>
      </p:sp>
      <p:sp>
        <p:nvSpPr>
          <p:cNvPr id="19" name="TextBox 18"/>
          <p:cNvSpPr txBox="1"/>
          <p:nvPr/>
        </p:nvSpPr>
        <p:spPr>
          <a:xfrm>
            <a:off x="5989320" y="6172200"/>
            <a:ext cx="5596128" cy="274320"/>
          </a:xfrm>
          <a:prstGeom prst="rect">
            <a:avLst/>
          </a:prstGeom>
          <a:noFill/>
        </p:spPr>
        <p:txBody>
          <a:bodyPr wrap="square" lIns="0" rIns="0" tIns="0" bIns="0" anchor="t">
            <a:spAutoFit/>
          </a:bodyPr>
          <a:lstStyle/>
          <a:p>
            <a:pPr algn="l">
              <a:lnSpc>
                <a:spcPct val="100000"/>
              </a:lnSpc>
            </a:pPr>
            <a:r>
              <a:rPr sz="1000" b="0" i="1">
                <a:solidFill>
                  <a:srgbClr val="A3AEB1"/>
                </a:solidFill>
                <a:latin typeface="Arial"/>
              </a:rPr>
              <a:t>Real markup from index.html — trimmed.</a:t>
            </a:r>
          </a:p>
        </p:txBody>
      </p:sp>
      <p:sp>
        <p:nvSpPr>
          <p:cNvPr id="20" name="TextBox 19"/>
          <p:cNvSpPr txBox="1"/>
          <p:nvPr/>
        </p:nvSpPr>
        <p:spPr>
          <a:xfrm>
            <a:off x="640080" y="6455664"/>
            <a:ext cx="4572000" cy="274320"/>
          </a:xfrm>
          <a:prstGeom prst="rect">
            <a:avLst/>
          </a:prstGeom>
          <a:noFill/>
        </p:spPr>
        <p:txBody>
          <a:bodyPr wrap="square" lIns="0" rIns="0" tIns="0" bIns="0" anchor="t">
            <a:spAutoFit/>
          </a:bodyPr>
          <a:lstStyle/>
          <a:p>
            <a:pPr algn="l">
              <a:lnSpc>
                <a:spcPct val="100000"/>
              </a:lnSpc>
            </a:pPr>
            <a:r>
              <a:rPr sz="950" b="0">
                <a:solidFill>
                  <a:srgbClr val="A3AEB1"/>
                </a:solidFill>
                <a:latin typeface="Arial"/>
              </a:rPr>
              <a:t>Synora  ·  Web Development Project</a:t>
            </a:r>
          </a:p>
        </p:txBody>
      </p:sp>
      <p:sp>
        <p:nvSpPr>
          <p:cNvPr id="21" name="TextBox 20"/>
          <p:cNvSpPr txBox="1"/>
          <p:nvPr/>
        </p:nvSpPr>
        <p:spPr>
          <a:xfrm>
            <a:off x="9722815" y="6455664"/>
            <a:ext cx="1828800" cy="274320"/>
          </a:xfrm>
          <a:prstGeom prst="rect">
            <a:avLst/>
          </a:prstGeom>
          <a:noFill/>
        </p:spPr>
        <p:txBody>
          <a:bodyPr wrap="square" lIns="0" rIns="0" tIns="0" bIns="0" anchor="t">
            <a:spAutoFit/>
          </a:bodyPr>
          <a:lstStyle/>
          <a:p>
            <a:pPr algn="r">
              <a:lnSpc>
                <a:spcPct val="100000"/>
              </a:lnSpc>
            </a:pPr>
            <a:r>
              <a:rPr sz="950" b="0">
                <a:solidFill>
                  <a:srgbClr val="A3AEB1"/>
                </a:solidFill>
                <a:latin typeface="Arial"/>
              </a:rPr>
              <a:t>06 /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7315200" cy="274320"/>
          </a:xfrm>
          <a:prstGeom prst="rect">
            <a:avLst/>
          </a:prstGeom>
          <a:noFill/>
        </p:spPr>
        <p:txBody>
          <a:bodyPr wrap="square" lIns="0" rIns="0" tIns="0" bIns="0" anchor="t">
            <a:spAutoFit/>
          </a:bodyPr>
          <a:lstStyle/>
          <a:p>
            <a:pPr algn="l">
              <a:lnSpc>
                <a:spcPct val="100000"/>
              </a:lnSpc>
            </a:pPr>
            <a:r>
              <a:rPr sz="1200" b="1" spc="180">
                <a:solidFill>
                  <a:srgbClr val="B09F95"/>
                </a:solidFill>
                <a:latin typeface="Arial"/>
              </a:rPr>
              <a:t>HTML5  ·  ACCESSIBILITY BASICS</a:t>
            </a:r>
          </a:p>
        </p:txBody>
      </p:sp>
      <p:sp>
        <p:nvSpPr>
          <p:cNvPr id="4" name="TextBox 3"/>
          <p:cNvSpPr txBox="1"/>
          <p:nvPr/>
        </p:nvSpPr>
        <p:spPr>
          <a:xfrm>
            <a:off x="640080" y="841247"/>
            <a:ext cx="10911535" cy="822960"/>
          </a:xfrm>
          <a:prstGeom prst="rect">
            <a:avLst/>
          </a:prstGeom>
          <a:noFill/>
        </p:spPr>
        <p:txBody>
          <a:bodyPr wrap="square" lIns="0" rIns="0" tIns="0" bIns="0" anchor="t">
            <a:spAutoFit/>
          </a:bodyPr>
          <a:lstStyle/>
          <a:p>
            <a:pPr algn="l">
              <a:lnSpc>
                <a:spcPct val="100000"/>
              </a:lnSpc>
            </a:pPr>
            <a:r>
              <a:rPr sz="3000" b="1">
                <a:solidFill>
                  <a:srgbClr val="22252B"/>
                </a:solidFill>
                <a:latin typeface="Arial"/>
              </a:rPr>
              <a:t>Meaningful, accessible controls</a:t>
            </a:r>
          </a:p>
        </p:txBody>
      </p:sp>
      <p:sp>
        <p:nvSpPr>
          <p:cNvPr id="5" name="Rounded Rectangle 4"/>
          <p:cNvSpPr/>
          <p:nvPr/>
        </p:nvSpPr>
        <p:spPr>
          <a:xfrm>
            <a:off x="640080" y="1463040"/>
            <a:ext cx="5806440" cy="3629024"/>
          </a:xfrm>
          <a:prstGeom prst="roundRect">
            <a:avLst>
              <a:gd name="adj" fmla="val 4500"/>
            </a:avLst>
          </a:prstGeom>
          <a:solidFill>
            <a:srgbClr val="FFFFFF"/>
          </a:solidFill>
          <a:ln>
            <a:noFill/>
          </a:ln>
          <a:effectLst>
            <a:outerShdw blurRad="91440" dist="50292" dir="5400000" rotWithShape="0">
              <a:srgbClr val="22252B">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ettings.png"/>
          <p:cNvPicPr>
            <a:picLocks noChangeAspect="1"/>
          </p:cNvPicPr>
          <p:nvPr/>
        </p:nvPicPr>
        <p:blipFill>
          <a:blip r:embed="rId2"/>
          <a:stretch>
            <a:fillRect/>
          </a:stretch>
        </p:blipFill>
        <p:spPr>
          <a:xfrm>
            <a:off x="640080" y="1463040"/>
            <a:ext cx="5806440" cy="3629024"/>
          </a:xfrm>
          <a:prstGeom prst="rect">
            <a:avLst/>
          </a:prstGeom>
          <a:effectLst/>
        </p:spPr>
      </p:pic>
      <p:sp>
        <p:nvSpPr>
          <p:cNvPr id="7" name="TextBox 6"/>
          <p:cNvSpPr txBox="1"/>
          <p:nvPr/>
        </p:nvSpPr>
        <p:spPr>
          <a:xfrm>
            <a:off x="640080" y="5230368"/>
            <a:ext cx="5806440" cy="274320"/>
          </a:xfrm>
          <a:prstGeom prst="rect">
            <a:avLst/>
          </a:prstGeom>
          <a:noFill/>
        </p:spPr>
        <p:txBody>
          <a:bodyPr wrap="square" lIns="0" rIns="0" tIns="0" bIns="0" anchor="t">
            <a:spAutoFit/>
          </a:bodyPr>
          <a:lstStyle/>
          <a:p>
            <a:pPr algn="l">
              <a:lnSpc>
                <a:spcPct val="100000"/>
              </a:lnSpc>
            </a:pPr>
            <a:r>
              <a:rPr sz="1050" b="0" i="1">
                <a:solidFill>
                  <a:srgbClr val="A3AEB1"/>
                </a:solidFill>
                <a:latin typeface="Arial"/>
              </a:rPr>
              <a:t>Settings — every field has a real &lt;label&gt; and input type.</a:t>
            </a:r>
          </a:p>
        </p:txBody>
      </p:sp>
      <p:sp>
        <p:nvSpPr>
          <p:cNvPr id="8" name="Rounded Rectangle 7"/>
          <p:cNvSpPr/>
          <p:nvPr/>
        </p:nvSpPr>
        <p:spPr>
          <a:xfrm>
            <a:off x="6720840" y="1517904"/>
            <a:ext cx="118872" cy="786384"/>
          </a:xfrm>
          <a:prstGeom prst="roundRect">
            <a:avLst>
              <a:gd name="adj" fmla="val 40000"/>
            </a:avLst>
          </a:prstGeom>
          <a:solidFill>
            <a:srgbClr val="536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1517904"/>
            <a:ext cx="4572000" cy="365760"/>
          </a:xfrm>
          <a:prstGeom prst="rect">
            <a:avLst/>
          </a:prstGeom>
          <a:noFill/>
        </p:spPr>
        <p:txBody>
          <a:bodyPr wrap="square" lIns="0" rIns="0" tIns="0" bIns="0" anchor="t">
            <a:spAutoFit/>
          </a:bodyPr>
          <a:lstStyle/>
          <a:p>
            <a:pPr algn="l">
              <a:lnSpc>
                <a:spcPct val="100000"/>
              </a:lnSpc>
            </a:pPr>
            <a:r>
              <a:rPr sz="1350" b="1">
                <a:solidFill>
                  <a:srgbClr val="22252B"/>
                </a:solidFill>
                <a:latin typeface="Arial"/>
              </a:rPr>
              <a:t>Labels for every input</a:t>
            </a:r>
          </a:p>
        </p:txBody>
      </p:sp>
      <p:sp>
        <p:nvSpPr>
          <p:cNvPr id="10" name="TextBox 9"/>
          <p:cNvSpPr txBox="1"/>
          <p:nvPr/>
        </p:nvSpPr>
        <p:spPr>
          <a:xfrm>
            <a:off x="7004304" y="1828800"/>
            <a:ext cx="4572000" cy="548640"/>
          </a:xfrm>
          <a:prstGeom prst="rect">
            <a:avLst/>
          </a:prstGeom>
          <a:noFill/>
        </p:spPr>
        <p:txBody>
          <a:bodyPr wrap="square" lIns="0" rIns="0" tIns="0" bIns="0" anchor="t">
            <a:spAutoFit/>
          </a:bodyPr>
          <a:lstStyle/>
          <a:p>
            <a:pPr algn="l">
              <a:lnSpc>
                <a:spcPct val="116000"/>
              </a:lnSpc>
            </a:pPr>
            <a:r>
              <a:rPr sz="1100" b="0">
                <a:solidFill>
                  <a:srgbClr val="606772"/>
                </a:solidFill>
                <a:latin typeface="Arial"/>
              </a:rPr>
              <a:t>16 &lt;label&gt; elements — clicking a label focuses its field.</a:t>
            </a:r>
          </a:p>
        </p:txBody>
      </p:sp>
      <p:sp>
        <p:nvSpPr>
          <p:cNvPr id="11" name="Rounded Rectangle 10"/>
          <p:cNvSpPr/>
          <p:nvPr/>
        </p:nvSpPr>
        <p:spPr>
          <a:xfrm>
            <a:off x="6720840" y="2450591"/>
            <a:ext cx="118872" cy="786384"/>
          </a:xfrm>
          <a:prstGeom prst="roundRect">
            <a:avLst>
              <a:gd name="adj" fmla="val 40000"/>
            </a:avLst>
          </a:prstGeom>
          <a:solidFill>
            <a:srgbClr val="536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04304" y="2450591"/>
            <a:ext cx="4572000" cy="365760"/>
          </a:xfrm>
          <a:prstGeom prst="rect">
            <a:avLst/>
          </a:prstGeom>
          <a:noFill/>
        </p:spPr>
        <p:txBody>
          <a:bodyPr wrap="square" lIns="0" rIns="0" tIns="0" bIns="0" anchor="t">
            <a:spAutoFit/>
          </a:bodyPr>
          <a:lstStyle/>
          <a:p>
            <a:pPr algn="l">
              <a:lnSpc>
                <a:spcPct val="100000"/>
              </a:lnSpc>
            </a:pPr>
            <a:r>
              <a:rPr sz="1350" b="1">
                <a:solidFill>
                  <a:srgbClr val="22252B"/>
                </a:solidFill>
                <a:latin typeface="Arial"/>
              </a:rPr>
              <a:t>ARIA where it helps</a:t>
            </a:r>
          </a:p>
        </p:txBody>
      </p:sp>
      <p:sp>
        <p:nvSpPr>
          <p:cNvPr id="13" name="TextBox 12"/>
          <p:cNvSpPr txBox="1"/>
          <p:nvPr/>
        </p:nvSpPr>
        <p:spPr>
          <a:xfrm>
            <a:off x="7004304" y="2761487"/>
            <a:ext cx="4572000" cy="548640"/>
          </a:xfrm>
          <a:prstGeom prst="rect">
            <a:avLst/>
          </a:prstGeom>
          <a:noFill/>
        </p:spPr>
        <p:txBody>
          <a:bodyPr wrap="square" lIns="0" rIns="0" tIns="0" bIns="0" anchor="t">
            <a:spAutoFit/>
          </a:bodyPr>
          <a:lstStyle/>
          <a:p>
            <a:pPr algn="l">
              <a:lnSpc>
                <a:spcPct val="116000"/>
              </a:lnSpc>
            </a:pPr>
            <a:r>
              <a:rPr sz="1100" b="0">
                <a:solidFill>
                  <a:srgbClr val="606772"/>
                </a:solidFill>
                <a:latin typeface="Arial"/>
              </a:rPr>
              <a:t>91 aria-* attributes: aria-label, aria-labelledby, aria-live regions.</a:t>
            </a:r>
          </a:p>
        </p:txBody>
      </p:sp>
      <p:sp>
        <p:nvSpPr>
          <p:cNvPr id="14" name="Rounded Rectangle 13"/>
          <p:cNvSpPr/>
          <p:nvPr/>
        </p:nvSpPr>
        <p:spPr>
          <a:xfrm>
            <a:off x="6720840" y="3383279"/>
            <a:ext cx="118872" cy="786384"/>
          </a:xfrm>
          <a:prstGeom prst="roundRect">
            <a:avLst>
              <a:gd name="adj" fmla="val 40000"/>
            </a:avLst>
          </a:prstGeom>
          <a:solidFill>
            <a:srgbClr val="536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04304" y="3383279"/>
            <a:ext cx="4572000" cy="365760"/>
          </a:xfrm>
          <a:prstGeom prst="rect">
            <a:avLst/>
          </a:prstGeom>
          <a:noFill/>
        </p:spPr>
        <p:txBody>
          <a:bodyPr wrap="square" lIns="0" rIns="0" tIns="0" bIns="0" anchor="t">
            <a:spAutoFit/>
          </a:bodyPr>
          <a:lstStyle/>
          <a:p>
            <a:pPr algn="l">
              <a:lnSpc>
                <a:spcPct val="100000"/>
              </a:lnSpc>
            </a:pPr>
            <a:r>
              <a:rPr sz="1350" b="1">
                <a:solidFill>
                  <a:srgbClr val="22252B"/>
                </a:solidFill>
                <a:latin typeface="Arial"/>
              </a:rPr>
              <a:t>Right input types</a:t>
            </a:r>
          </a:p>
        </p:txBody>
      </p:sp>
      <p:sp>
        <p:nvSpPr>
          <p:cNvPr id="16" name="TextBox 15"/>
          <p:cNvSpPr txBox="1"/>
          <p:nvPr/>
        </p:nvSpPr>
        <p:spPr>
          <a:xfrm>
            <a:off x="7004304" y="3694176"/>
            <a:ext cx="4572000" cy="548640"/>
          </a:xfrm>
          <a:prstGeom prst="rect">
            <a:avLst/>
          </a:prstGeom>
          <a:noFill/>
        </p:spPr>
        <p:txBody>
          <a:bodyPr wrap="square" lIns="0" rIns="0" tIns="0" bIns="0" anchor="t">
            <a:spAutoFit/>
          </a:bodyPr>
          <a:lstStyle/>
          <a:p>
            <a:pPr algn="l">
              <a:lnSpc>
                <a:spcPct val="116000"/>
              </a:lnSpc>
            </a:pPr>
            <a:r>
              <a:rPr sz="1100" b="0">
                <a:solidFill>
                  <a:srgbClr val="606772"/>
                </a:solidFill>
                <a:latin typeface="Arial"/>
              </a:rPr>
              <a:t>type=email, number, date, password — the keyboard and validation adapt.</a:t>
            </a:r>
          </a:p>
        </p:txBody>
      </p:sp>
      <p:sp>
        <p:nvSpPr>
          <p:cNvPr id="17" name="Rounded Rectangle 16"/>
          <p:cNvSpPr/>
          <p:nvPr/>
        </p:nvSpPr>
        <p:spPr>
          <a:xfrm>
            <a:off x="6720840" y="4315968"/>
            <a:ext cx="118872" cy="786384"/>
          </a:xfrm>
          <a:prstGeom prst="roundRect">
            <a:avLst>
              <a:gd name="adj" fmla="val 40000"/>
            </a:avLst>
          </a:prstGeom>
          <a:solidFill>
            <a:srgbClr val="536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04304" y="4315968"/>
            <a:ext cx="4572000" cy="365760"/>
          </a:xfrm>
          <a:prstGeom prst="rect">
            <a:avLst/>
          </a:prstGeom>
          <a:noFill/>
        </p:spPr>
        <p:txBody>
          <a:bodyPr wrap="square" lIns="0" rIns="0" tIns="0" bIns="0" anchor="t">
            <a:spAutoFit/>
          </a:bodyPr>
          <a:lstStyle/>
          <a:p>
            <a:pPr algn="l">
              <a:lnSpc>
                <a:spcPct val="100000"/>
              </a:lnSpc>
            </a:pPr>
            <a:r>
              <a:rPr sz="1350" b="1">
                <a:solidFill>
                  <a:srgbClr val="22252B"/>
                </a:solidFill>
                <a:latin typeface="Arial"/>
              </a:rPr>
              <a:t>Alt text on imagery</a:t>
            </a:r>
          </a:p>
        </p:txBody>
      </p:sp>
      <p:sp>
        <p:nvSpPr>
          <p:cNvPr id="19" name="TextBox 18"/>
          <p:cNvSpPr txBox="1"/>
          <p:nvPr/>
        </p:nvSpPr>
        <p:spPr>
          <a:xfrm>
            <a:off x="7004304" y="4626864"/>
            <a:ext cx="4572000" cy="548640"/>
          </a:xfrm>
          <a:prstGeom prst="rect">
            <a:avLst/>
          </a:prstGeom>
          <a:noFill/>
        </p:spPr>
        <p:txBody>
          <a:bodyPr wrap="square" lIns="0" rIns="0" tIns="0" bIns="0" anchor="t">
            <a:spAutoFit/>
          </a:bodyPr>
          <a:lstStyle/>
          <a:p>
            <a:pPr algn="l">
              <a:lnSpc>
                <a:spcPct val="116000"/>
              </a:lnSpc>
            </a:pPr>
            <a:r>
              <a:rPr sz="1100" b="0">
                <a:solidFill>
                  <a:srgbClr val="606772"/>
                </a:solidFill>
                <a:latin typeface="Arial"/>
              </a:rPr>
              <a:t>18 alt attributes; decorative art is marked aria-hidden.</a:t>
            </a:r>
          </a:p>
        </p:txBody>
      </p:sp>
      <p:sp>
        <p:nvSpPr>
          <p:cNvPr id="20" name="Rounded Rectangle 19"/>
          <p:cNvSpPr/>
          <p:nvPr/>
        </p:nvSpPr>
        <p:spPr>
          <a:xfrm>
            <a:off x="6720840" y="5248656"/>
            <a:ext cx="118872" cy="786384"/>
          </a:xfrm>
          <a:prstGeom prst="roundRect">
            <a:avLst>
              <a:gd name="adj" fmla="val 40000"/>
            </a:avLst>
          </a:prstGeom>
          <a:solidFill>
            <a:srgbClr val="536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04304" y="5248656"/>
            <a:ext cx="4572000" cy="365760"/>
          </a:xfrm>
          <a:prstGeom prst="rect">
            <a:avLst/>
          </a:prstGeom>
          <a:noFill/>
        </p:spPr>
        <p:txBody>
          <a:bodyPr wrap="square" lIns="0" rIns="0" tIns="0" bIns="0" anchor="t">
            <a:spAutoFit/>
          </a:bodyPr>
          <a:lstStyle/>
          <a:p>
            <a:pPr algn="l">
              <a:lnSpc>
                <a:spcPct val="100000"/>
              </a:lnSpc>
            </a:pPr>
            <a:r>
              <a:rPr sz="1350" b="1">
                <a:solidFill>
                  <a:srgbClr val="22252B"/>
                </a:solidFill>
                <a:latin typeface="Arial"/>
              </a:rPr>
              <a:t>Keyboard-friendly</a:t>
            </a:r>
          </a:p>
        </p:txBody>
      </p:sp>
      <p:sp>
        <p:nvSpPr>
          <p:cNvPr id="22" name="TextBox 21"/>
          <p:cNvSpPr txBox="1"/>
          <p:nvPr/>
        </p:nvSpPr>
        <p:spPr>
          <a:xfrm>
            <a:off x="7004304" y="5559552"/>
            <a:ext cx="4572000" cy="548640"/>
          </a:xfrm>
          <a:prstGeom prst="rect">
            <a:avLst/>
          </a:prstGeom>
          <a:noFill/>
        </p:spPr>
        <p:txBody>
          <a:bodyPr wrap="square" lIns="0" rIns="0" tIns="0" bIns="0" anchor="t">
            <a:spAutoFit/>
          </a:bodyPr>
          <a:lstStyle/>
          <a:p>
            <a:pPr algn="l">
              <a:lnSpc>
                <a:spcPct val="116000"/>
              </a:lnSpc>
            </a:pPr>
            <a:r>
              <a:rPr sz="1100" b="0">
                <a:solidFill>
                  <a:srgbClr val="606772"/>
                </a:solidFill>
                <a:latin typeface="Arial"/>
              </a:rPr>
              <a:t>A skip-link and a .visually-hidden pattern for screen-reader-only text.</a:t>
            </a:r>
          </a:p>
        </p:txBody>
      </p:sp>
      <p:sp>
        <p:nvSpPr>
          <p:cNvPr id="23" name="TextBox 22"/>
          <p:cNvSpPr txBox="1"/>
          <p:nvPr/>
        </p:nvSpPr>
        <p:spPr>
          <a:xfrm>
            <a:off x="640080" y="6455664"/>
            <a:ext cx="4572000" cy="274320"/>
          </a:xfrm>
          <a:prstGeom prst="rect">
            <a:avLst/>
          </a:prstGeom>
          <a:noFill/>
        </p:spPr>
        <p:txBody>
          <a:bodyPr wrap="square" lIns="0" rIns="0" tIns="0" bIns="0" anchor="t">
            <a:spAutoFit/>
          </a:bodyPr>
          <a:lstStyle/>
          <a:p>
            <a:pPr algn="l">
              <a:lnSpc>
                <a:spcPct val="100000"/>
              </a:lnSpc>
            </a:pPr>
            <a:r>
              <a:rPr sz="950" b="0">
                <a:solidFill>
                  <a:srgbClr val="A3AEB1"/>
                </a:solidFill>
                <a:latin typeface="Arial"/>
              </a:rPr>
              <a:t>Synora  ·  Web Development Project</a:t>
            </a:r>
          </a:p>
        </p:txBody>
      </p:sp>
      <p:sp>
        <p:nvSpPr>
          <p:cNvPr id="24" name="TextBox 23"/>
          <p:cNvSpPr txBox="1"/>
          <p:nvPr/>
        </p:nvSpPr>
        <p:spPr>
          <a:xfrm>
            <a:off x="9722815" y="6455664"/>
            <a:ext cx="1828800" cy="274320"/>
          </a:xfrm>
          <a:prstGeom prst="rect">
            <a:avLst/>
          </a:prstGeom>
          <a:noFill/>
        </p:spPr>
        <p:txBody>
          <a:bodyPr wrap="square" lIns="0" rIns="0" tIns="0" bIns="0" anchor="t">
            <a:spAutoFit/>
          </a:bodyPr>
          <a:lstStyle/>
          <a:p>
            <a:pPr algn="r">
              <a:lnSpc>
                <a:spcPct val="100000"/>
              </a:lnSpc>
            </a:pPr>
            <a:r>
              <a:rPr sz="950" b="0">
                <a:solidFill>
                  <a:srgbClr val="A3AEB1"/>
                </a:solidFill>
                <a:latin typeface="Arial"/>
              </a:rPr>
              <a:t>07 / 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7315200" cy="274320"/>
          </a:xfrm>
          <a:prstGeom prst="rect">
            <a:avLst/>
          </a:prstGeom>
          <a:noFill/>
        </p:spPr>
        <p:txBody>
          <a:bodyPr wrap="square" lIns="0" rIns="0" tIns="0" bIns="0" anchor="t">
            <a:spAutoFit/>
          </a:bodyPr>
          <a:lstStyle/>
          <a:p>
            <a:pPr algn="l">
              <a:lnSpc>
                <a:spcPct val="100000"/>
              </a:lnSpc>
            </a:pPr>
            <a:r>
              <a:rPr sz="1200" b="1" spc="180">
                <a:solidFill>
                  <a:srgbClr val="B09F95"/>
                </a:solidFill>
                <a:latin typeface="Arial"/>
              </a:rPr>
              <a:t>LECTURE 1–6  ·  CSS3</a:t>
            </a:r>
          </a:p>
        </p:txBody>
      </p:sp>
      <p:sp>
        <p:nvSpPr>
          <p:cNvPr id="4" name="TextBox 3"/>
          <p:cNvSpPr txBox="1"/>
          <p:nvPr/>
        </p:nvSpPr>
        <p:spPr>
          <a:xfrm>
            <a:off x="640080" y="841247"/>
            <a:ext cx="10911535" cy="822960"/>
          </a:xfrm>
          <a:prstGeom prst="rect">
            <a:avLst/>
          </a:prstGeom>
          <a:noFill/>
        </p:spPr>
        <p:txBody>
          <a:bodyPr wrap="square" lIns="0" rIns="0" tIns="0" bIns="0" anchor="t">
            <a:spAutoFit/>
          </a:bodyPr>
          <a:lstStyle/>
          <a:p>
            <a:pPr algn="l">
              <a:lnSpc>
                <a:spcPct val="100000"/>
              </a:lnSpc>
            </a:pPr>
            <a:r>
              <a:rPr sz="3000" b="1">
                <a:solidFill>
                  <a:srgbClr val="22252B"/>
                </a:solidFill>
                <a:latin typeface="Arial"/>
              </a:rPr>
              <a:t>One design system, not many pages</a:t>
            </a:r>
          </a:p>
        </p:txBody>
      </p:sp>
      <p:sp>
        <p:nvSpPr>
          <p:cNvPr id="5" name="TextBox 4"/>
          <p:cNvSpPr txBox="1"/>
          <p:nvPr/>
        </p:nvSpPr>
        <p:spPr>
          <a:xfrm>
            <a:off x="640080" y="1517904"/>
            <a:ext cx="5486400" cy="914400"/>
          </a:xfrm>
          <a:prstGeom prst="rect">
            <a:avLst/>
          </a:prstGeom>
          <a:noFill/>
        </p:spPr>
        <p:txBody>
          <a:bodyPr wrap="square" lIns="0" rIns="0" tIns="0" bIns="0" anchor="t">
            <a:spAutoFit/>
          </a:bodyPr>
          <a:lstStyle/>
          <a:p>
            <a:pPr algn="l">
              <a:lnSpc>
                <a:spcPct val="128000"/>
              </a:lnSpc>
            </a:pPr>
            <a:r>
              <a:rPr sz="1350" b="0">
                <a:solidFill>
                  <a:srgbClr val="606772"/>
                </a:solidFill>
                <a:latin typeface="Arial"/>
              </a:rPr>
              <a:t>CSS3 custom properties define the look once — ~142 design tokens for colour, type, spacing, radius and shadow. Every card, button and form reuses them, so the whole app feels like one product.</a:t>
            </a:r>
          </a:p>
        </p:txBody>
      </p:sp>
      <p:sp>
        <p:nvSpPr>
          <p:cNvPr id="6" name="Rounded Rectangle 5"/>
          <p:cNvSpPr/>
          <p:nvPr/>
        </p:nvSpPr>
        <p:spPr>
          <a:xfrm>
            <a:off x="640080" y="2880360"/>
            <a:ext cx="1371600" cy="960120"/>
          </a:xfrm>
          <a:prstGeom prst="roundRect">
            <a:avLst>
              <a:gd name="adj" fmla="val 10000"/>
            </a:avLst>
          </a:prstGeom>
          <a:solidFill>
            <a:srgbClr val="22252B"/>
          </a:solidFill>
          <a:ln w="12700">
            <a:solidFill>
              <a:srgbClr val="E5E8EB"/>
            </a:solidFill>
          </a:ln>
          <a:effectLst>
            <a:outerShdw blurRad="91440" dist="50292" dir="5400000" rotWithShape="0">
              <a:srgbClr val="22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3913632"/>
            <a:ext cx="1371600" cy="274320"/>
          </a:xfrm>
          <a:prstGeom prst="rect">
            <a:avLst/>
          </a:prstGeom>
          <a:noFill/>
        </p:spPr>
        <p:txBody>
          <a:bodyPr wrap="square" lIns="0" rIns="0" tIns="0" bIns="0" anchor="t">
            <a:spAutoFit/>
          </a:bodyPr>
          <a:lstStyle/>
          <a:p>
            <a:pPr algn="ctr">
              <a:lnSpc>
                <a:spcPct val="100000"/>
              </a:lnSpc>
            </a:pPr>
            <a:r>
              <a:rPr sz="1200" b="1">
                <a:solidFill>
                  <a:srgbClr val="22252B"/>
                </a:solidFill>
                <a:latin typeface="Arial"/>
              </a:rPr>
              <a:t>Ink</a:t>
            </a:r>
          </a:p>
        </p:txBody>
      </p:sp>
      <p:sp>
        <p:nvSpPr>
          <p:cNvPr id="8" name="TextBox 7"/>
          <p:cNvSpPr txBox="1"/>
          <p:nvPr/>
        </p:nvSpPr>
        <p:spPr>
          <a:xfrm>
            <a:off x="640080" y="4160520"/>
            <a:ext cx="1371600" cy="274320"/>
          </a:xfrm>
          <a:prstGeom prst="rect">
            <a:avLst/>
          </a:prstGeom>
          <a:noFill/>
        </p:spPr>
        <p:txBody>
          <a:bodyPr wrap="square" lIns="0" rIns="0" tIns="0" bIns="0" anchor="t">
            <a:spAutoFit/>
          </a:bodyPr>
          <a:lstStyle/>
          <a:p>
            <a:pPr algn="ctr">
              <a:lnSpc>
                <a:spcPct val="100000"/>
              </a:lnSpc>
            </a:pPr>
            <a:r>
              <a:rPr sz="1000" b="0">
                <a:solidFill>
                  <a:srgbClr val="A3AEB1"/>
                </a:solidFill>
                <a:latin typeface="Courier New"/>
              </a:rPr>
              <a:t>#22252B</a:t>
            </a:r>
          </a:p>
        </p:txBody>
      </p:sp>
      <p:sp>
        <p:nvSpPr>
          <p:cNvPr id="9" name="Rounded Rectangle 8"/>
          <p:cNvSpPr/>
          <p:nvPr/>
        </p:nvSpPr>
        <p:spPr>
          <a:xfrm>
            <a:off x="2176272" y="2880360"/>
            <a:ext cx="1371600" cy="960120"/>
          </a:xfrm>
          <a:prstGeom prst="roundRect">
            <a:avLst>
              <a:gd name="adj" fmla="val 10000"/>
            </a:avLst>
          </a:prstGeom>
          <a:solidFill>
            <a:srgbClr val="53655C"/>
          </a:solidFill>
          <a:ln w="12700">
            <a:solidFill>
              <a:srgbClr val="E5E8EB"/>
            </a:solidFill>
          </a:ln>
          <a:effectLst>
            <a:outerShdw blurRad="91440" dist="50292" dir="5400000" rotWithShape="0">
              <a:srgbClr val="22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76272" y="3913632"/>
            <a:ext cx="1371600" cy="274320"/>
          </a:xfrm>
          <a:prstGeom prst="rect">
            <a:avLst/>
          </a:prstGeom>
          <a:noFill/>
        </p:spPr>
        <p:txBody>
          <a:bodyPr wrap="square" lIns="0" rIns="0" tIns="0" bIns="0" anchor="t">
            <a:spAutoFit/>
          </a:bodyPr>
          <a:lstStyle/>
          <a:p>
            <a:pPr algn="ctr">
              <a:lnSpc>
                <a:spcPct val="100000"/>
              </a:lnSpc>
            </a:pPr>
            <a:r>
              <a:rPr sz="1200" b="1">
                <a:solidFill>
                  <a:srgbClr val="22252B"/>
                </a:solidFill>
                <a:latin typeface="Arial"/>
              </a:rPr>
              <a:t>Sage</a:t>
            </a:r>
          </a:p>
        </p:txBody>
      </p:sp>
      <p:sp>
        <p:nvSpPr>
          <p:cNvPr id="11" name="TextBox 10"/>
          <p:cNvSpPr txBox="1"/>
          <p:nvPr/>
        </p:nvSpPr>
        <p:spPr>
          <a:xfrm>
            <a:off x="2176272" y="4160520"/>
            <a:ext cx="1371600" cy="274320"/>
          </a:xfrm>
          <a:prstGeom prst="rect">
            <a:avLst/>
          </a:prstGeom>
          <a:noFill/>
        </p:spPr>
        <p:txBody>
          <a:bodyPr wrap="square" lIns="0" rIns="0" tIns="0" bIns="0" anchor="t">
            <a:spAutoFit/>
          </a:bodyPr>
          <a:lstStyle/>
          <a:p>
            <a:pPr algn="ctr">
              <a:lnSpc>
                <a:spcPct val="100000"/>
              </a:lnSpc>
            </a:pPr>
            <a:r>
              <a:rPr sz="1000" b="0">
                <a:solidFill>
                  <a:srgbClr val="A3AEB1"/>
                </a:solidFill>
                <a:latin typeface="Courier New"/>
              </a:rPr>
              <a:t>#53655C</a:t>
            </a:r>
          </a:p>
        </p:txBody>
      </p:sp>
      <p:sp>
        <p:nvSpPr>
          <p:cNvPr id="12" name="Rounded Rectangle 11"/>
          <p:cNvSpPr/>
          <p:nvPr/>
        </p:nvSpPr>
        <p:spPr>
          <a:xfrm>
            <a:off x="3712463" y="2880360"/>
            <a:ext cx="1371600" cy="960120"/>
          </a:xfrm>
          <a:prstGeom prst="roundRect">
            <a:avLst>
              <a:gd name="adj" fmla="val 10000"/>
            </a:avLst>
          </a:prstGeom>
          <a:solidFill>
            <a:srgbClr val="A3AEB1"/>
          </a:solidFill>
          <a:ln w="12700">
            <a:solidFill>
              <a:srgbClr val="E5E8EB"/>
            </a:solidFill>
          </a:ln>
          <a:effectLst>
            <a:outerShdw blurRad="91440" dist="50292" dir="5400000" rotWithShape="0">
              <a:srgbClr val="22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12463" y="3913632"/>
            <a:ext cx="1371600" cy="274320"/>
          </a:xfrm>
          <a:prstGeom prst="rect">
            <a:avLst/>
          </a:prstGeom>
          <a:noFill/>
        </p:spPr>
        <p:txBody>
          <a:bodyPr wrap="square" lIns="0" rIns="0" tIns="0" bIns="0" anchor="t">
            <a:spAutoFit/>
          </a:bodyPr>
          <a:lstStyle/>
          <a:p>
            <a:pPr algn="ctr">
              <a:lnSpc>
                <a:spcPct val="100000"/>
              </a:lnSpc>
            </a:pPr>
            <a:r>
              <a:rPr sz="1200" b="1">
                <a:solidFill>
                  <a:srgbClr val="22252B"/>
                </a:solidFill>
                <a:latin typeface="Arial"/>
              </a:rPr>
              <a:t>Slate</a:t>
            </a:r>
          </a:p>
        </p:txBody>
      </p:sp>
      <p:sp>
        <p:nvSpPr>
          <p:cNvPr id="14" name="TextBox 13"/>
          <p:cNvSpPr txBox="1"/>
          <p:nvPr/>
        </p:nvSpPr>
        <p:spPr>
          <a:xfrm>
            <a:off x="3712463" y="4160520"/>
            <a:ext cx="1371600" cy="274320"/>
          </a:xfrm>
          <a:prstGeom prst="rect">
            <a:avLst/>
          </a:prstGeom>
          <a:noFill/>
        </p:spPr>
        <p:txBody>
          <a:bodyPr wrap="square" lIns="0" rIns="0" tIns="0" bIns="0" anchor="t">
            <a:spAutoFit/>
          </a:bodyPr>
          <a:lstStyle/>
          <a:p>
            <a:pPr algn="ctr">
              <a:lnSpc>
                <a:spcPct val="100000"/>
              </a:lnSpc>
            </a:pPr>
            <a:r>
              <a:rPr sz="1000" b="0">
                <a:solidFill>
                  <a:srgbClr val="A3AEB1"/>
                </a:solidFill>
                <a:latin typeface="Courier New"/>
              </a:rPr>
              <a:t>#A3AEB1</a:t>
            </a:r>
          </a:p>
        </p:txBody>
      </p:sp>
      <p:sp>
        <p:nvSpPr>
          <p:cNvPr id="15" name="Rounded Rectangle 14"/>
          <p:cNvSpPr/>
          <p:nvPr/>
        </p:nvSpPr>
        <p:spPr>
          <a:xfrm>
            <a:off x="5248656" y="2880360"/>
            <a:ext cx="1371600" cy="960120"/>
          </a:xfrm>
          <a:prstGeom prst="roundRect">
            <a:avLst>
              <a:gd name="adj" fmla="val 10000"/>
            </a:avLst>
          </a:prstGeom>
          <a:solidFill>
            <a:srgbClr val="E5E8EB"/>
          </a:solidFill>
          <a:ln w="12700">
            <a:solidFill>
              <a:srgbClr val="E5E8EB"/>
            </a:solidFill>
          </a:ln>
          <a:effectLst>
            <a:outerShdw blurRad="91440" dist="50292" dir="5400000" rotWithShape="0">
              <a:srgbClr val="22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48656" y="3913632"/>
            <a:ext cx="1371600" cy="274320"/>
          </a:xfrm>
          <a:prstGeom prst="rect">
            <a:avLst/>
          </a:prstGeom>
          <a:noFill/>
        </p:spPr>
        <p:txBody>
          <a:bodyPr wrap="square" lIns="0" rIns="0" tIns="0" bIns="0" anchor="t">
            <a:spAutoFit/>
          </a:bodyPr>
          <a:lstStyle/>
          <a:p>
            <a:pPr algn="ctr">
              <a:lnSpc>
                <a:spcPct val="100000"/>
              </a:lnSpc>
            </a:pPr>
            <a:r>
              <a:rPr sz="1200" b="1">
                <a:solidFill>
                  <a:srgbClr val="22252B"/>
                </a:solidFill>
                <a:latin typeface="Arial"/>
              </a:rPr>
              <a:t>Mist</a:t>
            </a:r>
          </a:p>
        </p:txBody>
      </p:sp>
      <p:sp>
        <p:nvSpPr>
          <p:cNvPr id="17" name="TextBox 16"/>
          <p:cNvSpPr txBox="1"/>
          <p:nvPr/>
        </p:nvSpPr>
        <p:spPr>
          <a:xfrm>
            <a:off x="5248656" y="4160520"/>
            <a:ext cx="1371600" cy="274320"/>
          </a:xfrm>
          <a:prstGeom prst="rect">
            <a:avLst/>
          </a:prstGeom>
          <a:noFill/>
        </p:spPr>
        <p:txBody>
          <a:bodyPr wrap="square" lIns="0" rIns="0" tIns="0" bIns="0" anchor="t">
            <a:spAutoFit/>
          </a:bodyPr>
          <a:lstStyle/>
          <a:p>
            <a:pPr algn="ctr">
              <a:lnSpc>
                <a:spcPct val="100000"/>
              </a:lnSpc>
            </a:pPr>
            <a:r>
              <a:rPr sz="1000" b="0">
                <a:solidFill>
                  <a:srgbClr val="A3AEB1"/>
                </a:solidFill>
                <a:latin typeface="Courier New"/>
              </a:rPr>
              <a:t>#E5E8EB</a:t>
            </a:r>
          </a:p>
        </p:txBody>
      </p:sp>
      <p:sp>
        <p:nvSpPr>
          <p:cNvPr id="18" name="Rounded Rectangle 17"/>
          <p:cNvSpPr/>
          <p:nvPr/>
        </p:nvSpPr>
        <p:spPr>
          <a:xfrm>
            <a:off x="6784848" y="2880360"/>
            <a:ext cx="1371600" cy="960120"/>
          </a:xfrm>
          <a:prstGeom prst="roundRect">
            <a:avLst>
              <a:gd name="adj" fmla="val 10000"/>
            </a:avLst>
          </a:prstGeom>
          <a:solidFill>
            <a:srgbClr val="B09F95"/>
          </a:solidFill>
          <a:ln w="12700">
            <a:solidFill>
              <a:srgbClr val="E5E8EB"/>
            </a:solidFill>
          </a:ln>
          <a:effectLst>
            <a:outerShdw blurRad="91440" dist="50292" dir="5400000" rotWithShape="0">
              <a:srgbClr val="22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84848" y="3913632"/>
            <a:ext cx="1371600" cy="274320"/>
          </a:xfrm>
          <a:prstGeom prst="rect">
            <a:avLst/>
          </a:prstGeom>
          <a:noFill/>
        </p:spPr>
        <p:txBody>
          <a:bodyPr wrap="square" lIns="0" rIns="0" tIns="0" bIns="0" anchor="t">
            <a:spAutoFit/>
          </a:bodyPr>
          <a:lstStyle/>
          <a:p>
            <a:pPr algn="ctr">
              <a:lnSpc>
                <a:spcPct val="100000"/>
              </a:lnSpc>
            </a:pPr>
            <a:r>
              <a:rPr sz="1200" b="1">
                <a:solidFill>
                  <a:srgbClr val="22252B"/>
                </a:solidFill>
                <a:latin typeface="Arial"/>
              </a:rPr>
              <a:t>Taupe</a:t>
            </a:r>
          </a:p>
        </p:txBody>
      </p:sp>
      <p:sp>
        <p:nvSpPr>
          <p:cNvPr id="20" name="TextBox 19"/>
          <p:cNvSpPr txBox="1"/>
          <p:nvPr/>
        </p:nvSpPr>
        <p:spPr>
          <a:xfrm>
            <a:off x="6784848" y="4160520"/>
            <a:ext cx="1371600" cy="274320"/>
          </a:xfrm>
          <a:prstGeom prst="rect">
            <a:avLst/>
          </a:prstGeom>
          <a:noFill/>
        </p:spPr>
        <p:txBody>
          <a:bodyPr wrap="square" lIns="0" rIns="0" tIns="0" bIns="0" anchor="t">
            <a:spAutoFit/>
          </a:bodyPr>
          <a:lstStyle/>
          <a:p>
            <a:pPr algn="ctr">
              <a:lnSpc>
                <a:spcPct val="100000"/>
              </a:lnSpc>
            </a:pPr>
            <a:r>
              <a:rPr sz="1000" b="0">
                <a:solidFill>
                  <a:srgbClr val="A3AEB1"/>
                </a:solidFill>
                <a:latin typeface="Courier New"/>
              </a:rPr>
              <a:t>#B09F95</a:t>
            </a:r>
          </a:p>
        </p:txBody>
      </p:sp>
      <p:sp>
        <p:nvSpPr>
          <p:cNvPr id="21" name="Rounded Rectangle 20"/>
          <p:cNvSpPr/>
          <p:nvPr/>
        </p:nvSpPr>
        <p:spPr>
          <a:xfrm>
            <a:off x="640080" y="4754880"/>
            <a:ext cx="4023360" cy="1371600"/>
          </a:xfrm>
          <a:prstGeom prst="roundRect">
            <a:avLst>
              <a:gd name="adj" fmla="val 9000"/>
            </a:avLst>
          </a:prstGeom>
          <a:solidFill>
            <a:srgbClr val="FFFFFF"/>
          </a:solidFill>
          <a:ln w="15240">
            <a:solidFill>
              <a:srgbClr val="E5E8EB"/>
            </a:solidFill>
          </a:ln>
          <a:effectLst>
            <a:outerShdw blurRad="91440" dist="50292" dir="5400000" rotWithShape="0">
              <a:srgbClr val="22252B">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919472"/>
            <a:ext cx="3566160" cy="365760"/>
          </a:xfrm>
          <a:prstGeom prst="rect">
            <a:avLst/>
          </a:prstGeom>
          <a:noFill/>
        </p:spPr>
        <p:txBody>
          <a:bodyPr wrap="square" lIns="0" rIns="0" tIns="0" bIns="0" anchor="t">
            <a:spAutoFit/>
          </a:bodyPr>
          <a:lstStyle/>
          <a:p>
            <a:pPr algn="l">
              <a:lnSpc>
                <a:spcPct val="100000"/>
              </a:lnSpc>
            </a:pPr>
            <a:r>
              <a:rPr sz="1100" b="1" spc="140">
                <a:solidFill>
                  <a:srgbClr val="B09F95"/>
                </a:solidFill>
                <a:latin typeface="Arial"/>
              </a:rPr>
              <a:t>Typography</a:t>
            </a:r>
          </a:p>
        </p:txBody>
      </p:sp>
      <p:sp>
        <p:nvSpPr>
          <p:cNvPr id="23" name="TextBox 22"/>
          <p:cNvSpPr txBox="1"/>
          <p:nvPr/>
        </p:nvSpPr>
        <p:spPr>
          <a:xfrm>
            <a:off x="914400" y="5230368"/>
            <a:ext cx="3566160" cy="457200"/>
          </a:xfrm>
          <a:prstGeom prst="rect">
            <a:avLst/>
          </a:prstGeom>
          <a:noFill/>
        </p:spPr>
        <p:txBody>
          <a:bodyPr wrap="square" lIns="0" rIns="0" tIns="0" bIns="0" anchor="t">
            <a:spAutoFit/>
          </a:bodyPr>
          <a:lstStyle/>
          <a:p>
            <a:pPr algn="l">
              <a:lnSpc>
                <a:spcPct val="100000"/>
              </a:lnSpc>
            </a:pPr>
            <a:r>
              <a:rPr sz="2000" b="1">
                <a:solidFill>
                  <a:srgbClr val="22252B"/>
                </a:solidFill>
                <a:latin typeface="Arial"/>
              </a:rPr>
              <a:t>Manrope</a:t>
            </a:r>
          </a:p>
        </p:txBody>
      </p:sp>
      <p:sp>
        <p:nvSpPr>
          <p:cNvPr id="24" name="TextBox 23"/>
          <p:cNvSpPr txBox="1"/>
          <p:nvPr/>
        </p:nvSpPr>
        <p:spPr>
          <a:xfrm>
            <a:off x="914400" y="5632704"/>
            <a:ext cx="3566160" cy="365760"/>
          </a:xfrm>
          <a:prstGeom prst="rect">
            <a:avLst/>
          </a:prstGeom>
          <a:noFill/>
        </p:spPr>
        <p:txBody>
          <a:bodyPr wrap="square" lIns="0" rIns="0" tIns="0" bIns="0" anchor="t">
            <a:spAutoFit/>
          </a:bodyPr>
          <a:lstStyle/>
          <a:p>
            <a:pPr algn="l">
              <a:lnSpc>
                <a:spcPct val="100000"/>
              </a:lnSpc>
            </a:pPr>
            <a:r>
              <a:rPr sz="1200" b="0">
                <a:solidFill>
                  <a:srgbClr val="606772"/>
                </a:solidFill>
                <a:latin typeface="Arial"/>
              </a:rPr>
              <a:t>headings  ·  Inter for body text</a:t>
            </a:r>
          </a:p>
        </p:txBody>
      </p:sp>
      <p:sp>
        <p:nvSpPr>
          <p:cNvPr id="25" name="Rounded Rectangle 24"/>
          <p:cNvSpPr/>
          <p:nvPr/>
        </p:nvSpPr>
        <p:spPr>
          <a:xfrm>
            <a:off x="4937760" y="4754880"/>
            <a:ext cx="4023360" cy="1371600"/>
          </a:xfrm>
          <a:prstGeom prst="roundRect">
            <a:avLst>
              <a:gd name="adj" fmla="val 9000"/>
            </a:avLst>
          </a:prstGeom>
          <a:solidFill>
            <a:srgbClr val="FFFFFF"/>
          </a:solidFill>
          <a:ln w="15240">
            <a:solidFill>
              <a:srgbClr val="E5E8EB"/>
            </a:solidFill>
          </a:ln>
          <a:effectLst>
            <a:outerShdw blurRad="91440" dist="50292" dir="5400000" rotWithShape="0">
              <a:srgbClr val="22252B">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12080" y="4919472"/>
            <a:ext cx="3566160" cy="365760"/>
          </a:xfrm>
          <a:prstGeom prst="rect">
            <a:avLst/>
          </a:prstGeom>
          <a:noFill/>
        </p:spPr>
        <p:txBody>
          <a:bodyPr wrap="square" lIns="0" rIns="0" tIns="0" bIns="0" anchor="t">
            <a:spAutoFit/>
          </a:bodyPr>
          <a:lstStyle/>
          <a:p>
            <a:pPr algn="l">
              <a:lnSpc>
                <a:spcPct val="100000"/>
              </a:lnSpc>
            </a:pPr>
            <a:r>
              <a:rPr sz="1100" b="1" spc="140">
                <a:solidFill>
                  <a:srgbClr val="B09F95"/>
                </a:solidFill>
                <a:latin typeface="Arial"/>
              </a:rPr>
              <a:t>Reused components</a:t>
            </a:r>
          </a:p>
        </p:txBody>
      </p:sp>
      <p:sp>
        <p:nvSpPr>
          <p:cNvPr id="27" name="TextBox 26"/>
          <p:cNvSpPr txBox="1"/>
          <p:nvPr/>
        </p:nvSpPr>
        <p:spPr>
          <a:xfrm>
            <a:off x="5212080" y="5248656"/>
            <a:ext cx="3566160" cy="457200"/>
          </a:xfrm>
          <a:prstGeom prst="rect">
            <a:avLst/>
          </a:prstGeom>
          <a:noFill/>
        </p:spPr>
        <p:txBody>
          <a:bodyPr wrap="square" lIns="0" rIns="0" tIns="0" bIns="0" anchor="t">
            <a:spAutoFit/>
          </a:bodyPr>
          <a:lstStyle/>
          <a:p>
            <a:pPr algn="l">
              <a:lnSpc>
                <a:spcPct val="100000"/>
              </a:lnSpc>
            </a:pPr>
            <a:r>
              <a:rPr sz="1500" b="1">
                <a:solidFill>
                  <a:srgbClr val="455A50"/>
                </a:solidFill>
                <a:latin typeface="Courier New"/>
              </a:rPr>
              <a:t>.btn   .card   .field   .chip</a:t>
            </a:r>
          </a:p>
        </p:txBody>
      </p:sp>
      <p:sp>
        <p:nvSpPr>
          <p:cNvPr id="28" name="TextBox 27"/>
          <p:cNvSpPr txBox="1"/>
          <p:nvPr/>
        </p:nvSpPr>
        <p:spPr>
          <a:xfrm>
            <a:off x="5212080" y="5632704"/>
            <a:ext cx="3566160" cy="365760"/>
          </a:xfrm>
          <a:prstGeom prst="rect">
            <a:avLst/>
          </a:prstGeom>
          <a:noFill/>
        </p:spPr>
        <p:txBody>
          <a:bodyPr wrap="square" lIns="0" rIns="0" tIns="0" bIns="0" anchor="t">
            <a:spAutoFit/>
          </a:bodyPr>
          <a:lstStyle/>
          <a:p>
            <a:pPr algn="l">
              <a:lnSpc>
                <a:spcPct val="100000"/>
              </a:lnSpc>
            </a:pPr>
            <a:r>
              <a:rPr sz="1200" b="0">
                <a:solidFill>
                  <a:srgbClr val="606772"/>
                </a:solidFill>
                <a:latin typeface="Arial"/>
              </a:rPr>
              <a:t>defined once, used everywhere</a:t>
            </a:r>
          </a:p>
        </p:txBody>
      </p:sp>
      <p:sp>
        <p:nvSpPr>
          <p:cNvPr id="29" name="Rounded Rectangle 28"/>
          <p:cNvSpPr/>
          <p:nvPr/>
        </p:nvSpPr>
        <p:spPr>
          <a:xfrm>
            <a:off x="8549640" y="1828800"/>
            <a:ext cx="3063240" cy="1914525"/>
          </a:xfrm>
          <a:prstGeom prst="roundRect">
            <a:avLst>
              <a:gd name="adj" fmla="val 4500"/>
            </a:avLst>
          </a:prstGeom>
          <a:solidFill>
            <a:srgbClr val="FFFFFF"/>
          </a:solidFill>
          <a:ln>
            <a:noFill/>
          </a:ln>
          <a:effectLst>
            <a:outerShdw blurRad="91440" dist="50292" dir="5400000" rotWithShape="0">
              <a:srgbClr val="22252B">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notes.png"/>
          <p:cNvPicPr>
            <a:picLocks noChangeAspect="1"/>
          </p:cNvPicPr>
          <p:nvPr/>
        </p:nvPicPr>
        <p:blipFill>
          <a:blip r:embed="rId2"/>
          <a:stretch>
            <a:fillRect/>
          </a:stretch>
        </p:blipFill>
        <p:spPr>
          <a:xfrm>
            <a:off x="8549640" y="1828800"/>
            <a:ext cx="3063240" cy="1914525"/>
          </a:xfrm>
          <a:prstGeom prst="rect">
            <a:avLst/>
          </a:prstGeom>
          <a:effectLst/>
        </p:spPr>
      </p:pic>
      <p:sp>
        <p:nvSpPr>
          <p:cNvPr id="31" name="TextBox 30"/>
          <p:cNvSpPr txBox="1"/>
          <p:nvPr/>
        </p:nvSpPr>
        <p:spPr>
          <a:xfrm>
            <a:off x="8549640" y="3803904"/>
            <a:ext cx="3063240" cy="274320"/>
          </a:xfrm>
          <a:prstGeom prst="rect">
            <a:avLst/>
          </a:prstGeom>
          <a:noFill/>
        </p:spPr>
        <p:txBody>
          <a:bodyPr wrap="square" lIns="0" rIns="0" tIns="0" bIns="0" anchor="t">
            <a:spAutoFit/>
          </a:bodyPr>
          <a:lstStyle/>
          <a:p>
            <a:pPr algn="l">
              <a:lnSpc>
                <a:spcPct val="110000"/>
              </a:lnSpc>
            </a:pPr>
            <a:r>
              <a:rPr sz="1000" b="0" i="1">
                <a:solidFill>
                  <a:srgbClr val="A3AEB1"/>
                </a:solidFill>
                <a:latin typeface="Arial"/>
              </a:rPr>
              <a:t>Quick Notes — same cards,</a:t>
            </a:r>
          </a:p>
          <a:p>
            <a:pPr algn="l">
              <a:lnSpc>
                <a:spcPct val="110000"/>
              </a:lnSpc>
            </a:pPr>
            <a:r>
              <a:rPr sz="1000" b="0" i="1">
                <a:solidFill>
                  <a:srgbClr val="A3AEB1"/>
                </a:solidFill>
                <a:latin typeface="Arial"/>
              </a:rPr>
              <a:t>buttons and spacing tokens.</a:t>
            </a:r>
          </a:p>
        </p:txBody>
      </p:sp>
      <p:sp>
        <p:nvSpPr>
          <p:cNvPr id="32" name="TextBox 31"/>
          <p:cNvSpPr txBox="1"/>
          <p:nvPr/>
        </p:nvSpPr>
        <p:spPr>
          <a:xfrm>
            <a:off x="640080" y="6455664"/>
            <a:ext cx="4572000" cy="274320"/>
          </a:xfrm>
          <a:prstGeom prst="rect">
            <a:avLst/>
          </a:prstGeom>
          <a:noFill/>
        </p:spPr>
        <p:txBody>
          <a:bodyPr wrap="square" lIns="0" rIns="0" tIns="0" bIns="0" anchor="t">
            <a:spAutoFit/>
          </a:bodyPr>
          <a:lstStyle/>
          <a:p>
            <a:pPr algn="l">
              <a:lnSpc>
                <a:spcPct val="100000"/>
              </a:lnSpc>
            </a:pPr>
            <a:r>
              <a:rPr sz="950" b="0">
                <a:solidFill>
                  <a:srgbClr val="A3AEB1"/>
                </a:solidFill>
                <a:latin typeface="Arial"/>
              </a:rPr>
              <a:t>Synora  ·  Web Development Project</a:t>
            </a:r>
          </a:p>
        </p:txBody>
      </p:sp>
      <p:sp>
        <p:nvSpPr>
          <p:cNvPr id="33" name="TextBox 32"/>
          <p:cNvSpPr txBox="1"/>
          <p:nvPr/>
        </p:nvSpPr>
        <p:spPr>
          <a:xfrm>
            <a:off x="9722815" y="6455664"/>
            <a:ext cx="1828800" cy="274320"/>
          </a:xfrm>
          <a:prstGeom prst="rect">
            <a:avLst/>
          </a:prstGeom>
          <a:noFill/>
        </p:spPr>
        <p:txBody>
          <a:bodyPr wrap="square" lIns="0" rIns="0" tIns="0" bIns="0" anchor="t">
            <a:spAutoFit/>
          </a:bodyPr>
          <a:lstStyle/>
          <a:p>
            <a:pPr algn="r">
              <a:lnSpc>
                <a:spcPct val="100000"/>
              </a:lnSpc>
            </a:pPr>
            <a:r>
              <a:rPr sz="950" b="0">
                <a:solidFill>
                  <a:srgbClr val="A3AEB1"/>
                </a:solidFill>
                <a:latin typeface="Arial"/>
              </a:rPr>
              <a:t>08 / 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7315200" cy="274320"/>
          </a:xfrm>
          <a:prstGeom prst="rect">
            <a:avLst/>
          </a:prstGeom>
          <a:noFill/>
        </p:spPr>
        <p:txBody>
          <a:bodyPr wrap="square" lIns="0" rIns="0" tIns="0" bIns="0" anchor="t">
            <a:spAutoFit/>
          </a:bodyPr>
          <a:lstStyle/>
          <a:p>
            <a:pPr algn="l">
              <a:lnSpc>
                <a:spcPct val="100000"/>
              </a:lnSpc>
            </a:pPr>
            <a:r>
              <a:rPr sz="1200" b="1" spc="180">
                <a:solidFill>
                  <a:srgbClr val="B09F95"/>
                </a:solidFill>
                <a:latin typeface="Arial"/>
              </a:rPr>
              <a:t>CSS3  ·  THE BOX MODEL</a:t>
            </a:r>
          </a:p>
        </p:txBody>
      </p:sp>
      <p:sp>
        <p:nvSpPr>
          <p:cNvPr id="4" name="TextBox 3"/>
          <p:cNvSpPr txBox="1"/>
          <p:nvPr/>
        </p:nvSpPr>
        <p:spPr>
          <a:xfrm>
            <a:off x="640080" y="841247"/>
            <a:ext cx="10911535" cy="822960"/>
          </a:xfrm>
          <a:prstGeom prst="rect">
            <a:avLst/>
          </a:prstGeom>
          <a:noFill/>
        </p:spPr>
        <p:txBody>
          <a:bodyPr wrap="square" lIns="0" rIns="0" tIns="0" bIns="0" anchor="t">
            <a:spAutoFit/>
          </a:bodyPr>
          <a:lstStyle/>
          <a:p>
            <a:pPr algn="l">
              <a:lnSpc>
                <a:spcPct val="100000"/>
              </a:lnSpc>
            </a:pPr>
            <a:r>
              <a:rPr sz="3000" b="1">
                <a:solidFill>
                  <a:srgbClr val="22252B"/>
                </a:solidFill>
                <a:latin typeface="Arial"/>
              </a:rPr>
              <a:t>Every component is a box</a:t>
            </a:r>
          </a:p>
        </p:txBody>
      </p:sp>
      <p:sp>
        <p:nvSpPr>
          <p:cNvPr id="5" name="Rounded Rectangle 4"/>
          <p:cNvSpPr/>
          <p:nvPr/>
        </p:nvSpPr>
        <p:spPr>
          <a:xfrm>
            <a:off x="640080" y="1627632"/>
            <a:ext cx="4114800" cy="2697480"/>
          </a:xfrm>
          <a:prstGeom prst="roundRect">
            <a:avLst>
              <a:gd name="adj" fmla="val 3000"/>
            </a:avLst>
          </a:prstGeom>
          <a:solidFill>
            <a:srgbClr val="EFE7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691640"/>
            <a:ext cx="1828800" cy="274320"/>
          </a:xfrm>
          <a:prstGeom prst="rect">
            <a:avLst/>
          </a:prstGeom>
          <a:noFill/>
        </p:spPr>
        <p:txBody>
          <a:bodyPr wrap="square" lIns="0" rIns="0" tIns="0" bIns="0" anchor="t">
            <a:spAutoFit/>
          </a:bodyPr>
          <a:lstStyle/>
          <a:p>
            <a:pPr algn="l">
              <a:lnSpc>
                <a:spcPct val="100000"/>
              </a:lnSpc>
            </a:pPr>
            <a:r>
              <a:rPr sz="1000" b="1">
                <a:solidFill>
                  <a:srgbClr val="B09F95"/>
                </a:solidFill>
                <a:latin typeface="Arial"/>
              </a:rPr>
              <a:t>margin</a:t>
            </a:r>
          </a:p>
        </p:txBody>
      </p:sp>
      <p:sp>
        <p:nvSpPr>
          <p:cNvPr id="7" name="Rounded Rectangle 6"/>
          <p:cNvSpPr/>
          <p:nvPr/>
        </p:nvSpPr>
        <p:spPr>
          <a:xfrm>
            <a:off x="1097280" y="1993392"/>
            <a:ext cx="3200400" cy="1965960"/>
          </a:xfrm>
          <a:prstGeom prst="roundRect">
            <a:avLst>
              <a:gd name="adj" fmla="val 3000"/>
            </a:avLst>
          </a:prstGeom>
          <a:solidFill>
            <a:srgbClr val="DCE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07007" y="2048256"/>
            <a:ext cx="1828800" cy="274320"/>
          </a:xfrm>
          <a:prstGeom prst="rect">
            <a:avLst/>
          </a:prstGeom>
          <a:noFill/>
        </p:spPr>
        <p:txBody>
          <a:bodyPr wrap="square" lIns="0" rIns="0" tIns="0" bIns="0" anchor="t">
            <a:spAutoFit/>
          </a:bodyPr>
          <a:lstStyle/>
          <a:p>
            <a:pPr algn="l">
              <a:lnSpc>
                <a:spcPct val="100000"/>
              </a:lnSpc>
            </a:pPr>
            <a:r>
              <a:rPr sz="1000" b="1">
                <a:solidFill>
                  <a:srgbClr val="455A50"/>
                </a:solidFill>
                <a:latin typeface="Arial"/>
              </a:rPr>
              <a:t>border</a:t>
            </a:r>
          </a:p>
        </p:txBody>
      </p:sp>
      <p:sp>
        <p:nvSpPr>
          <p:cNvPr id="9" name="Rounded Rectangle 8"/>
          <p:cNvSpPr/>
          <p:nvPr/>
        </p:nvSpPr>
        <p:spPr>
          <a:xfrm>
            <a:off x="1508760" y="2340864"/>
            <a:ext cx="2377440" cy="1271016"/>
          </a:xfrm>
          <a:prstGeom prst="roundRect">
            <a:avLst>
              <a:gd name="adj" fmla="val 3000"/>
            </a:avLst>
          </a:prstGeom>
          <a:solidFill>
            <a:srgbClr val="E9E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8488" y="2395728"/>
            <a:ext cx="1828800" cy="274320"/>
          </a:xfrm>
          <a:prstGeom prst="rect">
            <a:avLst/>
          </a:prstGeom>
          <a:noFill/>
        </p:spPr>
        <p:txBody>
          <a:bodyPr wrap="square" lIns="0" rIns="0" tIns="0" bIns="0" anchor="t">
            <a:spAutoFit/>
          </a:bodyPr>
          <a:lstStyle/>
          <a:p>
            <a:pPr algn="l">
              <a:lnSpc>
                <a:spcPct val="100000"/>
              </a:lnSpc>
            </a:pPr>
            <a:r>
              <a:rPr sz="1000" b="1">
                <a:solidFill>
                  <a:srgbClr val="A3AEB1"/>
                </a:solidFill>
                <a:latin typeface="Arial"/>
              </a:rPr>
              <a:t>padding</a:t>
            </a:r>
          </a:p>
        </p:txBody>
      </p:sp>
      <p:sp>
        <p:nvSpPr>
          <p:cNvPr id="11" name="Rounded Rectangle 10"/>
          <p:cNvSpPr/>
          <p:nvPr/>
        </p:nvSpPr>
        <p:spPr>
          <a:xfrm>
            <a:off x="2011680" y="2688336"/>
            <a:ext cx="1371600" cy="576072"/>
          </a:xfrm>
          <a:prstGeom prst="roundRect">
            <a:avLst>
              <a:gd name="adj" fmla="val 5000"/>
            </a:avLst>
          </a:prstGeom>
          <a:solidFill>
            <a:srgbClr val="FFFFFF"/>
          </a:solidFill>
          <a:ln w="12700">
            <a:solidFill>
              <a:srgbClr val="E5E8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11680" y="2688336"/>
            <a:ext cx="1371600" cy="576072"/>
          </a:xfrm>
          <a:prstGeom prst="rect">
            <a:avLst/>
          </a:prstGeom>
          <a:noFill/>
        </p:spPr>
        <p:txBody>
          <a:bodyPr wrap="square" lIns="0" rIns="0" tIns="0" bIns="0" anchor="ctr">
            <a:spAutoFit/>
          </a:bodyPr>
          <a:lstStyle/>
          <a:p>
            <a:pPr algn="ctr">
              <a:lnSpc>
                <a:spcPct val="100000"/>
              </a:lnSpc>
            </a:pPr>
            <a:r>
              <a:rPr sz="1200" b="1">
                <a:solidFill>
                  <a:srgbClr val="22252B"/>
                </a:solidFill>
                <a:latin typeface="Arial"/>
              </a:rPr>
              <a:t>content</a:t>
            </a:r>
          </a:p>
        </p:txBody>
      </p:sp>
      <p:sp>
        <p:nvSpPr>
          <p:cNvPr id="13" name="TextBox 12"/>
          <p:cNvSpPr txBox="1"/>
          <p:nvPr/>
        </p:nvSpPr>
        <p:spPr>
          <a:xfrm>
            <a:off x="640080" y="4434840"/>
            <a:ext cx="4114800" cy="274320"/>
          </a:xfrm>
          <a:prstGeom prst="rect">
            <a:avLst/>
          </a:prstGeom>
          <a:noFill/>
        </p:spPr>
        <p:txBody>
          <a:bodyPr wrap="square" lIns="0" rIns="0" tIns="0" bIns="0" anchor="t">
            <a:spAutoFit/>
          </a:bodyPr>
          <a:lstStyle/>
          <a:p>
            <a:pPr algn="ctr">
              <a:lnSpc>
                <a:spcPct val="100000"/>
              </a:lnSpc>
            </a:pPr>
            <a:r>
              <a:rPr sz="1150" b="0">
                <a:solidFill>
                  <a:srgbClr val="606772"/>
                </a:solidFill>
                <a:latin typeface="Arial"/>
              </a:rPr>
              <a:t>content → padding → border → margin</a:t>
            </a:r>
          </a:p>
        </p:txBody>
      </p:sp>
      <p:sp>
        <p:nvSpPr>
          <p:cNvPr id="14" name="Rounded Rectangle 13"/>
          <p:cNvSpPr/>
          <p:nvPr/>
        </p:nvSpPr>
        <p:spPr>
          <a:xfrm>
            <a:off x="5394960" y="1627632"/>
            <a:ext cx="6172200" cy="2433279"/>
          </a:xfrm>
          <a:prstGeom prst="roundRect">
            <a:avLst>
              <a:gd name="adj" fmla="val 3500"/>
            </a:avLst>
          </a:prstGeom>
          <a:solidFill>
            <a:srgbClr val="1C2026"/>
          </a:solidFill>
          <a:ln>
            <a:noFill/>
          </a:ln>
          <a:effectLst>
            <a:outerShdw blurRad="91440" dist="50292" dir="5400000" rotWithShape="0">
              <a:srgbClr val="22252B">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632704" y="1783080"/>
            <a:ext cx="91440" cy="91440"/>
          </a:xfrm>
          <a:prstGeom prst="ellipse">
            <a:avLst/>
          </a:prstGeom>
          <a:solidFill>
            <a:srgbClr val="E06C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797296" y="1783080"/>
            <a:ext cx="91440" cy="91440"/>
          </a:xfrm>
          <a:prstGeom prst="ellipse">
            <a:avLst/>
          </a:prstGeom>
          <a:solidFill>
            <a:srgbClr val="E0B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961888" y="1783080"/>
            <a:ext cx="91440" cy="91440"/>
          </a:xfrm>
          <a:prstGeom prst="ellipse">
            <a:avLst/>
          </a:prstGeom>
          <a:solidFill>
            <a:srgbClr val="8FB9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99632" y="1719072"/>
            <a:ext cx="5129784" cy="256032"/>
          </a:xfrm>
          <a:prstGeom prst="rect">
            <a:avLst/>
          </a:prstGeom>
          <a:noFill/>
        </p:spPr>
        <p:txBody>
          <a:bodyPr wrap="square" lIns="0" rIns="0" tIns="0" bIns="0" anchor="ctr">
            <a:spAutoFit/>
          </a:bodyPr>
          <a:lstStyle/>
          <a:p>
            <a:pPr algn="l">
              <a:lnSpc>
                <a:spcPct val="100000"/>
              </a:lnSpc>
            </a:pPr>
            <a:r>
              <a:rPr sz="1050" b="0">
                <a:solidFill>
                  <a:srgbClr val="8A929C"/>
                </a:solidFill>
                <a:latin typeface="Courier New"/>
              </a:rPr>
              <a:t>styles/app.css — a dashboard stat card</a:t>
            </a:r>
          </a:p>
        </p:txBody>
      </p:sp>
      <p:sp>
        <p:nvSpPr>
          <p:cNvPr id="19" name="TextBox 18"/>
          <p:cNvSpPr txBox="1"/>
          <p:nvPr/>
        </p:nvSpPr>
        <p:spPr>
          <a:xfrm>
            <a:off x="5632704" y="2142439"/>
            <a:ext cx="5696712" cy="1798319"/>
          </a:xfrm>
          <a:prstGeom prst="rect">
            <a:avLst/>
          </a:prstGeom>
          <a:noFill/>
        </p:spPr>
        <p:txBody>
          <a:bodyPr wrap="none" lIns="0" rIns="0" tIns="0" bIns="0">
            <a:spAutoFit/>
          </a:bodyPr>
          <a:lstStyle/>
          <a:p>
            <a:pPr>
              <a:lnSpc>
                <a:spcPct val="128000"/>
              </a:lnSpc>
            </a:pPr>
            <a:r>
              <a:rPr sz="1250">
                <a:solidFill>
                  <a:srgbClr val="D6C6B8"/>
                </a:solidFill>
                <a:latin typeface="Courier New"/>
              </a:rPr>
              <a:t>.stat-card</a:t>
            </a:r>
            <a:r>
              <a:rPr sz="1250">
                <a:solidFill>
                  <a:srgbClr val="E7EAEE"/>
                </a:solidFill>
                <a:latin typeface="Courier New"/>
              </a:rPr>
              <a:t> {</a:t>
            </a:r>
          </a:p>
          <a:p>
            <a:pPr>
              <a:lnSpc>
                <a:spcPct val="128000"/>
              </a:lnSpc>
            </a:pPr>
            <a:r>
              <a:rPr sz="1250">
                <a:solidFill>
                  <a:srgbClr val="A9C3B0"/>
                </a:solidFill>
                <a:latin typeface="Courier New"/>
              </a:rPr>
              <a:t>  padding</a:t>
            </a:r>
            <a:r>
              <a:rPr sz="1250">
                <a:solidFill>
                  <a:srgbClr val="E7EAEE"/>
                </a:solidFill>
                <a:latin typeface="Courier New"/>
              </a:rPr>
              <a:t>: </a:t>
            </a:r>
            <a:r>
              <a:rPr sz="1250">
                <a:solidFill>
                  <a:srgbClr val="B9C7CD"/>
                </a:solidFill>
                <a:latin typeface="Courier New"/>
              </a:rPr>
              <a:t>20px 24px</a:t>
            </a:r>
            <a:r>
              <a:rPr sz="1250">
                <a:solidFill>
                  <a:srgbClr val="E7EAEE"/>
                </a:solidFill>
                <a:latin typeface="Courier New"/>
              </a:rPr>
              <a:t>;</a:t>
            </a:r>
            <a:r>
              <a:rPr sz="1250">
                <a:solidFill>
                  <a:srgbClr val="7C8590"/>
                </a:solidFill>
                <a:latin typeface="Courier New"/>
              </a:rPr>
              <a:t>      /* space inside */</a:t>
            </a:r>
          </a:p>
          <a:p>
            <a:pPr>
              <a:lnSpc>
                <a:spcPct val="128000"/>
              </a:lnSpc>
            </a:pPr>
            <a:r>
              <a:rPr sz="1250">
                <a:solidFill>
                  <a:srgbClr val="A9C3B0"/>
                </a:solidFill>
                <a:latin typeface="Courier New"/>
              </a:rPr>
              <a:t>  background</a:t>
            </a:r>
            <a:r>
              <a:rPr sz="1250">
                <a:solidFill>
                  <a:srgbClr val="E7EAEE"/>
                </a:solidFill>
                <a:latin typeface="Courier New"/>
              </a:rPr>
              <a:t>: </a:t>
            </a:r>
            <a:r>
              <a:rPr sz="1250">
                <a:solidFill>
                  <a:srgbClr val="CBB69F"/>
                </a:solidFill>
                <a:latin typeface="Courier New"/>
              </a:rPr>
              <a:t>var(--color-surface)</a:t>
            </a:r>
            <a:r>
              <a:rPr sz="1250">
                <a:solidFill>
                  <a:srgbClr val="E7EAEE"/>
                </a:solidFill>
                <a:latin typeface="Courier New"/>
              </a:rPr>
              <a:t>;</a:t>
            </a:r>
          </a:p>
          <a:p>
            <a:pPr>
              <a:lnSpc>
                <a:spcPct val="128000"/>
              </a:lnSpc>
            </a:pPr>
            <a:r>
              <a:rPr sz="1250">
                <a:solidFill>
                  <a:srgbClr val="A9C3B0"/>
                </a:solidFill>
                <a:latin typeface="Courier New"/>
              </a:rPr>
              <a:t>  border</a:t>
            </a:r>
            <a:r>
              <a:rPr sz="1250">
                <a:solidFill>
                  <a:srgbClr val="E7EAEE"/>
                </a:solidFill>
                <a:latin typeface="Courier New"/>
              </a:rPr>
              <a:t>: </a:t>
            </a:r>
            <a:r>
              <a:rPr sz="1250">
                <a:solidFill>
                  <a:srgbClr val="B9C7CD"/>
                </a:solidFill>
                <a:latin typeface="Courier New"/>
              </a:rPr>
              <a:t>1px solid </a:t>
            </a:r>
            <a:r>
              <a:rPr sz="1250">
                <a:solidFill>
                  <a:srgbClr val="CBB69F"/>
                </a:solidFill>
                <a:latin typeface="Courier New"/>
              </a:rPr>
              <a:t>var(--color-border)</a:t>
            </a:r>
            <a:r>
              <a:rPr sz="1250">
                <a:solidFill>
                  <a:srgbClr val="E7EAEE"/>
                </a:solidFill>
                <a:latin typeface="Courier New"/>
              </a:rPr>
              <a:t>;</a:t>
            </a:r>
          </a:p>
          <a:p>
            <a:pPr>
              <a:lnSpc>
                <a:spcPct val="128000"/>
              </a:lnSpc>
            </a:pPr>
            <a:r>
              <a:rPr sz="1250">
                <a:solidFill>
                  <a:srgbClr val="A9C3B0"/>
                </a:solidFill>
                <a:latin typeface="Courier New"/>
              </a:rPr>
              <a:t>  border-radius</a:t>
            </a:r>
            <a:r>
              <a:rPr sz="1250">
                <a:solidFill>
                  <a:srgbClr val="E7EAEE"/>
                </a:solidFill>
                <a:latin typeface="Courier New"/>
              </a:rPr>
              <a:t>: </a:t>
            </a:r>
            <a:r>
              <a:rPr sz="1250">
                <a:solidFill>
                  <a:srgbClr val="CBB69F"/>
                </a:solidFill>
                <a:latin typeface="Courier New"/>
              </a:rPr>
              <a:t>var(--radius-lg)</a:t>
            </a:r>
            <a:r>
              <a:rPr sz="1250">
                <a:solidFill>
                  <a:srgbClr val="E7EAEE"/>
                </a:solidFill>
                <a:latin typeface="Courier New"/>
              </a:rPr>
              <a:t>;</a:t>
            </a:r>
          </a:p>
          <a:p>
            <a:pPr>
              <a:lnSpc>
                <a:spcPct val="128000"/>
              </a:lnSpc>
            </a:pPr>
            <a:r>
              <a:rPr sz="1250">
                <a:solidFill>
                  <a:srgbClr val="A9C3B0"/>
                </a:solidFill>
                <a:latin typeface="Courier New"/>
              </a:rPr>
              <a:t>  box-shadow</a:t>
            </a:r>
            <a:r>
              <a:rPr sz="1250">
                <a:solidFill>
                  <a:srgbClr val="E7EAEE"/>
                </a:solidFill>
                <a:latin typeface="Courier New"/>
              </a:rPr>
              <a:t>: </a:t>
            </a:r>
            <a:r>
              <a:rPr sz="1250">
                <a:solidFill>
                  <a:srgbClr val="CBB69F"/>
                </a:solidFill>
                <a:latin typeface="Courier New"/>
              </a:rPr>
              <a:t>var(--shadow-sm)</a:t>
            </a:r>
            <a:r>
              <a:rPr sz="1250">
                <a:solidFill>
                  <a:srgbClr val="E7EAEE"/>
                </a:solidFill>
                <a:latin typeface="Courier New"/>
              </a:rPr>
              <a:t>;</a:t>
            </a:r>
          </a:p>
          <a:p>
            <a:pPr>
              <a:lnSpc>
                <a:spcPct val="128000"/>
              </a:lnSpc>
            </a:pPr>
            <a:r>
              <a:rPr sz="1250">
                <a:solidFill>
                  <a:srgbClr val="E7EAEE"/>
                </a:solidFill>
                <a:latin typeface="Courier New"/>
              </a:rPr>
              <a:t>}</a:t>
            </a:r>
          </a:p>
        </p:txBody>
      </p:sp>
      <p:sp>
        <p:nvSpPr>
          <p:cNvPr id="20" name="TextBox 19"/>
          <p:cNvSpPr txBox="1"/>
          <p:nvPr/>
        </p:nvSpPr>
        <p:spPr>
          <a:xfrm>
            <a:off x="640080" y="4773168"/>
            <a:ext cx="10911535" cy="274320"/>
          </a:xfrm>
          <a:prstGeom prst="rect">
            <a:avLst/>
          </a:prstGeom>
          <a:noFill/>
        </p:spPr>
        <p:txBody>
          <a:bodyPr wrap="square" lIns="0" rIns="0" tIns="0" bIns="0" anchor="t">
            <a:spAutoFit/>
          </a:bodyPr>
          <a:lstStyle/>
          <a:p>
            <a:pPr algn="l">
              <a:lnSpc>
                <a:spcPct val="100000"/>
              </a:lnSpc>
            </a:pPr>
            <a:r>
              <a:rPr sz="1200" b="1">
                <a:solidFill>
                  <a:srgbClr val="22252B"/>
                </a:solidFill>
                <a:latin typeface="Arial"/>
              </a:rPr>
              <a:t>Those same tokens build every card — here, the CGPA summary row:</a:t>
            </a:r>
          </a:p>
        </p:txBody>
      </p:sp>
      <p:sp>
        <p:nvSpPr>
          <p:cNvPr id="21" name="Rounded Rectangle 20"/>
          <p:cNvSpPr/>
          <p:nvPr/>
        </p:nvSpPr>
        <p:spPr>
          <a:xfrm>
            <a:off x="1981047" y="5102352"/>
            <a:ext cx="8229600" cy="1306285"/>
          </a:xfrm>
          <a:prstGeom prst="roundRect">
            <a:avLst>
              <a:gd name="adj" fmla="val 4500"/>
            </a:avLst>
          </a:prstGeom>
          <a:solidFill>
            <a:srgbClr val="FFFFFF"/>
          </a:solidFill>
          <a:ln>
            <a:noFill/>
          </a:ln>
          <a:effectLst>
            <a:outerShdw blurRad="91440" dist="50292" dir="5400000" rotWithShape="0">
              <a:srgbClr val="22252B">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gpa_cards.png"/>
          <p:cNvPicPr>
            <a:picLocks noChangeAspect="1"/>
          </p:cNvPicPr>
          <p:nvPr/>
        </p:nvPicPr>
        <p:blipFill>
          <a:blip r:embed="rId2"/>
          <a:stretch>
            <a:fillRect/>
          </a:stretch>
        </p:blipFill>
        <p:spPr>
          <a:xfrm>
            <a:off x="1981047" y="5102352"/>
            <a:ext cx="8229600" cy="1306285"/>
          </a:xfrm>
          <a:prstGeom prst="rect">
            <a:avLst/>
          </a:prstGeom>
          <a:effectLst/>
        </p:spPr>
      </p:pic>
      <p:sp>
        <p:nvSpPr>
          <p:cNvPr id="23" name="TextBox 22"/>
          <p:cNvSpPr txBox="1"/>
          <p:nvPr/>
        </p:nvSpPr>
        <p:spPr>
          <a:xfrm>
            <a:off x="640080" y="6455664"/>
            <a:ext cx="4572000" cy="274320"/>
          </a:xfrm>
          <a:prstGeom prst="rect">
            <a:avLst/>
          </a:prstGeom>
          <a:noFill/>
        </p:spPr>
        <p:txBody>
          <a:bodyPr wrap="square" lIns="0" rIns="0" tIns="0" bIns="0" anchor="t">
            <a:spAutoFit/>
          </a:bodyPr>
          <a:lstStyle/>
          <a:p>
            <a:pPr algn="l">
              <a:lnSpc>
                <a:spcPct val="100000"/>
              </a:lnSpc>
            </a:pPr>
            <a:r>
              <a:rPr sz="950" b="0">
                <a:solidFill>
                  <a:srgbClr val="A3AEB1"/>
                </a:solidFill>
                <a:latin typeface="Arial"/>
              </a:rPr>
              <a:t>Synora  ·  Web Development Project</a:t>
            </a:r>
          </a:p>
        </p:txBody>
      </p:sp>
      <p:sp>
        <p:nvSpPr>
          <p:cNvPr id="24" name="TextBox 23"/>
          <p:cNvSpPr txBox="1"/>
          <p:nvPr/>
        </p:nvSpPr>
        <p:spPr>
          <a:xfrm>
            <a:off x="9722815" y="6455664"/>
            <a:ext cx="1828800" cy="274320"/>
          </a:xfrm>
          <a:prstGeom prst="rect">
            <a:avLst/>
          </a:prstGeom>
          <a:noFill/>
        </p:spPr>
        <p:txBody>
          <a:bodyPr wrap="square" lIns="0" rIns="0" tIns="0" bIns="0" anchor="t">
            <a:spAutoFit/>
          </a:bodyPr>
          <a:lstStyle/>
          <a:p>
            <a:pPr algn="r">
              <a:lnSpc>
                <a:spcPct val="100000"/>
              </a:lnSpc>
            </a:pPr>
            <a:r>
              <a:rPr sz="950" b="0">
                <a:solidFill>
                  <a:srgbClr val="A3AEB1"/>
                </a:solidFill>
                <a:latin typeface="Arial"/>
              </a:rPr>
              <a:t>09 / 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7315200" cy="274320"/>
          </a:xfrm>
          <a:prstGeom prst="rect">
            <a:avLst/>
          </a:prstGeom>
          <a:noFill/>
        </p:spPr>
        <p:txBody>
          <a:bodyPr wrap="square" lIns="0" rIns="0" tIns="0" bIns="0" anchor="t">
            <a:spAutoFit/>
          </a:bodyPr>
          <a:lstStyle/>
          <a:p>
            <a:pPr algn="l">
              <a:lnSpc>
                <a:spcPct val="100000"/>
              </a:lnSpc>
            </a:pPr>
            <a:r>
              <a:rPr sz="1200" b="1" spc="180">
                <a:solidFill>
                  <a:srgbClr val="B09F95"/>
                </a:solidFill>
                <a:latin typeface="Arial"/>
              </a:rPr>
              <a:t>CSS3  ·  LAYOUT</a:t>
            </a:r>
          </a:p>
        </p:txBody>
      </p:sp>
      <p:sp>
        <p:nvSpPr>
          <p:cNvPr id="4" name="TextBox 3"/>
          <p:cNvSpPr txBox="1"/>
          <p:nvPr/>
        </p:nvSpPr>
        <p:spPr>
          <a:xfrm>
            <a:off x="640080" y="841247"/>
            <a:ext cx="10911535" cy="822960"/>
          </a:xfrm>
          <a:prstGeom prst="rect">
            <a:avLst/>
          </a:prstGeom>
          <a:noFill/>
        </p:spPr>
        <p:txBody>
          <a:bodyPr wrap="square" lIns="0" rIns="0" tIns="0" bIns="0" anchor="t">
            <a:spAutoFit/>
          </a:bodyPr>
          <a:lstStyle/>
          <a:p>
            <a:pPr algn="l">
              <a:lnSpc>
                <a:spcPct val="100000"/>
              </a:lnSpc>
            </a:pPr>
            <a:r>
              <a:rPr sz="3000" b="1">
                <a:solidFill>
                  <a:srgbClr val="22252B"/>
                </a:solidFill>
                <a:latin typeface="Arial"/>
              </a:rPr>
              <a:t>Flexbox for rows, Grid for structure</a:t>
            </a:r>
          </a:p>
        </p:txBody>
      </p:sp>
      <p:sp>
        <p:nvSpPr>
          <p:cNvPr id="5" name="TextBox 4"/>
          <p:cNvSpPr txBox="1"/>
          <p:nvPr/>
        </p:nvSpPr>
        <p:spPr>
          <a:xfrm>
            <a:off x="640080" y="1572768"/>
            <a:ext cx="5120640" cy="365760"/>
          </a:xfrm>
          <a:prstGeom prst="rect">
            <a:avLst/>
          </a:prstGeom>
          <a:noFill/>
        </p:spPr>
        <p:txBody>
          <a:bodyPr wrap="square" lIns="0" rIns="0" tIns="0" bIns="0" anchor="t">
            <a:spAutoFit/>
          </a:bodyPr>
          <a:lstStyle/>
          <a:p>
            <a:pPr algn="l">
              <a:lnSpc>
                <a:spcPct val="100000"/>
              </a:lnSpc>
            </a:pPr>
            <a:r>
              <a:rPr sz="1500" b="1">
                <a:solidFill>
                  <a:srgbClr val="455A50"/>
                </a:solidFill>
                <a:latin typeface="Arial"/>
              </a:rPr>
              <a:t>Flexbox — one-dimensional rows</a:t>
            </a:r>
          </a:p>
        </p:txBody>
      </p:sp>
      <p:sp>
        <p:nvSpPr>
          <p:cNvPr id="6" name="Rounded Rectangle 5"/>
          <p:cNvSpPr/>
          <p:nvPr/>
        </p:nvSpPr>
        <p:spPr>
          <a:xfrm>
            <a:off x="640080" y="2011680"/>
            <a:ext cx="5120640" cy="3200399"/>
          </a:xfrm>
          <a:prstGeom prst="roundRect">
            <a:avLst>
              <a:gd name="adj" fmla="val 4500"/>
            </a:avLst>
          </a:prstGeom>
          <a:solidFill>
            <a:srgbClr val="FFFFFF"/>
          </a:solidFill>
          <a:ln>
            <a:noFill/>
          </a:ln>
          <a:effectLst>
            <a:outerShdw blurRad="91440" dist="50292" dir="5400000" rotWithShape="0">
              <a:srgbClr val="22252B">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asks.png"/>
          <p:cNvPicPr>
            <a:picLocks noChangeAspect="1"/>
          </p:cNvPicPr>
          <p:nvPr/>
        </p:nvPicPr>
        <p:blipFill>
          <a:blip r:embed="rId2"/>
          <a:stretch>
            <a:fillRect/>
          </a:stretch>
        </p:blipFill>
        <p:spPr>
          <a:xfrm>
            <a:off x="640080" y="2011680"/>
            <a:ext cx="5120640" cy="3200399"/>
          </a:xfrm>
          <a:prstGeom prst="rect">
            <a:avLst/>
          </a:prstGeom>
          <a:effectLst/>
        </p:spPr>
      </p:pic>
      <p:sp>
        <p:nvSpPr>
          <p:cNvPr id="8" name="TextBox 7"/>
          <p:cNvSpPr txBox="1"/>
          <p:nvPr/>
        </p:nvSpPr>
        <p:spPr>
          <a:xfrm>
            <a:off x="640080" y="3977639"/>
            <a:ext cx="5120640" cy="548640"/>
          </a:xfrm>
          <a:prstGeom prst="rect">
            <a:avLst/>
          </a:prstGeom>
          <a:noFill/>
        </p:spPr>
        <p:txBody>
          <a:bodyPr wrap="square" lIns="0" rIns="0" tIns="0" bIns="0" anchor="t">
            <a:spAutoFit/>
          </a:bodyPr>
          <a:lstStyle/>
          <a:p>
            <a:pPr algn="l">
              <a:lnSpc>
                <a:spcPct val="100000"/>
              </a:lnSpc>
            </a:pPr>
            <a:r>
              <a:rPr sz="1250" b="1">
                <a:solidFill>
                  <a:srgbClr val="455A50"/>
                </a:solidFill>
                <a:latin typeface="Courier New"/>
              </a:rPr>
              <a:t>display: flex</a:t>
            </a:r>
            <a:r>
              <a:rPr sz="1150" b="0">
                <a:solidFill>
                  <a:srgbClr val="606772"/>
                </a:solidFill>
                <a:latin typeface="Arial"/>
              </a:rPr>
              <a:t>  aligns the top bar, toolbars and button rows.</a:t>
            </a:r>
          </a:p>
        </p:txBody>
      </p:sp>
      <p:sp>
        <p:nvSpPr>
          <p:cNvPr id="9" name="TextBox 8"/>
          <p:cNvSpPr txBox="1"/>
          <p:nvPr/>
        </p:nvSpPr>
        <p:spPr>
          <a:xfrm>
            <a:off x="640080" y="4315968"/>
            <a:ext cx="5120640" cy="457200"/>
          </a:xfrm>
          <a:prstGeom prst="rect">
            <a:avLst/>
          </a:prstGeom>
          <a:noFill/>
        </p:spPr>
        <p:txBody>
          <a:bodyPr wrap="square" lIns="0" rIns="0" tIns="0" bIns="0" anchor="t">
            <a:spAutoFit/>
          </a:bodyPr>
          <a:lstStyle/>
          <a:p>
            <a:pPr algn="l">
              <a:lnSpc>
                <a:spcPct val="100000"/>
              </a:lnSpc>
            </a:pPr>
            <a:r>
              <a:rPr sz="1100" b="0">
                <a:solidFill>
                  <a:srgbClr val="A3AEB1"/>
                </a:solidFill>
                <a:latin typeface="Arial"/>
              </a:rPr>
              <a:t>Used in ~116 rules — align-items, gap, flex-wrap.</a:t>
            </a:r>
          </a:p>
        </p:txBody>
      </p:sp>
      <p:sp>
        <p:nvSpPr>
          <p:cNvPr id="10" name="TextBox 9"/>
          <p:cNvSpPr txBox="1"/>
          <p:nvPr/>
        </p:nvSpPr>
        <p:spPr>
          <a:xfrm>
            <a:off x="6355080" y="1572768"/>
            <a:ext cx="5120640" cy="365760"/>
          </a:xfrm>
          <a:prstGeom prst="rect">
            <a:avLst/>
          </a:prstGeom>
          <a:noFill/>
        </p:spPr>
        <p:txBody>
          <a:bodyPr wrap="square" lIns="0" rIns="0" tIns="0" bIns="0" anchor="t">
            <a:spAutoFit/>
          </a:bodyPr>
          <a:lstStyle/>
          <a:p>
            <a:pPr algn="l">
              <a:lnSpc>
                <a:spcPct val="100000"/>
              </a:lnSpc>
            </a:pPr>
            <a:r>
              <a:rPr sz="1500" b="1">
                <a:solidFill>
                  <a:srgbClr val="B09F95"/>
                </a:solidFill>
                <a:latin typeface="Arial"/>
              </a:rPr>
              <a:t>Grid — two-dimensional layouts</a:t>
            </a:r>
          </a:p>
        </p:txBody>
      </p:sp>
      <p:sp>
        <p:nvSpPr>
          <p:cNvPr id="11" name="Rounded Rectangle 10"/>
          <p:cNvSpPr/>
          <p:nvPr/>
        </p:nvSpPr>
        <p:spPr>
          <a:xfrm>
            <a:off x="6355080" y="2011680"/>
            <a:ext cx="5212080" cy="3438525"/>
          </a:xfrm>
          <a:prstGeom prst="roundRect">
            <a:avLst>
              <a:gd name="adj" fmla="val 4500"/>
            </a:avLst>
          </a:prstGeom>
          <a:solidFill>
            <a:srgbClr val="FFFFFF"/>
          </a:solidFill>
          <a:ln>
            <a:noFill/>
          </a:ln>
          <a:effectLst>
            <a:outerShdw blurRad="91440" dist="50292" dir="5400000" rotWithShape="0">
              <a:srgbClr val="22252B">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alendar.png"/>
          <p:cNvPicPr>
            <a:picLocks noChangeAspect="1"/>
          </p:cNvPicPr>
          <p:nvPr/>
        </p:nvPicPr>
        <p:blipFill>
          <a:blip r:embed="rId3"/>
          <a:stretch>
            <a:fillRect/>
          </a:stretch>
        </p:blipFill>
        <p:spPr>
          <a:xfrm>
            <a:off x="6355080" y="2011680"/>
            <a:ext cx="5212080" cy="3438525"/>
          </a:xfrm>
          <a:prstGeom prst="rect">
            <a:avLst/>
          </a:prstGeom>
          <a:effectLst/>
        </p:spPr>
      </p:pic>
      <p:sp>
        <p:nvSpPr>
          <p:cNvPr id="13" name="TextBox 12"/>
          <p:cNvSpPr txBox="1"/>
          <p:nvPr/>
        </p:nvSpPr>
        <p:spPr>
          <a:xfrm>
            <a:off x="6355080" y="3977639"/>
            <a:ext cx="5212080" cy="548640"/>
          </a:xfrm>
          <a:prstGeom prst="rect">
            <a:avLst/>
          </a:prstGeom>
          <a:noFill/>
        </p:spPr>
        <p:txBody>
          <a:bodyPr wrap="square" lIns="0" rIns="0" tIns="0" bIns="0" anchor="t">
            <a:spAutoFit/>
          </a:bodyPr>
          <a:lstStyle/>
          <a:p>
            <a:pPr algn="l">
              <a:lnSpc>
                <a:spcPct val="100000"/>
              </a:lnSpc>
            </a:pPr>
            <a:r>
              <a:rPr sz="1250" b="1">
                <a:solidFill>
                  <a:srgbClr val="B09F95"/>
                </a:solidFill>
                <a:latin typeface="Courier New"/>
              </a:rPr>
              <a:t>display: grid</a:t>
            </a:r>
            <a:r>
              <a:rPr sz="1150" b="0">
                <a:solidFill>
                  <a:srgbClr val="606772"/>
                </a:solidFill>
                <a:latin typeface="Arial"/>
              </a:rPr>
              <a:t>  builds the calendar, dashboard &amp; note grids.</a:t>
            </a:r>
          </a:p>
        </p:txBody>
      </p:sp>
      <p:sp>
        <p:nvSpPr>
          <p:cNvPr id="14" name="TextBox 13"/>
          <p:cNvSpPr txBox="1"/>
          <p:nvPr/>
        </p:nvSpPr>
        <p:spPr>
          <a:xfrm>
            <a:off x="6355080" y="4315968"/>
            <a:ext cx="5212080" cy="457200"/>
          </a:xfrm>
          <a:prstGeom prst="rect">
            <a:avLst/>
          </a:prstGeom>
          <a:noFill/>
        </p:spPr>
        <p:txBody>
          <a:bodyPr wrap="square" lIns="0" rIns="0" tIns="0" bIns="0" anchor="t">
            <a:spAutoFit/>
          </a:bodyPr>
          <a:lstStyle/>
          <a:p>
            <a:pPr algn="l">
              <a:lnSpc>
                <a:spcPct val="100000"/>
              </a:lnSpc>
            </a:pPr>
            <a:r>
              <a:rPr sz="1100" b="0">
                <a:solidFill>
                  <a:srgbClr val="A3AEB1"/>
                </a:solidFill>
                <a:latin typeface="Arial"/>
              </a:rPr>
              <a:t>Used in ~51 rules — repeat(7, minmax(0,1fr)), gap.</a:t>
            </a:r>
          </a:p>
        </p:txBody>
      </p:sp>
      <p:sp>
        <p:nvSpPr>
          <p:cNvPr id="15" name="Rounded Rectangle 14"/>
          <p:cNvSpPr/>
          <p:nvPr/>
        </p:nvSpPr>
        <p:spPr>
          <a:xfrm>
            <a:off x="640080" y="5029200"/>
            <a:ext cx="10911535" cy="970239"/>
          </a:xfrm>
          <a:prstGeom prst="roundRect">
            <a:avLst>
              <a:gd name="adj" fmla="val 3500"/>
            </a:avLst>
          </a:prstGeom>
          <a:solidFill>
            <a:srgbClr val="1C2026"/>
          </a:solidFill>
          <a:ln>
            <a:noFill/>
          </a:ln>
          <a:effectLst>
            <a:outerShdw blurRad="91440" dist="50292" dir="5400000" rotWithShape="0">
              <a:srgbClr val="22252B">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77824" y="5184648"/>
            <a:ext cx="91440" cy="91440"/>
          </a:xfrm>
          <a:prstGeom prst="ellipse">
            <a:avLst/>
          </a:prstGeom>
          <a:solidFill>
            <a:srgbClr val="E06C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42415" y="5184648"/>
            <a:ext cx="91440" cy="91440"/>
          </a:xfrm>
          <a:prstGeom prst="ellipse">
            <a:avLst/>
          </a:prstGeom>
          <a:solidFill>
            <a:srgbClr val="E0B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207007" y="5184648"/>
            <a:ext cx="91440" cy="91440"/>
          </a:xfrm>
          <a:prstGeom prst="ellipse">
            <a:avLst/>
          </a:prstGeom>
          <a:solidFill>
            <a:srgbClr val="8FB9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44752" y="5120640"/>
            <a:ext cx="9869119" cy="256032"/>
          </a:xfrm>
          <a:prstGeom prst="rect">
            <a:avLst/>
          </a:prstGeom>
          <a:noFill/>
        </p:spPr>
        <p:txBody>
          <a:bodyPr wrap="square" lIns="0" rIns="0" tIns="0" bIns="0" anchor="ctr">
            <a:spAutoFit/>
          </a:bodyPr>
          <a:lstStyle/>
          <a:p>
            <a:pPr algn="l">
              <a:lnSpc>
                <a:spcPct val="100000"/>
              </a:lnSpc>
            </a:pPr>
            <a:r>
              <a:rPr sz="1050" b="0">
                <a:solidFill>
                  <a:srgbClr val="8A929C"/>
                </a:solidFill>
                <a:latin typeface="Courier New"/>
              </a:rPr>
              <a:t>styles/app.css — the seven-column calendar grid</a:t>
            </a:r>
          </a:p>
        </p:txBody>
      </p:sp>
      <p:sp>
        <p:nvSpPr>
          <p:cNvPr id="20" name="TextBox 19"/>
          <p:cNvSpPr txBox="1"/>
          <p:nvPr/>
        </p:nvSpPr>
        <p:spPr>
          <a:xfrm>
            <a:off x="877824" y="5544007"/>
            <a:ext cx="10436047" cy="335280"/>
          </a:xfrm>
          <a:prstGeom prst="rect">
            <a:avLst/>
          </a:prstGeom>
          <a:noFill/>
        </p:spPr>
        <p:txBody>
          <a:bodyPr wrap="none" lIns="0" rIns="0" tIns="0" bIns="0">
            <a:spAutoFit/>
          </a:bodyPr>
          <a:lstStyle/>
          <a:p>
            <a:pPr>
              <a:lnSpc>
                <a:spcPct val="128000"/>
              </a:lnSpc>
            </a:pPr>
            <a:r>
              <a:rPr sz="1250">
                <a:solidFill>
                  <a:srgbClr val="D6C6B8"/>
                </a:solidFill>
                <a:latin typeface="Courier New"/>
              </a:rPr>
              <a:t>.cal-grid</a:t>
            </a:r>
            <a:r>
              <a:rPr sz="1250">
                <a:solidFill>
                  <a:srgbClr val="E7EAEE"/>
                </a:solidFill>
                <a:latin typeface="Courier New"/>
              </a:rPr>
              <a:t> { </a:t>
            </a:r>
            <a:r>
              <a:rPr sz="1250">
                <a:solidFill>
                  <a:srgbClr val="A9C3B0"/>
                </a:solidFill>
                <a:latin typeface="Courier New"/>
              </a:rPr>
              <a:t>display</a:t>
            </a:r>
            <a:r>
              <a:rPr sz="1250">
                <a:solidFill>
                  <a:srgbClr val="E7EAEE"/>
                </a:solidFill>
                <a:latin typeface="Courier New"/>
              </a:rPr>
              <a:t>: </a:t>
            </a:r>
            <a:r>
              <a:rPr sz="1250">
                <a:solidFill>
                  <a:srgbClr val="B9C7CD"/>
                </a:solidFill>
                <a:latin typeface="Courier New"/>
              </a:rPr>
              <a:t>grid</a:t>
            </a:r>
            <a:r>
              <a:rPr sz="1250">
                <a:solidFill>
                  <a:srgbClr val="E7EAEE"/>
                </a:solidFill>
                <a:latin typeface="Courier New"/>
              </a:rPr>
              <a:t>; </a:t>
            </a:r>
            <a:r>
              <a:rPr sz="1250">
                <a:solidFill>
                  <a:srgbClr val="A9C3B0"/>
                </a:solidFill>
                <a:latin typeface="Courier New"/>
              </a:rPr>
              <a:t>grid-template-columns</a:t>
            </a:r>
            <a:r>
              <a:rPr sz="1250">
                <a:solidFill>
                  <a:srgbClr val="E7EAEE"/>
                </a:solidFill>
                <a:latin typeface="Courier New"/>
              </a:rPr>
              <a:t>: </a:t>
            </a:r>
            <a:r>
              <a:rPr sz="1250">
                <a:solidFill>
                  <a:srgbClr val="CBB69F"/>
                </a:solidFill>
                <a:latin typeface="Courier New"/>
              </a:rPr>
              <a:t>repeat(7, minmax(0, 1fr))</a:t>
            </a:r>
            <a:r>
              <a:rPr sz="1250">
                <a:solidFill>
                  <a:srgbClr val="E7EAEE"/>
                </a:solidFill>
                <a:latin typeface="Courier New"/>
              </a:rPr>
              <a:t>; </a:t>
            </a:r>
            <a:r>
              <a:rPr sz="1250">
                <a:solidFill>
                  <a:srgbClr val="A9C3B0"/>
                </a:solidFill>
                <a:latin typeface="Courier New"/>
              </a:rPr>
              <a:t>gap</a:t>
            </a:r>
            <a:r>
              <a:rPr sz="1250">
                <a:solidFill>
                  <a:srgbClr val="E7EAEE"/>
                </a:solidFill>
                <a:latin typeface="Courier New"/>
              </a:rPr>
              <a:t>: </a:t>
            </a:r>
            <a:r>
              <a:rPr sz="1250">
                <a:solidFill>
                  <a:srgbClr val="B9C7CD"/>
                </a:solidFill>
                <a:latin typeface="Courier New"/>
              </a:rPr>
              <a:t>6px</a:t>
            </a:r>
            <a:r>
              <a:rPr sz="1250">
                <a:solidFill>
                  <a:srgbClr val="E7EAEE"/>
                </a:solidFill>
                <a:latin typeface="Courier New"/>
              </a:rPr>
              <a:t>; }</a:t>
            </a:r>
          </a:p>
        </p:txBody>
      </p:sp>
      <p:sp>
        <p:nvSpPr>
          <p:cNvPr id="21" name="TextBox 20"/>
          <p:cNvSpPr txBox="1"/>
          <p:nvPr/>
        </p:nvSpPr>
        <p:spPr>
          <a:xfrm>
            <a:off x="640080" y="6455664"/>
            <a:ext cx="4572000" cy="274320"/>
          </a:xfrm>
          <a:prstGeom prst="rect">
            <a:avLst/>
          </a:prstGeom>
          <a:noFill/>
        </p:spPr>
        <p:txBody>
          <a:bodyPr wrap="square" lIns="0" rIns="0" tIns="0" bIns="0" anchor="t">
            <a:spAutoFit/>
          </a:bodyPr>
          <a:lstStyle/>
          <a:p>
            <a:pPr algn="l">
              <a:lnSpc>
                <a:spcPct val="100000"/>
              </a:lnSpc>
            </a:pPr>
            <a:r>
              <a:rPr sz="950" b="0">
                <a:solidFill>
                  <a:srgbClr val="A3AEB1"/>
                </a:solidFill>
                <a:latin typeface="Arial"/>
              </a:rPr>
              <a:t>Synora  ·  Web Development Project</a:t>
            </a:r>
          </a:p>
        </p:txBody>
      </p:sp>
      <p:sp>
        <p:nvSpPr>
          <p:cNvPr id="22" name="TextBox 21"/>
          <p:cNvSpPr txBox="1"/>
          <p:nvPr/>
        </p:nvSpPr>
        <p:spPr>
          <a:xfrm>
            <a:off x="9722815" y="6455664"/>
            <a:ext cx="1828800" cy="274320"/>
          </a:xfrm>
          <a:prstGeom prst="rect">
            <a:avLst/>
          </a:prstGeom>
          <a:noFill/>
        </p:spPr>
        <p:txBody>
          <a:bodyPr wrap="square" lIns="0" rIns="0" tIns="0" bIns="0" anchor="t">
            <a:spAutoFit/>
          </a:bodyPr>
          <a:lstStyle/>
          <a:p>
            <a:pPr algn="r">
              <a:lnSpc>
                <a:spcPct val="100000"/>
              </a:lnSpc>
            </a:pPr>
            <a:r>
              <a:rPr sz="950" b="0">
                <a:solidFill>
                  <a:srgbClr val="A3AEB1"/>
                </a:solidFill>
                <a:latin typeface="Arial"/>
              </a:rPr>
              <a:t>10 / 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2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48640"/>
            <a:ext cx="7315200" cy="274320"/>
          </a:xfrm>
          <a:prstGeom prst="rect">
            <a:avLst/>
          </a:prstGeom>
          <a:noFill/>
        </p:spPr>
        <p:txBody>
          <a:bodyPr wrap="square" lIns="0" rIns="0" tIns="0" bIns="0" anchor="t">
            <a:spAutoFit/>
          </a:bodyPr>
          <a:lstStyle/>
          <a:p>
            <a:pPr algn="l">
              <a:lnSpc>
                <a:spcPct val="100000"/>
              </a:lnSpc>
            </a:pPr>
            <a:r>
              <a:rPr sz="1200" b="1" spc="180">
                <a:solidFill>
                  <a:srgbClr val="C9B9AE"/>
                </a:solidFill>
                <a:latin typeface="Arial"/>
              </a:rPr>
              <a:t>CSS3  ·  RESPONSIVE DESIGN</a:t>
            </a:r>
          </a:p>
        </p:txBody>
      </p:sp>
      <p:sp>
        <p:nvSpPr>
          <p:cNvPr id="4" name="TextBox 3"/>
          <p:cNvSpPr txBox="1"/>
          <p:nvPr/>
        </p:nvSpPr>
        <p:spPr>
          <a:xfrm>
            <a:off x="640080" y="822960"/>
            <a:ext cx="10911535" cy="548640"/>
          </a:xfrm>
          <a:prstGeom prst="rect">
            <a:avLst/>
          </a:prstGeom>
          <a:noFill/>
        </p:spPr>
        <p:txBody>
          <a:bodyPr wrap="square" lIns="0" rIns="0" tIns="0" bIns="0" anchor="t">
            <a:spAutoFit/>
          </a:bodyPr>
          <a:lstStyle/>
          <a:p>
            <a:pPr algn="l">
              <a:lnSpc>
                <a:spcPct val="100000"/>
              </a:lnSpc>
            </a:pPr>
            <a:r>
              <a:rPr sz="3000" b="1">
                <a:solidFill>
                  <a:srgbClr val="F3F1EC"/>
                </a:solidFill>
                <a:latin typeface="Arial"/>
              </a:rPr>
              <a:t>One page, every screen</a:t>
            </a:r>
          </a:p>
        </p:txBody>
      </p:sp>
      <p:sp>
        <p:nvSpPr>
          <p:cNvPr id="5" name="Rounded Rectangle 4"/>
          <p:cNvSpPr/>
          <p:nvPr/>
        </p:nvSpPr>
        <p:spPr>
          <a:xfrm>
            <a:off x="640080" y="1807083"/>
            <a:ext cx="5623560" cy="3514725"/>
          </a:xfrm>
          <a:prstGeom prst="roundRect">
            <a:avLst>
              <a:gd name="adj" fmla="val 4500"/>
            </a:avLst>
          </a:prstGeom>
          <a:solidFill>
            <a:srgbClr val="FFFFFF"/>
          </a:solidFill>
          <a:ln>
            <a:noFill/>
          </a:ln>
          <a:effectLst>
            <a:outerShdw blurRad="91440" dist="50292" dir="5400000"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esp_desktop.png"/>
          <p:cNvPicPr>
            <a:picLocks noChangeAspect="1"/>
          </p:cNvPicPr>
          <p:nvPr/>
        </p:nvPicPr>
        <p:blipFill>
          <a:blip r:embed="rId2"/>
          <a:stretch>
            <a:fillRect/>
          </a:stretch>
        </p:blipFill>
        <p:spPr>
          <a:xfrm>
            <a:off x="640080" y="1807083"/>
            <a:ext cx="5623560" cy="3514725"/>
          </a:xfrm>
          <a:prstGeom prst="rect">
            <a:avLst/>
          </a:prstGeom>
          <a:effectLst/>
        </p:spPr>
      </p:pic>
      <p:sp>
        <p:nvSpPr>
          <p:cNvPr id="7" name="TextBox 6"/>
          <p:cNvSpPr txBox="1"/>
          <p:nvPr/>
        </p:nvSpPr>
        <p:spPr>
          <a:xfrm>
            <a:off x="640080" y="5449824"/>
            <a:ext cx="5623560" cy="274320"/>
          </a:xfrm>
          <a:prstGeom prst="rect">
            <a:avLst/>
          </a:prstGeom>
          <a:noFill/>
        </p:spPr>
        <p:txBody>
          <a:bodyPr wrap="square" lIns="0" rIns="0" tIns="0" bIns="0" anchor="t">
            <a:spAutoFit/>
          </a:bodyPr>
          <a:lstStyle/>
          <a:p>
            <a:pPr algn="ctr">
              <a:lnSpc>
                <a:spcPct val="100000"/>
              </a:lnSpc>
            </a:pPr>
            <a:r>
              <a:rPr sz="1200" b="1">
                <a:solidFill>
                  <a:srgbClr val="9FB6A6"/>
                </a:solidFill>
                <a:latin typeface="Arial"/>
              </a:rPr>
              <a:t>1440px  ·  Desktop</a:t>
            </a:r>
          </a:p>
        </p:txBody>
      </p:sp>
      <p:sp>
        <p:nvSpPr>
          <p:cNvPr id="8" name="Rounded Rectangle 7"/>
          <p:cNvSpPr/>
          <p:nvPr/>
        </p:nvSpPr>
        <p:spPr>
          <a:xfrm>
            <a:off x="7040880" y="2456688"/>
            <a:ext cx="2148840" cy="2865120"/>
          </a:xfrm>
          <a:prstGeom prst="roundRect">
            <a:avLst>
              <a:gd name="adj" fmla="val 4500"/>
            </a:avLst>
          </a:prstGeom>
          <a:solidFill>
            <a:srgbClr val="FFFFFF"/>
          </a:solidFill>
          <a:ln>
            <a:noFill/>
          </a:ln>
          <a:effectLst>
            <a:outerShdw blurRad="91440" dist="50292" dir="5400000"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sp_tablet.png"/>
          <p:cNvPicPr>
            <a:picLocks noChangeAspect="1"/>
          </p:cNvPicPr>
          <p:nvPr/>
        </p:nvPicPr>
        <p:blipFill>
          <a:blip r:embed="rId3"/>
          <a:stretch>
            <a:fillRect/>
          </a:stretch>
        </p:blipFill>
        <p:spPr>
          <a:xfrm>
            <a:off x="7040880" y="2456688"/>
            <a:ext cx="2148840" cy="2865120"/>
          </a:xfrm>
          <a:prstGeom prst="rect">
            <a:avLst/>
          </a:prstGeom>
          <a:effectLst/>
        </p:spPr>
      </p:pic>
      <p:sp>
        <p:nvSpPr>
          <p:cNvPr id="10" name="TextBox 9"/>
          <p:cNvSpPr txBox="1"/>
          <p:nvPr/>
        </p:nvSpPr>
        <p:spPr>
          <a:xfrm>
            <a:off x="7040880" y="5449824"/>
            <a:ext cx="2148840" cy="274320"/>
          </a:xfrm>
          <a:prstGeom prst="rect">
            <a:avLst/>
          </a:prstGeom>
          <a:noFill/>
        </p:spPr>
        <p:txBody>
          <a:bodyPr wrap="square" lIns="0" rIns="0" tIns="0" bIns="0" anchor="t">
            <a:spAutoFit/>
          </a:bodyPr>
          <a:lstStyle/>
          <a:p>
            <a:pPr algn="ctr">
              <a:lnSpc>
                <a:spcPct val="100000"/>
              </a:lnSpc>
            </a:pPr>
            <a:r>
              <a:rPr sz="1200" b="1">
                <a:solidFill>
                  <a:srgbClr val="9FB6A6"/>
                </a:solidFill>
                <a:latin typeface="Arial"/>
              </a:rPr>
              <a:t>768px  ·  Tablet</a:t>
            </a:r>
          </a:p>
        </p:txBody>
      </p:sp>
      <p:sp>
        <p:nvSpPr>
          <p:cNvPr id="11" name="Rounded Rectangle 10"/>
          <p:cNvSpPr/>
          <p:nvPr/>
        </p:nvSpPr>
        <p:spPr>
          <a:xfrm>
            <a:off x="9464040" y="2155639"/>
            <a:ext cx="1463040" cy="3166168"/>
          </a:xfrm>
          <a:prstGeom prst="roundRect">
            <a:avLst>
              <a:gd name="adj" fmla="val 4500"/>
            </a:avLst>
          </a:prstGeom>
          <a:solidFill>
            <a:srgbClr val="FFFFFF"/>
          </a:solidFill>
          <a:ln>
            <a:noFill/>
          </a:ln>
          <a:effectLst>
            <a:outerShdw blurRad="91440" dist="50292" dir="5400000"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resp_mobile.png"/>
          <p:cNvPicPr>
            <a:picLocks noChangeAspect="1"/>
          </p:cNvPicPr>
          <p:nvPr/>
        </p:nvPicPr>
        <p:blipFill>
          <a:blip r:embed="rId4"/>
          <a:stretch>
            <a:fillRect/>
          </a:stretch>
        </p:blipFill>
        <p:spPr>
          <a:xfrm>
            <a:off x="9464040" y="2155639"/>
            <a:ext cx="1463040" cy="3166168"/>
          </a:xfrm>
          <a:prstGeom prst="rect">
            <a:avLst/>
          </a:prstGeom>
          <a:effectLst/>
        </p:spPr>
      </p:pic>
      <p:sp>
        <p:nvSpPr>
          <p:cNvPr id="13" name="TextBox 12"/>
          <p:cNvSpPr txBox="1"/>
          <p:nvPr/>
        </p:nvSpPr>
        <p:spPr>
          <a:xfrm>
            <a:off x="9098280" y="5449824"/>
            <a:ext cx="2194560" cy="274320"/>
          </a:xfrm>
          <a:prstGeom prst="rect">
            <a:avLst/>
          </a:prstGeom>
          <a:noFill/>
        </p:spPr>
        <p:txBody>
          <a:bodyPr wrap="square" lIns="0" rIns="0" tIns="0" bIns="0" anchor="t">
            <a:spAutoFit/>
          </a:bodyPr>
          <a:lstStyle/>
          <a:p>
            <a:pPr algn="ctr">
              <a:lnSpc>
                <a:spcPct val="100000"/>
              </a:lnSpc>
            </a:pPr>
            <a:r>
              <a:rPr sz="1200" b="1">
                <a:solidFill>
                  <a:srgbClr val="9FB6A6"/>
                </a:solidFill>
                <a:latin typeface="Arial"/>
              </a:rPr>
              <a:t>390px  ·  Mobile</a:t>
            </a:r>
          </a:p>
        </p:txBody>
      </p:sp>
      <p:sp>
        <p:nvSpPr>
          <p:cNvPr id="14" name="Rounded Rectangle 13"/>
          <p:cNvSpPr/>
          <p:nvPr/>
        </p:nvSpPr>
        <p:spPr>
          <a:xfrm>
            <a:off x="640080" y="5852160"/>
            <a:ext cx="10911535" cy="548640"/>
          </a:xfrm>
          <a:prstGeom prst="roundRect">
            <a:avLst>
              <a:gd name="adj" fmla="val 9000"/>
            </a:avLst>
          </a:prstGeom>
          <a:solidFill>
            <a:srgbClr val="2B2F37"/>
          </a:solidFill>
          <a:ln w="12700">
            <a:solidFill>
              <a:srgbClr val="3136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852160"/>
            <a:ext cx="10362895" cy="548640"/>
          </a:xfrm>
          <a:prstGeom prst="rect">
            <a:avLst/>
          </a:prstGeom>
          <a:noFill/>
        </p:spPr>
        <p:txBody>
          <a:bodyPr wrap="square" lIns="0" rIns="0" tIns="0" bIns="0" anchor="ctr">
            <a:spAutoFit/>
          </a:bodyPr>
          <a:lstStyle/>
          <a:p>
            <a:pPr algn="l">
              <a:lnSpc>
                <a:spcPct val="100000"/>
              </a:lnSpc>
            </a:pPr>
            <a:r>
              <a:rPr sz="1300" b="1">
                <a:solidFill>
                  <a:srgbClr val="C9B9AE"/>
                </a:solidFill>
                <a:latin typeface="Arial"/>
              </a:rPr>
              <a:t>Desktop-first  </a:t>
            </a:r>
            <a:r>
              <a:rPr sz="1250" b="0">
                <a:solidFill>
                  <a:srgbClr val="F3F1EC"/>
                </a:solidFill>
                <a:latin typeface="Arial"/>
              </a:rPr>
              <a:t>— Flexbox + Grid reflow, </a:t>
            </a:r>
            <a:r>
              <a:rPr sz="1250" b="1">
                <a:solidFill>
                  <a:srgbClr val="9FB6A6"/>
                </a:solidFill>
                <a:latin typeface="Courier New"/>
              </a:rPr>
              <a:t>max-width</a:t>
            </a:r>
            <a:r>
              <a:rPr sz="1250" b="0">
                <a:solidFill>
                  <a:srgbClr val="F3F1EC"/>
                </a:solidFill>
                <a:latin typeface="Arial"/>
              </a:rPr>
              <a:t> media queries adapt down, and the nav collapses to a CSS-only menu.</a:t>
            </a:r>
          </a:p>
        </p:txBody>
      </p:sp>
      <p:sp>
        <p:nvSpPr>
          <p:cNvPr id="16" name="TextBox 15"/>
          <p:cNvSpPr txBox="1"/>
          <p:nvPr/>
        </p:nvSpPr>
        <p:spPr>
          <a:xfrm>
            <a:off x="640080" y="6455664"/>
            <a:ext cx="4572000" cy="274320"/>
          </a:xfrm>
          <a:prstGeom prst="rect">
            <a:avLst/>
          </a:prstGeom>
          <a:noFill/>
        </p:spPr>
        <p:txBody>
          <a:bodyPr wrap="square" lIns="0" rIns="0" tIns="0" bIns="0" anchor="t">
            <a:spAutoFit/>
          </a:bodyPr>
          <a:lstStyle/>
          <a:p>
            <a:pPr algn="l">
              <a:lnSpc>
                <a:spcPct val="100000"/>
              </a:lnSpc>
            </a:pPr>
            <a:r>
              <a:rPr sz="950" b="0">
                <a:solidFill>
                  <a:srgbClr val="9AA2AC"/>
                </a:solidFill>
                <a:latin typeface="Arial"/>
              </a:rPr>
              <a:t>Synora  ·  Web Development Project</a:t>
            </a:r>
          </a:p>
        </p:txBody>
      </p:sp>
      <p:sp>
        <p:nvSpPr>
          <p:cNvPr id="17" name="TextBox 16"/>
          <p:cNvSpPr txBox="1"/>
          <p:nvPr/>
        </p:nvSpPr>
        <p:spPr>
          <a:xfrm>
            <a:off x="9722815" y="6455664"/>
            <a:ext cx="1828800" cy="274320"/>
          </a:xfrm>
          <a:prstGeom prst="rect">
            <a:avLst/>
          </a:prstGeom>
          <a:noFill/>
        </p:spPr>
        <p:txBody>
          <a:bodyPr wrap="square" lIns="0" rIns="0" tIns="0" bIns="0" anchor="t">
            <a:spAutoFit/>
          </a:bodyPr>
          <a:lstStyle/>
          <a:p>
            <a:pPr algn="r">
              <a:lnSpc>
                <a:spcPct val="100000"/>
              </a:lnSpc>
            </a:pPr>
            <a:r>
              <a:rPr sz="950" b="0">
                <a:solidFill>
                  <a:srgbClr val="9AA2AC"/>
                </a:solidFill>
                <a:latin typeface="Arial"/>
              </a:rPr>
              <a:t>11 / 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7315200" cy="274320"/>
          </a:xfrm>
          <a:prstGeom prst="rect">
            <a:avLst/>
          </a:prstGeom>
          <a:noFill/>
        </p:spPr>
        <p:txBody>
          <a:bodyPr wrap="square" lIns="0" rIns="0" tIns="0" bIns="0" anchor="t">
            <a:spAutoFit/>
          </a:bodyPr>
          <a:lstStyle/>
          <a:p>
            <a:pPr algn="l">
              <a:lnSpc>
                <a:spcPct val="100000"/>
              </a:lnSpc>
            </a:pPr>
            <a:r>
              <a:rPr sz="1200" b="1" spc="180">
                <a:solidFill>
                  <a:srgbClr val="B09F95"/>
                </a:solidFill>
                <a:latin typeface="Arial"/>
              </a:rPr>
              <a:t>LECTURE 7–12  ·  JAVASCRIPT</a:t>
            </a:r>
          </a:p>
        </p:txBody>
      </p:sp>
      <p:sp>
        <p:nvSpPr>
          <p:cNvPr id="4" name="TextBox 3"/>
          <p:cNvSpPr txBox="1"/>
          <p:nvPr/>
        </p:nvSpPr>
        <p:spPr>
          <a:xfrm>
            <a:off x="640080" y="841247"/>
            <a:ext cx="10911535" cy="822960"/>
          </a:xfrm>
          <a:prstGeom prst="rect">
            <a:avLst/>
          </a:prstGeom>
          <a:noFill/>
        </p:spPr>
        <p:txBody>
          <a:bodyPr wrap="square" lIns="0" rIns="0" tIns="0" bIns="0" anchor="t">
            <a:spAutoFit/>
          </a:bodyPr>
          <a:lstStyle/>
          <a:p>
            <a:pPr algn="l">
              <a:lnSpc>
                <a:spcPct val="100000"/>
              </a:lnSpc>
            </a:pPr>
            <a:r>
              <a:rPr sz="3000" b="1">
                <a:solidFill>
                  <a:srgbClr val="22252B"/>
                </a:solidFill>
                <a:latin typeface="Arial"/>
              </a:rPr>
              <a:t>From a static page to a product</a:t>
            </a:r>
          </a:p>
        </p:txBody>
      </p:sp>
      <p:sp>
        <p:nvSpPr>
          <p:cNvPr id="5" name="TextBox 4"/>
          <p:cNvSpPr txBox="1"/>
          <p:nvPr/>
        </p:nvSpPr>
        <p:spPr>
          <a:xfrm>
            <a:off x="640080" y="1517904"/>
            <a:ext cx="5212080" cy="914400"/>
          </a:xfrm>
          <a:prstGeom prst="rect">
            <a:avLst/>
          </a:prstGeom>
          <a:noFill/>
        </p:spPr>
        <p:txBody>
          <a:bodyPr wrap="square" lIns="0" rIns="0" tIns="0" bIns="0" anchor="t">
            <a:spAutoFit/>
          </a:bodyPr>
          <a:lstStyle/>
          <a:p>
            <a:pPr algn="l">
              <a:lnSpc>
                <a:spcPct val="128000"/>
              </a:lnSpc>
            </a:pPr>
            <a:r>
              <a:rPr sz="1350" b="0">
                <a:solidFill>
                  <a:srgbClr val="606772"/>
                </a:solidFill>
                <a:latin typeface="Arial"/>
              </a:rPr>
              <a:t>HTML and CSS give structure and style; JavaScript adds the behaviour. The five fundamentals map directly onto real parts of Synora:</a:t>
            </a:r>
          </a:p>
        </p:txBody>
      </p:sp>
      <p:sp>
        <p:nvSpPr>
          <p:cNvPr id="6" name="Rounded Rectangle 5"/>
          <p:cNvSpPr/>
          <p:nvPr/>
        </p:nvSpPr>
        <p:spPr>
          <a:xfrm>
            <a:off x="640080" y="2651760"/>
            <a:ext cx="5349240" cy="566928"/>
          </a:xfrm>
          <a:prstGeom prst="roundRect">
            <a:avLst>
              <a:gd name="adj" fmla="val 9000"/>
            </a:avLst>
          </a:prstGeom>
          <a:solidFill>
            <a:srgbClr val="FFFFFF"/>
          </a:solidFill>
          <a:ln w="15240">
            <a:solidFill>
              <a:srgbClr val="E5E8EB"/>
            </a:solidFill>
          </a:ln>
          <a:effectLst>
            <a:outerShdw blurRad="91440" dist="50292" dir="5400000" rotWithShape="0">
              <a:srgbClr val="22252B">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2651760"/>
            <a:ext cx="1417320" cy="566928"/>
          </a:xfrm>
          <a:prstGeom prst="rect">
            <a:avLst/>
          </a:prstGeom>
          <a:noFill/>
        </p:spPr>
        <p:txBody>
          <a:bodyPr wrap="square" lIns="0" rIns="0" tIns="0" bIns="0" anchor="ctr">
            <a:spAutoFit/>
          </a:bodyPr>
          <a:lstStyle/>
          <a:p>
            <a:pPr algn="l">
              <a:lnSpc>
                <a:spcPct val="100000"/>
              </a:lnSpc>
            </a:pPr>
            <a:r>
              <a:rPr sz="1350" b="1">
                <a:solidFill>
                  <a:srgbClr val="455A50"/>
                </a:solidFill>
                <a:latin typeface="Arial"/>
              </a:rPr>
              <a:t>Variables</a:t>
            </a:r>
          </a:p>
        </p:txBody>
      </p:sp>
      <p:sp>
        <p:nvSpPr>
          <p:cNvPr id="8" name="TextBox 7"/>
          <p:cNvSpPr txBox="1"/>
          <p:nvPr/>
        </p:nvSpPr>
        <p:spPr>
          <a:xfrm>
            <a:off x="2286000" y="2651760"/>
            <a:ext cx="1828800" cy="566928"/>
          </a:xfrm>
          <a:prstGeom prst="rect">
            <a:avLst/>
          </a:prstGeom>
          <a:noFill/>
        </p:spPr>
        <p:txBody>
          <a:bodyPr wrap="square" lIns="0" rIns="0" tIns="0" bIns="0" anchor="ctr">
            <a:spAutoFit/>
          </a:bodyPr>
          <a:lstStyle/>
          <a:p>
            <a:pPr algn="l">
              <a:lnSpc>
                <a:spcPct val="100000"/>
              </a:lnSpc>
            </a:pPr>
            <a:r>
              <a:rPr sz="1150" b="0">
                <a:solidFill>
                  <a:srgbClr val="606772"/>
                </a:solidFill>
                <a:latin typeface="Arial"/>
              </a:rPr>
              <a:t>hold application state</a:t>
            </a:r>
          </a:p>
        </p:txBody>
      </p:sp>
      <p:sp>
        <p:nvSpPr>
          <p:cNvPr id="9" name="TextBox 8"/>
          <p:cNvSpPr txBox="1"/>
          <p:nvPr/>
        </p:nvSpPr>
        <p:spPr>
          <a:xfrm>
            <a:off x="4069080" y="2651760"/>
            <a:ext cx="1828800" cy="566928"/>
          </a:xfrm>
          <a:prstGeom prst="rect">
            <a:avLst/>
          </a:prstGeom>
          <a:noFill/>
        </p:spPr>
        <p:txBody>
          <a:bodyPr wrap="square" lIns="0" rIns="0" tIns="0" bIns="0" anchor="ctr">
            <a:spAutoFit/>
          </a:bodyPr>
          <a:lstStyle/>
          <a:p>
            <a:pPr algn="l">
              <a:lnSpc>
                <a:spcPct val="100000"/>
              </a:lnSpc>
            </a:pPr>
            <a:r>
              <a:rPr sz="1050" b="0">
                <a:solidFill>
                  <a:srgbClr val="22252B"/>
                </a:solidFill>
                <a:latin typeface="Courier New"/>
              </a:rPr>
              <a:t>state = { view, sort, query }</a:t>
            </a:r>
          </a:p>
        </p:txBody>
      </p:sp>
      <p:sp>
        <p:nvSpPr>
          <p:cNvPr id="10" name="Rounded Rectangle 9"/>
          <p:cNvSpPr/>
          <p:nvPr/>
        </p:nvSpPr>
        <p:spPr>
          <a:xfrm>
            <a:off x="640080" y="3310128"/>
            <a:ext cx="5349240" cy="566928"/>
          </a:xfrm>
          <a:prstGeom prst="roundRect">
            <a:avLst>
              <a:gd name="adj" fmla="val 9000"/>
            </a:avLst>
          </a:prstGeom>
          <a:solidFill>
            <a:srgbClr val="FFFFFF"/>
          </a:solidFill>
          <a:ln w="15240">
            <a:solidFill>
              <a:srgbClr val="E5E8EB"/>
            </a:solidFill>
          </a:ln>
          <a:effectLst>
            <a:outerShdw blurRad="91440" dist="50292" dir="5400000" rotWithShape="0">
              <a:srgbClr val="22252B">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7" y="3310128"/>
            <a:ext cx="1417320" cy="566928"/>
          </a:xfrm>
          <a:prstGeom prst="rect">
            <a:avLst/>
          </a:prstGeom>
          <a:noFill/>
        </p:spPr>
        <p:txBody>
          <a:bodyPr wrap="square" lIns="0" rIns="0" tIns="0" bIns="0" anchor="ctr">
            <a:spAutoFit/>
          </a:bodyPr>
          <a:lstStyle/>
          <a:p>
            <a:pPr algn="l">
              <a:lnSpc>
                <a:spcPct val="100000"/>
              </a:lnSpc>
            </a:pPr>
            <a:r>
              <a:rPr sz="1350" b="1">
                <a:solidFill>
                  <a:srgbClr val="455A50"/>
                </a:solidFill>
                <a:latin typeface="Arial"/>
              </a:rPr>
              <a:t>Functions</a:t>
            </a:r>
          </a:p>
        </p:txBody>
      </p:sp>
      <p:sp>
        <p:nvSpPr>
          <p:cNvPr id="12" name="TextBox 11"/>
          <p:cNvSpPr txBox="1"/>
          <p:nvPr/>
        </p:nvSpPr>
        <p:spPr>
          <a:xfrm>
            <a:off x="2286000" y="3310128"/>
            <a:ext cx="1828800" cy="566928"/>
          </a:xfrm>
          <a:prstGeom prst="rect">
            <a:avLst/>
          </a:prstGeom>
          <a:noFill/>
        </p:spPr>
        <p:txBody>
          <a:bodyPr wrap="square" lIns="0" rIns="0" tIns="0" bIns="0" anchor="ctr">
            <a:spAutoFit/>
          </a:bodyPr>
          <a:lstStyle/>
          <a:p>
            <a:pPr algn="l">
              <a:lnSpc>
                <a:spcPct val="100000"/>
              </a:lnSpc>
            </a:pPr>
            <a:r>
              <a:rPr sz="1150" b="0">
                <a:solidFill>
                  <a:srgbClr val="606772"/>
                </a:solidFill>
                <a:latin typeface="Arial"/>
              </a:rPr>
              <a:t>reusable operations</a:t>
            </a:r>
          </a:p>
        </p:txBody>
      </p:sp>
      <p:sp>
        <p:nvSpPr>
          <p:cNvPr id="13" name="TextBox 12"/>
          <p:cNvSpPr txBox="1"/>
          <p:nvPr/>
        </p:nvSpPr>
        <p:spPr>
          <a:xfrm>
            <a:off x="4069080" y="3310128"/>
            <a:ext cx="1828800" cy="566928"/>
          </a:xfrm>
          <a:prstGeom prst="rect">
            <a:avLst/>
          </a:prstGeom>
          <a:noFill/>
        </p:spPr>
        <p:txBody>
          <a:bodyPr wrap="square" lIns="0" rIns="0" tIns="0" bIns="0" anchor="ctr">
            <a:spAutoFit/>
          </a:bodyPr>
          <a:lstStyle/>
          <a:p>
            <a:pPr algn="l">
              <a:lnSpc>
                <a:spcPct val="100000"/>
              </a:lnSpc>
            </a:pPr>
            <a:r>
              <a:rPr sz="1050" b="0">
                <a:solidFill>
                  <a:srgbClr val="22252B"/>
                </a:solidFill>
                <a:latin typeface="Courier New"/>
              </a:rPr>
              <a:t>render()  ·  toggleComplete()</a:t>
            </a:r>
          </a:p>
        </p:txBody>
      </p:sp>
      <p:sp>
        <p:nvSpPr>
          <p:cNvPr id="14" name="Rounded Rectangle 13"/>
          <p:cNvSpPr/>
          <p:nvPr/>
        </p:nvSpPr>
        <p:spPr>
          <a:xfrm>
            <a:off x="640080" y="3968496"/>
            <a:ext cx="5349240" cy="566928"/>
          </a:xfrm>
          <a:prstGeom prst="roundRect">
            <a:avLst>
              <a:gd name="adj" fmla="val 9000"/>
            </a:avLst>
          </a:prstGeom>
          <a:solidFill>
            <a:srgbClr val="FFFFFF"/>
          </a:solidFill>
          <a:ln w="15240">
            <a:solidFill>
              <a:srgbClr val="E5E8EB"/>
            </a:solidFill>
          </a:ln>
          <a:effectLst>
            <a:outerShdw blurRad="91440" dist="50292" dir="5400000" rotWithShape="0">
              <a:srgbClr val="22252B">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7" y="3968496"/>
            <a:ext cx="1417320" cy="566928"/>
          </a:xfrm>
          <a:prstGeom prst="rect">
            <a:avLst/>
          </a:prstGeom>
          <a:noFill/>
        </p:spPr>
        <p:txBody>
          <a:bodyPr wrap="square" lIns="0" rIns="0" tIns="0" bIns="0" anchor="ctr">
            <a:spAutoFit/>
          </a:bodyPr>
          <a:lstStyle/>
          <a:p>
            <a:pPr algn="l">
              <a:lnSpc>
                <a:spcPct val="100000"/>
              </a:lnSpc>
            </a:pPr>
            <a:r>
              <a:rPr sz="1350" b="1">
                <a:solidFill>
                  <a:srgbClr val="455A50"/>
                </a:solidFill>
                <a:latin typeface="Arial"/>
              </a:rPr>
              <a:t>Arrays</a:t>
            </a:r>
          </a:p>
        </p:txBody>
      </p:sp>
      <p:sp>
        <p:nvSpPr>
          <p:cNvPr id="16" name="TextBox 15"/>
          <p:cNvSpPr txBox="1"/>
          <p:nvPr/>
        </p:nvSpPr>
        <p:spPr>
          <a:xfrm>
            <a:off x="2286000" y="3968496"/>
            <a:ext cx="1828800" cy="566928"/>
          </a:xfrm>
          <a:prstGeom prst="rect">
            <a:avLst/>
          </a:prstGeom>
          <a:noFill/>
        </p:spPr>
        <p:txBody>
          <a:bodyPr wrap="square" lIns="0" rIns="0" tIns="0" bIns="0" anchor="ctr">
            <a:spAutoFit/>
          </a:bodyPr>
          <a:lstStyle/>
          <a:p>
            <a:pPr algn="l">
              <a:lnSpc>
                <a:spcPct val="100000"/>
              </a:lnSpc>
            </a:pPr>
            <a:r>
              <a:rPr sz="1150" b="0">
                <a:solidFill>
                  <a:srgbClr val="606772"/>
                </a:solidFill>
                <a:latin typeface="Arial"/>
              </a:rPr>
              <a:t>lists of things</a:t>
            </a:r>
          </a:p>
        </p:txBody>
      </p:sp>
      <p:sp>
        <p:nvSpPr>
          <p:cNvPr id="17" name="TextBox 16"/>
          <p:cNvSpPr txBox="1"/>
          <p:nvPr/>
        </p:nvSpPr>
        <p:spPr>
          <a:xfrm>
            <a:off x="4069080" y="3968496"/>
            <a:ext cx="1828800" cy="566928"/>
          </a:xfrm>
          <a:prstGeom prst="rect">
            <a:avLst/>
          </a:prstGeom>
          <a:noFill/>
        </p:spPr>
        <p:txBody>
          <a:bodyPr wrap="square" lIns="0" rIns="0" tIns="0" bIns="0" anchor="ctr">
            <a:spAutoFit/>
          </a:bodyPr>
          <a:lstStyle/>
          <a:p>
            <a:pPr algn="l">
              <a:lnSpc>
                <a:spcPct val="100000"/>
              </a:lnSpc>
            </a:pPr>
            <a:r>
              <a:rPr sz="1050" b="0">
                <a:solidFill>
                  <a:srgbClr val="22252B"/>
                </a:solidFill>
                <a:latin typeface="Courier New"/>
              </a:rPr>
              <a:t>tasks  ·  subjects  ·  timetable</a:t>
            </a:r>
          </a:p>
        </p:txBody>
      </p:sp>
      <p:sp>
        <p:nvSpPr>
          <p:cNvPr id="18" name="Rounded Rectangle 17"/>
          <p:cNvSpPr/>
          <p:nvPr/>
        </p:nvSpPr>
        <p:spPr>
          <a:xfrm>
            <a:off x="640080" y="4626864"/>
            <a:ext cx="5349240" cy="566928"/>
          </a:xfrm>
          <a:prstGeom prst="roundRect">
            <a:avLst>
              <a:gd name="adj" fmla="val 9000"/>
            </a:avLst>
          </a:prstGeom>
          <a:solidFill>
            <a:srgbClr val="FFFFFF"/>
          </a:solidFill>
          <a:ln w="15240">
            <a:solidFill>
              <a:srgbClr val="E5E8EB"/>
            </a:solidFill>
          </a:ln>
          <a:effectLst>
            <a:outerShdw blurRad="91440" dist="50292" dir="5400000" rotWithShape="0">
              <a:srgbClr val="22252B">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7" y="4626864"/>
            <a:ext cx="1417320" cy="566928"/>
          </a:xfrm>
          <a:prstGeom prst="rect">
            <a:avLst/>
          </a:prstGeom>
          <a:noFill/>
        </p:spPr>
        <p:txBody>
          <a:bodyPr wrap="square" lIns="0" rIns="0" tIns="0" bIns="0" anchor="ctr">
            <a:spAutoFit/>
          </a:bodyPr>
          <a:lstStyle/>
          <a:p>
            <a:pPr algn="l">
              <a:lnSpc>
                <a:spcPct val="100000"/>
              </a:lnSpc>
            </a:pPr>
            <a:r>
              <a:rPr sz="1350" b="1">
                <a:solidFill>
                  <a:srgbClr val="455A50"/>
                </a:solidFill>
                <a:latin typeface="Arial"/>
              </a:rPr>
              <a:t>Objects</a:t>
            </a:r>
          </a:p>
        </p:txBody>
      </p:sp>
      <p:sp>
        <p:nvSpPr>
          <p:cNvPr id="20" name="TextBox 19"/>
          <p:cNvSpPr txBox="1"/>
          <p:nvPr/>
        </p:nvSpPr>
        <p:spPr>
          <a:xfrm>
            <a:off x="2286000" y="4626864"/>
            <a:ext cx="1828800" cy="566928"/>
          </a:xfrm>
          <a:prstGeom prst="rect">
            <a:avLst/>
          </a:prstGeom>
          <a:noFill/>
        </p:spPr>
        <p:txBody>
          <a:bodyPr wrap="square" lIns="0" rIns="0" tIns="0" bIns="0" anchor="ctr">
            <a:spAutoFit/>
          </a:bodyPr>
          <a:lstStyle/>
          <a:p>
            <a:pPr algn="l">
              <a:lnSpc>
                <a:spcPct val="100000"/>
              </a:lnSpc>
            </a:pPr>
            <a:r>
              <a:rPr sz="1150" b="0">
                <a:solidFill>
                  <a:srgbClr val="606772"/>
                </a:solidFill>
                <a:latin typeface="Arial"/>
              </a:rPr>
              <a:t>structured records</a:t>
            </a:r>
          </a:p>
        </p:txBody>
      </p:sp>
      <p:sp>
        <p:nvSpPr>
          <p:cNvPr id="21" name="TextBox 20"/>
          <p:cNvSpPr txBox="1"/>
          <p:nvPr/>
        </p:nvSpPr>
        <p:spPr>
          <a:xfrm>
            <a:off x="4069080" y="4626864"/>
            <a:ext cx="1828800" cy="566928"/>
          </a:xfrm>
          <a:prstGeom prst="rect">
            <a:avLst/>
          </a:prstGeom>
          <a:noFill/>
        </p:spPr>
        <p:txBody>
          <a:bodyPr wrap="square" lIns="0" rIns="0" tIns="0" bIns="0" anchor="ctr">
            <a:spAutoFit/>
          </a:bodyPr>
          <a:lstStyle/>
          <a:p>
            <a:pPr algn="l">
              <a:lnSpc>
                <a:spcPct val="100000"/>
              </a:lnSpc>
            </a:pPr>
            <a:r>
              <a:rPr sz="1050" b="0">
                <a:solidFill>
                  <a:srgbClr val="22252B"/>
                </a:solidFill>
                <a:latin typeface="Courier New"/>
              </a:rPr>
              <a:t>{ id, title, priority, deadline }</a:t>
            </a:r>
          </a:p>
        </p:txBody>
      </p:sp>
      <p:sp>
        <p:nvSpPr>
          <p:cNvPr id="22" name="Rounded Rectangle 21"/>
          <p:cNvSpPr/>
          <p:nvPr/>
        </p:nvSpPr>
        <p:spPr>
          <a:xfrm>
            <a:off x="640080" y="5285231"/>
            <a:ext cx="5349240" cy="566928"/>
          </a:xfrm>
          <a:prstGeom prst="roundRect">
            <a:avLst>
              <a:gd name="adj" fmla="val 9000"/>
            </a:avLst>
          </a:prstGeom>
          <a:solidFill>
            <a:srgbClr val="FFFFFF"/>
          </a:solidFill>
          <a:ln w="15240">
            <a:solidFill>
              <a:srgbClr val="E5E8EB"/>
            </a:solidFill>
          </a:ln>
          <a:effectLst>
            <a:outerShdw blurRad="91440" dist="50292" dir="5400000" rotWithShape="0">
              <a:srgbClr val="22252B">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7" y="5285231"/>
            <a:ext cx="1417320" cy="566928"/>
          </a:xfrm>
          <a:prstGeom prst="rect">
            <a:avLst/>
          </a:prstGeom>
          <a:noFill/>
        </p:spPr>
        <p:txBody>
          <a:bodyPr wrap="square" lIns="0" rIns="0" tIns="0" bIns="0" anchor="ctr">
            <a:spAutoFit/>
          </a:bodyPr>
          <a:lstStyle/>
          <a:p>
            <a:pPr algn="l">
              <a:lnSpc>
                <a:spcPct val="100000"/>
              </a:lnSpc>
            </a:pPr>
            <a:r>
              <a:rPr sz="1350" b="1">
                <a:solidFill>
                  <a:srgbClr val="455A50"/>
                </a:solidFill>
                <a:latin typeface="Arial"/>
              </a:rPr>
              <a:t>Loops</a:t>
            </a:r>
          </a:p>
        </p:txBody>
      </p:sp>
      <p:sp>
        <p:nvSpPr>
          <p:cNvPr id="24" name="TextBox 23"/>
          <p:cNvSpPr txBox="1"/>
          <p:nvPr/>
        </p:nvSpPr>
        <p:spPr>
          <a:xfrm>
            <a:off x="2286000" y="5285231"/>
            <a:ext cx="1828800" cy="566928"/>
          </a:xfrm>
          <a:prstGeom prst="rect">
            <a:avLst/>
          </a:prstGeom>
          <a:noFill/>
        </p:spPr>
        <p:txBody>
          <a:bodyPr wrap="square" lIns="0" rIns="0" tIns="0" bIns="0" anchor="ctr">
            <a:spAutoFit/>
          </a:bodyPr>
          <a:lstStyle/>
          <a:p>
            <a:pPr algn="l">
              <a:lnSpc>
                <a:spcPct val="100000"/>
              </a:lnSpc>
            </a:pPr>
            <a:r>
              <a:rPr sz="1150" b="0">
                <a:solidFill>
                  <a:srgbClr val="606772"/>
                </a:solidFill>
                <a:latin typeface="Arial"/>
              </a:rPr>
              <a:t>render each item</a:t>
            </a:r>
          </a:p>
        </p:txBody>
      </p:sp>
      <p:sp>
        <p:nvSpPr>
          <p:cNvPr id="25" name="TextBox 24"/>
          <p:cNvSpPr txBox="1"/>
          <p:nvPr/>
        </p:nvSpPr>
        <p:spPr>
          <a:xfrm>
            <a:off x="4069080" y="5285231"/>
            <a:ext cx="1828800" cy="566928"/>
          </a:xfrm>
          <a:prstGeom prst="rect">
            <a:avLst/>
          </a:prstGeom>
          <a:noFill/>
        </p:spPr>
        <p:txBody>
          <a:bodyPr wrap="square" lIns="0" rIns="0" tIns="0" bIns="0" anchor="ctr">
            <a:spAutoFit/>
          </a:bodyPr>
          <a:lstStyle/>
          <a:p>
            <a:pPr algn="l">
              <a:lnSpc>
                <a:spcPct val="100000"/>
              </a:lnSpc>
            </a:pPr>
            <a:r>
              <a:rPr sz="1050" b="0">
                <a:solidFill>
                  <a:srgbClr val="22252B"/>
                </a:solidFill>
                <a:latin typeface="Courier New"/>
              </a:rPr>
              <a:t>.map()  ·  .filter()  ·  .forEach()</a:t>
            </a:r>
          </a:p>
        </p:txBody>
      </p:sp>
      <p:sp>
        <p:nvSpPr>
          <p:cNvPr id="26" name="Rounded Rectangle 25"/>
          <p:cNvSpPr/>
          <p:nvPr/>
        </p:nvSpPr>
        <p:spPr>
          <a:xfrm>
            <a:off x="6263640" y="1481328"/>
            <a:ext cx="5321808" cy="2677119"/>
          </a:xfrm>
          <a:prstGeom prst="roundRect">
            <a:avLst>
              <a:gd name="adj" fmla="val 3500"/>
            </a:avLst>
          </a:prstGeom>
          <a:solidFill>
            <a:srgbClr val="1C2026"/>
          </a:solidFill>
          <a:ln>
            <a:noFill/>
          </a:ln>
          <a:effectLst>
            <a:outerShdw blurRad="91440" dist="50292" dir="5400000" rotWithShape="0">
              <a:srgbClr val="22252B">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501383" y="1636776"/>
            <a:ext cx="91440" cy="91440"/>
          </a:xfrm>
          <a:prstGeom prst="ellipse">
            <a:avLst/>
          </a:prstGeom>
          <a:solidFill>
            <a:srgbClr val="E06C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665975" y="1636776"/>
            <a:ext cx="91440" cy="91440"/>
          </a:xfrm>
          <a:prstGeom prst="ellipse">
            <a:avLst/>
          </a:prstGeom>
          <a:solidFill>
            <a:srgbClr val="E0B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830568" y="1636776"/>
            <a:ext cx="91440" cy="91440"/>
          </a:xfrm>
          <a:prstGeom prst="ellipse">
            <a:avLst/>
          </a:prstGeom>
          <a:solidFill>
            <a:srgbClr val="8FB9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68312" y="1572768"/>
            <a:ext cx="4279392" cy="256032"/>
          </a:xfrm>
          <a:prstGeom prst="rect">
            <a:avLst/>
          </a:prstGeom>
          <a:noFill/>
        </p:spPr>
        <p:txBody>
          <a:bodyPr wrap="square" lIns="0" rIns="0" tIns="0" bIns="0" anchor="ctr">
            <a:spAutoFit/>
          </a:bodyPr>
          <a:lstStyle/>
          <a:p>
            <a:pPr algn="l">
              <a:lnSpc>
                <a:spcPct val="100000"/>
              </a:lnSpc>
            </a:pPr>
            <a:r>
              <a:rPr sz="1050" b="0">
                <a:solidFill>
                  <a:srgbClr val="8A929C"/>
                </a:solidFill>
                <a:latin typeface="Courier New"/>
              </a:rPr>
              <a:t>scripts/tasks.js — arrays, objects &amp; loops</a:t>
            </a:r>
          </a:p>
        </p:txBody>
      </p:sp>
      <p:sp>
        <p:nvSpPr>
          <p:cNvPr id="31" name="TextBox 30"/>
          <p:cNvSpPr txBox="1"/>
          <p:nvPr/>
        </p:nvSpPr>
        <p:spPr>
          <a:xfrm>
            <a:off x="6501383" y="1996135"/>
            <a:ext cx="4846320" cy="2042160"/>
          </a:xfrm>
          <a:prstGeom prst="rect">
            <a:avLst/>
          </a:prstGeom>
          <a:noFill/>
        </p:spPr>
        <p:txBody>
          <a:bodyPr wrap="none" lIns="0" rIns="0" tIns="0" bIns="0">
            <a:spAutoFit/>
          </a:bodyPr>
          <a:lstStyle/>
          <a:p>
            <a:pPr>
              <a:lnSpc>
                <a:spcPct val="128000"/>
              </a:lnSpc>
            </a:pPr>
            <a:r>
              <a:rPr sz="1250">
                <a:solidFill>
                  <a:srgbClr val="A9C3B0"/>
                </a:solidFill>
                <a:latin typeface="Courier New"/>
              </a:rPr>
              <a:t>function</a:t>
            </a:r>
            <a:r>
              <a:rPr sz="1250">
                <a:solidFill>
                  <a:srgbClr val="E7EAEE"/>
                </a:solidFill>
                <a:latin typeface="Courier New"/>
              </a:rPr>
              <a:t> filtered() {</a:t>
            </a:r>
          </a:p>
          <a:p>
            <a:pPr>
              <a:lnSpc>
                <a:spcPct val="128000"/>
              </a:lnSpc>
            </a:pPr>
            <a:r>
              <a:rPr sz="1250">
                <a:solidFill>
                  <a:srgbClr val="A9C3B0"/>
                </a:solidFill>
                <a:latin typeface="Courier New"/>
              </a:rPr>
              <a:t>  var</a:t>
            </a:r>
            <a:r>
              <a:rPr sz="1250">
                <a:solidFill>
                  <a:srgbClr val="E7EAEE"/>
                </a:solidFill>
                <a:latin typeface="Courier New"/>
              </a:rPr>
              <a:t> items = all().</a:t>
            </a:r>
            <a:r>
              <a:rPr sz="1250">
                <a:solidFill>
                  <a:srgbClr val="D6C6B8"/>
                </a:solidFill>
                <a:latin typeface="Courier New"/>
              </a:rPr>
              <a:t>slice</a:t>
            </a:r>
            <a:r>
              <a:rPr sz="1250">
                <a:solidFill>
                  <a:srgbClr val="E7EAEE"/>
                </a:solidFill>
                <a:latin typeface="Courier New"/>
              </a:rPr>
              <a:t>();</a:t>
            </a:r>
          </a:p>
          <a:p>
            <a:pPr>
              <a:lnSpc>
                <a:spcPct val="128000"/>
              </a:lnSpc>
            </a:pPr>
            <a:r>
              <a:rPr sz="1250">
                <a:solidFill>
                  <a:srgbClr val="E7EAEE"/>
                </a:solidFill>
                <a:latin typeface="Courier New"/>
              </a:rPr>
              <a:t>  items = items.</a:t>
            </a:r>
            <a:r>
              <a:rPr sz="1250">
                <a:solidFill>
                  <a:srgbClr val="D6C6B8"/>
                </a:solidFill>
                <a:latin typeface="Courier New"/>
              </a:rPr>
              <a:t>filter</a:t>
            </a:r>
            <a:r>
              <a:rPr sz="1250">
                <a:solidFill>
                  <a:srgbClr val="E7EAEE"/>
                </a:solidFill>
                <a:latin typeface="Courier New"/>
              </a:rPr>
              <a:t>(</a:t>
            </a:r>
            <a:r>
              <a:rPr sz="1250">
                <a:solidFill>
                  <a:srgbClr val="A9C3B0"/>
                </a:solidFill>
                <a:latin typeface="Courier New"/>
              </a:rPr>
              <a:t>function</a:t>
            </a:r>
            <a:r>
              <a:rPr sz="1250">
                <a:solidFill>
                  <a:srgbClr val="E7EAEE"/>
                </a:solidFill>
                <a:latin typeface="Courier New"/>
              </a:rPr>
              <a:t>(t) {</a:t>
            </a:r>
          </a:p>
          <a:p>
            <a:pPr>
              <a:lnSpc>
                <a:spcPct val="128000"/>
              </a:lnSpc>
            </a:pPr>
            <a:r>
              <a:rPr sz="1250">
                <a:solidFill>
                  <a:srgbClr val="A9C3B0"/>
                </a:solidFill>
                <a:latin typeface="Courier New"/>
              </a:rPr>
              <a:t>    return</a:t>
            </a:r>
            <a:r>
              <a:rPr sz="1250">
                <a:solidFill>
                  <a:srgbClr val="E7EAEE"/>
                </a:solidFill>
                <a:latin typeface="Courier New"/>
              </a:rPr>
              <a:t> t.title.</a:t>
            </a:r>
            <a:r>
              <a:rPr sz="1250">
                <a:solidFill>
                  <a:srgbClr val="D6C6B8"/>
                </a:solidFill>
                <a:latin typeface="Courier New"/>
              </a:rPr>
              <a:t>indexOf</a:t>
            </a:r>
            <a:r>
              <a:rPr sz="1250">
                <a:solidFill>
                  <a:srgbClr val="E7EAEE"/>
                </a:solidFill>
                <a:latin typeface="Courier New"/>
              </a:rPr>
              <a:t>(q) &gt;= </a:t>
            </a:r>
            <a:r>
              <a:rPr sz="1250">
                <a:solidFill>
                  <a:srgbClr val="B9C7CD"/>
                </a:solidFill>
                <a:latin typeface="Courier New"/>
              </a:rPr>
              <a:t>0</a:t>
            </a:r>
            <a:r>
              <a:rPr sz="1250">
                <a:solidFill>
                  <a:srgbClr val="E7EAEE"/>
                </a:solidFill>
                <a:latin typeface="Courier New"/>
              </a:rPr>
              <a:t>;</a:t>
            </a:r>
          </a:p>
          <a:p>
            <a:pPr>
              <a:lnSpc>
                <a:spcPct val="128000"/>
              </a:lnSpc>
            </a:pPr>
            <a:r>
              <a:rPr sz="1250">
                <a:solidFill>
                  <a:srgbClr val="E7EAEE"/>
                </a:solidFill>
                <a:latin typeface="Courier New"/>
              </a:rPr>
              <a:t>  });</a:t>
            </a:r>
          </a:p>
          <a:p>
            <a:pPr>
              <a:lnSpc>
                <a:spcPct val="128000"/>
              </a:lnSpc>
            </a:pPr>
            <a:r>
              <a:rPr sz="1250">
                <a:solidFill>
                  <a:srgbClr val="E7EAEE"/>
                </a:solidFill>
                <a:latin typeface="Courier New"/>
              </a:rPr>
              <a:t>  items.</a:t>
            </a:r>
            <a:r>
              <a:rPr sz="1250">
                <a:solidFill>
                  <a:srgbClr val="D6C6B8"/>
                </a:solidFill>
                <a:latin typeface="Courier New"/>
              </a:rPr>
              <a:t>sort</a:t>
            </a:r>
            <a:r>
              <a:rPr sz="1250">
                <a:solidFill>
                  <a:srgbClr val="E7EAEE"/>
                </a:solidFill>
                <a:latin typeface="Courier New"/>
              </a:rPr>
              <a:t>(byDeadline);</a:t>
            </a:r>
          </a:p>
          <a:p>
            <a:pPr>
              <a:lnSpc>
                <a:spcPct val="128000"/>
              </a:lnSpc>
            </a:pPr>
            <a:r>
              <a:rPr sz="1250">
                <a:solidFill>
                  <a:srgbClr val="A9C3B0"/>
                </a:solidFill>
                <a:latin typeface="Courier New"/>
              </a:rPr>
              <a:t>  return</a:t>
            </a:r>
            <a:r>
              <a:rPr sz="1250">
                <a:solidFill>
                  <a:srgbClr val="E7EAEE"/>
                </a:solidFill>
                <a:latin typeface="Courier New"/>
              </a:rPr>
              <a:t> items;</a:t>
            </a:r>
          </a:p>
          <a:p>
            <a:pPr>
              <a:lnSpc>
                <a:spcPct val="128000"/>
              </a:lnSpc>
            </a:pPr>
            <a:r>
              <a:rPr sz="1250">
                <a:solidFill>
                  <a:srgbClr val="E7EAEE"/>
                </a:solidFill>
                <a:latin typeface="Courier New"/>
              </a:rPr>
              <a:t>}</a:t>
            </a:r>
          </a:p>
        </p:txBody>
      </p:sp>
      <p:sp>
        <p:nvSpPr>
          <p:cNvPr id="32" name="TextBox 31"/>
          <p:cNvSpPr txBox="1"/>
          <p:nvPr/>
        </p:nvSpPr>
        <p:spPr>
          <a:xfrm>
            <a:off x="6263640" y="4892040"/>
            <a:ext cx="5321808" cy="1280160"/>
          </a:xfrm>
          <a:prstGeom prst="rect">
            <a:avLst/>
          </a:prstGeom>
          <a:noFill/>
        </p:spPr>
        <p:txBody>
          <a:bodyPr wrap="square" lIns="0" rIns="0" tIns="0" bIns="0" anchor="t">
            <a:spAutoFit/>
          </a:bodyPr>
          <a:lstStyle/>
          <a:p>
            <a:pPr algn="l">
              <a:lnSpc>
                <a:spcPct val="128000"/>
              </a:lnSpc>
            </a:pPr>
            <a:r>
              <a:rPr sz="1200" b="0">
                <a:solidFill>
                  <a:srgbClr val="606772"/>
                </a:solidFill>
                <a:latin typeface="Arial"/>
              </a:rPr>
              <a:t>One function turns an array of task objects into the filtered, sorted list you see — variables, functions, arrays, objects and loops all in a few lines.</a:t>
            </a:r>
          </a:p>
        </p:txBody>
      </p:sp>
      <p:sp>
        <p:nvSpPr>
          <p:cNvPr id="33" name="TextBox 32"/>
          <p:cNvSpPr txBox="1"/>
          <p:nvPr/>
        </p:nvSpPr>
        <p:spPr>
          <a:xfrm>
            <a:off x="640080" y="6455664"/>
            <a:ext cx="4572000" cy="274320"/>
          </a:xfrm>
          <a:prstGeom prst="rect">
            <a:avLst/>
          </a:prstGeom>
          <a:noFill/>
        </p:spPr>
        <p:txBody>
          <a:bodyPr wrap="square" lIns="0" rIns="0" tIns="0" bIns="0" anchor="t">
            <a:spAutoFit/>
          </a:bodyPr>
          <a:lstStyle/>
          <a:p>
            <a:pPr algn="l">
              <a:lnSpc>
                <a:spcPct val="100000"/>
              </a:lnSpc>
            </a:pPr>
            <a:r>
              <a:rPr sz="950" b="0">
                <a:solidFill>
                  <a:srgbClr val="A3AEB1"/>
                </a:solidFill>
                <a:latin typeface="Arial"/>
              </a:rPr>
              <a:t>Synora  ·  Web Development Project</a:t>
            </a:r>
          </a:p>
        </p:txBody>
      </p:sp>
      <p:sp>
        <p:nvSpPr>
          <p:cNvPr id="34" name="TextBox 33"/>
          <p:cNvSpPr txBox="1"/>
          <p:nvPr/>
        </p:nvSpPr>
        <p:spPr>
          <a:xfrm>
            <a:off x="9722815" y="6455664"/>
            <a:ext cx="1828800" cy="274320"/>
          </a:xfrm>
          <a:prstGeom prst="rect">
            <a:avLst/>
          </a:prstGeom>
          <a:noFill/>
        </p:spPr>
        <p:txBody>
          <a:bodyPr wrap="square" lIns="0" rIns="0" tIns="0" bIns="0" anchor="t">
            <a:spAutoFit/>
          </a:bodyPr>
          <a:lstStyle/>
          <a:p>
            <a:pPr algn="r">
              <a:lnSpc>
                <a:spcPct val="100000"/>
              </a:lnSpc>
            </a:pPr>
            <a:r>
              <a:rPr sz="950" b="0">
                <a:solidFill>
                  <a:srgbClr val="A3AEB1"/>
                </a:solidFill>
                <a:latin typeface="Arial"/>
              </a:rPr>
              <a:t>12 / 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7315200" cy="274320"/>
          </a:xfrm>
          <a:prstGeom prst="rect">
            <a:avLst/>
          </a:prstGeom>
          <a:noFill/>
        </p:spPr>
        <p:txBody>
          <a:bodyPr wrap="square" lIns="0" rIns="0" tIns="0" bIns="0" anchor="t">
            <a:spAutoFit/>
          </a:bodyPr>
          <a:lstStyle/>
          <a:p>
            <a:pPr algn="l">
              <a:lnSpc>
                <a:spcPct val="100000"/>
              </a:lnSpc>
            </a:pPr>
            <a:r>
              <a:rPr sz="1200" b="1" spc="180">
                <a:solidFill>
                  <a:srgbClr val="B09F95"/>
                </a:solidFill>
                <a:latin typeface="Arial"/>
              </a:rPr>
              <a:t>LECTURE 23–26  ·  DOM</a:t>
            </a:r>
          </a:p>
        </p:txBody>
      </p:sp>
      <p:sp>
        <p:nvSpPr>
          <p:cNvPr id="4" name="TextBox 3"/>
          <p:cNvSpPr txBox="1"/>
          <p:nvPr/>
        </p:nvSpPr>
        <p:spPr>
          <a:xfrm>
            <a:off x="640080" y="841247"/>
            <a:ext cx="10911535" cy="822960"/>
          </a:xfrm>
          <a:prstGeom prst="rect">
            <a:avLst/>
          </a:prstGeom>
          <a:noFill/>
        </p:spPr>
        <p:txBody>
          <a:bodyPr wrap="square" lIns="0" rIns="0" tIns="0" bIns="0" anchor="t">
            <a:spAutoFit/>
          </a:bodyPr>
          <a:lstStyle/>
          <a:p>
            <a:pPr algn="l">
              <a:lnSpc>
                <a:spcPct val="100000"/>
              </a:lnSpc>
            </a:pPr>
            <a:r>
              <a:rPr sz="3000" b="1">
                <a:solidFill>
                  <a:srgbClr val="22252B"/>
                </a:solidFill>
                <a:latin typeface="Arial"/>
              </a:rPr>
              <a:t>Making the interface dynamic</a:t>
            </a:r>
          </a:p>
        </p:txBody>
      </p:sp>
      <p:sp>
        <p:nvSpPr>
          <p:cNvPr id="5" name="TextBox 4"/>
          <p:cNvSpPr txBox="1"/>
          <p:nvPr/>
        </p:nvSpPr>
        <p:spPr>
          <a:xfrm>
            <a:off x="640080" y="1517904"/>
            <a:ext cx="5120640" cy="365760"/>
          </a:xfrm>
          <a:prstGeom prst="rect">
            <a:avLst/>
          </a:prstGeom>
          <a:noFill/>
        </p:spPr>
        <p:txBody>
          <a:bodyPr wrap="square" lIns="0" rIns="0" tIns="0" bIns="0" anchor="t">
            <a:spAutoFit/>
          </a:bodyPr>
          <a:lstStyle/>
          <a:p>
            <a:pPr algn="l">
              <a:lnSpc>
                <a:spcPct val="100000"/>
              </a:lnSpc>
            </a:pPr>
            <a:r>
              <a:rPr sz="1450" b="1">
                <a:solidFill>
                  <a:srgbClr val="22252B"/>
                </a:solidFill>
                <a:latin typeface="Arial"/>
              </a:rPr>
              <a:t>The page is a tree of nodes</a:t>
            </a:r>
          </a:p>
        </p:txBody>
      </p:sp>
      <p:sp>
        <p:nvSpPr>
          <p:cNvPr id="6" name="TextBox 5"/>
          <p:cNvSpPr txBox="1"/>
          <p:nvPr/>
        </p:nvSpPr>
        <p:spPr>
          <a:xfrm>
            <a:off x="640080" y="1975104"/>
            <a:ext cx="4937760" cy="365760"/>
          </a:xfrm>
          <a:prstGeom prst="rect">
            <a:avLst/>
          </a:prstGeom>
          <a:noFill/>
        </p:spPr>
        <p:txBody>
          <a:bodyPr wrap="square" lIns="0" rIns="0" tIns="0" bIns="0" anchor="t">
            <a:spAutoFit/>
          </a:bodyPr>
          <a:lstStyle/>
          <a:p>
            <a:pPr algn="l">
              <a:lnSpc>
                <a:spcPct val="100000"/>
              </a:lnSpc>
            </a:pPr>
            <a:r>
              <a:rPr sz="1250" b="1">
                <a:solidFill>
                  <a:srgbClr val="455A50"/>
                </a:solidFill>
                <a:latin typeface="Courier New"/>
              </a:rPr>
              <a:t>document</a:t>
            </a:r>
          </a:p>
        </p:txBody>
      </p:sp>
      <p:sp>
        <p:nvSpPr>
          <p:cNvPr id="7" name="TextBox 6"/>
          <p:cNvSpPr txBox="1"/>
          <p:nvPr/>
        </p:nvSpPr>
        <p:spPr>
          <a:xfrm>
            <a:off x="1024127" y="2359152"/>
            <a:ext cx="4937760" cy="365760"/>
          </a:xfrm>
          <a:prstGeom prst="rect">
            <a:avLst/>
          </a:prstGeom>
          <a:noFill/>
        </p:spPr>
        <p:txBody>
          <a:bodyPr wrap="square" lIns="0" rIns="0" tIns="0" bIns="0" anchor="t">
            <a:spAutoFit/>
          </a:bodyPr>
          <a:lstStyle/>
          <a:p>
            <a:pPr algn="l">
              <a:lnSpc>
                <a:spcPct val="100000"/>
              </a:lnSpc>
            </a:pPr>
            <a:r>
              <a:rPr sz="1250" b="1">
                <a:solidFill>
                  <a:srgbClr val="455A50"/>
                </a:solidFill>
                <a:latin typeface="Courier New"/>
              </a:rPr>
              <a:t>└─ main.page</a:t>
            </a:r>
          </a:p>
        </p:txBody>
      </p:sp>
      <p:sp>
        <p:nvSpPr>
          <p:cNvPr id="8" name="TextBox 7"/>
          <p:cNvSpPr txBox="1"/>
          <p:nvPr/>
        </p:nvSpPr>
        <p:spPr>
          <a:xfrm>
            <a:off x="1408176" y="2743200"/>
            <a:ext cx="4937760" cy="365760"/>
          </a:xfrm>
          <a:prstGeom prst="rect">
            <a:avLst/>
          </a:prstGeom>
          <a:noFill/>
        </p:spPr>
        <p:txBody>
          <a:bodyPr wrap="square" lIns="0" rIns="0" tIns="0" bIns="0" anchor="t">
            <a:spAutoFit/>
          </a:bodyPr>
          <a:lstStyle/>
          <a:p>
            <a:pPr algn="l">
              <a:lnSpc>
                <a:spcPct val="100000"/>
              </a:lnSpc>
            </a:pPr>
            <a:r>
              <a:rPr sz="1250" b="0">
                <a:solidFill>
                  <a:srgbClr val="606772"/>
                </a:solidFill>
                <a:latin typeface="Courier New"/>
              </a:rPr>
              <a:t>└─ section.toolbar</a:t>
            </a:r>
          </a:p>
        </p:txBody>
      </p:sp>
      <p:sp>
        <p:nvSpPr>
          <p:cNvPr id="9" name="TextBox 8"/>
          <p:cNvSpPr txBox="1"/>
          <p:nvPr/>
        </p:nvSpPr>
        <p:spPr>
          <a:xfrm>
            <a:off x="1792224" y="3127248"/>
            <a:ext cx="4937760" cy="365760"/>
          </a:xfrm>
          <a:prstGeom prst="rect">
            <a:avLst/>
          </a:prstGeom>
          <a:noFill/>
        </p:spPr>
        <p:txBody>
          <a:bodyPr wrap="square" lIns="0" rIns="0" tIns="0" bIns="0" anchor="t">
            <a:spAutoFit/>
          </a:bodyPr>
          <a:lstStyle/>
          <a:p>
            <a:pPr algn="l">
              <a:lnSpc>
                <a:spcPct val="100000"/>
              </a:lnSpc>
            </a:pPr>
            <a:r>
              <a:rPr sz="1250" b="0">
                <a:solidFill>
                  <a:srgbClr val="606772"/>
                </a:solidFill>
                <a:latin typeface="Courier New"/>
              </a:rPr>
              <a:t>└─ input[data-search]</a:t>
            </a:r>
          </a:p>
        </p:txBody>
      </p:sp>
      <p:sp>
        <p:nvSpPr>
          <p:cNvPr id="10" name="TextBox 9"/>
          <p:cNvSpPr txBox="1"/>
          <p:nvPr/>
        </p:nvSpPr>
        <p:spPr>
          <a:xfrm>
            <a:off x="1408176" y="3511296"/>
            <a:ext cx="4937760" cy="365760"/>
          </a:xfrm>
          <a:prstGeom prst="rect">
            <a:avLst/>
          </a:prstGeom>
          <a:noFill/>
        </p:spPr>
        <p:txBody>
          <a:bodyPr wrap="square" lIns="0" rIns="0" tIns="0" bIns="0" anchor="t">
            <a:spAutoFit/>
          </a:bodyPr>
          <a:lstStyle/>
          <a:p>
            <a:pPr algn="l">
              <a:lnSpc>
                <a:spcPct val="100000"/>
              </a:lnSpc>
            </a:pPr>
            <a:r>
              <a:rPr sz="1250" b="0">
                <a:solidFill>
                  <a:srgbClr val="606772"/>
                </a:solidFill>
                <a:latin typeface="Courier New"/>
              </a:rPr>
              <a:t>└─ div[data-list]</a:t>
            </a:r>
          </a:p>
        </p:txBody>
      </p:sp>
      <p:sp>
        <p:nvSpPr>
          <p:cNvPr id="11" name="TextBox 10"/>
          <p:cNvSpPr txBox="1"/>
          <p:nvPr/>
        </p:nvSpPr>
        <p:spPr>
          <a:xfrm>
            <a:off x="1792224" y="3895344"/>
            <a:ext cx="4937760" cy="365760"/>
          </a:xfrm>
          <a:prstGeom prst="rect">
            <a:avLst/>
          </a:prstGeom>
          <a:noFill/>
        </p:spPr>
        <p:txBody>
          <a:bodyPr wrap="square" lIns="0" rIns="0" tIns="0" bIns="0" anchor="t">
            <a:spAutoFit/>
          </a:bodyPr>
          <a:lstStyle/>
          <a:p>
            <a:pPr algn="l">
              <a:lnSpc>
                <a:spcPct val="100000"/>
              </a:lnSpc>
            </a:pPr>
            <a:r>
              <a:rPr sz="1250" b="0">
                <a:solidFill>
                  <a:srgbClr val="606772"/>
                </a:solidFill>
                <a:latin typeface="Courier New"/>
              </a:rPr>
              <a:t>└─ div.tlist</a:t>
            </a:r>
          </a:p>
        </p:txBody>
      </p:sp>
      <p:sp>
        <p:nvSpPr>
          <p:cNvPr id="12" name="TextBox 11"/>
          <p:cNvSpPr txBox="1"/>
          <p:nvPr/>
        </p:nvSpPr>
        <p:spPr>
          <a:xfrm>
            <a:off x="2176272" y="4279392"/>
            <a:ext cx="4937760" cy="365760"/>
          </a:xfrm>
          <a:prstGeom prst="rect">
            <a:avLst/>
          </a:prstGeom>
          <a:noFill/>
        </p:spPr>
        <p:txBody>
          <a:bodyPr wrap="square" lIns="0" rIns="0" tIns="0" bIns="0" anchor="t">
            <a:spAutoFit/>
          </a:bodyPr>
          <a:lstStyle/>
          <a:p>
            <a:pPr algn="l">
              <a:lnSpc>
                <a:spcPct val="100000"/>
              </a:lnSpc>
            </a:pPr>
            <a:r>
              <a:rPr sz="1250" b="1">
                <a:solidFill>
                  <a:srgbClr val="B09F95"/>
                </a:solidFill>
                <a:latin typeface="Courier New"/>
              </a:rPr>
              <a:t>└─ div.trow  ← one per task</a:t>
            </a:r>
          </a:p>
        </p:txBody>
      </p:sp>
      <p:sp>
        <p:nvSpPr>
          <p:cNvPr id="13" name="Rounded Rectangle 12"/>
          <p:cNvSpPr/>
          <p:nvPr/>
        </p:nvSpPr>
        <p:spPr>
          <a:xfrm>
            <a:off x="640080" y="4892040"/>
            <a:ext cx="5212080" cy="1371600"/>
          </a:xfrm>
          <a:prstGeom prst="roundRect">
            <a:avLst>
              <a:gd name="adj" fmla="val 9000"/>
            </a:avLst>
          </a:prstGeom>
          <a:solidFill>
            <a:srgbClr val="FFFFFF"/>
          </a:solidFill>
          <a:ln w="15240">
            <a:solidFill>
              <a:srgbClr val="E5E8EB"/>
            </a:solidFill>
          </a:ln>
          <a:effectLst>
            <a:outerShdw blurRad="91440" dist="50292" dir="5400000" rotWithShape="0">
              <a:srgbClr val="22252B">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5029200"/>
            <a:ext cx="4846320" cy="274320"/>
          </a:xfrm>
          <a:prstGeom prst="rect">
            <a:avLst/>
          </a:prstGeom>
          <a:noFill/>
        </p:spPr>
        <p:txBody>
          <a:bodyPr wrap="square" lIns="0" rIns="0" tIns="0" bIns="0" anchor="t">
            <a:spAutoFit/>
          </a:bodyPr>
          <a:lstStyle/>
          <a:p>
            <a:pPr algn="l">
              <a:lnSpc>
                <a:spcPct val="100000"/>
              </a:lnSpc>
            </a:pPr>
            <a:r>
              <a:rPr sz="1050" b="1" spc="140">
                <a:solidFill>
                  <a:srgbClr val="B09F95"/>
                </a:solidFill>
                <a:latin typeface="Arial"/>
              </a:rPr>
              <a:t>SELECTORS ACTUALLY USED</a:t>
            </a:r>
          </a:p>
        </p:txBody>
      </p:sp>
      <p:sp>
        <p:nvSpPr>
          <p:cNvPr id="15" name="TextBox 14"/>
          <p:cNvSpPr txBox="1"/>
          <p:nvPr/>
        </p:nvSpPr>
        <p:spPr>
          <a:xfrm>
            <a:off x="868680" y="5349240"/>
            <a:ext cx="4846320" cy="274320"/>
          </a:xfrm>
          <a:prstGeom prst="rect">
            <a:avLst/>
          </a:prstGeom>
          <a:noFill/>
        </p:spPr>
        <p:txBody>
          <a:bodyPr wrap="square" lIns="0" rIns="0" tIns="0" bIns="0" anchor="t">
            <a:spAutoFit/>
          </a:bodyPr>
          <a:lstStyle/>
          <a:p>
            <a:pPr algn="l">
              <a:lnSpc>
                <a:spcPct val="100000"/>
              </a:lnSpc>
            </a:pPr>
            <a:r>
              <a:rPr sz="1250" b="1">
                <a:solidFill>
                  <a:srgbClr val="455A50"/>
                </a:solidFill>
                <a:latin typeface="Courier New"/>
              </a:rPr>
              <a:t>querySelector()</a:t>
            </a:r>
            <a:r>
              <a:rPr sz="1150" b="0">
                <a:solidFill>
                  <a:srgbClr val="A3AEB1"/>
                </a:solidFill>
                <a:latin typeface="Arial"/>
              </a:rPr>
              <a:t>   ×161</a:t>
            </a:r>
          </a:p>
        </p:txBody>
      </p:sp>
      <p:sp>
        <p:nvSpPr>
          <p:cNvPr id="16" name="TextBox 15"/>
          <p:cNvSpPr txBox="1"/>
          <p:nvPr/>
        </p:nvSpPr>
        <p:spPr>
          <a:xfrm>
            <a:off x="868680" y="5641848"/>
            <a:ext cx="4846320" cy="274320"/>
          </a:xfrm>
          <a:prstGeom prst="rect">
            <a:avLst/>
          </a:prstGeom>
          <a:noFill/>
        </p:spPr>
        <p:txBody>
          <a:bodyPr wrap="square" lIns="0" rIns="0" tIns="0" bIns="0" anchor="t">
            <a:spAutoFit/>
          </a:bodyPr>
          <a:lstStyle/>
          <a:p>
            <a:pPr algn="l">
              <a:lnSpc>
                <a:spcPct val="100000"/>
              </a:lnSpc>
            </a:pPr>
            <a:r>
              <a:rPr sz="1250" b="1">
                <a:solidFill>
                  <a:srgbClr val="455A50"/>
                </a:solidFill>
                <a:latin typeface="Courier New"/>
              </a:rPr>
              <a:t>querySelectorAll()</a:t>
            </a:r>
            <a:r>
              <a:rPr sz="1150" b="0">
                <a:solidFill>
                  <a:srgbClr val="A3AEB1"/>
                </a:solidFill>
                <a:latin typeface="Arial"/>
              </a:rPr>
              <a:t>   ×23</a:t>
            </a:r>
          </a:p>
        </p:txBody>
      </p:sp>
      <p:sp>
        <p:nvSpPr>
          <p:cNvPr id="17" name="TextBox 16"/>
          <p:cNvSpPr txBox="1"/>
          <p:nvPr/>
        </p:nvSpPr>
        <p:spPr>
          <a:xfrm>
            <a:off x="868680" y="5934455"/>
            <a:ext cx="4846320" cy="274320"/>
          </a:xfrm>
          <a:prstGeom prst="rect">
            <a:avLst/>
          </a:prstGeom>
          <a:noFill/>
        </p:spPr>
        <p:txBody>
          <a:bodyPr wrap="square" lIns="0" rIns="0" tIns="0" bIns="0" anchor="t">
            <a:spAutoFit/>
          </a:bodyPr>
          <a:lstStyle/>
          <a:p>
            <a:pPr algn="l">
              <a:lnSpc>
                <a:spcPct val="100000"/>
              </a:lnSpc>
            </a:pPr>
            <a:r>
              <a:rPr sz="1250" b="1">
                <a:solidFill>
                  <a:srgbClr val="455A50"/>
                </a:solidFill>
                <a:latin typeface="Courier New"/>
              </a:rPr>
              <a:t>getElementById()</a:t>
            </a:r>
            <a:r>
              <a:rPr sz="1150" b="0">
                <a:solidFill>
                  <a:srgbClr val="A3AEB1"/>
                </a:solidFill>
                <a:latin typeface="Arial"/>
              </a:rPr>
              <a:t>   ×9</a:t>
            </a:r>
          </a:p>
        </p:txBody>
      </p:sp>
      <p:sp>
        <p:nvSpPr>
          <p:cNvPr id="18" name="TextBox 17"/>
          <p:cNvSpPr txBox="1"/>
          <p:nvPr/>
        </p:nvSpPr>
        <p:spPr>
          <a:xfrm>
            <a:off x="6263640" y="1517904"/>
            <a:ext cx="5303520" cy="365760"/>
          </a:xfrm>
          <a:prstGeom prst="rect">
            <a:avLst/>
          </a:prstGeom>
          <a:noFill/>
        </p:spPr>
        <p:txBody>
          <a:bodyPr wrap="square" lIns="0" rIns="0" tIns="0" bIns="0" anchor="t">
            <a:spAutoFit/>
          </a:bodyPr>
          <a:lstStyle/>
          <a:p>
            <a:pPr algn="l">
              <a:lnSpc>
                <a:spcPct val="100000"/>
              </a:lnSpc>
            </a:pPr>
            <a:r>
              <a:rPr sz="1450" b="1">
                <a:solidFill>
                  <a:srgbClr val="22252B"/>
                </a:solidFill>
                <a:latin typeface="Arial"/>
              </a:rPr>
              <a:t>Create, configure, insert — then remove</a:t>
            </a:r>
          </a:p>
        </p:txBody>
      </p:sp>
      <p:sp>
        <p:nvSpPr>
          <p:cNvPr id="19" name="Rounded Rectangle 18"/>
          <p:cNvSpPr/>
          <p:nvPr/>
        </p:nvSpPr>
        <p:spPr>
          <a:xfrm>
            <a:off x="6263640" y="1938528"/>
            <a:ext cx="5321808" cy="2365004"/>
          </a:xfrm>
          <a:prstGeom prst="roundRect">
            <a:avLst>
              <a:gd name="adj" fmla="val 3500"/>
            </a:avLst>
          </a:prstGeom>
          <a:solidFill>
            <a:srgbClr val="1C2026"/>
          </a:solidFill>
          <a:ln>
            <a:noFill/>
          </a:ln>
          <a:effectLst>
            <a:outerShdw blurRad="91440" dist="50292" dir="5400000" rotWithShape="0">
              <a:srgbClr val="22252B">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01383" y="2093976"/>
            <a:ext cx="91440" cy="91440"/>
          </a:xfrm>
          <a:prstGeom prst="ellipse">
            <a:avLst/>
          </a:prstGeom>
          <a:solidFill>
            <a:srgbClr val="E06C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665975" y="2093976"/>
            <a:ext cx="91440" cy="91440"/>
          </a:xfrm>
          <a:prstGeom prst="ellipse">
            <a:avLst/>
          </a:prstGeom>
          <a:solidFill>
            <a:srgbClr val="E0B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830568" y="2093976"/>
            <a:ext cx="91440" cy="91440"/>
          </a:xfrm>
          <a:prstGeom prst="ellipse">
            <a:avLst/>
          </a:prstGeom>
          <a:solidFill>
            <a:srgbClr val="8FB9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68312" y="2029968"/>
            <a:ext cx="4279392" cy="256032"/>
          </a:xfrm>
          <a:prstGeom prst="rect">
            <a:avLst/>
          </a:prstGeom>
          <a:noFill/>
        </p:spPr>
        <p:txBody>
          <a:bodyPr wrap="square" lIns="0" rIns="0" tIns="0" bIns="0" anchor="ctr">
            <a:spAutoFit/>
          </a:bodyPr>
          <a:lstStyle/>
          <a:p>
            <a:pPr algn="l">
              <a:lnSpc>
                <a:spcPct val="100000"/>
              </a:lnSpc>
            </a:pPr>
            <a:r>
              <a:rPr sz="1050" b="0">
                <a:solidFill>
                  <a:srgbClr val="8A929C"/>
                </a:solidFill>
                <a:latin typeface="Courier New"/>
              </a:rPr>
              <a:t>scripts/app.js — the toast lifecycle</a:t>
            </a:r>
          </a:p>
        </p:txBody>
      </p:sp>
      <p:sp>
        <p:nvSpPr>
          <p:cNvPr id="24" name="TextBox 23"/>
          <p:cNvSpPr txBox="1"/>
          <p:nvPr/>
        </p:nvSpPr>
        <p:spPr>
          <a:xfrm>
            <a:off x="6501383" y="2453335"/>
            <a:ext cx="4846320" cy="1730044"/>
          </a:xfrm>
          <a:prstGeom prst="rect">
            <a:avLst/>
          </a:prstGeom>
          <a:noFill/>
        </p:spPr>
        <p:txBody>
          <a:bodyPr wrap="none" lIns="0" rIns="0" tIns="0" bIns="0">
            <a:spAutoFit/>
          </a:bodyPr>
          <a:lstStyle/>
          <a:p>
            <a:pPr>
              <a:lnSpc>
                <a:spcPct val="128000"/>
              </a:lnSpc>
            </a:pPr>
            <a:r>
              <a:rPr sz="1200">
                <a:solidFill>
                  <a:srgbClr val="A9C3B0"/>
                </a:solidFill>
                <a:latin typeface="Courier New"/>
              </a:rPr>
              <a:t>var</a:t>
            </a:r>
            <a:r>
              <a:rPr sz="1200">
                <a:solidFill>
                  <a:srgbClr val="E7EAEE"/>
                </a:solidFill>
                <a:latin typeface="Courier New"/>
              </a:rPr>
              <a:t> el = document.</a:t>
            </a:r>
            <a:r>
              <a:rPr sz="1200">
                <a:solidFill>
                  <a:srgbClr val="D6C6B8"/>
                </a:solidFill>
                <a:latin typeface="Courier New"/>
              </a:rPr>
              <a:t>createElement</a:t>
            </a:r>
            <a:r>
              <a:rPr sz="1200">
                <a:solidFill>
                  <a:srgbClr val="E7EAEE"/>
                </a:solidFill>
                <a:latin typeface="Courier New"/>
              </a:rPr>
              <a:t>(</a:t>
            </a:r>
            <a:r>
              <a:rPr sz="1200">
                <a:solidFill>
                  <a:srgbClr val="CBB69F"/>
                </a:solidFill>
                <a:latin typeface="Courier New"/>
              </a:rPr>
              <a:t>"div"</a:t>
            </a:r>
            <a:r>
              <a:rPr sz="1200">
                <a:solidFill>
                  <a:srgbClr val="E7EAEE"/>
                </a:solidFill>
                <a:latin typeface="Courier New"/>
              </a:rPr>
              <a:t>);</a:t>
            </a:r>
            <a:r>
              <a:rPr sz="1200">
                <a:solidFill>
                  <a:srgbClr val="7C8590"/>
                </a:solidFill>
                <a:latin typeface="Courier New"/>
              </a:rPr>
              <a:t>  // 1 create</a:t>
            </a:r>
          </a:p>
          <a:p>
            <a:pPr>
              <a:lnSpc>
                <a:spcPct val="128000"/>
              </a:lnSpc>
            </a:pPr>
            <a:r>
              <a:rPr sz="1200">
                <a:solidFill>
                  <a:srgbClr val="E7EAEE"/>
                </a:solidFill>
                <a:latin typeface="Courier New"/>
              </a:rPr>
              <a:t>el.className = </a:t>
            </a:r>
            <a:r>
              <a:rPr sz="1200">
                <a:solidFill>
                  <a:srgbClr val="CBB69F"/>
                </a:solidFill>
                <a:latin typeface="Courier New"/>
              </a:rPr>
              <a:t>"toast"</a:t>
            </a:r>
            <a:r>
              <a:rPr sz="1200">
                <a:solidFill>
                  <a:srgbClr val="E7EAEE"/>
                </a:solidFill>
                <a:latin typeface="Courier New"/>
              </a:rPr>
              <a:t>;</a:t>
            </a:r>
          </a:p>
          <a:p>
            <a:pPr>
              <a:lnSpc>
                <a:spcPct val="128000"/>
              </a:lnSpc>
            </a:pPr>
            <a:r>
              <a:rPr sz="1200">
                <a:solidFill>
                  <a:srgbClr val="E7EAEE"/>
                </a:solidFill>
                <a:latin typeface="Courier New"/>
              </a:rPr>
              <a:t>el.</a:t>
            </a:r>
            <a:r>
              <a:rPr sz="1200">
                <a:solidFill>
                  <a:srgbClr val="D6C6B8"/>
                </a:solidFill>
                <a:latin typeface="Courier New"/>
              </a:rPr>
              <a:t>setAttribute</a:t>
            </a:r>
            <a:r>
              <a:rPr sz="1200">
                <a:solidFill>
                  <a:srgbClr val="E7EAEE"/>
                </a:solidFill>
                <a:latin typeface="Courier New"/>
              </a:rPr>
              <a:t>(</a:t>
            </a:r>
            <a:r>
              <a:rPr sz="1200">
                <a:solidFill>
                  <a:srgbClr val="CBB69F"/>
                </a:solidFill>
                <a:latin typeface="Courier New"/>
              </a:rPr>
              <a:t>"role"</a:t>
            </a:r>
            <a:r>
              <a:rPr sz="1200">
                <a:solidFill>
                  <a:srgbClr val="E7EAEE"/>
                </a:solidFill>
                <a:latin typeface="Courier New"/>
              </a:rPr>
              <a:t>, </a:t>
            </a:r>
            <a:r>
              <a:rPr sz="1200">
                <a:solidFill>
                  <a:srgbClr val="CBB69F"/>
                </a:solidFill>
                <a:latin typeface="Courier New"/>
              </a:rPr>
              <a:t>"status"</a:t>
            </a:r>
            <a:r>
              <a:rPr sz="1200">
                <a:solidFill>
                  <a:srgbClr val="E7EAEE"/>
                </a:solidFill>
                <a:latin typeface="Courier New"/>
              </a:rPr>
              <a:t>);</a:t>
            </a:r>
            <a:r>
              <a:rPr sz="1200">
                <a:solidFill>
                  <a:srgbClr val="7C8590"/>
                </a:solidFill>
                <a:latin typeface="Courier New"/>
              </a:rPr>
              <a:t> // 2 config</a:t>
            </a:r>
          </a:p>
          <a:p>
            <a:pPr>
              <a:lnSpc>
                <a:spcPct val="128000"/>
              </a:lnSpc>
            </a:pPr>
            <a:r>
              <a:rPr sz="1200">
                <a:solidFill>
                  <a:srgbClr val="E7EAEE"/>
                </a:solidFill>
                <a:latin typeface="Courier New"/>
              </a:rPr>
              <a:t>el.textContent = message;</a:t>
            </a:r>
          </a:p>
          <a:p>
            <a:pPr>
              <a:lnSpc>
                <a:spcPct val="128000"/>
              </a:lnSpc>
            </a:pPr>
            <a:r>
              <a:rPr sz="1200">
                <a:solidFill>
                  <a:srgbClr val="E7EAEE"/>
                </a:solidFill>
                <a:latin typeface="Courier New"/>
              </a:rPr>
              <a:t>region.</a:t>
            </a:r>
            <a:r>
              <a:rPr sz="1200">
                <a:solidFill>
                  <a:srgbClr val="D6C6B8"/>
                </a:solidFill>
                <a:latin typeface="Courier New"/>
              </a:rPr>
              <a:t>appendChild</a:t>
            </a:r>
            <a:r>
              <a:rPr sz="1200">
                <a:solidFill>
                  <a:srgbClr val="E7EAEE"/>
                </a:solidFill>
                <a:latin typeface="Courier New"/>
              </a:rPr>
              <a:t>(el);</a:t>
            </a:r>
            <a:r>
              <a:rPr sz="1200">
                <a:solidFill>
                  <a:srgbClr val="7C8590"/>
                </a:solidFill>
                <a:latin typeface="Courier New"/>
              </a:rPr>
              <a:t>        // 3 insert</a:t>
            </a:r>
          </a:p>
          <a:p>
            <a:pPr>
              <a:lnSpc>
                <a:spcPct val="128000"/>
              </a:lnSpc>
            </a:pPr>
            <a:r>
              <a:rPr sz="1200">
                <a:solidFill>
                  <a:srgbClr val="E7EAEE"/>
                </a:solidFill>
                <a:latin typeface="Courier New"/>
              </a:rPr>
              <a:t>…</a:t>
            </a:r>
          </a:p>
          <a:p>
            <a:pPr>
              <a:lnSpc>
                <a:spcPct val="128000"/>
              </a:lnSpc>
            </a:pPr>
            <a:r>
              <a:rPr sz="1200">
                <a:solidFill>
                  <a:srgbClr val="E7EAEE"/>
                </a:solidFill>
                <a:latin typeface="Courier New"/>
              </a:rPr>
              <a:t>el.</a:t>
            </a:r>
            <a:r>
              <a:rPr sz="1200">
                <a:solidFill>
                  <a:srgbClr val="D6C6B8"/>
                </a:solidFill>
                <a:latin typeface="Courier New"/>
              </a:rPr>
              <a:t>remove</a:t>
            </a:r>
            <a:r>
              <a:rPr sz="1200">
                <a:solidFill>
                  <a:srgbClr val="E7EAEE"/>
                </a:solidFill>
                <a:latin typeface="Courier New"/>
              </a:rPr>
              <a:t>();</a:t>
            </a:r>
            <a:r>
              <a:rPr sz="1200">
                <a:solidFill>
                  <a:srgbClr val="7C8590"/>
                </a:solidFill>
                <a:latin typeface="Courier New"/>
              </a:rPr>
              <a:t>                    // 4 delete</a:t>
            </a:r>
          </a:p>
        </p:txBody>
      </p:sp>
      <p:sp>
        <p:nvSpPr>
          <p:cNvPr id="25" name="TextBox 24"/>
          <p:cNvSpPr txBox="1"/>
          <p:nvPr/>
        </p:nvSpPr>
        <p:spPr>
          <a:xfrm>
            <a:off x="6263640" y="4892040"/>
            <a:ext cx="5321808" cy="1280160"/>
          </a:xfrm>
          <a:prstGeom prst="rect">
            <a:avLst/>
          </a:prstGeom>
          <a:noFill/>
        </p:spPr>
        <p:txBody>
          <a:bodyPr wrap="square" lIns="0" rIns="0" tIns="0" bIns="0" anchor="t">
            <a:spAutoFit/>
          </a:bodyPr>
          <a:lstStyle/>
          <a:p>
            <a:pPr algn="l">
              <a:lnSpc>
                <a:spcPct val="128000"/>
              </a:lnSpc>
            </a:pPr>
            <a:r>
              <a:rPr sz="1200" b="0">
                <a:solidFill>
                  <a:srgbClr val="606772"/>
                </a:solidFill>
                <a:latin typeface="Arial"/>
              </a:rPr>
              <a:t>JS reads and writes the page through the DOM: select an element, change its text, classes or attributes, build new nodes, and remove them when done. classList is toggled in ~35 places.</a:t>
            </a:r>
          </a:p>
        </p:txBody>
      </p:sp>
      <p:sp>
        <p:nvSpPr>
          <p:cNvPr id="26" name="TextBox 25"/>
          <p:cNvSpPr txBox="1"/>
          <p:nvPr/>
        </p:nvSpPr>
        <p:spPr>
          <a:xfrm>
            <a:off x="640080" y="6455664"/>
            <a:ext cx="4572000" cy="274320"/>
          </a:xfrm>
          <a:prstGeom prst="rect">
            <a:avLst/>
          </a:prstGeom>
          <a:noFill/>
        </p:spPr>
        <p:txBody>
          <a:bodyPr wrap="square" lIns="0" rIns="0" tIns="0" bIns="0" anchor="t">
            <a:spAutoFit/>
          </a:bodyPr>
          <a:lstStyle/>
          <a:p>
            <a:pPr algn="l">
              <a:lnSpc>
                <a:spcPct val="100000"/>
              </a:lnSpc>
            </a:pPr>
            <a:r>
              <a:rPr sz="950" b="0">
                <a:solidFill>
                  <a:srgbClr val="A3AEB1"/>
                </a:solidFill>
                <a:latin typeface="Arial"/>
              </a:rPr>
              <a:t>Synora  ·  Web Development Project</a:t>
            </a:r>
          </a:p>
        </p:txBody>
      </p:sp>
      <p:sp>
        <p:nvSpPr>
          <p:cNvPr id="27" name="TextBox 26"/>
          <p:cNvSpPr txBox="1"/>
          <p:nvPr/>
        </p:nvSpPr>
        <p:spPr>
          <a:xfrm>
            <a:off x="9722815" y="6455664"/>
            <a:ext cx="1828800" cy="274320"/>
          </a:xfrm>
          <a:prstGeom prst="rect">
            <a:avLst/>
          </a:prstGeom>
          <a:noFill/>
        </p:spPr>
        <p:txBody>
          <a:bodyPr wrap="square" lIns="0" rIns="0" tIns="0" bIns="0" anchor="t">
            <a:spAutoFit/>
          </a:bodyPr>
          <a:lstStyle/>
          <a:p>
            <a:pPr algn="r">
              <a:lnSpc>
                <a:spcPct val="100000"/>
              </a:lnSpc>
            </a:pPr>
            <a:r>
              <a:rPr sz="950" b="0">
                <a:solidFill>
                  <a:srgbClr val="A3AEB1"/>
                </a:solidFill>
                <a:latin typeface="Arial"/>
              </a:rPr>
              <a:t>13 / 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7315200" cy="274320"/>
          </a:xfrm>
          <a:prstGeom prst="rect">
            <a:avLst/>
          </a:prstGeom>
          <a:noFill/>
        </p:spPr>
        <p:txBody>
          <a:bodyPr wrap="square" lIns="0" rIns="0" tIns="0" bIns="0" anchor="t">
            <a:spAutoFit/>
          </a:bodyPr>
          <a:lstStyle/>
          <a:p>
            <a:pPr algn="l">
              <a:lnSpc>
                <a:spcPct val="100000"/>
              </a:lnSpc>
            </a:pPr>
            <a:r>
              <a:rPr sz="1200" b="1" spc="180">
                <a:solidFill>
                  <a:srgbClr val="B09F95"/>
                </a:solidFill>
                <a:latin typeface="Arial"/>
              </a:rPr>
              <a:t>LECTURE 27–30  ·  EVENTS</a:t>
            </a:r>
          </a:p>
        </p:txBody>
      </p:sp>
      <p:sp>
        <p:nvSpPr>
          <p:cNvPr id="4" name="TextBox 3"/>
          <p:cNvSpPr txBox="1"/>
          <p:nvPr/>
        </p:nvSpPr>
        <p:spPr>
          <a:xfrm>
            <a:off x="640080" y="841247"/>
            <a:ext cx="10911535" cy="822960"/>
          </a:xfrm>
          <a:prstGeom prst="rect">
            <a:avLst/>
          </a:prstGeom>
          <a:noFill/>
        </p:spPr>
        <p:txBody>
          <a:bodyPr wrap="square" lIns="0" rIns="0" tIns="0" bIns="0" anchor="t">
            <a:spAutoFit/>
          </a:bodyPr>
          <a:lstStyle/>
          <a:p>
            <a:pPr algn="l">
              <a:lnSpc>
                <a:spcPct val="100000"/>
              </a:lnSpc>
            </a:pPr>
            <a:r>
              <a:rPr sz="3000" b="1">
                <a:solidFill>
                  <a:srgbClr val="22252B"/>
                </a:solidFill>
                <a:latin typeface="Arial"/>
              </a:rPr>
              <a:t>From a click to an updated screen</a:t>
            </a:r>
          </a:p>
        </p:txBody>
      </p:sp>
      <p:sp>
        <p:nvSpPr>
          <p:cNvPr id="5" name="Rounded Rectangle 4"/>
          <p:cNvSpPr/>
          <p:nvPr/>
        </p:nvSpPr>
        <p:spPr>
          <a:xfrm>
            <a:off x="640080" y="1572768"/>
            <a:ext cx="1673352" cy="658368"/>
          </a:xfrm>
          <a:prstGeom prst="roundRect">
            <a:avLst>
              <a:gd name="adj" fmla="val 10000"/>
            </a:avLst>
          </a:prstGeom>
          <a:solidFill>
            <a:srgbClr val="FFFFFF"/>
          </a:solidFill>
          <a:ln w="15240">
            <a:solidFill>
              <a:srgbClr val="E5E8EB"/>
            </a:solidFill>
          </a:ln>
          <a:effectLst>
            <a:outerShdw blurRad="91440" dist="50292" dir="5400000" rotWithShape="0">
              <a:srgbClr val="22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1" y="1572768"/>
            <a:ext cx="1527048" cy="658368"/>
          </a:xfrm>
          <a:prstGeom prst="rect">
            <a:avLst/>
          </a:prstGeom>
          <a:noFill/>
        </p:spPr>
        <p:txBody>
          <a:bodyPr wrap="square" lIns="0" rIns="0" tIns="0" bIns="0" anchor="ctr">
            <a:spAutoFit/>
          </a:bodyPr>
          <a:lstStyle/>
          <a:p>
            <a:pPr algn="ctr">
              <a:lnSpc>
                <a:spcPct val="100000"/>
              </a:lnSpc>
            </a:pPr>
            <a:r>
              <a:rPr sz="1150" b="1">
                <a:solidFill>
                  <a:srgbClr val="22252B"/>
                </a:solidFill>
                <a:latin typeface="Arial"/>
              </a:rPr>
              <a:t>User acts</a:t>
            </a:r>
          </a:p>
        </p:txBody>
      </p:sp>
      <p:sp>
        <p:nvSpPr>
          <p:cNvPr id="7" name="Chevron 6"/>
          <p:cNvSpPr/>
          <p:nvPr/>
        </p:nvSpPr>
        <p:spPr>
          <a:xfrm>
            <a:off x="2299716" y="1819656"/>
            <a:ext cx="181051" cy="164592"/>
          </a:xfrm>
          <a:prstGeom prst="chevron">
            <a:avLst/>
          </a:prstGeom>
          <a:solidFill>
            <a:srgbClr val="B09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450591" y="1572768"/>
            <a:ext cx="1673352" cy="658368"/>
          </a:xfrm>
          <a:prstGeom prst="roundRect">
            <a:avLst>
              <a:gd name="adj" fmla="val 10000"/>
            </a:avLst>
          </a:prstGeom>
          <a:solidFill>
            <a:srgbClr val="FFFFFF"/>
          </a:solidFill>
          <a:ln w="15240">
            <a:solidFill>
              <a:srgbClr val="E5E8EB"/>
            </a:solidFill>
          </a:ln>
          <a:effectLst>
            <a:outerShdw blurRad="91440" dist="50292" dir="5400000" rotWithShape="0">
              <a:srgbClr val="22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23744" y="1572768"/>
            <a:ext cx="1527048" cy="658368"/>
          </a:xfrm>
          <a:prstGeom prst="rect">
            <a:avLst/>
          </a:prstGeom>
          <a:noFill/>
        </p:spPr>
        <p:txBody>
          <a:bodyPr wrap="square" lIns="0" rIns="0" tIns="0" bIns="0" anchor="ctr">
            <a:spAutoFit/>
          </a:bodyPr>
          <a:lstStyle/>
          <a:p>
            <a:pPr algn="ctr">
              <a:lnSpc>
                <a:spcPct val="100000"/>
              </a:lnSpc>
            </a:pPr>
            <a:r>
              <a:rPr sz="1150" b="1">
                <a:solidFill>
                  <a:srgbClr val="22252B"/>
                </a:solidFill>
                <a:latin typeface="Arial"/>
              </a:rPr>
              <a:t>Event fires</a:t>
            </a:r>
          </a:p>
        </p:txBody>
      </p:sp>
      <p:sp>
        <p:nvSpPr>
          <p:cNvPr id="10" name="Chevron 9"/>
          <p:cNvSpPr/>
          <p:nvPr/>
        </p:nvSpPr>
        <p:spPr>
          <a:xfrm>
            <a:off x="4110228" y="1819656"/>
            <a:ext cx="181051" cy="164592"/>
          </a:xfrm>
          <a:prstGeom prst="chevron">
            <a:avLst/>
          </a:prstGeom>
          <a:solidFill>
            <a:srgbClr val="B09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261104" y="1572768"/>
            <a:ext cx="1673352" cy="658368"/>
          </a:xfrm>
          <a:prstGeom prst="roundRect">
            <a:avLst>
              <a:gd name="adj" fmla="val 10000"/>
            </a:avLst>
          </a:prstGeom>
          <a:solidFill>
            <a:srgbClr val="53655C"/>
          </a:solidFill>
          <a:ln>
            <a:noFill/>
          </a:ln>
          <a:effectLst>
            <a:outerShdw blurRad="91440" dist="50292" dir="5400000" rotWithShape="0">
              <a:srgbClr val="22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34256" y="1572768"/>
            <a:ext cx="1527048" cy="658368"/>
          </a:xfrm>
          <a:prstGeom prst="rect">
            <a:avLst/>
          </a:prstGeom>
          <a:noFill/>
        </p:spPr>
        <p:txBody>
          <a:bodyPr wrap="square" lIns="0" rIns="0" tIns="0" bIns="0" anchor="ctr">
            <a:spAutoFit/>
          </a:bodyPr>
          <a:lstStyle/>
          <a:p>
            <a:pPr algn="ctr">
              <a:lnSpc>
                <a:spcPct val="100000"/>
              </a:lnSpc>
            </a:pPr>
            <a:r>
              <a:rPr sz="1150" b="1">
                <a:solidFill>
                  <a:srgbClr val="FFFFFF"/>
                </a:solidFill>
                <a:latin typeface="Arial"/>
              </a:rPr>
              <a:t>addEventListener</a:t>
            </a:r>
          </a:p>
        </p:txBody>
      </p:sp>
      <p:sp>
        <p:nvSpPr>
          <p:cNvPr id="13" name="Chevron 12"/>
          <p:cNvSpPr/>
          <p:nvPr/>
        </p:nvSpPr>
        <p:spPr>
          <a:xfrm>
            <a:off x="5920740" y="1819656"/>
            <a:ext cx="181051" cy="164592"/>
          </a:xfrm>
          <a:prstGeom prst="chevron">
            <a:avLst/>
          </a:prstGeom>
          <a:solidFill>
            <a:srgbClr val="B09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071616" y="1572768"/>
            <a:ext cx="1673352" cy="658368"/>
          </a:xfrm>
          <a:prstGeom prst="roundRect">
            <a:avLst>
              <a:gd name="adj" fmla="val 10000"/>
            </a:avLst>
          </a:prstGeom>
          <a:solidFill>
            <a:srgbClr val="FFFFFF"/>
          </a:solidFill>
          <a:ln w="15240">
            <a:solidFill>
              <a:srgbClr val="E5E8EB"/>
            </a:solidFill>
          </a:ln>
          <a:effectLst>
            <a:outerShdw blurRad="91440" dist="50292" dir="5400000" rotWithShape="0">
              <a:srgbClr val="22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44768" y="1572768"/>
            <a:ext cx="1527048" cy="658368"/>
          </a:xfrm>
          <a:prstGeom prst="rect">
            <a:avLst/>
          </a:prstGeom>
          <a:noFill/>
        </p:spPr>
        <p:txBody>
          <a:bodyPr wrap="square" lIns="0" rIns="0" tIns="0" bIns="0" anchor="ctr">
            <a:spAutoFit/>
          </a:bodyPr>
          <a:lstStyle/>
          <a:p>
            <a:pPr algn="ctr">
              <a:lnSpc>
                <a:spcPct val="100000"/>
              </a:lnSpc>
            </a:pPr>
            <a:r>
              <a:rPr sz="1150" b="1">
                <a:solidFill>
                  <a:srgbClr val="22252B"/>
                </a:solidFill>
                <a:latin typeface="Arial"/>
              </a:rPr>
              <a:t>Handler runs</a:t>
            </a:r>
          </a:p>
        </p:txBody>
      </p:sp>
      <p:sp>
        <p:nvSpPr>
          <p:cNvPr id="16" name="Chevron 15"/>
          <p:cNvSpPr/>
          <p:nvPr/>
        </p:nvSpPr>
        <p:spPr>
          <a:xfrm>
            <a:off x="7731251" y="1819656"/>
            <a:ext cx="181051" cy="164592"/>
          </a:xfrm>
          <a:prstGeom prst="chevron">
            <a:avLst/>
          </a:prstGeom>
          <a:solidFill>
            <a:srgbClr val="B09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882127" y="1572768"/>
            <a:ext cx="1673352" cy="658368"/>
          </a:xfrm>
          <a:prstGeom prst="roundRect">
            <a:avLst>
              <a:gd name="adj" fmla="val 10000"/>
            </a:avLst>
          </a:prstGeom>
          <a:solidFill>
            <a:srgbClr val="FFFFFF"/>
          </a:solidFill>
          <a:ln w="15240">
            <a:solidFill>
              <a:srgbClr val="E5E8EB"/>
            </a:solidFill>
          </a:ln>
          <a:effectLst>
            <a:outerShdw blurRad="91440" dist="50292" dir="5400000" rotWithShape="0">
              <a:srgbClr val="22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79" y="1572768"/>
            <a:ext cx="1527048" cy="658368"/>
          </a:xfrm>
          <a:prstGeom prst="rect">
            <a:avLst/>
          </a:prstGeom>
          <a:noFill/>
        </p:spPr>
        <p:txBody>
          <a:bodyPr wrap="square" lIns="0" rIns="0" tIns="0" bIns="0" anchor="ctr">
            <a:spAutoFit/>
          </a:bodyPr>
          <a:lstStyle/>
          <a:p>
            <a:pPr algn="ctr">
              <a:lnSpc>
                <a:spcPct val="100000"/>
              </a:lnSpc>
            </a:pPr>
            <a:r>
              <a:rPr sz="1150" b="1">
                <a:solidFill>
                  <a:srgbClr val="22252B"/>
                </a:solidFill>
                <a:latin typeface="Arial"/>
              </a:rPr>
              <a:t>DOM / data update</a:t>
            </a:r>
          </a:p>
        </p:txBody>
      </p:sp>
      <p:sp>
        <p:nvSpPr>
          <p:cNvPr id="19" name="Chevron 18"/>
          <p:cNvSpPr/>
          <p:nvPr/>
        </p:nvSpPr>
        <p:spPr>
          <a:xfrm>
            <a:off x="9541763" y="1819656"/>
            <a:ext cx="181051" cy="164592"/>
          </a:xfrm>
          <a:prstGeom prst="chevron">
            <a:avLst/>
          </a:prstGeom>
          <a:solidFill>
            <a:srgbClr val="B09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692640" y="1572768"/>
            <a:ext cx="1673352" cy="658368"/>
          </a:xfrm>
          <a:prstGeom prst="roundRect">
            <a:avLst>
              <a:gd name="adj" fmla="val 10000"/>
            </a:avLst>
          </a:prstGeom>
          <a:solidFill>
            <a:srgbClr val="FFFFFF"/>
          </a:solidFill>
          <a:ln w="15240">
            <a:solidFill>
              <a:srgbClr val="E5E8EB"/>
            </a:solidFill>
          </a:ln>
          <a:effectLst>
            <a:outerShdw blurRad="91440" dist="50292" dir="5400000" rotWithShape="0">
              <a:srgbClr val="22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65792" y="1572768"/>
            <a:ext cx="1527048" cy="658368"/>
          </a:xfrm>
          <a:prstGeom prst="rect">
            <a:avLst/>
          </a:prstGeom>
          <a:noFill/>
        </p:spPr>
        <p:txBody>
          <a:bodyPr wrap="square" lIns="0" rIns="0" tIns="0" bIns="0" anchor="ctr">
            <a:spAutoFit/>
          </a:bodyPr>
          <a:lstStyle/>
          <a:p>
            <a:pPr algn="ctr">
              <a:lnSpc>
                <a:spcPct val="100000"/>
              </a:lnSpc>
            </a:pPr>
            <a:r>
              <a:rPr sz="1150" b="1">
                <a:solidFill>
                  <a:srgbClr val="22252B"/>
                </a:solidFill>
                <a:latin typeface="Arial"/>
              </a:rPr>
              <a:t>Screen re-renders</a:t>
            </a:r>
          </a:p>
        </p:txBody>
      </p:sp>
      <p:sp>
        <p:nvSpPr>
          <p:cNvPr id="22" name="Rounded Rectangle 21"/>
          <p:cNvSpPr/>
          <p:nvPr/>
        </p:nvSpPr>
        <p:spPr>
          <a:xfrm>
            <a:off x="640080" y="2697480"/>
            <a:ext cx="5943600" cy="2599090"/>
          </a:xfrm>
          <a:prstGeom prst="roundRect">
            <a:avLst>
              <a:gd name="adj" fmla="val 3500"/>
            </a:avLst>
          </a:prstGeom>
          <a:solidFill>
            <a:srgbClr val="1C2026"/>
          </a:solidFill>
          <a:ln>
            <a:noFill/>
          </a:ln>
          <a:effectLst>
            <a:outerShdw blurRad="91440" dist="50292" dir="5400000" rotWithShape="0">
              <a:srgbClr val="22252B">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77824" y="2852928"/>
            <a:ext cx="91440" cy="91440"/>
          </a:xfrm>
          <a:prstGeom prst="ellipse">
            <a:avLst/>
          </a:prstGeom>
          <a:solidFill>
            <a:srgbClr val="E06C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42415" y="2852928"/>
            <a:ext cx="91440" cy="91440"/>
          </a:xfrm>
          <a:prstGeom prst="ellipse">
            <a:avLst/>
          </a:prstGeom>
          <a:solidFill>
            <a:srgbClr val="E0B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207007" y="2852928"/>
            <a:ext cx="91440" cy="91440"/>
          </a:xfrm>
          <a:prstGeom prst="ellipse">
            <a:avLst/>
          </a:prstGeom>
          <a:solidFill>
            <a:srgbClr val="8FB9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44752" y="2788920"/>
            <a:ext cx="4901184" cy="256032"/>
          </a:xfrm>
          <a:prstGeom prst="rect">
            <a:avLst/>
          </a:prstGeom>
          <a:noFill/>
        </p:spPr>
        <p:txBody>
          <a:bodyPr wrap="square" lIns="0" rIns="0" tIns="0" bIns="0" anchor="ctr">
            <a:spAutoFit/>
          </a:bodyPr>
          <a:lstStyle/>
          <a:p>
            <a:pPr algn="l">
              <a:lnSpc>
                <a:spcPct val="100000"/>
              </a:lnSpc>
            </a:pPr>
            <a:r>
              <a:rPr sz="1050" b="0">
                <a:solidFill>
                  <a:srgbClr val="8A929C"/>
                </a:solidFill>
                <a:latin typeface="Courier New"/>
              </a:rPr>
              <a:t>scripts/tasks.js — click &amp; input listeners</a:t>
            </a:r>
          </a:p>
        </p:txBody>
      </p:sp>
      <p:sp>
        <p:nvSpPr>
          <p:cNvPr id="27" name="TextBox 26"/>
          <p:cNvSpPr txBox="1"/>
          <p:nvPr/>
        </p:nvSpPr>
        <p:spPr>
          <a:xfrm>
            <a:off x="877824" y="3212287"/>
            <a:ext cx="5468112" cy="1964131"/>
          </a:xfrm>
          <a:prstGeom prst="rect">
            <a:avLst/>
          </a:prstGeom>
          <a:noFill/>
        </p:spPr>
        <p:txBody>
          <a:bodyPr wrap="none" lIns="0" rIns="0" tIns="0" bIns="0">
            <a:spAutoFit/>
          </a:bodyPr>
          <a:lstStyle/>
          <a:p>
            <a:pPr>
              <a:lnSpc>
                <a:spcPct val="128000"/>
              </a:lnSpc>
            </a:pPr>
            <a:r>
              <a:rPr sz="1200">
                <a:solidFill>
                  <a:srgbClr val="A9C3B0"/>
                </a:solidFill>
                <a:latin typeface="Courier New"/>
              </a:rPr>
              <a:t>var</a:t>
            </a:r>
            <a:r>
              <a:rPr sz="1200">
                <a:solidFill>
                  <a:srgbClr val="E7EAEE"/>
                </a:solidFill>
                <a:latin typeface="Courier New"/>
              </a:rPr>
              <a:t> addBtn = document.</a:t>
            </a:r>
            <a:r>
              <a:rPr sz="1200">
                <a:solidFill>
                  <a:srgbClr val="D6C6B8"/>
                </a:solidFill>
                <a:latin typeface="Courier New"/>
              </a:rPr>
              <a:t>querySelector</a:t>
            </a:r>
            <a:r>
              <a:rPr sz="1200">
                <a:solidFill>
                  <a:srgbClr val="E7EAEE"/>
                </a:solidFill>
                <a:latin typeface="Courier New"/>
              </a:rPr>
              <a:t>(</a:t>
            </a:r>
            <a:r>
              <a:rPr sz="1200">
                <a:solidFill>
                  <a:srgbClr val="CBB69F"/>
                </a:solidFill>
                <a:latin typeface="Courier New"/>
              </a:rPr>
              <a:t>"[data-add-task]"</a:t>
            </a:r>
            <a:r>
              <a:rPr sz="1200">
                <a:solidFill>
                  <a:srgbClr val="E7EAEE"/>
                </a:solidFill>
                <a:latin typeface="Courier New"/>
              </a:rPr>
              <a:t>);</a:t>
            </a:r>
          </a:p>
          <a:p>
            <a:pPr>
              <a:lnSpc>
                <a:spcPct val="128000"/>
              </a:lnSpc>
            </a:pPr>
            <a:r>
              <a:rPr sz="1200">
                <a:solidFill>
                  <a:srgbClr val="E7EAEE"/>
                </a:solidFill>
                <a:latin typeface="Courier New"/>
              </a:rPr>
              <a:t>addBtn.</a:t>
            </a:r>
            <a:r>
              <a:rPr sz="1200">
                <a:solidFill>
                  <a:srgbClr val="D6C6B8"/>
                </a:solidFill>
                <a:latin typeface="Courier New"/>
              </a:rPr>
              <a:t>addEventListener</a:t>
            </a:r>
            <a:r>
              <a:rPr sz="1200">
                <a:solidFill>
                  <a:srgbClr val="E7EAEE"/>
                </a:solidFill>
                <a:latin typeface="Courier New"/>
              </a:rPr>
              <a:t>(</a:t>
            </a:r>
            <a:r>
              <a:rPr sz="1200">
                <a:solidFill>
                  <a:srgbClr val="CBB69F"/>
                </a:solidFill>
                <a:latin typeface="Courier New"/>
              </a:rPr>
              <a:t>"click"</a:t>
            </a:r>
            <a:r>
              <a:rPr sz="1200">
                <a:solidFill>
                  <a:srgbClr val="E7EAEE"/>
                </a:solidFill>
                <a:latin typeface="Courier New"/>
              </a:rPr>
              <a:t>, </a:t>
            </a:r>
            <a:r>
              <a:rPr sz="1200">
                <a:solidFill>
                  <a:srgbClr val="A9C3B0"/>
                </a:solidFill>
                <a:latin typeface="Courier New"/>
              </a:rPr>
              <a:t>function</a:t>
            </a:r>
            <a:r>
              <a:rPr sz="1200">
                <a:solidFill>
                  <a:srgbClr val="E7EAEE"/>
                </a:solidFill>
                <a:latin typeface="Courier New"/>
              </a:rPr>
              <a:t>() {</a:t>
            </a:r>
          </a:p>
          <a:p>
            <a:pPr>
              <a:lnSpc>
                <a:spcPct val="128000"/>
              </a:lnSpc>
            </a:pPr>
            <a:r>
              <a:rPr sz="1200">
                <a:solidFill>
                  <a:srgbClr val="E7EAEE"/>
                </a:solidFill>
                <a:latin typeface="Courier New"/>
              </a:rPr>
              <a:t>  openForm(</a:t>
            </a:r>
            <a:r>
              <a:rPr sz="1200">
                <a:solidFill>
                  <a:srgbClr val="A9C3B0"/>
                </a:solidFill>
                <a:latin typeface="Courier New"/>
              </a:rPr>
              <a:t>null</a:t>
            </a:r>
            <a:r>
              <a:rPr sz="1200">
                <a:solidFill>
                  <a:srgbClr val="E7EAEE"/>
                </a:solidFill>
                <a:latin typeface="Courier New"/>
              </a:rPr>
              <a:t>, render);</a:t>
            </a:r>
            <a:r>
              <a:rPr sz="1200">
                <a:solidFill>
                  <a:srgbClr val="7C8590"/>
                </a:solidFill>
                <a:latin typeface="Courier New"/>
              </a:rPr>
              <a:t>   // click → open the task form</a:t>
            </a:r>
          </a:p>
          <a:p>
            <a:pPr>
              <a:lnSpc>
                <a:spcPct val="128000"/>
              </a:lnSpc>
            </a:pPr>
            <a:r>
              <a:rPr sz="1200">
                <a:solidFill>
                  <a:srgbClr val="E7EAEE"/>
                </a:solidFill>
                <a:latin typeface="Courier New"/>
              </a:rPr>
              <a:t>});</a:t>
            </a:r>
          </a:p>
          <a:p>
            <a:pPr>
              <a:lnSpc>
                <a:spcPct val="128000"/>
              </a:lnSpc>
            </a:pPr>
            <a:r>
              <a:rPr sz="1200">
                <a:solidFill>
                  <a:srgbClr val="E7EAEE"/>
                </a:solidFill>
                <a:latin typeface="Courier New"/>
              </a:rPr>
              <a:t/>
            </a:r>
          </a:p>
          <a:p>
            <a:pPr>
              <a:lnSpc>
                <a:spcPct val="128000"/>
              </a:lnSpc>
            </a:pPr>
            <a:r>
              <a:rPr sz="1200">
                <a:solidFill>
                  <a:srgbClr val="E7EAEE"/>
                </a:solidFill>
                <a:latin typeface="Courier New"/>
              </a:rPr>
              <a:t>search.</a:t>
            </a:r>
            <a:r>
              <a:rPr sz="1200">
                <a:solidFill>
                  <a:srgbClr val="D6C6B8"/>
                </a:solidFill>
                <a:latin typeface="Courier New"/>
              </a:rPr>
              <a:t>addEventListener</a:t>
            </a:r>
            <a:r>
              <a:rPr sz="1200">
                <a:solidFill>
                  <a:srgbClr val="E7EAEE"/>
                </a:solidFill>
                <a:latin typeface="Courier New"/>
              </a:rPr>
              <a:t>(</a:t>
            </a:r>
            <a:r>
              <a:rPr sz="1200">
                <a:solidFill>
                  <a:srgbClr val="CBB69F"/>
                </a:solidFill>
                <a:latin typeface="Courier New"/>
              </a:rPr>
              <a:t>"input"</a:t>
            </a:r>
            <a:r>
              <a:rPr sz="1200">
                <a:solidFill>
                  <a:srgbClr val="E7EAEE"/>
                </a:solidFill>
                <a:latin typeface="Courier New"/>
              </a:rPr>
              <a:t>, </a:t>
            </a:r>
            <a:r>
              <a:rPr sz="1200">
                <a:solidFill>
                  <a:srgbClr val="A9C3B0"/>
                </a:solidFill>
                <a:latin typeface="Courier New"/>
              </a:rPr>
              <a:t>function</a:t>
            </a:r>
            <a:r>
              <a:rPr sz="1200">
                <a:solidFill>
                  <a:srgbClr val="E7EAEE"/>
                </a:solidFill>
                <a:latin typeface="Courier New"/>
              </a:rPr>
              <a:t>(e) {</a:t>
            </a:r>
          </a:p>
          <a:p>
            <a:pPr>
              <a:lnSpc>
                <a:spcPct val="128000"/>
              </a:lnSpc>
            </a:pPr>
            <a:r>
              <a:rPr sz="1200">
                <a:solidFill>
                  <a:srgbClr val="E7EAEE"/>
                </a:solidFill>
                <a:latin typeface="Courier New"/>
              </a:rPr>
              <a:t>  state.query = e.target.value; render();</a:t>
            </a:r>
            <a:r>
              <a:rPr sz="1200">
                <a:solidFill>
                  <a:srgbClr val="7C8590"/>
                </a:solidFill>
                <a:latin typeface="Courier New"/>
              </a:rPr>
              <a:t> // each keystroke</a:t>
            </a:r>
          </a:p>
          <a:p>
            <a:pPr>
              <a:lnSpc>
                <a:spcPct val="128000"/>
              </a:lnSpc>
            </a:pPr>
            <a:r>
              <a:rPr sz="1200">
                <a:solidFill>
                  <a:srgbClr val="E7EAEE"/>
                </a:solidFill>
                <a:latin typeface="Courier New"/>
              </a:rPr>
              <a:t>});</a:t>
            </a:r>
          </a:p>
        </p:txBody>
      </p:sp>
      <p:sp>
        <p:nvSpPr>
          <p:cNvPr id="28" name="Rounded Rectangle 27"/>
          <p:cNvSpPr/>
          <p:nvPr/>
        </p:nvSpPr>
        <p:spPr>
          <a:xfrm>
            <a:off x="6766560" y="2697480"/>
            <a:ext cx="4754880" cy="2971800"/>
          </a:xfrm>
          <a:prstGeom prst="roundRect">
            <a:avLst>
              <a:gd name="adj" fmla="val 4500"/>
            </a:avLst>
          </a:prstGeom>
          <a:solidFill>
            <a:srgbClr val="FFFFFF"/>
          </a:solidFill>
          <a:ln>
            <a:noFill/>
          </a:ln>
          <a:effectLst>
            <a:outerShdw blurRad="91440" dist="50292" dir="5400000" rotWithShape="0">
              <a:srgbClr val="22252B">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attendance.png"/>
          <p:cNvPicPr>
            <a:picLocks noChangeAspect="1"/>
          </p:cNvPicPr>
          <p:nvPr/>
        </p:nvPicPr>
        <p:blipFill>
          <a:blip r:embed="rId2"/>
          <a:stretch>
            <a:fillRect/>
          </a:stretch>
        </p:blipFill>
        <p:spPr>
          <a:xfrm>
            <a:off x="6766560" y="2697480"/>
            <a:ext cx="4754880" cy="2971800"/>
          </a:xfrm>
          <a:prstGeom prst="rect">
            <a:avLst/>
          </a:prstGeom>
          <a:effectLst/>
        </p:spPr>
      </p:pic>
      <p:sp>
        <p:nvSpPr>
          <p:cNvPr id="30" name="TextBox 29"/>
          <p:cNvSpPr txBox="1"/>
          <p:nvPr/>
        </p:nvSpPr>
        <p:spPr>
          <a:xfrm>
            <a:off x="6766560" y="5806440"/>
            <a:ext cx="4754880" cy="548640"/>
          </a:xfrm>
          <a:prstGeom prst="rect">
            <a:avLst/>
          </a:prstGeom>
          <a:noFill/>
        </p:spPr>
        <p:txBody>
          <a:bodyPr wrap="square" lIns="0" rIns="0" tIns="0" bIns="0" anchor="t">
            <a:spAutoFit/>
          </a:bodyPr>
          <a:lstStyle/>
          <a:p>
            <a:pPr algn="l">
              <a:lnSpc>
                <a:spcPct val="122000"/>
              </a:lnSpc>
            </a:pPr>
            <a:r>
              <a:rPr sz="1150" b="0">
                <a:solidFill>
                  <a:srgbClr val="606772"/>
                </a:solidFill>
                <a:latin typeface="Arial"/>
              </a:rPr>
              <a:t>Attendance +/– buttons fire click events that recompute every percentage instantly. addEventListener is used ~93×.</a:t>
            </a:r>
          </a:p>
        </p:txBody>
      </p:sp>
      <p:sp>
        <p:nvSpPr>
          <p:cNvPr id="31" name="TextBox 30"/>
          <p:cNvSpPr txBox="1"/>
          <p:nvPr/>
        </p:nvSpPr>
        <p:spPr>
          <a:xfrm>
            <a:off x="640080" y="6455664"/>
            <a:ext cx="4572000" cy="274320"/>
          </a:xfrm>
          <a:prstGeom prst="rect">
            <a:avLst/>
          </a:prstGeom>
          <a:noFill/>
        </p:spPr>
        <p:txBody>
          <a:bodyPr wrap="square" lIns="0" rIns="0" tIns="0" bIns="0" anchor="t">
            <a:spAutoFit/>
          </a:bodyPr>
          <a:lstStyle/>
          <a:p>
            <a:pPr algn="l">
              <a:lnSpc>
                <a:spcPct val="100000"/>
              </a:lnSpc>
            </a:pPr>
            <a:r>
              <a:rPr sz="950" b="0">
                <a:solidFill>
                  <a:srgbClr val="A3AEB1"/>
                </a:solidFill>
                <a:latin typeface="Arial"/>
              </a:rPr>
              <a:t>Synora  ·  Web Development Project</a:t>
            </a:r>
          </a:p>
        </p:txBody>
      </p:sp>
      <p:sp>
        <p:nvSpPr>
          <p:cNvPr id="32" name="TextBox 31"/>
          <p:cNvSpPr txBox="1"/>
          <p:nvPr/>
        </p:nvSpPr>
        <p:spPr>
          <a:xfrm>
            <a:off x="9722815" y="6455664"/>
            <a:ext cx="1828800" cy="274320"/>
          </a:xfrm>
          <a:prstGeom prst="rect">
            <a:avLst/>
          </a:prstGeom>
          <a:noFill/>
        </p:spPr>
        <p:txBody>
          <a:bodyPr wrap="square" lIns="0" rIns="0" tIns="0" bIns="0" anchor="t">
            <a:spAutoFit/>
          </a:bodyPr>
          <a:lstStyle/>
          <a:p>
            <a:pPr algn="r">
              <a:lnSpc>
                <a:spcPct val="100000"/>
              </a:lnSpc>
            </a:pPr>
            <a:r>
              <a:rPr sz="950" b="0">
                <a:solidFill>
                  <a:srgbClr val="A3AEB1"/>
                </a:solidFill>
                <a:latin typeface="Arial"/>
              </a:rPr>
              <a:t>14 / 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7315200" cy="274320"/>
          </a:xfrm>
          <a:prstGeom prst="rect">
            <a:avLst/>
          </a:prstGeom>
          <a:noFill/>
        </p:spPr>
        <p:txBody>
          <a:bodyPr wrap="square" lIns="0" rIns="0" tIns="0" bIns="0" anchor="t">
            <a:spAutoFit/>
          </a:bodyPr>
          <a:lstStyle/>
          <a:p>
            <a:pPr algn="l">
              <a:lnSpc>
                <a:spcPct val="100000"/>
              </a:lnSpc>
            </a:pPr>
            <a:r>
              <a:rPr sz="1200" b="1" spc="180">
                <a:solidFill>
                  <a:srgbClr val="B09F95"/>
                </a:solidFill>
                <a:latin typeface="Arial"/>
              </a:rPr>
              <a:t>EVENTS  ·  PROPAGATION &amp; DELEGATION</a:t>
            </a:r>
          </a:p>
        </p:txBody>
      </p:sp>
      <p:sp>
        <p:nvSpPr>
          <p:cNvPr id="4" name="TextBox 3"/>
          <p:cNvSpPr txBox="1"/>
          <p:nvPr/>
        </p:nvSpPr>
        <p:spPr>
          <a:xfrm>
            <a:off x="640080" y="841247"/>
            <a:ext cx="10911535" cy="822960"/>
          </a:xfrm>
          <a:prstGeom prst="rect">
            <a:avLst/>
          </a:prstGeom>
          <a:noFill/>
        </p:spPr>
        <p:txBody>
          <a:bodyPr wrap="square" lIns="0" rIns="0" tIns="0" bIns="0" anchor="t">
            <a:spAutoFit/>
          </a:bodyPr>
          <a:lstStyle/>
          <a:p>
            <a:pPr algn="l">
              <a:lnSpc>
                <a:spcPct val="100000"/>
              </a:lnSpc>
            </a:pPr>
            <a:r>
              <a:rPr sz="3000" b="1">
                <a:solidFill>
                  <a:srgbClr val="22252B"/>
                </a:solidFill>
                <a:latin typeface="Arial"/>
              </a:rPr>
              <a:t>One listener, many buttons</a:t>
            </a:r>
          </a:p>
        </p:txBody>
      </p:sp>
      <p:sp>
        <p:nvSpPr>
          <p:cNvPr id="5" name="TextBox 4"/>
          <p:cNvSpPr txBox="1"/>
          <p:nvPr/>
        </p:nvSpPr>
        <p:spPr>
          <a:xfrm>
            <a:off x="640080" y="1517904"/>
            <a:ext cx="5120640" cy="365760"/>
          </a:xfrm>
          <a:prstGeom prst="rect">
            <a:avLst/>
          </a:prstGeom>
          <a:noFill/>
        </p:spPr>
        <p:txBody>
          <a:bodyPr wrap="square" lIns="0" rIns="0" tIns="0" bIns="0" anchor="t">
            <a:spAutoFit/>
          </a:bodyPr>
          <a:lstStyle/>
          <a:p>
            <a:pPr algn="l">
              <a:lnSpc>
                <a:spcPct val="100000"/>
              </a:lnSpc>
            </a:pPr>
            <a:r>
              <a:rPr sz="1450" b="1">
                <a:solidFill>
                  <a:srgbClr val="22252B"/>
                </a:solidFill>
                <a:latin typeface="Arial"/>
              </a:rPr>
              <a:t>Events bubble up the tree</a:t>
            </a:r>
          </a:p>
        </p:txBody>
      </p:sp>
      <p:sp>
        <p:nvSpPr>
          <p:cNvPr id="6" name="Rounded Rectangle 5"/>
          <p:cNvSpPr/>
          <p:nvPr/>
        </p:nvSpPr>
        <p:spPr>
          <a:xfrm>
            <a:off x="640080" y="1965960"/>
            <a:ext cx="4206240" cy="457200"/>
          </a:xfrm>
          <a:prstGeom prst="roundRect">
            <a:avLst>
              <a:gd name="adj" fmla="val 10000"/>
            </a:avLst>
          </a:prstGeom>
          <a:solidFill>
            <a:srgbClr val="FFFFFF"/>
          </a:solidFill>
          <a:ln w="15240">
            <a:solidFill>
              <a:srgbClr val="E5E8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965960"/>
            <a:ext cx="3840480" cy="457200"/>
          </a:xfrm>
          <a:prstGeom prst="rect">
            <a:avLst/>
          </a:prstGeom>
          <a:noFill/>
        </p:spPr>
        <p:txBody>
          <a:bodyPr wrap="square" lIns="0" rIns="0" tIns="0" bIns="0" anchor="ctr">
            <a:spAutoFit/>
          </a:bodyPr>
          <a:lstStyle/>
          <a:p>
            <a:pPr algn="l">
              <a:lnSpc>
                <a:spcPct val="100000"/>
              </a:lnSpc>
            </a:pPr>
            <a:r>
              <a:rPr sz="1200" b="1">
                <a:solidFill>
                  <a:srgbClr val="455A50"/>
                </a:solidFill>
                <a:latin typeface="Courier New"/>
              </a:rPr>
              <a:t>container  [data-list]</a:t>
            </a:r>
          </a:p>
        </p:txBody>
      </p:sp>
      <p:sp>
        <p:nvSpPr>
          <p:cNvPr id="8" name="Rounded Rectangle 7"/>
          <p:cNvSpPr/>
          <p:nvPr/>
        </p:nvSpPr>
        <p:spPr>
          <a:xfrm>
            <a:off x="868680" y="2532888"/>
            <a:ext cx="3749039" cy="457200"/>
          </a:xfrm>
          <a:prstGeom prst="roundRect">
            <a:avLst>
              <a:gd name="adj" fmla="val 10000"/>
            </a:avLst>
          </a:prstGeom>
          <a:solidFill>
            <a:srgbClr val="FFFFFF"/>
          </a:solidFill>
          <a:ln w="15240">
            <a:solidFill>
              <a:srgbClr val="E5E8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532888"/>
            <a:ext cx="3383280" cy="457200"/>
          </a:xfrm>
          <a:prstGeom prst="rect">
            <a:avLst/>
          </a:prstGeom>
          <a:noFill/>
        </p:spPr>
        <p:txBody>
          <a:bodyPr wrap="square" lIns="0" rIns="0" tIns="0" bIns="0" anchor="ctr">
            <a:spAutoFit/>
          </a:bodyPr>
          <a:lstStyle/>
          <a:p>
            <a:pPr algn="l">
              <a:lnSpc>
                <a:spcPct val="100000"/>
              </a:lnSpc>
            </a:pPr>
            <a:r>
              <a:rPr sz="1200" b="1">
                <a:solidFill>
                  <a:srgbClr val="606772"/>
                </a:solidFill>
                <a:latin typeface="Courier New"/>
              </a:rPr>
              <a:t>div.trow</a:t>
            </a:r>
          </a:p>
        </p:txBody>
      </p:sp>
      <p:sp>
        <p:nvSpPr>
          <p:cNvPr id="10" name="Rounded Rectangle 9"/>
          <p:cNvSpPr/>
          <p:nvPr/>
        </p:nvSpPr>
        <p:spPr>
          <a:xfrm>
            <a:off x="1097280" y="3099815"/>
            <a:ext cx="3291839" cy="457200"/>
          </a:xfrm>
          <a:prstGeom prst="roundRect">
            <a:avLst>
              <a:gd name="adj" fmla="val 10000"/>
            </a:avLst>
          </a:prstGeom>
          <a:solidFill>
            <a:srgbClr val="FFFFFF"/>
          </a:solidFill>
          <a:ln w="15240">
            <a:solidFill>
              <a:srgbClr val="E5E8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80160" y="3099815"/>
            <a:ext cx="2926080" cy="457200"/>
          </a:xfrm>
          <a:prstGeom prst="rect">
            <a:avLst/>
          </a:prstGeom>
          <a:noFill/>
        </p:spPr>
        <p:txBody>
          <a:bodyPr wrap="square" lIns="0" rIns="0" tIns="0" bIns="0" anchor="ctr">
            <a:spAutoFit/>
          </a:bodyPr>
          <a:lstStyle/>
          <a:p>
            <a:pPr algn="l">
              <a:lnSpc>
                <a:spcPct val="100000"/>
              </a:lnSpc>
            </a:pPr>
            <a:r>
              <a:rPr sz="1200" b="1">
                <a:solidFill>
                  <a:srgbClr val="B09F95"/>
                </a:solidFill>
                <a:latin typeface="Courier New"/>
              </a:rPr>
              <a:t>button  [data-toggle]</a:t>
            </a:r>
          </a:p>
        </p:txBody>
      </p:sp>
      <p:sp>
        <p:nvSpPr>
          <p:cNvPr id="12" name="Up Arrow 11"/>
          <p:cNvSpPr/>
          <p:nvPr/>
        </p:nvSpPr>
        <p:spPr>
          <a:xfrm>
            <a:off x="5120640" y="2148840"/>
            <a:ext cx="237744" cy="384048"/>
          </a:xfrm>
          <a:prstGeom prst="upArrow">
            <a:avLst/>
          </a:prstGeom>
          <a:solidFill>
            <a:srgbClr val="B09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Up Arrow 12"/>
          <p:cNvSpPr/>
          <p:nvPr/>
        </p:nvSpPr>
        <p:spPr>
          <a:xfrm>
            <a:off x="5120640" y="2715768"/>
            <a:ext cx="237744" cy="384048"/>
          </a:xfrm>
          <a:prstGeom prst="upArrow">
            <a:avLst/>
          </a:prstGeom>
          <a:solidFill>
            <a:srgbClr val="B09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0" y="2194560"/>
            <a:ext cx="1463040" cy="822960"/>
          </a:xfrm>
          <a:prstGeom prst="rect">
            <a:avLst/>
          </a:prstGeom>
          <a:noFill/>
        </p:spPr>
        <p:txBody>
          <a:bodyPr wrap="square" lIns="0" rIns="0" tIns="0" bIns="0" anchor="t">
            <a:spAutoFit/>
          </a:bodyPr>
          <a:lstStyle/>
          <a:p>
            <a:pPr algn="l">
              <a:lnSpc>
                <a:spcPct val="112000"/>
              </a:lnSpc>
            </a:pPr>
            <a:r>
              <a:rPr sz="1050" b="0">
                <a:solidFill>
                  <a:srgbClr val="606772"/>
                </a:solidFill>
                <a:latin typeface="Arial"/>
              </a:rPr>
              <a:t>click on a</a:t>
            </a:r>
          </a:p>
          <a:p>
            <a:pPr algn="l">
              <a:lnSpc>
                <a:spcPct val="112000"/>
              </a:lnSpc>
            </a:pPr>
            <a:r>
              <a:rPr sz="1050" b="0">
                <a:solidFill>
                  <a:srgbClr val="606772"/>
                </a:solidFill>
                <a:latin typeface="Arial"/>
              </a:rPr>
              <a:t>button bubbles</a:t>
            </a:r>
          </a:p>
          <a:p>
            <a:pPr algn="l">
              <a:lnSpc>
                <a:spcPct val="112000"/>
              </a:lnSpc>
            </a:pPr>
            <a:r>
              <a:rPr sz="1050" b="0">
                <a:solidFill>
                  <a:srgbClr val="606772"/>
                </a:solidFill>
                <a:latin typeface="Arial"/>
              </a:rPr>
              <a:t>up to the list</a:t>
            </a:r>
          </a:p>
        </p:txBody>
      </p:sp>
      <p:sp>
        <p:nvSpPr>
          <p:cNvPr id="15" name="Rounded Rectangle 14"/>
          <p:cNvSpPr/>
          <p:nvPr/>
        </p:nvSpPr>
        <p:spPr>
          <a:xfrm>
            <a:off x="640080" y="3977639"/>
            <a:ext cx="5212080" cy="2148840"/>
          </a:xfrm>
          <a:prstGeom prst="roundRect">
            <a:avLst>
              <a:gd name="adj" fmla="val 8000"/>
            </a:avLst>
          </a:prstGeom>
          <a:solidFill>
            <a:srgbClr val="FFFFFF"/>
          </a:solidFill>
          <a:ln w="15240">
            <a:solidFill>
              <a:srgbClr val="E5E8EB"/>
            </a:solidFill>
          </a:ln>
          <a:effectLst>
            <a:outerShdw blurRad="91440" dist="50292" dir="5400000" rotWithShape="0">
              <a:srgbClr val="22252B">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4160520"/>
            <a:ext cx="4754880" cy="274320"/>
          </a:xfrm>
          <a:prstGeom prst="rect">
            <a:avLst/>
          </a:prstGeom>
          <a:noFill/>
        </p:spPr>
        <p:txBody>
          <a:bodyPr wrap="square" lIns="0" rIns="0" tIns="0" bIns="0" anchor="t">
            <a:spAutoFit/>
          </a:bodyPr>
          <a:lstStyle/>
          <a:p>
            <a:pPr algn="l">
              <a:lnSpc>
                <a:spcPct val="100000"/>
              </a:lnSpc>
            </a:pPr>
            <a:r>
              <a:rPr sz="1050" b="1" spc="140">
                <a:solidFill>
                  <a:srgbClr val="B09F95"/>
                </a:solidFill>
                <a:latin typeface="Arial"/>
              </a:rPr>
              <a:t>IN SYNORA — HONESTLY</a:t>
            </a:r>
          </a:p>
        </p:txBody>
      </p:sp>
      <p:sp>
        <p:nvSpPr>
          <p:cNvPr id="17" name="Rounded Rectangle 16"/>
          <p:cNvSpPr/>
          <p:nvPr/>
        </p:nvSpPr>
        <p:spPr>
          <a:xfrm>
            <a:off x="896112" y="4507992"/>
            <a:ext cx="146304" cy="146304"/>
          </a:xfrm>
          <a:prstGeom prst="roundRect">
            <a:avLst>
              <a:gd name="adj" fmla="val 50000"/>
            </a:avLst>
          </a:prstGeom>
          <a:solidFill>
            <a:srgbClr val="536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52144" y="4480560"/>
            <a:ext cx="4572000" cy="365760"/>
          </a:xfrm>
          <a:prstGeom prst="rect">
            <a:avLst/>
          </a:prstGeom>
          <a:noFill/>
        </p:spPr>
        <p:txBody>
          <a:bodyPr wrap="square" lIns="0" rIns="0" tIns="0" bIns="0" anchor="t">
            <a:spAutoFit/>
          </a:bodyPr>
          <a:lstStyle/>
          <a:p>
            <a:pPr algn="l">
              <a:lnSpc>
                <a:spcPct val="100000"/>
              </a:lnSpc>
            </a:pPr>
            <a:r>
              <a:rPr sz="1250" b="1">
                <a:solidFill>
                  <a:srgbClr val="22252B"/>
                </a:solidFill>
                <a:latin typeface="Arial"/>
              </a:rPr>
              <a:t>Event bubbling  </a:t>
            </a:r>
            <a:r>
              <a:rPr sz="1100" b="0">
                <a:solidFill>
                  <a:srgbClr val="606772"/>
                </a:solidFill>
                <a:latin typeface="Arial"/>
              </a:rPr>
              <a:t>used — clicks bubble to the parent</a:t>
            </a:r>
          </a:p>
        </p:txBody>
      </p:sp>
      <p:sp>
        <p:nvSpPr>
          <p:cNvPr id="19" name="Rounded Rectangle 18"/>
          <p:cNvSpPr/>
          <p:nvPr/>
        </p:nvSpPr>
        <p:spPr>
          <a:xfrm>
            <a:off x="896112" y="4892040"/>
            <a:ext cx="146304" cy="146304"/>
          </a:xfrm>
          <a:prstGeom prst="roundRect">
            <a:avLst>
              <a:gd name="adj" fmla="val 50000"/>
            </a:avLst>
          </a:prstGeom>
          <a:solidFill>
            <a:srgbClr val="536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52144" y="4864608"/>
            <a:ext cx="4572000" cy="365760"/>
          </a:xfrm>
          <a:prstGeom prst="rect">
            <a:avLst/>
          </a:prstGeom>
          <a:noFill/>
        </p:spPr>
        <p:txBody>
          <a:bodyPr wrap="square" lIns="0" rIns="0" tIns="0" bIns="0" anchor="t">
            <a:spAutoFit/>
          </a:bodyPr>
          <a:lstStyle/>
          <a:p>
            <a:pPr algn="l">
              <a:lnSpc>
                <a:spcPct val="100000"/>
              </a:lnSpc>
            </a:pPr>
            <a:r>
              <a:rPr sz="1250" b="1">
                <a:solidFill>
                  <a:srgbClr val="22252B"/>
                </a:solidFill>
                <a:latin typeface="Arial"/>
              </a:rPr>
              <a:t>Event delegation  </a:t>
            </a:r>
            <a:r>
              <a:rPr sz="1100" b="0">
                <a:solidFill>
                  <a:srgbClr val="606772"/>
                </a:solidFill>
                <a:latin typeface="Arial"/>
              </a:rPr>
              <a:t>used — .closest() in ~28 handlers</a:t>
            </a:r>
          </a:p>
        </p:txBody>
      </p:sp>
      <p:sp>
        <p:nvSpPr>
          <p:cNvPr id="21" name="Rounded Rectangle 20"/>
          <p:cNvSpPr/>
          <p:nvPr/>
        </p:nvSpPr>
        <p:spPr>
          <a:xfrm>
            <a:off x="896112" y="5276088"/>
            <a:ext cx="146304" cy="146304"/>
          </a:xfrm>
          <a:prstGeom prst="roundRect">
            <a:avLst>
              <a:gd name="adj" fmla="val 50000"/>
            </a:avLst>
          </a:prstGeom>
          <a:solidFill>
            <a:srgbClr val="536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52144" y="5248656"/>
            <a:ext cx="4572000" cy="365760"/>
          </a:xfrm>
          <a:prstGeom prst="rect">
            <a:avLst/>
          </a:prstGeom>
          <a:noFill/>
        </p:spPr>
        <p:txBody>
          <a:bodyPr wrap="square" lIns="0" rIns="0" tIns="0" bIns="0" anchor="t">
            <a:spAutoFit/>
          </a:bodyPr>
          <a:lstStyle/>
          <a:p>
            <a:pPr algn="l">
              <a:lnSpc>
                <a:spcPct val="100000"/>
              </a:lnSpc>
            </a:pPr>
            <a:r>
              <a:rPr sz="1250" b="1">
                <a:solidFill>
                  <a:srgbClr val="22252B"/>
                </a:solidFill>
                <a:latin typeface="Arial"/>
              </a:rPr>
              <a:t>preventDefault  </a:t>
            </a:r>
            <a:r>
              <a:rPr sz="1100" b="0">
                <a:solidFill>
                  <a:srgbClr val="606772"/>
                </a:solidFill>
                <a:latin typeface="Arial"/>
              </a:rPr>
              <a:t>used — forms &amp; links (~11)</a:t>
            </a:r>
          </a:p>
        </p:txBody>
      </p:sp>
      <p:sp>
        <p:nvSpPr>
          <p:cNvPr id="23" name="Rounded Rectangle 22"/>
          <p:cNvSpPr/>
          <p:nvPr/>
        </p:nvSpPr>
        <p:spPr>
          <a:xfrm>
            <a:off x="896112" y="5705856"/>
            <a:ext cx="146304" cy="146304"/>
          </a:xfrm>
          <a:prstGeom prst="roundRect">
            <a:avLst>
              <a:gd name="adj" fmla="val 50000"/>
            </a:avLst>
          </a:prstGeom>
          <a:solidFill>
            <a:srgbClr val="A3A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52144" y="5678424"/>
            <a:ext cx="4572000" cy="365760"/>
          </a:xfrm>
          <a:prstGeom prst="rect">
            <a:avLst/>
          </a:prstGeom>
          <a:noFill/>
        </p:spPr>
        <p:txBody>
          <a:bodyPr wrap="square" lIns="0" rIns="0" tIns="0" bIns="0" anchor="t">
            <a:spAutoFit/>
          </a:bodyPr>
          <a:lstStyle/>
          <a:p>
            <a:pPr algn="l">
              <a:lnSpc>
                <a:spcPct val="100000"/>
              </a:lnSpc>
            </a:pPr>
            <a:r>
              <a:rPr sz="1250" b="1">
                <a:solidFill>
                  <a:srgbClr val="22252B"/>
                </a:solidFill>
                <a:latin typeface="Arial"/>
              </a:rPr>
              <a:t>Explicit capturing  </a:t>
            </a:r>
            <a:r>
              <a:rPr sz="1100" b="0" i="1">
                <a:solidFill>
                  <a:srgbClr val="A3AEB1"/>
                </a:solidFill>
                <a:latin typeface="Arial"/>
              </a:rPr>
              <a:t>concept only — not a pattern we use</a:t>
            </a:r>
          </a:p>
        </p:txBody>
      </p:sp>
      <p:sp>
        <p:nvSpPr>
          <p:cNvPr id="25" name="Rounded Rectangle 24"/>
          <p:cNvSpPr/>
          <p:nvPr/>
        </p:nvSpPr>
        <p:spPr>
          <a:xfrm>
            <a:off x="6355080" y="1481328"/>
            <a:ext cx="5230368" cy="2365004"/>
          </a:xfrm>
          <a:prstGeom prst="roundRect">
            <a:avLst>
              <a:gd name="adj" fmla="val 3500"/>
            </a:avLst>
          </a:prstGeom>
          <a:solidFill>
            <a:srgbClr val="1C2026"/>
          </a:solidFill>
          <a:ln>
            <a:noFill/>
          </a:ln>
          <a:effectLst>
            <a:outerShdw blurRad="91440" dist="50292" dir="5400000" rotWithShape="0">
              <a:srgbClr val="22252B">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592824" y="1636776"/>
            <a:ext cx="91440" cy="91440"/>
          </a:xfrm>
          <a:prstGeom prst="ellipse">
            <a:avLst/>
          </a:prstGeom>
          <a:solidFill>
            <a:srgbClr val="E06C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757416" y="1636776"/>
            <a:ext cx="91440" cy="91440"/>
          </a:xfrm>
          <a:prstGeom prst="ellipse">
            <a:avLst/>
          </a:prstGeom>
          <a:solidFill>
            <a:srgbClr val="E0B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922008" y="1636776"/>
            <a:ext cx="91440" cy="91440"/>
          </a:xfrm>
          <a:prstGeom prst="ellipse">
            <a:avLst/>
          </a:prstGeom>
          <a:solidFill>
            <a:srgbClr val="8FB9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59752" y="1572768"/>
            <a:ext cx="4187951" cy="256032"/>
          </a:xfrm>
          <a:prstGeom prst="rect">
            <a:avLst/>
          </a:prstGeom>
          <a:noFill/>
        </p:spPr>
        <p:txBody>
          <a:bodyPr wrap="square" lIns="0" rIns="0" tIns="0" bIns="0" anchor="ctr">
            <a:spAutoFit/>
          </a:bodyPr>
          <a:lstStyle/>
          <a:p>
            <a:pPr algn="l">
              <a:lnSpc>
                <a:spcPct val="100000"/>
              </a:lnSpc>
            </a:pPr>
            <a:r>
              <a:rPr sz="1050" b="0">
                <a:solidFill>
                  <a:srgbClr val="8A929C"/>
                </a:solidFill>
                <a:latin typeface="Courier New"/>
              </a:rPr>
              <a:t>scripts/tasks.js — event delegation</a:t>
            </a:r>
          </a:p>
        </p:txBody>
      </p:sp>
      <p:sp>
        <p:nvSpPr>
          <p:cNvPr id="30" name="TextBox 29"/>
          <p:cNvSpPr txBox="1"/>
          <p:nvPr/>
        </p:nvSpPr>
        <p:spPr>
          <a:xfrm>
            <a:off x="6592824" y="1996135"/>
            <a:ext cx="4754879" cy="1730044"/>
          </a:xfrm>
          <a:prstGeom prst="rect">
            <a:avLst/>
          </a:prstGeom>
          <a:noFill/>
        </p:spPr>
        <p:txBody>
          <a:bodyPr wrap="none" lIns="0" rIns="0" tIns="0" bIns="0">
            <a:spAutoFit/>
          </a:bodyPr>
          <a:lstStyle/>
          <a:p>
            <a:pPr>
              <a:lnSpc>
                <a:spcPct val="128000"/>
              </a:lnSpc>
            </a:pPr>
            <a:r>
              <a:rPr sz="1200">
                <a:solidFill>
                  <a:srgbClr val="7C8590"/>
                </a:solidFill>
                <a:latin typeface="Courier New"/>
              </a:rPr>
              <a:t>// ONE listener handles every task row</a:t>
            </a:r>
          </a:p>
          <a:p>
            <a:pPr>
              <a:lnSpc>
                <a:spcPct val="128000"/>
              </a:lnSpc>
            </a:pPr>
            <a:r>
              <a:rPr sz="1200">
                <a:solidFill>
                  <a:srgbClr val="E7EAEE"/>
                </a:solidFill>
                <a:latin typeface="Courier New"/>
              </a:rPr>
              <a:t>container.</a:t>
            </a:r>
            <a:r>
              <a:rPr sz="1200">
                <a:solidFill>
                  <a:srgbClr val="D6C6B8"/>
                </a:solidFill>
                <a:latin typeface="Courier New"/>
              </a:rPr>
              <a:t>addEventListener</a:t>
            </a:r>
            <a:r>
              <a:rPr sz="1200">
                <a:solidFill>
                  <a:srgbClr val="E7EAEE"/>
                </a:solidFill>
                <a:latin typeface="Courier New"/>
              </a:rPr>
              <a:t>(</a:t>
            </a:r>
            <a:r>
              <a:rPr sz="1200">
                <a:solidFill>
                  <a:srgbClr val="CBB69F"/>
                </a:solidFill>
                <a:latin typeface="Courier New"/>
              </a:rPr>
              <a:t>"click"</a:t>
            </a:r>
            <a:r>
              <a:rPr sz="1200">
                <a:solidFill>
                  <a:srgbClr val="E7EAEE"/>
                </a:solidFill>
                <a:latin typeface="Courier New"/>
              </a:rPr>
              <a:t>, </a:t>
            </a:r>
            <a:r>
              <a:rPr sz="1200">
                <a:solidFill>
                  <a:srgbClr val="A9C3B0"/>
                </a:solidFill>
                <a:latin typeface="Courier New"/>
              </a:rPr>
              <a:t>function</a:t>
            </a:r>
            <a:r>
              <a:rPr sz="1200">
                <a:solidFill>
                  <a:srgbClr val="E7EAEE"/>
                </a:solidFill>
                <a:latin typeface="Courier New"/>
              </a:rPr>
              <a:t>(e){</a:t>
            </a:r>
          </a:p>
          <a:p>
            <a:pPr>
              <a:lnSpc>
                <a:spcPct val="128000"/>
              </a:lnSpc>
            </a:pPr>
            <a:r>
              <a:rPr sz="1200">
                <a:solidFill>
                  <a:srgbClr val="A9C3B0"/>
                </a:solidFill>
                <a:latin typeface="Courier New"/>
              </a:rPr>
              <a:t>  var</a:t>
            </a:r>
            <a:r>
              <a:rPr sz="1200">
                <a:solidFill>
                  <a:srgbClr val="E7EAEE"/>
                </a:solidFill>
                <a:latin typeface="Courier New"/>
              </a:rPr>
              <a:t> t = e.target.</a:t>
            </a:r>
            <a:r>
              <a:rPr sz="1200">
                <a:solidFill>
                  <a:srgbClr val="D6C6B8"/>
                </a:solidFill>
                <a:latin typeface="Courier New"/>
              </a:rPr>
              <a:t>closest</a:t>
            </a:r>
            <a:r>
              <a:rPr sz="1200">
                <a:solidFill>
                  <a:srgbClr val="E7EAEE"/>
                </a:solidFill>
                <a:latin typeface="Courier New"/>
              </a:rPr>
              <a:t>(</a:t>
            </a:r>
            <a:r>
              <a:rPr sz="1200">
                <a:solidFill>
                  <a:srgbClr val="CBB69F"/>
                </a:solidFill>
                <a:latin typeface="Courier New"/>
              </a:rPr>
              <a:t>"[data-toggle]"</a:t>
            </a:r>
            <a:r>
              <a:rPr sz="1200">
                <a:solidFill>
                  <a:srgbClr val="E7EAEE"/>
                </a:solidFill>
                <a:latin typeface="Courier New"/>
              </a:rPr>
              <a:t>);</a:t>
            </a:r>
          </a:p>
          <a:p>
            <a:pPr>
              <a:lnSpc>
                <a:spcPct val="128000"/>
              </a:lnSpc>
            </a:pPr>
            <a:r>
              <a:rPr sz="1200">
                <a:solidFill>
                  <a:srgbClr val="A9C3B0"/>
                </a:solidFill>
                <a:latin typeface="Courier New"/>
              </a:rPr>
              <a:t>  var</a:t>
            </a:r>
            <a:r>
              <a:rPr sz="1200">
                <a:solidFill>
                  <a:srgbClr val="E7EAEE"/>
                </a:solidFill>
                <a:latin typeface="Courier New"/>
              </a:rPr>
              <a:t> d = e.target.</a:t>
            </a:r>
            <a:r>
              <a:rPr sz="1200">
                <a:solidFill>
                  <a:srgbClr val="D6C6B8"/>
                </a:solidFill>
                <a:latin typeface="Courier New"/>
              </a:rPr>
              <a:t>closest</a:t>
            </a:r>
            <a:r>
              <a:rPr sz="1200">
                <a:solidFill>
                  <a:srgbClr val="E7EAEE"/>
                </a:solidFill>
                <a:latin typeface="Courier New"/>
              </a:rPr>
              <a:t>(</a:t>
            </a:r>
            <a:r>
              <a:rPr sz="1200">
                <a:solidFill>
                  <a:srgbClr val="CBB69F"/>
                </a:solidFill>
                <a:latin typeface="Courier New"/>
              </a:rPr>
              <a:t>"[data-del]"</a:t>
            </a:r>
            <a:r>
              <a:rPr sz="1200">
                <a:solidFill>
                  <a:srgbClr val="E7EAEE"/>
                </a:solidFill>
                <a:latin typeface="Courier New"/>
              </a:rPr>
              <a:t>);</a:t>
            </a:r>
          </a:p>
          <a:p>
            <a:pPr>
              <a:lnSpc>
                <a:spcPct val="128000"/>
              </a:lnSpc>
            </a:pPr>
            <a:r>
              <a:rPr sz="1200">
                <a:solidFill>
                  <a:srgbClr val="A9C3B0"/>
                </a:solidFill>
                <a:latin typeface="Courier New"/>
              </a:rPr>
              <a:t>  if</a:t>
            </a:r>
            <a:r>
              <a:rPr sz="1200">
                <a:solidFill>
                  <a:srgbClr val="E7EAEE"/>
                </a:solidFill>
                <a:latin typeface="Courier New"/>
              </a:rPr>
              <a:t> (t) { toggleComplete(t...); rerender(); }</a:t>
            </a:r>
          </a:p>
          <a:p>
            <a:pPr>
              <a:lnSpc>
                <a:spcPct val="128000"/>
              </a:lnSpc>
            </a:pPr>
            <a:r>
              <a:rPr sz="1200">
                <a:solidFill>
                  <a:srgbClr val="A9C3B0"/>
                </a:solidFill>
                <a:latin typeface="Courier New"/>
              </a:rPr>
              <a:t>  else if</a:t>
            </a:r>
            <a:r>
              <a:rPr sz="1200">
                <a:solidFill>
                  <a:srgbClr val="E7EAEE"/>
                </a:solidFill>
                <a:latin typeface="Courier New"/>
              </a:rPr>
              <a:t> (d) { remove(d...); rerender(); }</a:t>
            </a:r>
          </a:p>
          <a:p>
            <a:pPr>
              <a:lnSpc>
                <a:spcPct val="128000"/>
              </a:lnSpc>
            </a:pPr>
            <a:r>
              <a:rPr sz="1200">
                <a:solidFill>
                  <a:srgbClr val="E7EAEE"/>
                </a:solidFill>
                <a:latin typeface="Courier New"/>
              </a:rPr>
              <a:t>});</a:t>
            </a:r>
          </a:p>
        </p:txBody>
      </p:sp>
      <p:sp>
        <p:nvSpPr>
          <p:cNvPr id="31" name="TextBox 30"/>
          <p:cNvSpPr txBox="1"/>
          <p:nvPr/>
        </p:nvSpPr>
        <p:spPr>
          <a:xfrm>
            <a:off x="6355080" y="4434840"/>
            <a:ext cx="5230368" cy="1645920"/>
          </a:xfrm>
          <a:prstGeom prst="rect">
            <a:avLst/>
          </a:prstGeom>
          <a:noFill/>
        </p:spPr>
        <p:txBody>
          <a:bodyPr wrap="square" lIns="0" rIns="0" tIns="0" bIns="0" anchor="t">
            <a:spAutoFit/>
          </a:bodyPr>
          <a:lstStyle/>
          <a:p>
            <a:pPr algn="l">
              <a:lnSpc>
                <a:spcPct val="130000"/>
              </a:lnSpc>
            </a:pPr>
            <a:r>
              <a:rPr sz="1200" b="0">
                <a:solidFill>
                  <a:srgbClr val="606772"/>
                </a:solidFill>
                <a:latin typeface="Arial"/>
              </a:rPr>
              <a:t>Task rows are re-rendered constantly, so binding a listener to each button would be fragile. Instead one listener sits on the container and uses e.target.closest() to find which button was clicked — that is event delegation, powered by bubbling.</a:t>
            </a:r>
          </a:p>
        </p:txBody>
      </p:sp>
      <p:sp>
        <p:nvSpPr>
          <p:cNvPr id="32" name="TextBox 31"/>
          <p:cNvSpPr txBox="1"/>
          <p:nvPr/>
        </p:nvSpPr>
        <p:spPr>
          <a:xfrm>
            <a:off x="640080" y="6455664"/>
            <a:ext cx="4572000" cy="274320"/>
          </a:xfrm>
          <a:prstGeom prst="rect">
            <a:avLst/>
          </a:prstGeom>
          <a:noFill/>
        </p:spPr>
        <p:txBody>
          <a:bodyPr wrap="square" lIns="0" rIns="0" tIns="0" bIns="0" anchor="t">
            <a:spAutoFit/>
          </a:bodyPr>
          <a:lstStyle/>
          <a:p>
            <a:pPr algn="l">
              <a:lnSpc>
                <a:spcPct val="100000"/>
              </a:lnSpc>
            </a:pPr>
            <a:r>
              <a:rPr sz="950" b="0">
                <a:solidFill>
                  <a:srgbClr val="A3AEB1"/>
                </a:solidFill>
                <a:latin typeface="Arial"/>
              </a:rPr>
              <a:t>Synora  ·  Web Development Project</a:t>
            </a:r>
          </a:p>
        </p:txBody>
      </p:sp>
      <p:sp>
        <p:nvSpPr>
          <p:cNvPr id="33" name="TextBox 32"/>
          <p:cNvSpPr txBox="1"/>
          <p:nvPr/>
        </p:nvSpPr>
        <p:spPr>
          <a:xfrm>
            <a:off x="9722815" y="6455664"/>
            <a:ext cx="1828800" cy="274320"/>
          </a:xfrm>
          <a:prstGeom prst="rect">
            <a:avLst/>
          </a:prstGeom>
          <a:noFill/>
        </p:spPr>
        <p:txBody>
          <a:bodyPr wrap="square" lIns="0" rIns="0" tIns="0" bIns="0" anchor="t">
            <a:spAutoFit/>
          </a:bodyPr>
          <a:lstStyle/>
          <a:p>
            <a:pPr algn="r">
              <a:lnSpc>
                <a:spcPct val="100000"/>
              </a:lnSpc>
            </a:pPr>
            <a:r>
              <a:rPr sz="950" b="0">
                <a:solidFill>
                  <a:srgbClr val="A3AEB1"/>
                </a:solidFill>
                <a:latin typeface="Arial"/>
              </a:rPr>
              <a:t>15 / 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7315200" cy="274320"/>
          </a:xfrm>
          <a:prstGeom prst="rect">
            <a:avLst/>
          </a:prstGeom>
          <a:noFill/>
        </p:spPr>
        <p:txBody>
          <a:bodyPr wrap="square" lIns="0" rIns="0" tIns="0" bIns="0" anchor="t">
            <a:spAutoFit/>
          </a:bodyPr>
          <a:lstStyle/>
          <a:p>
            <a:pPr algn="l">
              <a:lnSpc>
                <a:spcPct val="100000"/>
              </a:lnSpc>
            </a:pPr>
            <a:r>
              <a:rPr sz="1200" b="1" spc="180">
                <a:solidFill>
                  <a:srgbClr val="B09F95"/>
                </a:solidFill>
                <a:latin typeface="Arial"/>
              </a:rPr>
              <a:t>EVENTS  ·  FORMS &amp; VALIDATION</a:t>
            </a:r>
          </a:p>
        </p:txBody>
      </p:sp>
      <p:sp>
        <p:nvSpPr>
          <p:cNvPr id="4" name="TextBox 3"/>
          <p:cNvSpPr txBox="1"/>
          <p:nvPr/>
        </p:nvSpPr>
        <p:spPr>
          <a:xfrm>
            <a:off x="640080" y="841247"/>
            <a:ext cx="10911535" cy="822960"/>
          </a:xfrm>
          <a:prstGeom prst="rect">
            <a:avLst/>
          </a:prstGeom>
          <a:noFill/>
        </p:spPr>
        <p:txBody>
          <a:bodyPr wrap="square" lIns="0" rIns="0" tIns="0" bIns="0" anchor="t">
            <a:spAutoFit/>
          </a:bodyPr>
          <a:lstStyle/>
          <a:p>
            <a:pPr algn="l">
              <a:lnSpc>
                <a:spcPct val="100000"/>
              </a:lnSpc>
            </a:pPr>
            <a:r>
              <a:rPr sz="3000" b="1">
                <a:solidFill>
                  <a:srgbClr val="22252B"/>
                </a:solidFill>
                <a:latin typeface="Arial"/>
              </a:rPr>
              <a:t>Catching mistakes before they save</a:t>
            </a:r>
          </a:p>
        </p:txBody>
      </p:sp>
      <p:sp>
        <p:nvSpPr>
          <p:cNvPr id="5" name="Rounded Rectangle 4"/>
          <p:cNvSpPr/>
          <p:nvPr/>
        </p:nvSpPr>
        <p:spPr>
          <a:xfrm>
            <a:off x="640080" y="1481328"/>
            <a:ext cx="5532120" cy="3457574"/>
          </a:xfrm>
          <a:prstGeom prst="roundRect">
            <a:avLst>
              <a:gd name="adj" fmla="val 4500"/>
            </a:avLst>
          </a:prstGeom>
          <a:solidFill>
            <a:srgbClr val="FFFFFF"/>
          </a:solidFill>
          <a:ln>
            <a:noFill/>
          </a:ln>
          <a:effectLst>
            <a:outerShdw blurRad="91440" dist="50292" dir="5400000" rotWithShape="0">
              <a:srgbClr val="22252B">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in_desktop.png"/>
          <p:cNvPicPr>
            <a:picLocks noChangeAspect="1"/>
          </p:cNvPicPr>
          <p:nvPr/>
        </p:nvPicPr>
        <p:blipFill>
          <a:blip r:embed="rId2"/>
          <a:stretch>
            <a:fillRect/>
          </a:stretch>
        </p:blipFill>
        <p:spPr>
          <a:xfrm>
            <a:off x="640080" y="1481328"/>
            <a:ext cx="5532120" cy="3457574"/>
          </a:xfrm>
          <a:prstGeom prst="rect">
            <a:avLst/>
          </a:prstGeom>
          <a:effectLst/>
        </p:spPr>
      </p:pic>
      <p:sp>
        <p:nvSpPr>
          <p:cNvPr id="7" name="TextBox 6"/>
          <p:cNvSpPr txBox="1"/>
          <p:nvPr/>
        </p:nvSpPr>
        <p:spPr>
          <a:xfrm>
            <a:off x="640080" y="5074920"/>
            <a:ext cx="5532120" cy="274320"/>
          </a:xfrm>
          <a:prstGeom prst="rect">
            <a:avLst/>
          </a:prstGeom>
          <a:noFill/>
        </p:spPr>
        <p:txBody>
          <a:bodyPr wrap="square" lIns="0" rIns="0" tIns="0" bIns="0" anchor="t">
            <a:spAutoFit/>
          </a:bodyPr>
          <a:lstStyle/>
          <a:p>
            <a:pPr algn="l">
              <a:lnSpc>
                <a:spcPct val="100000"/>
              </a:lnSpc>
            </a:pPr>
            <a:r>
              <a:rPr sz="1050" b="0" i="1">
                <a:solidFill>
                  <a:srgbClr val="A3AEB1"/>
                </a:solidFill>
                <a:latin typeface="Arial"/>
              </a:rPr>
              <a:t>Sign-in and sign-up validate on submit and clear errors as you type.</a:t>
            </a:r>
          </a:p>
        </p:txBody>
      </p:sp>
      <p:sp>
        <p:nvSpPr>
          <p:cNvPr id="8" name="TextBox 7"/>
          <p:cNvSpPr txBox="1"/>
          <p:nvPr/>
        </p:nvSpPr>
        <p:spPr>
          <a:xfrm>
            <a:off x="6446520" y="1517904"/>
            <a:ext cx="5120640" cy="365760"/>
          </a:xfrm>
          <a:prstGeom prst="rect">
            <a:avLst/>
          </a:prstGeom>
          <a:noFill/>
        </p:spPr>
        <p:txBody>
          <a:bodyPr wrap="square" lIns="0" rIns="0" tIns="0" bIns="0" anchor="t">
            <a:spAutoFit/>
          </a:bodyPr>
          <a:lstStyle/>
          <a:p>
            <a:pPr algn="l">
              <a:lnSpc>
                <a:spcPct val="100000"/>
              </a:lnSpc>
            </a:pPr>
            <a:r>
              <a:rPr sz="1450" b="1">
                <a:solidFill>
                  <a:srgbClr val="22252B"/>
                </a:solidFill>
                <a:latin typeface="Arial"/>
              </a:rPr>
              <a:t>Two layers of validation</a:t>
            </a:r>
          </a:p>
        </p:txBody>
      </p:sp>
      <p:sp>
        <p:nvSpPr>
          <p:cNvPr id="9" name="Rounded Rectangle 8"/>
          <p:cNvSpPr/>
          <p:nvPr/>
        </p:nvSpPr>
        <p:spPr>
          <a:xfrm>
            <a:off x="6446520" y="1965960"/>
            <a:ext cx="118872" cy="640080"/>
          </a:xfrm>
          <a:prstGeom prst="roundRect">
            <a:avLst>
              <a:gd name="adj" fmla="val 40000"/>
            </a:avLst>
          </a:prstGeom>
          <a:solidFill>
            <a:srgbClr val="B09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20840" y="1965960"/>
            <a:ext cx="4846320" cy="365760"/>
          </a:xfrm>
          <a:prstGeom prst="rect">
            <a:avLst/>
          </a:prstGeom>
          <a:noFill/>
        </p:spPr>
        <p:txBody>
          <a:bodyPr wrap="square" lIns="0" rIns="0" tIns="0" bIns="0" anchor="t">
            <a:spAutoFit/>
          </a:bodyPr>
          <a:lstStyle/>
          <a:p>
            <a:pPr algn="l">
              <a:lnSpc>
                <a:spcPct val="100000"/>
              </a:lnSpc>
            </a:pPr>
            <a:r>
              <a:rPr sz="1300" b="1">
                <a:solidFill>
                  <a:srgbClr val="22252B"/>
                </a:solidFill>
                <a:latin typeface="Arial"/>
              </a:rPr>
              <a:t>HTML attributes</a:t>
            </a:r>
          </a:p>
        </p:txBody>
      </p:sp>
      <p:sp>
        <p:nvSpPr>
          <p:cNvPr id="11" name="TextBox 10"/>
          <p:cNvSpPr txBox="1"/>
          <p:nvPr/>
        </p:nvSpPr>
        <p:spPr>
          <a:xfrm>
            <a:off x="6720840" y="2258568"/>
            <a:ext cx="4846320" cy="457200"/>
          </a:xfrm>
          <a:prstGeom prst="rect">
            <a:avLst/>
          </a:prstGeom>
          <a:noFill/>
        </p:spPr>
        <p:txBody>
          <a:bodyPr wrap="square" lIns="0" rIns="0" tIns="0" bIns="0" anchor="t">
            <a:spAutoFit/>
          </a:bodyPr>
          <a:lstStyle/>
          <a:p>
            <a:pPr algn="l">
              <a:lnSpc>
                <a:spcPct val="115000"/>
              </a:lnSpc>
            </a:pPr>
            <a:r>
              <a:rPr sz="1100" b="0">
                <a:solidFill>
                  <a:srgbClr val="606772"/>
                </a:solidFill>
                <a:latin typeface="Arial"/>
              </a:rPr>
              <a:t>required, type=email, minlength — the browser's first check</a:t>
            </a:r>
          </a:p>
        </p:txBody>
      </p:sp>
      <p:sp>
        <p:nvSpPr>
          <p:cNvPr id="12" name="Rounded Rectangle 11"/>
          <p:cNvSpPr/>
          <p:nvPr/>
        </p:nvSpPr>
        <p:spPr>
          <a:xfrm>
            <a:off x="6446520" y="2752344"/>
            <a:ext cx="118872" cy="640080"/>
          </a:xfrm>
          <a:prstGeom prst="roundRect">
            <a:avLst>
              <a:gd name="adj" fmla="val 40000"/>
            </a:avLst>
          </a:prstGeom>
          <a:solidFill>
            <a:srgbClr val="B09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2752344"/>
            <a:ext cx="4846320" cy="365760"/>
          </a:xfrm>
          <a:prstGeom prst="rect">
            <a:avLst/>
          </a:prstGeom>
          <a:noFill/>
        </p:spPr>
        <p:txBody>
          <a:bodyPr wrap="square" lIns="0" rIns="0" tIns="0" bIns="0" anchor="t">
            <a:spAutoFit/>
          </a:bodyPr>
          <a:lstStyle/>
          <a:p>
            <a:pPr algn="l">
              <a:lnSpc>
                <a:spcPct val="100000"/>
              </a:lnSpc>
            </a:pPr>
            <a:r>
              <a:rPr sz="1300" b="1">
                <a:solidFill>
                  <a:srgbClr val="22252B"/>
                </a:solidFill>
                <a:latin typeface="Arial"/>
              </a:rPr>
              <a:t>JavaScript on submit</a:t>
            </a:r>
          </a:p>
        </p:txBody>
      </p:sp>
      <p:sp>
        <p:nvSpPr>
          <p:cNvPr id="14" name="TextBox 13"/>
          <p:cNvSpPr txBox="1"/>
          <p:nvPr/>
        </p:nvSpPr>
        <p:spPr>
          <a:xfrm>
            <a:off x="6720840" y="3044951"/>
            <a:ext cx="4846320" cy="457200"/>
          </a:xfrm>
          <a:prstGeom prst="rect">
            <a:avLst/>
          </a:prstGeom>
          <a:noFill/>
        </p:spPr>
        <p:txBody>
          <a:bodyPr wrap="square" lIns="0" rIns="0" tIns="0" bIns="0" anchor="t">
            <a:spAutoFit/>
          </a:bodyPr>
          <a:lstStyle/>
          <a:p>
            <a:pPr algn="l">
              <a:lnSpc>
                <a:spcPct val="115000"/>
              </a:lnSpc>
            </a:pPr>
            <a:r>
              <a:rPr sz="1100" b="0">
                <a:solidFill>
                  <a:srgbClr val="606772"/>
                </a:solidFill>
                <a:latin typeface="Arial"/>
              </a:rPr>
              <a:t>e.preventDefault(), trim, regex, then friendly inline errors</a:t>
            </a:r>
          </a:p>
        </p:txBody>
      </p:sp>
      <p:sp>
        <p:nvSpPr>
          <p:cNvPr id="15" name="Rounded Rectangle 14"/>
          <p:cNvSpPr/>
          <p:nvPr/>
        </p:nvSpPr>
        <p:spPr>
          <a:xfrm>
            <a:off x="6446520" y="3538727"/>
            <a:ext cx="118872" cy="640080"/>
          </a:xfrm>
          <a:prstGeom prst="roundRect">
            <a:avLst>
              <a:gd name="adj" fmla="val 40000"/>
            </a:avLst>
          </a:prstGeom>
          <a:solidFill>
            <a:srgbClr val="B09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20840" y="3538727"/>
            <a:ext cx="4846320" cy="365760"/>
          </a:xfrm>
          <a:prstGeom prst="rect">
            <a:avLst/>
          </a:prstGeom>
          <a:noFill/>
        </p:spPr>
        <p:txBody>
          <a:bodyPr wrap="square" lIns="0" rIns="0" tIns="0" bIns="0" anchor="t">
            <a:spAutoFit/>
          </a:bodyPr>
          <a:lstStyle/>
          <a:p>
            <a:pPr algn="l">
              <a:lnSpc>
                <a:spcPct val="100000"/>
              </a:lnSpc>
            </a:pPr>
            <a:r>
              <a:rPr sz="1300" b="1">
                <a:solidFill>
                  <a:srgbClr val="22252B"/>
                </a:solidFill>
                <a:latin typeface="Arial"/>
              </a:rPr>
              <a:t>Live error clearing</a:t>
            </a:r>
          </a:p>
        </p:txBody>
      </p:sp>
      <p:sp>
        <p:nvSpPr>
          <p:cNvPr id="17" name="TextBox 16"/>
          <p:cNvSpPr txBox="1"/>
          <p:nvPr/>
        </p:nvSpPr>
        <p:spPr>
          <a:xfrm>
            <a:off x="6720840" y="3831335"/>
            <a:ext cx="4846320" cy="457200"/>
          </a:xfrm>
          <a:prstGeom prst="rect">
            <a:avLst/>
          </a:prstGeom>
          <a:noFill/>
        </p:spPr>
        <p:txBody>
          <a:bodyPr wrap="square" lIns="0" rIns="0" tIns="0" bIns="0" anchor="t">
            <a:spAutoFit/>
          </a:bodyPr>
          <a:lstStyle/>
          <a:p>
            <a:pPr algn="l">
              <a:lnSpc>
                <a:spcPct val="115000"/>
              </a:lnSpc>
            </a:pPr>
            <a:r>
              <a:rPr sz="1100" b="0">
                <a:solidFill>
                  <a:srgbClr val="606772"/>
                </a:solidFill>
                <a:latin typeface="Arial"/>
              </a:rPr>
              <a:t>the error disappears the moment the field is corrected</a:t>
            </a:r>
          </a:p>
        </p:txBody>
      </p:sp>
      <p:sp>
        <p:nvSpPr>
          <p:cNvPr id="18" name="Rounded Rectangle 17"/>
          <p:cNvSpPr/>
          <p:nvPr/>
        </p:nvSpPr>
        <p:spPr>
          <a:xfrm>
            <a:off x="6446520" y="4434840"/>
            <a:ext cx="5138928" cy="1848063"/>
          </a:xfrm>
          <a:prstGeom prst="roundRect">
            <a:avLst>
              <a:gd name="adj" fmla="val 3500"/>
            </a:avLst>
          </a:prstGeom>
          <a:solidFill>
            <a:srgbClr val="1C2026"/>
          </a:solidFill>
          <a:ln>
            <a:noFill/>
          </a:ln>
          <a:effectLst>
            <a:outerShdw blurRad="91440" dist="50292" dir="5400000" rotWithShape="0">
              <a:srgbClr val="22252B">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684264" y="4590288"/>
            <a:ext cx="91440" cy="91440"/>
          </a:xfrm>
          <a:prstGeom prst="ellipse">
            <a:avLst/>
          </a:prstGeom>
          <a:solidFill>
            <a:srgbClr val="E06C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48855" y="4590288"/>
            <a:ext cx="91440" cy="91440"/>
          </a:xfrm>
          <a:prstGeom prst="ellipse">
            <a:avLst/>
          </a:prstGeom>
          <a:solidFill>
            <a:srgbClr val="E0B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13448" y="4590288"/>
            <a:ext cx="91440" cy="91440"/>
          </a:xfrm>
          <a:prstGeom prst="ellipse">
            <a:avLst/>
          </a:prstGeom>
          <a:solidFill>
            <a:srgbClr val="8FB9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51192" y="4526279"/>
            <a:ext cx="4096511" cy="256032"/>
          </a:xfrm>
          <a:prstGeom prst="rect">
            <a:avLst/>
          </a:prstGeom>
          <a:noFill/>
        </p:spPr>
        <p:txBody>
          <a:bodyPr wrap="square" lIns="0" rIns="0" tIns="0" bIns="0" anchor="ctr">
            <a:spAutoFit/>
          </a:bodyPr>
          <a:lstStyle/>
          <a:p>
            <a:pPr algn="l">
              <a:lnSpc>
                <a:spcPct val="100000"/>
              </a:lnSpc>
            </a:pPr>
            <a:r>
              <a:rPr sz="1050" b="0">
                <a:solidFill>
                  <a:srgbClr val="8A929C"/>
                </a:solidFill>
                <a:latin typeface="Courier New"/>
              </a:rPr>
              <a:t>scripts/auth.js — sign-up validation</a:t>
            </a:r>
          </a:p>
        </p:txBody>
      </p:sp>
      <p:sp>
        <p:nvSpPr>
          <p:cNvPr id="23" name="TextBox 22"/>
          <p:cNvSpPr txBox="1"/>
          <p:nvPr/>
        </p:nvSpPr>
        <p:spPr>
          <a:xfrm>
            <a:off x="6684264" y="4949647"/>
            <a:ext cx="4663440" cy="1213104"/>
          </a:xfrm>
          <a:prstGeom prst="rect">
            <a:avLst/>
          </a:prstGeom>
          <a:noFill/>
        </p:spPr>
        <p:txBody>
          <a:bodyPr wrap="none" lIns="0" rIns="0" tIns="0" bIns="0">
            <a:spAutoFit/>
          </a:bodyPr>
          <a:lstStyle/>
          <a:p>
            <a:pPr>
              <a:lnSpc>
                <a:spcPct val="128000"/>
              </a:lnSpc>
            </a:pPr>
            <a:r>
              <a:rPr sz="1150">
                <a:solidFill>
                  <a:srgbClr val="E7EAEE"/>
                </a:solidFill>
                <a:latin typeface="Courier New"/>
              </a:rPr>
              <a:t>form.</a:t>
            </a:r>
            <a:r>
              <a:rPr sz="1150">
                <a:solidFill>
                  <a:srgbClr val="D6C6B8"/>
                </a:solidFill>
                <a:latin typeface="Courier New"/>
              </a:rPr>
              <a:t>addEventListener</a:t>
            </a:r>
            <a:r>
              <a:rPr sz="1150">
                <a:solidFill>
                  <a:srgbClr val="E7EAEE"/>
                </a:solidFill>
                <a:latin typeface="Courier New"/>
              </a:rPr>
              <a:t>(</a:t>
            </a:r>
            <a:r>
              <a:rPr sz="1150">
                <a:solidFill>
                  <a:srgbClr val="CBB69F"/>
                </a:solidFill>
                <a:latin typeface="Courier New"/>
              </a:rPr>
              <a:t>"submit"</a:t>
            </a:r>
            <a:r>
              <a:rPr sz="1150">
                <a:solidFill>
                  <a:srgbClr val="E7EAEE"/>
                </a:solidFill>
                <a:latin typeface="Courier New"/>
              </a:rPr>
              <a:t>, </a:t>
            </a:r>
            <a:r>
              <a:rPr sz="1150">
                <a:solidFill>
                  <a:srgbClr val="A9C3B0"/>
                </a:solidFill>
                <a:latin typeface="Courier New"/>
              </a:rPr>
              <a:t>function</a:t>
            </a:r>
            <a:r>
              <a:rPr sz="1150">
                <a:solidFill>
                  <a:srgbClr val="E7EAEE"/>
                </a:solidFill>
                <a:latin typeface="Courier New"/>
              </a:rPr>
              <a:t>(e){</a:t>
            </a:r>
          </a:p>
          <a:p>
            <a:pPr>
              <a:lnSpc>
                <a:spcPct val="128000"/>
              </a:lnSpc>
            </a:pPr>
            <a:r>
              <a:rPr sz="1150">
                <a:solidFill>
                  <a:srgbClr val="E7EAEE"/>
                </a:solidFill>
                <a:latin typeface="Courier New"/>
              </a:rPr>
              <a:t>  e.</a:t>
            </a:r>
            <a:r>
              <a:rPr sz="1150">
                <a:solidFill>
                  <a:srgbClr val="D6C6B8"/>
                </a:solidFill>
                <a:latin typeface="Courier New"/>
              </a:rPr>
              <a:t>preventDefault</a:t>
            </a:r>
            <a:r>
              <a:rPr sz="1150">
                <a:solidFill>
                  <a:srgbClr val="E7EAEE"/>
                </a:solidFill>
                <a:latin typeface="Courier New"/>
              </a:rPr>
              <a:t>();</a:t>
            </a:r>
            <a:r>
              <a:rPr sz="1150">
                <a:solidFill>
                  <a:srgbClr val="7C8590"/>
                </a:solidFill>
                <a:latin typeface="Courier New"/>
              </a:rPr>
              <a:t>            // stop native submit</a:t>
            </a:r>
          </a:p>
          <a:p>
            <a:pPr>
              <a:lnSpc>
                <a:spcPct val="128000"/>
              </a:lnSpc>
            </a:pPr>
            <a:r>
              <a:rPr sz="1150">
                <a:solidFill>
                  <a:srgbClr val="A9C3B0"/>
                </a:solidFill>
                <a:latin typeface="Courier New"/>
              </a:rPr>
              <a:t>  if</a:t>
            </a:r>
            <a:r>
              <a:rPr sz="1150">
                <a:solidFill>
                  <a:srgbClr val="E7EAEE"/>
                </a:solidFill>
                <a:latin typeface="Courier New"/>
              </a:rPr>
              <a:t> (!EMAIL_RE.</a:t>
            </a:r>
            <a:r>
              <a:rPr sz="1150">
                <a:solidFill>
                  <a:srgbClr val="D6C6B8"/>
                </a:solidFill>
                <a:latin typeface="Courier New"/>
              </a:rPr>
              <a:t>test</a:t>
            </a:r>
            <a:r>
              <a:rPr sz="1150">
                <a:solidFill>
                  <a:srgbClr val="E7EAEE"/>
                </a:solidFill>
                <a:latin typeface="Courier New"/>
              </a:rPr>
              <a:t>(email))</a:t>
            </a:r>
          </a:p>
          <a:p>
            <a:pPr>
              <a:lnSpc>
                <a:spcPct val="128000"/>
              </a:lnSpc>
            </a:pPr>
            <a:r>
              <a:rPr sz="1150">
                <a:solidFill>
                  <a:srgbClr val="E7EAEE"/>
                </a:solidFill>
                <a:latin typeface="Courier New"/>
              </a:rPr>
              <a:t>    setError(</a:t>
            </a:r>
            <a:r>
              <a:rPr sz="1150">
                <a:solidFill>
                  <a:srgbClr val="CBB69F"/>
                </a:solidFill>
                <a:latin typeface="Courier New"/>
              </a:rPr>
              <a:t>"email"</a:t>
            </a:r>
            <a:r>
              <a:rPr sz="1150">
                <a:solidFill>
                  <a:srgbClr val="E7EAEE"/>
                </a:solidFill>
                <a:latin typeface="Courier New"/>
              </a:rPr>
              <a:t>, </a:t>
            </a:r>
            <a:r>
              <a:rPr sz="1150">
                <a:solidFill>
                  <a:srgbClr val="CBB69F"/>
                </a:solidFill>
                <a:latin typeface="Courier New"/>
              </a:rPr>
              <a:t>"Check your email."</a:t>
            </a:r>
            <a:r>
              <a:rPr sz="1150">
                <a:solidFill>
                  <a:srgbClr val="E7EAEE"/>
                </a:solidFill>
                <a:latin typeface="Courier New"/>
              </a:rPr>
              <a:t>);</a:t>
            </a:r>
          </a:p>
          <a:p>
            <a:pPr>
              <a:lnSpc>
                <a:spcPct val="128000"/>
              </a:lnSpc>
            </a:pPr>
            <a:r>
              <a:rPr sz="1150">
                <a:solidFill>
                  <a:srgbClr val="E7EAEE"/>
                </a:solidFill>
                <a:latin typeface="Courier New"/>
              </a:rPr>
              <a:t>});</a:t>
            </a:r>
          </a:p>
        </p:txBody>
      </p:sp>
      <p:sp>
        <p:nvSpPr>
          <p:cNvPr id="24" name="TextBox 23"/>
          <p:cNvSpPr txBox="1"/>
          <p:nvPr/>
        </p:nvSpPr>
        <p:spPr>
          <a:xfrm>
            <a:off x="640080" y="6455664"/>
            <a:ext cx="4572000" cy="274320"/>
          </a:xfrm>
          <a:prstGeom prst="rect">
            <a:avLst/>
          </a:prstGeom>
          <a:noFill/>
        </p:spPr>
        <p:txBody>
          <a:bodyPr wrap="square" lIns="0" rIns="0" tIns="0" bIns="0" anchor="t">
            <a:spAutoFit/>
          </a:bodyPr>
          <a:lstStyle/>
          <a:p>
            <a:pPr algn="l">
              <a:lnSpc>
                <a:spcPct val="100000"/>
              </a:lnSpc>
            </a:pPr>
            <a:r>
              <a:rPr sz="950" b="0">
                <a:solidFill>
                  <a:srgbClr val="A3AEB1"/>
                </a:solidFill>
                <a:latin typeface="Arial"/>
              </a:rPr>
              <a:t>Synora  ·  Web Development Project</a:t>
            </a:r>
          </a:p>
        </p:txBody>
      </p:sp>
      <p:sp>
        <p:nvSpPr>
          <p:cNvPr id="25" name="TextBox 24"/>
          <p:cNvSpPr txBox="1"/>
          <p:nvPr/>
        </p:nvSpPr>
        <p:spPr>
          <a:xfrm>
            <a:off x="9722815" y="6455664"/>
            <a:ext cx="1828800" cy="274320"/>
          </a:xfrm>
          <a:prstGeom prst="rect">
            <a:avLst/>
          </a:prstGeom>
          <a:noFill/>
        </p:spPr>
        <p:txBody>
          <a:bodyPr wrap="square" lIns="0" rIns="0" tIns="0" bIns="0" anchor="t">
            <a:spAutoFit/>
          </a:bodyPr>
          <a:lstStyle/>
          <a:p>
            <a:pPr algn="r">
              <a:lnSpc>
                <a:spcPct val="100000"/>
              </a:lnSpc>
            </a:pPr>
            <a:r>
              <a:rPr sz="950" b="0">
                <a:solidFill>
                  <a:srgbClr val="A3AEB1"/>
                </a:solidFill>
                <a:latin typeface="Arial"/>
              </a:rPr>
              <a:t>16 / 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2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48640"/>
            <a:ext cx="7315200" cy="274320"/>
          </a:xfrm>
          <a:prstGeom prst="rect">
            <a:avLst/>
          </a:prstGeom>
          <a:noFill/>
        </p:spPr>
        <p:txBody>
          <a:bodyPr wrap="square" lIns="0" rIns="0" tIns="0" bIns="0" anchor="t">
            <a:spAutoFit/>
          </a:bodyPr>
          <a:lstStyle/>
          <a:p>
            <a:pPr algn="l">
              <a:lnSpc>
                <a:spcPct val="100000"/>
              </a:lnSpc>
            </a:pPr>
            <a:r>
              <a:rPr sz="1200" b="1" spc="180">
                <a:solidFill>
                  <a:srgbClr val="C9B9AE"/>
                </a:solidFill>
                <a:latin typeface="Arial"/>
              </a:rPr>
              <a:t>USER EXPERIENCE  ·  THE LOADING SCREEN</a:t>
            </a:r>
          </a:p>
        </p:txBody>
      </p:sp>
      <p:sp>
        <p:nvSpPr>
          <p:cNvPr id="4" name="TextBox 3"/>
          <p:cNvSpPr txBox="1"/>
          <p:nvPr/>
        </p:nvSpPr>
        <p:spPr>
          <a:xfrm>
            <a:off x="640080" y="822960"/>
            <a:ext cx="10911535" cy="548640"/>
          </a:xfrm>
          <a:prstGeom prst="rect">
            <a:avLst/>
          </a:prstGeom>
          <a:noFill/>
        </p:spPr>
        <p:txBody>
          <a:bodyPr wrap="square" lIns="0" rIns="0" tIns="0" bIns="0" anchor="t">
            <a:spAutoFit/>
          </a:bodyPr>
          <a:lstStyle/>
          <a:p>
            <a:pPr algn="l">
              <a:lnSpc>
                <a:spcPct val="100000"/>
              </a:lnSpc>
            </a:pPr>
            <a:r>
              <a:rPr sz="3000" b="1">
                <a:solidFill>
                  <a:srgbClr val="F3F1EC"/>
                </a:solidFill>
                <a:latin typeface="Arial"/>
              </a:rPr>
              <a:t>Before you see Synora</a:t>
            </a:r>
          </a:p>
        </p:txBody>
      </p:sp>
      <p:sp>
        <p:nvSpPr>
          <p:cNvPr id="5" name="Rounded Rectangle 4"/>
          <p:cNvSpPr/>
          <p:nvPr/>
        </p:nvSpPr>
        <p:spPr>
          <a:xfrm>
            <a:off x="640080" y="1691640"/>
            <a:ext cx="3246120" cy="1371600"/>
          </a:xfrm>
          <a:prstGeom prst="roundRect">
            <a:avLst>
              <a:gd name="adj" fmla="val 8000"/>
            </a:avLst>
          </a:prstGeom>
          <a:solidFill>
            <a:srgbClr val="2B2F37"/>
          </a:solidFill>
          <a:ln w="12700">
            <a:solidFill>
              <a:srgbClr val="31363F"/>
            </a:solidFill>
          </a:ln>
          <a:effectLst>
            <a:outerShdw blurRad="91440" dist="50292" dir="5400000"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92808"/>
            <a:ext cx="2697479" cy="365760"/>
          </a:xfrm>
          <a:prstGeom prst="rect">
            <a:avLst/>
          </a:prstGeom>
          <a:noFill/>
        </p:spPr>
        <p:txBody>
          <a:bodyPr wrap="square" lIns="0" rIns="0" tIns="0" bIns="0" anchor="t">
            <a:spAutoFit/>
          </a:bodyPr>
          <a:lstStyle/>
          <a:p>
            <a:pPr algn="l">
              <a:lnSpc>
                <a:spcPct val="100000"/>
              </a:lnSpc>
            </a:pPr>
            <a:r>
              <a:rPr sz="1600" b="1">
                <a:solidFill>
                  <a:srgbClr val="9FB6A6"/>
                </a:solidFill>
                <a:latin typeface="Arial"/>
              </a:rPr>
              <a:t>Splash</a:t>
            </a:r>
          </a:p>
        </p:txBody>
      </p:sp>
      <p:sp>
        <p:nvSpPr>
          <p:cNvPr id="7" name="TextBox 6"/>
          <p:cNvSpPr txBox="1"/>
          <p:nvPr/>
        </p:nvSpPr>
        <p:spPr>
          <a:xfrm>
            <a:off x="914400" y="2295144"/>
            <a:ext cx="2697479" cy="640080"/>
          </a:xfrm>
          <a:prstGeom prst="rect">
            <a:avLst/>
          </a:prstGeom>
          <a:noFill/>
        </p:spPr>
        <p:txBody>
          <a:bodyPr wrap="square" lIns="0" rIns="0" tIns="0" bIns="0" anchor="t">
            <a:spAutoFit/>
          </a:bodyPr>
          <a:lstStyle/>
          <a:p>
            <a:pPr algn="l">
              <a:lnSpc>
                <a:spcPct val="120000"/>
              </a:lnSpc>
            </a:pPr>
            <a:r>
              <a:rPr sz="1150" b="0">
                <a:solidFill>
                  <a:srgbClr val="F3F1EC"/>
                </a:solidFill>
                <a:latin typeface="Arial"/>
              </a:rPr>
              <a:t>logo, ring &amp; wordmark</a:t>
            </a:r>
          </a:p>
          <a:p>
            <a:pPr algn="l">
              <a:lnSpc>
                <a:spcPct val="120000"/>
              </a:lnSpc>
            </a:pPr>
            <a:r>
              <a:rPr sz="1150" b="0">
                <a:solidFill>
                  <a:srgbClr val="F3F1EC"/>
                </a:solidFill>
                <a:latin typeface="Arial"/>
              </a:rPr>
              <a:t>animate in</a:t>
            </a:r>
          </a:p>
        </p:txBody>
      </p:sp>
      <p:sp>
        <p:nvSpPr>
          <p:cNvPr id="8" name="Chevron 7"/>
          <p:cNvSpPr/>
          <p:nvPr/>
        </p:nvSpPr>
        <p:spPr>
          <a:xfrm>
            <a:off x="4037076" y="2249424"/>
            <a:ext cx="281635" cy="256032"/>
          </a:xfrm>
          <a:prstGeom prst="chevron">
            <a:avLst/>
          </a:prstGeom>
          <a:solidFill>
            <a:srgbClr val="B09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89120" y="1691640"/>
            <a:ext cx="3246120" cy="1371600"/>
          </a:xfrm>
          <a:prstGeom prst="roundRect">
            <a:avLst>
              <a:gd name="adj" fmla="val 8000"/>
            </a:avLst>
          </a:prstGeom>
          <a:solidFill>
            <a:srgbClr val="2B2F37"/>
          </a:solidFill>
          <a:ln w="12700">
            <a:solidFill>
              <a:srgbClr val="31363F"/>
            </a:solidFill>
          </a:ln>
          <a:effectLst>
            <a:outerShdw blurRad="91440" dist="50292" dir="5400000"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63440" y="1892808"/>
            <a:ext cx="2697479" cy="365760"/>
          </a:xfrm>
          <a:prstGeom prst="rect">
            <a:avLst/>
          </a:prstGeom>
          <a:noFill/>
        </p:spPr>
        <p:txBody>
          <a:bodyPr wrap="square" lIns="0" rIns="0" tIns="0" bIns="0" anchor="t">
            <a:spAutoFit/>
          </a:bodyPr>
          <a:lstStyle/>
          <a:p>
            <a:pPr algn="l">
              <a:lnSpc>
                <a:spcPct val="100000"/>
              </a:lnSpc>
            </a:pPr>
            <a:r>
              <a:rPr sz="1600" b="1">
                <a:solidFill>
                  <a:srgbClr val="9FB6A6"/>
                </a:solidFill>
                <a:latin typeface="Arial"/>
              </a:rPr>
              <a:t>Handover</a:t>
            </a:r>
          </a:p>
        </p:txBody>
      </p:sp>
      <p:sp>
        <p:nvSpPr>
          <p:cNvPr id="11" name="TextBox 10"/>
          <p:cNvSpPr txBox="1"/>
          <p:nvPr/>
        </p:nvSpPr>
        <p:spPr>
          <a:xfrm>
            <a:off x="4663440" y="2295144"/>
            <a:ext cx="2697479" cy="640080"/>
          </a:xfrm>
          <a:prstGeom prst="rect">
            <a:avLst/>
          </a:prstGeom>
          <a:noFill/>
        </p:spPr>
        <p:txBody>
          <a:bodyPr wrap="square" lIns="0" rIns="0" tIns="0" bIns="0" anchor="t">
            <a:spAutoFit/>
          </a:bodyPr>
          <a:lstStyle/>
          <a:p>
            <a:pPr algn="l">
              <a:lnSpc>
                <a:spcPct val="120000"/>
              </a:lnSpc>
            </a:pPr>
            <a:r>
              <a:rPr sz="1150" b="0">
                <a:solidFill>
                  <a:srgbClr val="F3F1EC"/>
                </a:solidFill>
                <a:latin typeface="Arial"/>
              </a:rPr>
              <a:t>splash fades &amp; lifts as the</a:t>
            </a:r>
          </a:p>
          <a:p>
            <a:pPr algn="l">
              <a:lnSpc>
                <a:spcPct val="120000"/>
              </a:lnSpc>
            </a:pPr>
            <a:r>
              <a:rPr sz="1150" b="0">
                <a:solidFill>
                  <a:srgbClr val="F3F1EC"/>
                </a:solidFill>
                <a:latin typeface="Arial"/>
              </a:rPr>
              <a:t>page arrives underneath</a:t>
            </a:r>
          </a:p>
        </p:txBody>
      </p:sp>
      <p:sp>
        <p:nvSpPr>
          <p:cNvPr id="12" name="Chevron 11"/>
          <p:cNvSpPr/>
          <p:nvPr/>
        </p:nvSpPr>
        <p:spPr>
          <a:xfrm>
            <a:off x="7786116" y="2249424"/>
            <a:ext cx="281635" cy="256032"/>
          </a:xfrm>
          <a:prstGeom prst="chevron">
            <a:avLst/>
          </a:prstGeom>
          <a:solidFill>
            <a:srgbClr val="B09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38159" y="1691640"/>
            <a:ext cx="3246120" cy="1371600"/>
          </a:xfrm>
          <a:prstGeom prst="roundRect">
            <a:avLst>
              <a:gd name="adj" fmla="val 8000"/>
            </a:avLst>
          </a:prstGeom>
          <a:solidFill>
            <a:srgbClr val="2B2F37"/>
          </a:solidFill>
          <a:ln w="12700">
            <a:solidFill>
              <a:srgbClr val="31363F"/>
            </a:solidFill>
          </a:ln>
          <a:effectLst>
            <a:outerShdw blurRad="91440" dist="50292" dir="5400000"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1892808"/>
            <a:ext cx="2697479" cy="365760"/>
          </a:xfrm>
          <a:prstGeom prst="rect">
            <a:avLst/>
          </a:prstGeom>
          <a:noFill/>
        </p:spPr>
        <p:txBody>
          <a:bodyPr wrap="square" lIns="0" rIns="0" tIns="0" bIns="0" anchor="t">
            <a:spAutoFit/>
          </a:bodyPr>
          <a:lstStyle/>
          <a:p>
            <a:pPr algn="l">
              <a:lnSpc>
                <a:spcPct val="100000"/>
              </a:lnSpc>
            </a:pPr>
            <a:r>
              <a:rPr sz="1600" b="1">
                <a:solidFill>
                  <a:srgbClr val="9FB6A6"/>
                </a:solidFill>
                <a:latin typeface="Arial"/>
              </a:rPr>
              <a:t>Landing</a:t>
            </a:r>
          </a:p>
        </p:txBody>
      </p:sp>
      <p:sp>
        <p:nvSpPr>
          <p:cNvPr id="15" name="TextBox 14"/>
          <p:cNvSpPr txBox="1"/>
          <p:nvPr/>
        </p:nvSpPr>
        <p:spPr>
          <a:xfrm>
            <a:off x="8412480" y="2295144"/>
            <a:ext cx="2697479" cy="640080"/>
          </a:xfrm>
          <a:prstGeom prst="rect">
            <a:avLst/>
          </a:prstGeom>
          <a:noFill/>
        </p:spPr>
        <p:txBody>
          <a:bodyPr wrap="square" lIns="0" rIns="0" tIns="0" bIns="0" anchor="t">
            <a:spAutoFit/>
          </a:bodyPr>
          <a:lstStyle/>
          <a:p>
            <a:pPr algn="l">
              <a:lnSpc>
                <a:spcPct val="120000"/>
              </a:lnSpc>
            </a:pPr>
            <a:r>
              <a:rPr sz="1150" b="0">
                <a:solidFill>
                  <a:srgbClr val="F3F1EC"/>
                </a:solidFill>
                <a:latin typeface="Arial"/>
              </a:rPr>
              <a:t>the hero's staggered</a:t>
            </a:r>
          </a:p>
          <a:p>
            <a:pPr algn="l">
              <a:lnSpc>
                <a:spcPct val="120000"/>
              </a:lnSpc>
            </a:pPr>
            <a:r>
              <a:rPr sz="1150" b="0">
                <a:solidFill>
                  <a:srgbClr val="F3F1EC"/>
                </a:solidFill>
                <a:latin typeface="Arial"/>
              </a:rPr>
              <a:t>entrance begins</a:t>
            </a:r>
          </a:p>
        </p:txBody>
      </p:sp>
      <p:sp>
        <p:nvSpPr>
          <p:cNvPr id="16" name="Rounded Rectangle 15"/>
          <p:cNvSpPr/>
          <p:nvPr/>
        </p:nvSpPr>
        <p:spPr>
          <a:xfrm>
            <a:off x="640080" y="3429000"/>
            <a:ext cx="5577840" cy="2697480"/>
          </a:xfrm>
          <a:prstGeom prst="roundRect">
            <a:avLst>
              <a:gd name="adj" fmla="val 7000"/>
            </a:avLst>
          </a:prstGeom>
          <a:solidFill>
            <a:srgbClr val="2B2F37"/>
          </a:solidFill>
          <a:ln w="12700">
            <a:solidFill>
              <a:srgbClr val="3136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3639312"/>
            <a:ext cx="5029200" cy="274320"/>
          </a:xfrm>
          <a:prstGeom prst="rect">
            <a:avLst/>
          </a:prstGeom>
          <a:noFill/>
        </p:spPr>
        <p:txBody>
          <a:bodyPr wrap="square" lIns="0" rIns="0" tIns="0" bIns="0" anchor="t">
            <a:spAutoFit/>
          </a:bodyPr>
          <a:lstStyle/>
          <a:p>
            <a:pPr algn="l">
              <a:lnSpc>
                <a:spcPct val="100000"/>
              </a:lnSpc>
            </a:pPr>
            <a:r>
              <a:rPr sz="1050" b="1" spc="160">
                <a:solidFill>
                  <a:srgbClr val="C9B9AE"/>
                </a:solidFill>
                <a:latin typeface="Arial"/>
              </a:rPr>
              <a:t>HOW IT ACTUALLY WORKS</a:t>
            </a:r>
          </a:p>
        </p:txBody>
      </p:sp>
      <p:sp>
        <p:nvSpPr>
          <p:cNvPr id="18" name="TextBox 17"/>
          <p:cNvSpPr txBox="1"/>
          <p:nvPr/>
        </p:nvSpPr>
        <p:spPr>
          <a:xfrm>
            <a:off x="932688" y="3977639"/>
            <a:ext cx="5074920" cy="365760"/>
          </a:xfrm>
          <a:prstGeom prst="rect">
            <a:avLst/>
          </a:prstGeom>
          <a:noFill/>
        </p:spPr>
        <p:txBody>
          <a:bodyPr wrap="square" lIns="0" rIns="0" tIns="0" bIns="0" anchor="t">
            <a:spAutoFit/>
          </a:bodyPr>
          <a:lstStyle/>
          <a:p>
            <a:pPr algn="l">
              <a:lnSpc>
                <a:spcPct val="100000"/>
              </a:lnSpc>
            </a:pPr>
            <a:r>
              <a:rPr sz="1200" b="1">
                <a:solidFill>
                  <a:srgbClr val="9FB6A6"/>
                </a:solidFill>
                <a:latin typeface="Courier New"/>
              </a:rPr>
              <a:t>CSS @keyframes  —  </a:t>
            </a:r>
            <a:r>
              <a:rPr sz="1150" b="0">
                <a:solidFill>
                  <a:srgbClr val="F3F1EC"/>
                </a:solidFill>
                <a:latin typeface="Arial"/>
              </a:rPr>
              <a:t>spin, breathe, pop &amp; sheen — pure CSS animation</a:t>
            </a:r>
          </a:p>
        </p:txBody>
      </p:sp>
      <p:sp>
        <p:nvSpPr>
          <p:cNvPr id="19" name="TextBox 18"/>
          <p:cNvSpPr txBox="1"/>
          <p:nvPr/>
        </p:nvSpPr>
        <p:spPr>
          <a:xfrm>
            <a:off x="932688" y="4398264"/>
            <a:ext cx="5074920" cy="365760"/>
          </a:xfrm>
          <a:prstGeom prst="rect">
            <a:avLst/>
          </a:prstGeom>
          <a:noFill/>
        </p:spPr>
        <p:txBody>
          <a:bodyPr wrap="square" lIns="0" rIns="0" tIns="0" bIns="0" anchor="t">
            <a:spAutoFit/>
          </a:bodyPr>
          <a:lstStyle/>
          <a:p>
            <a:pPr algn="l">
              <a:lnSpc>
                <a:spcPct val="100000"/>
              </a:lnSpc>
            </a:pPr>
            <a:r>
              <a:rPr sz="1200" b="1">
                <a:solidFill>
                  <a:srgbClr val="9FB6A6"/>
                </a:solidFill>
                <a:latin typeface="Courier New"/>
              </a:rPr>
              <a:t>A CSS transition  —  </a:t>
            </a:r>
            <a:r>
              <a:rPr sz="1150" b="0">
                <a:solidFill>
                  <a:srgbClr val="F3F1EC"/>
                </a:solidFill>
                <a:latin typeface="Arial"/>
              </a:rPr>
              <a:t>the splash fades + lifts on the .is-hidden class</a:t>
            </a:r>
          </a:p>
        </p:txBody>
      </p:sp>
      <p:sp>
        <p:nvSpPr>
          <p:cNvPr id="20" name="TextBox 19"/>
          <p:cNvSpPr txBox="1"/>
          <p:nvPr/>
        </p:nvSpPr>
        <p:spPr>
          <a:xfrm>
            <a:off x="932688" y="4818888"/>
            <a:ext cx="5074920" cy="365760"/>
          </a:xfrm>
          <a:prstGeom prst="rect">
            <a:avLst/>
          </a:prstGeom>
          <a:noFill/>
        </p:spPr>
        <p:txBody>
          <a:bodyPr wrap="square" lIns="0" rIns="0" tIns="0" bIns="0" anchor="t">
            <a:spAutoFit/>
          </a:bodyPr>
          <a:lstStyle/>
          <a:p>
            <a:pPr algn="l">
              <a:lnSpc>
                <a:spcPct val="100000"/>
              </a:lnSpc>
            </a:pPr>
            <a:r>
              <a:rPr sz="1200" b="1">
                <a:solidFill>
                  <a:srgbClr val="9FB6A6"/>
                </a:solidFill>
                <a:latin typeface="Courier New"/>
              </a:rPr>
              <a:t>JavaScript timing  —  </a:t>
            </a:r>
            <a:r>
              <a:rPr sz="1150" b="0">
                <a:solidFill>
                  <a:srgbClr val="F3F1EC"/>
                </a:solidFill>
                <a:latin typeface="Arial"/>
              </a:rPr>
              <a:t>shows for ≥2000ms, waits for DOMContentLoaded</a:t>
            </a:r>
          </a:p>
        </p:txBody>
      </p:sp>
      <p:sp>
        <p:nvSpPr>
          <p:cNvPr id="21" name="TextBox 20"/>
          <p:cNvSpPr txBox="1"/>
          <p:nvPr/>
        </p:nvSpPr>
        <p:spPr>
          <a:xfrm>
            <a:off x="932688" y="5239512"/>
            <a:ext cx="5074920" cy="365760"/>
          </a:xfrm>
          <a:prstGeom prst="rect">
            <a:avLst/>
          </a:prstGeom>
          <a:noFill/>
        </p:spPr>
        <p:txBody>
          <a:bodyPr wrap="square" lIns="0" rIns="0" tIns="0" bIns="0" anchor="t">
            <a:spAutoFit/>
          </a:bodyPr>
          <a:lstStyle/>
          <a:p>
            <a:pPr algn="l">
              <a:lnSpc>
                <a:spcPct val="100000"/>
              </a:lnSpc>
            </a:pPr>
            <a:r>
              <a:rPr sz="1200" b="1">
                <a:solidFill>
                  <a:srgbClr val="9FB6A6"/>
                </a:solidFill>
                <a:latin typeface="Courier New"/>
              </a:rPr>
              <a:t>DOM + state  —  </a:t>
            </a:r>
            <a:r>
              <a:rPr sz="1150" b="0">
                <a:solidFill>
                  <a:srgbClr val="F3F1EC"/>
                </a:solidFill>
                <a:latin typeface="Arial"/>
              </a:rPr>
              <a:t>toggles classes, then loader.remove() clears the node</a:t>
            </a:r>
          </a:p>
        </p:txBody>
      </p:sp>
      <p:sp>
        <p:nvSpPr>
          <p:cNvPr id="22" name="TextBox 21"/>
          <p:cNvSpPr txBox="1"/>
          <p:nvPr/>
        </p:nvSpPr>
        <p:spPr>
          <a:xfrm>
            <a:off x="932688" y="5660136"/>
            <a:ext cx="5074920" cy="365760"/>
          </a:xfrm>
          <a:prstGeom prst="rect">
            <a:avLst/>
          </a:prstGeom>
          <a:noFill/>
        </p:spPr>
        <p:txBody>
          <a:bodyPr wrap="square" lIns="0" rIns="0" tIns="0" bIns="0" anchor="t">
            <a:spAutoFit/>
          </a:bodyPr>
          <a:lstStyle/>
          <a:p>
            <a:pPr algn="l">
              <a:lnSpc>
                <a:spcPct val="100000"/>
              </a:lnSpc>
            </a:pPr>
            <a:r>
              <a:rPr sz="1200" b="1">
                <a:solidFill>
                  <a:srgbClr val="9FB6A6"/>
                </a:solidFill>
                <a:latin typeface="Courier New"/>
              </a:rPr>
              <a:t>Reduced motion  —  </a:t>
            </a:r>
            <a:r>
              <a:rPr sz="1150" b="0">
                <a:solidFill>
                  <a:srgbClr val="F3F1EC"/>
                </a:solidFill>
                <a:latin typeface="Arial"/>
              </a:rPr>
              <a:t>honoured — animation off, wait cut to 600ms</a:t>
            </a:r>
          </a:p>
        </p:txBody>
      </p:sp>
      <p:sp>
        <p:nvSpPr>
          <p:cNvPr id="23" name="Rounded Rectangle 22"/>
          <p:cNvSpPr/>
          <p:nvPr/>
        </p:nvSpPr>
        <p:spPr>
          <a:xfrm>
            <a:off x="6400800" y="3429000"/>
            <a:ext cx="5184648" cy="1623730"/>
          </a:xfrm>
          <a:prstGeom prst="roundRect">
            <a:avLst>
              <a:gd name="adj" fmla="val 3500"/>
            </a:avLst>
          </a:prstGeom>
          <a:solidFill>
            <a:srgbClr val="1C2026"/>
          </a:solidFill>
          <a:ln>
            <a:noFill/>
          </a:ln>
          <a:effectLst>
            <a:outerShdw blurRad="91440" dist="50292" dir="5400000" rotWithShape="0">
              <a:srgbClr val="22252B">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638544" y="3584448"/>
            <a:ext cx="91440" cy="91440"/>
          </a:xfrm>
          <a:prstGeom prst="ellipse">
            <a:avLst/>
          </a:prstGeom>
          <a:solidFill>
            <a:srgbClr val="E06C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03136" y="3584448"/>
            <a:ext cx="91440" cy="91440"/>
          </a:xfrm>
          <a:prstGeom prst="ellipse">
            <a:avLst/>
          </a:prstGeom>
          <a:solidFill>
            <a:srgbClr val="E0B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967728" y="3584448"/>
            <a:ext cx="91440" cy="91440"/>
          </a:xfrm>
          <a:prstGeom prst="ellipse">
            <a:avLst/>
          </a:prstGeom>
          <a:solidFill>
            <a:srgbClr val="8FB9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05472" y="3520440"/>
            <a:ext cx="4142232" cy="256032"/>
          </a:xfrm>
          <a:prstGeom prst="rect">
            <a:avLst/>
          </a:prstGeom>
          <a:noFill/>
        </p:spPr>
        <p:txBody>
          <a:bodyPr wrap="square" lIns="0" rIns="0" tIns="0" bIns="0" anchor="ctr">
            <a:spAutoFit/>
          </a:bodyPr>
          <a:lstStyle/>
          <a:p>
            <a:pPr algn="l">
              <a:lnSpc>
                <a:spcPct val="100000"/>
              </a:lnSpc>
            </a:pPr>
            <a:r>
              <a:rPr sz="1050" b="0">
                <a:solidFill>
                  <a:srgbClr val="8A929C"/>
                </a:solidFill>
                <a:latin typeface="Courier New"/>
              </a:rPr>
              <a:t>index.html — the reveal()</a:t>
            </a:r>
          </a:p>
        </p:txBody>
      </p:sp>
      <p:sp>
        <p:nvSpPr>
          <p:cNvPr id="28" name="TextBox 27"/>
          <p:cNvSpPr txBox="1"/>
          <p:nvPr/>
        </p:nvSpPr>
        <p:spPr>
          <a:xfrm>
            <a:off x="6638544" y="3943807"/>
            <a:ext cx="4709160" cy="988771"/>
          </a:xfrm>
          <a:prstGeom prst="rect">
            <a:avLst/>
          </a:prstGeom>
          <a:noFill/>
        </p:spPr>
        <p:txBody>
          <a:bodyPr wrap="none" lIns="0" rIns="0" tIns="0" bIns="0">
            <a:spAutoFit/>
          </a:bodyPr>
          <a:lstStyle/>
          <a:p>
            <a:pPr>
              <a:lnSpc>
                <a:spcPct val="128000"/>
              </a:lnSpc>
            </a:pPr>
            <a:r>
              <a:rPr sz="1150">
                <a:solidFill>
                  <a:srgbClr val="A9C3B0"/>
                </a:solidFill>
                <a:latin typeface="Courier New"/>
              </a:rPr>
              <a:t>if</a:t>
            </a:r>
            <a:r>
              <a:rPr sz="1150">
                <a:solidFill>
                  <a:srgbClr val="E7EAEE"/>
                </a:solidFill>
                <a:latin typeface="Courier New"/>
              </a:rPr>
              <a:t> (!ready || !timeUp) </a:t>
            </a:r>
            <a:r>
              <a:rPr sz="1150">
                <a:solidFill>
                  <a:srgbClr val="A9C3B0"/>
                </a:solidFill>
                <a:latin typeface="Courier New"/>
              </a:rPr>
              <a:t>return</a:t>
            </a:r>
            <a:r>
              <a:rPr sz="1150">
                <a:solidFill>
                  <a:srgbClr val="E7EAEE"/>
                </a:solidFill>
                <a:latin typeface="Courier New"/>
              </a:rPr>
              <a:t>;</a:t>
            </a:r>
          </a:p>
          <a:p>
            <a:pPr>
              <a:lnSpc>
                <a:spcPct val="128000"/>
              </a:lnSpc>
            </a:pPr>
            <a:r>
              <a:rPr sz="1150">
                <a:solidFill>
                  <a:srgbClr val="E7EAEE"/>
                </a:solidFill>
                <a:latin typeface="Courier New"/>
              </a:rPr>
              <a:t>body.classList.</a:t>
            </a:r>
            <a:r>
              <a:rPr sz="1150">
                <a:solidFill>
                  <a:srgbClr val="D6C6B8"/>
                </a:solidFill>
                <a:latin typeface="Courier New"/>
              </a:rPr>
              <a:t>add</a:t>
            </a:r>
            <a:r>
              <a:rPr sz="1150">
                <a:solidFill>
                  <a:srgbClr val="E7EAEE"/>
                </a:solidFill>
                <a:latin typeface="Courier New"/>
              </a:rPr>
              <a:t>(</a:t>
            </a:r>
            <a:r>
              <a:rPr sz="1150">
                <a:solidFill>
                  <a:srgbClr val="CBB69F"/>
                </a:solidFill>
                <a:latin typeface="Courier New"/>
              </a:rPr>
              <a:t>"is-ready"</a:t>
            </a:r>
            <a:r>
              <a:rPr sz="1150">
                <a:solidFill>
                  <a:srgbClr val="E7EAEE"/>
                </a:solidFill>
                <a:latin typeface="Courier New"/>
              </a:rPr>
              <a:t>);</a:t>
            </a:r>
          </a:p>
          <a:p>
            <a:pPr>
              <a:lnSpc>
                <a:spcPct val="128000"/>
              </a:lnSpc>
            </a:pPr>
            <a:r>
              <a:rPr sz="1150">
                <a:solidFill>
                  <a:srgbClr val="E7EAEE"/>
                </a:solidFill>
                <a:latin typeface="Courier New"/>
              </a:rPr>
              <a:t>loader.classList.</a:t>
            </a:r>
            <a:r>
              <a:rPr sz="1150">
                <a:solidFill>
                  <a:srgbClr val="D6C6B8"/>
                </a:solidFill>
                <a:latin typeface="Courier New"/>
              </a:rPr>
              <a:t>add</a:t>
            </a:r>
            <a:r>
              <a:rPr sz="1150">
                <a:solidFill>
                  <a:srgbClr val="E7EAEE"/>
                </a:solidFill>
                <a:latin typeface="Courier New"/>
              </a:rPr>
              <a:t>(</a:t>
            </a:r>
            <a:r>
              <a:rPr sz="1150">
                <a:solidFill>
                  <a:srgbClr val="CBB69F"/>
                </a:solidFill>
                <a:latin typeface="Courier New"/>
              </a:rPr>
              <a:t>"is-hidden"</a:t>
            </a:r>
            <a:r>
              <a:rPr sz="1150">
                <a:solidFill>
                  <a:srgbClr val="E7EAEE"/>
                </a:solidFill>
                <a:latin typeface="Courier New"/>
              </a:rPr>
              <a:t>);</a:t>
            </a:r>
          </a:p>
          <a:p>
            <a:pPr>
              <a:lnSpc>
                <a:spcPct val="128000"/>
              </a:lnSpc>
            </a:pPr>
            <a:r>
              <a:rPr sz="1150">
                <a:solidFill>
                  <a:srgbClr val="D6C6B8"/>
                </a:solidFill>
                <a:latin typeface="Courier New"/>
              </a:rPr>
              <a:t>setTimeout</a:t>
            </a:r>
            <a:r>
              <a:rPr sz="1150">
                <a:solidFill>
                  <a:srgbClr val="E7EAEE"/>
                </a:solidFill>
                <a:latin typeface="Courier New"/>
              </a:rPr>
              <a:t>(() =&gt; loader.</a:t>
            </a:r>
            <a:r>
              <a:rPr sz="1150">
                <a:solidFill>
                  <a:srgbClr val="D6C6B8"/>
                </a:solidFill>
                <a:latin typeface="Courier New"/>
              </a:rPr>
              <a:t>remove</a:t>
            </a:r>
            <a:r>
              <a:rPr sz="1150">
                <a:solidFill>
                  <a:srgbClr val="E7EAEE"/>
                </a:solidFill>
                <a:latin typeface="Courier New"/>
              </a:rPr>
              <a:t>(), </a:t>
            </a:r>
            <a:r>
              <a:rPr sz="1150">
                <a:solidFill>
                  <a:srgbClr val="B9C7CD"/>
                </a:solidFill>
                <a:latin typeface="Courier New"/>
              </a:rPr>
              <a:t>800</a:t>
            </a:r>
            <a:r>
              <a:rPr sz="1150">
                <a:solidFill>
                  <a:srgbClr val="E7EAEE"/>
                </a:solidFill>
                <a:latin typeface="Courier New"/>
              </a:rPr>
              <a:t>);</a:t>
            </a:r>
          </a:p>
        </p:txBody>
      </p:sp>
      <p:sp>
        <p:nvSpPr>
          <p:cNvPr id="29" name="TextBox 28"/>
          <p:cNvSpPr txBox="1"/>
          <p:nvPr/>
        </p:nvSpPr>
        <p:spPr>
          <a:xfrm>
            <a:off x="6400800" y="5257800"/>
            <a:ext cx="5184648" cy="822960"/>
          </a:xfrm>
          <a:prstGeom prst="rect">
            <a:avLst/>
          </a:prstGeom>
          <a:noFill/>
        </p:spPr>
        <p:txBody>
          <a:bodyPr wrap="square" lIns="0" rIns="0" tIns="0" bIns="0" anchor="t">
            <a:spAutoFit/>
          </a:bodyPr>
          <a:lstStyle/>
          <a:p>
            <a:pPr algn="l">
              <a:lnSpc>
                <a:spcPct val="124000"/>
              </a:lnSpc>
            </a:pPr>
            <a:r>
              <a:rPr sz="1150" b="0">
                <a:solidFill>
                  <a:srgbClr val="9AA2AC"/>
                </a:solidFill>
                <a:latin typeface="Arial"/>
              </a:rPr>
              <a:t>CSS paints and animates; JavaScript only decides when the splash may leave. The two movements overlap, so Synora feels like it opens rather than loads.</a:t>
            </a:r>
          </a:p>
        </p:txBody>
      </p:sp>
      <p:sp>
        <p:nvSpPr>
          <p:cNvPr id="30" name="TextBox 29"/>
          <p:cNvSpPr txBox="1"/>
          <p:nvPr/>
        </p:nvSpPr>
        <p:spPr>
          <a:xfrm>
            <a:off x="640080" y="6455664"/>
            <a:ext cx="4572000" cy="274320"/>
          </a:xfrm>
          <a:prstGeom prst="rect">
            <a:avLst/>
          </a:prstGeom>
          <a:noFill/>
        </p:spPr>
        <p:txBody>
          <a:bodyPr wrap="square" lIns="0" rIns="0" tIns="0" bIns="0" anchor="t">
            <a:spAutoFit/>
          </a:bodyPr>
          <a:lstStyle/>
          <a:p>
            <a:pPr algn="l">
              <a:lnSpc>
                <a:spcPct val="100000"/>
              </a:lnSpc>
            </a:pPr>
            <a:r>
              <a:rPr sz="950" b="0">
                <a:solidFill>
                  <a:srgbClr val="9AA2AC"/>
                </a:solidFill>
                <a:latin typeface="Arial"/>
              </a:rPr>
              <a:t>Synora  ·  Web Development Project</a:t>
            </a:r>
          </a:p>
        </p:txBody>
      </p:sp>
      <p:sp>
        <p:nvSpPr>
          <p:cNvPr id="31" name="TextBox 30"/>
          <p:cNvSpPr txBox="1"/>
          <p:nvPr/>
        </p:nvSpPr>
        <p:spPr>
          <a:xfrm>
            <a:off x="9722815" y="6455664"/>
            <a:ext cx="1828800" cy="274320"/>
          </a:xfrm>
          <a:prstGeom prst="rect">
            <a:avLst/>
          </a:prstGeom>
          <a:noFill/>
        </p:spPr>
        <p:txBody>
          <a:bodyPr wrap="square" lIns="0" rIns="0" tIns="0" bIns="0" anchor="t">
            <a:spAutoFit/>
          </a:bodyPr>
          <a:lstStyle/>
          <a:p>
            <a:pPr algn="r">
              <a:lnSpc>
                <a:spcPct val="100000"/>
              </a:lnSpc>
            </a:pPr>
            <a:r>
              <a:rPr sz="950" b="0">
                <a:solidFill>
                  <a:srgbClr val="9AA2AC"/>
                </a:solidFill>
                <a:latin typeface="Arial"/>
              </a:rPr>
              <a:t>17 /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7315200" cy="274320"/>
          </a:xfrm>
          <a:prstGeom prst="rect">
            <a:avLst/>
          </a:prstGeom>
          <a:noFill/>
        </p:spPr>
        <p:txBody>
          <a:bodyPr wrap="square" lIns="0" rIns="0" tIns="0" bIns="0" anchor="t">
            <a:spAutoFit/>
          </a:bodyPr>
          <a:lstStyle/>
          <a:p>
            <a:pPr algn="l">
              <a:lnSpc>
                <a:spcPct val="100000"/>
              </a:lnSpc>
            </a:pPr>
            <a:r>
              <a:rPr sz="1200" b="1" spc="180">
                <a:solidFill>
                  <a:srgbClr val="B09F95"/>
                </a:solidFill>
                <a:latin typeface="Arial"/>
              </a:rPr>
              <a:t>THE PRODUCT WE SHIPPED</a:t>
            </a:r>
          </a:p>
        </p:txBody>
      </p:sp>
      <p:sp>
        <p:nvSpPr>
          <p:cNvPr id="4" name="TextBox 3"/>
          <p:cNvSpPr txBox="1"/>
          <p:nvPr/>
        </p:nvSpPr>
        <p:spPr>
          <a:xfrm>
            <a:off x="640080" y="841247"/>
            <a:ext cx="10911535" cy="822960"/>
          </a:xfrm>
          <a:prstGeom prst="rect">
            <a:avLst/>
          </a:prstGeom>
          <a:noFill/>
        </p:spPr>
        <p:txBody>
          <a:bodyPr wrap="square" lIns="0" rIns="0" tIns="0" bIns="0" anchor="t">
            <a:spAutoFit/>
          </a:bodyPr>
          <a:lstStyle/>
          <a:p>
            <a:pPr algn="l">
              <a:lnSpc>
                <a:spcPct val="100000"/>
              </a:lnSpc>
            </a:pPr>
            <a:r>
              <a:rPr sz="3000" b="1">
                <a:solidFill>
                  <a:srgbClr val="22252B"/>
                </a:solidFill>
                <a:latin typeface="Arial"/>
              </a:rPr>
              <a:t>Beyond the syllabus</a:t>
            </a:r>
          </a:p>
        </p:txBody>
      </p:sp>
      <p:sp>
        <p:nvSpPr>
          <p:cNvPr id="5" name="TextBox 4"/>
          <p:cNvSpPr txBox="1"/>
          <p:nvPr/>
        </p:nvSpPr>
        <p:spPr>
          <a:xfrm>
            <a:off x="640080" y="1481328"/>
            <a:ext cx="10911535" cy="457200"/>
          </a:xfrm>
          <a:prstGeom prst="rect">
            <a:avLst/>
          </a:prstGeom>
          <a:noFill/>
        </p:spPr>
        <p:txBody>
          <a:bodyPr wrap="square" lIns="0" rIns="0" tIns="0" bIns="0" anchor="t">
            <a:spAutoFit/>
          </a:bodyPr>
          <a:lstStyle/>
          <a:p>
            <a:pPr algn="l">
              <a:lnSpc>
                <a:spcPct val="120000"/>
              </a:lnSpc>
            </a:pPr>
            <a:r>
              <a:rPr sz="1350" b="0">
                <a:solidFill>
                  <a:srgbClr val="606772"/>
                </a:solidFill>
                <a:latin typeface="Arial"/>
              </a:rPr>
              <a:t>The syllabus gave us the parts — we built complete, connected features, plus personalization &amp; avatars, light / dark themes, per-user workspaces and on-device persistence.</a:t>
            </a:r>
          </a:p>
        </p:txBody>
      </p:sp>
      <p:sp>
        <p:nvSpPr>
          <p:cNvPr id="6" name="Rounded Rectangle 5"/>
          <p:cNvSpPr/>
          <p:nvPr/>
        </p:nvSpPr>
        <p:spPr>
          <a:xfrm>
            <a:off x="1862175" y="2103120"/>
            <a:ext cx="2615184" cy="1634489"/>
          </a:xfrm>
          <a:prstGeom prst="roundRect">
            <a:avLst>
              <a:gd name="adj" fmla="val 4500"/>
            </a:avLst>
          </a:prstGeom>
          <a:solidFill>
            <a:srgbClr val="FFFFFF"/>
          </a:solidFill>
          <a:ln>
            <a:noFill/>
          </a:ln>
          <a:effectLst>
            <a:outerShdw blurRad="91440" dist="50292" dir="5400000" rotWithShape="0">
              <a:srgbClr val="22252B">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asks.png"/>
          <p:cNvPicPr>
            <a:picLocks noChangeAspect="1"/>
          </p:cNvPicPr>
          <p:nvPr/>
        </p:nvPicPr>
        <p:blipFill>
          <a:blip r:embed="rId2"/>
          <a:stretch>
            <a:fillRect/>
          </a:stretch>
        </p:blipFill>
        <p:spPr>
          <a:xfrm>
            <a:off x="1862175" y="2103120"/>
            <a:ext cx="2615184" cy="1634489"/>
          </a:xfrm>
          <a:prstGeom prst="rect">
            <a:avLst/>
          </a:prstGeom>
          <a:effectLst/>
        </p:spPr>
      </p:pic>
      <p:sp>
        <p:nvSpPr>
          <p:cNvPr id="8" name="TextBox 7"/>
          <p:cNvSpPr txBox="1"/>
          <p:nvPr/>
        </p:nvSpPr>
        <p:spPr>
          <a:xfrm>
            <a:off x="1862175" y="3783329"/>
            <a:ext cx="2615184" cy="274320"/>
          </a:xfrm>
          <a:prstGeom prst="rect">
            <a:avLst/>
          </a:prstGeom>
          <a:noFill/>
        </p:spPr>
        <p:txBody>
          <a:bodyPr wrap="square" lIns="0" rIns="0" tIns="0" bIns="0" anchor="t">
            <a:spAutoFit/>
          </a:bodyPr>
          <a:lstStyle/>
          <a:p>
            <a:pPr algn="ctr">
              <a:lnSpc>
                <a:spcPct val="100000"/>
              </a:lnSpc>
            </a:pPr>
            <a:r>
              <a:rPr sz="1150" b="1">
                <a:solidFill>
                  <a:srgbClr val="22252B"/>
                </a:solidFill>
                <a:latin typeface="Arial"/>
              </a:rPr>
              <a:t>Task management</a:t>
            </a:r>
          </a:p>
        </p:txBody>
      </p:sp>
      <p:sp>
        <p:nvSpPr>
          <p:cNvPr id="9" name="Rounded Rectangle 8"/>
          <p:cNvSpPr/>
          <p:nvPr/>
        </p:nvSpPr>
        <p:spPr>
          <a:xfrm>
            <a:off x="4788255" y="2103120"/>
            <a:ext cx="2615184" cy="1725294"/>
          </a:xfrm>
          <a:prstGeom prst="roundRect">
            <a:avLst>
              <a:gd name="adj" fmla="val 4500"/>
            </a:avLst>
          </a:prstGeom>
          <a:solidFill>
            <a:srgbClr val="FFFFFF"/>
          </a:solidFill>
          <a:ln>
            <a:noFill/>
          </a:ln>
          <a:effectLst>
            <a:outerShdw blurRad="91440" dist="50292" dir="5400000" rotWithShape="0">
              <a:srgbClr val="22252B">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alendar.png"/>
          <p:cNvPicPr>
            <a:picLocks noChangeAspect="1"/>
          </p:cNvPicPr>
          <p:nvPr/>
        </p:nvPicPr>
        <p:blipFill>
          <a:blip r:embed="rId3"/>
          <a:stretch>
            <a:fillRect/>
          </a:stretch>
        </p:blipFill>
        <p:spPr>
          <a:xfrm>
            <a:off x="4788255" y="2103120"/>
            <a:ext cx="2615184" cy="1725294"/>
          </a:xfrm>
          <a:prstGeom prst="rect">
            <a:avLst/>
          </a:prstGeom>
          <a:effectLst/>
        </p:spPr>
      </p:pic>
      <p:sp>
        <p:nvSpPr>
          <p:cNvPr id="11" name="TextBox 10"/>
          <p:cNvSpPr txBox="1"/>
          <p:nvPr/>
        </p:nvSpPr>
        <p:spPr>
          <a:xfrm>
            <a:off x="4788255" y="3783329"/>
            <a:ext cx="2615184" cy="274320"/>
          </a:xfrm>
          <a:prstGeom prst="rect">
            <a:avLst/>
          </a:prstGeom>
          <a:noFill/>
        </p:spPr>
        <p:txBody>
          <a:bodyPr wrap="square" lIns="0" rIns="0" tIns="0" bIns="0" anchor="t">
            <a:spAutoFit/>
          </a:bodyPr>
          <a:lstStyle/>
          <a:p>
            <a:pPr algn="ctr">
              <a:lnSpc>
                <a:spcPct val="100000"/>
              </a:lnSpc>
            </a:pPr>
            <a:r>
              <a:rPr sz="1150" b="1">
                <a:solidFill>
                  <a:srgbClr val="22252B"/>
                </a:solidFill>
                <a:latin typeface="Arial"/>
              </a:rPr>
              <a:t>Smart calendar</a:t>
            </a:r>
          </a:p>
        </p:txBody>
      </p:sp>
      <p:sp>
        <p:nvSpPr>
          <p:cNvPr id="12" name="Rounded Rectangle 11"/>
          <p:cNvSpPr/>
          <p:nvPr/>
        </p:nvSpPr>
        <p:spPr>
          <a:xfrm>
            <a:off x="7714335" y="2103120"/>
            <a:ext cx="2615184" cy="1634489"/>
          </a:xfrm>
          <a:prstGeom prst="roundRect">
            <a:avLst>
              <a:gd name="adj" fmla="val 4500"/>
            </a:avLst>
          </a:prstGeom>
          <a:solidFill>
            <a:srgbClr val="FFFFFF"/>
          </a:solidFill>
          <a:ln>
            <a:noFill/>
          </a:ln>
          <a:effectLst>
            <a:outerShdw blurRad="91440" dist="50292" dir="5400000" rotWithShape="0">
              <a:srgbClr val="22252B">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ttendance.png"/>
          <p:cNvPicPr>
            <a:picLocks noChangeAspect="1"/>
          </p:cNvPicPr>
          <p:nvPr/>
        </p:nvPicPr>
        <p:blipFill>
          <a:blip r:embed="rId4"/>
          <a:stretch>
            <a:fillRect/>
          </a:stretch>
        </p:blipFill>
        <p:spPr>
          <a:xfrm>
            <a:off x="7714335" y="2103120"/>
            <a:ext cx="2615184" cy="1634489"/>
          </a:xfrm>
          <a:prstGeom prst="rect">
            <a:avLst/>
          </a:prstGeom>
          <a:effectLst/>
        </p:spPr>
      </p:pic>
      <p:sp>
        <p:nvSpPr>
          <p:cNvPr id="14" name="TextBox 13"/>
          <p:cNvSpPr txBox="1"/>
          <p:nvPr/>
        </p:nvSpPr>
        <p:spPr>
          <a:xfrm>
            <a:off x="7714335" y="3783329"/>
            <a:ext cx="2615184" cy="274320"/>
          </a:xfrm>
          <a:prstGeom prst="rect">
            <a:avLst/>
          </a:prstGeom>
          <a:noFill/>
        </p:spPr>
        <p:txBody>
          <a:bodyPr wrap="square" lIns="0" rIns="0" tIns="0" bIns="0" anchor="t">
            <a:spAutoFit/>
          </a:bodyPr>
          <a:lstStyle/>
          <a:p>
            <a:pPr algn="ctr">
              <a:lnSpc>
                <a:spcPct val="100000"/>
              </a:lnSpc>
            </a:pPr>
            <a:r>
              <a:rPr sz="1150" b="1">
                <a:solidFill>
                  <a:srgbClr val="22252B"/>
                </a:solidFill>
                <a:latin typeface="Arial"/>
              </a:rPr>
              <a:t>Attendance calculator</a:t>
            </a:r>
          </a:p>
        </p:txBody>
      </p:sp>
      <p:sp>
        <p:nvSpPr>
          <p:cNvPr id="15" name="Rounded Rectangle 14"/>
          <p:cNvSpPr/>
          <p:nvPr/>
        </p:nvSpPr>
        <p:spPr>
          <a:xfrm>
            <a:off x="1862175" y="4359402"/>
            <a:ext cx="2615184" cy="1634489"/>
          </a:xfrm>
          <a:prstGeom prst="roundRect">
            <a:avLst>
              <a:gd name="adj" fmla="val 4500"/>
            </a:avLst>
          </a:prstGeom>
          <a:solidFill>
            <a:srgbClr val="FFFFFF"/>
          </a:solidFill>
          <a:ln>
            <a:noFill/>
          </a:ln>
          <a:effectLst>
            <a:outerShdw blurRad="91440" dist="50292" dir="5400000" rotWithShape="0">
              <a:srgbClr val="22252B">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gpa.png"/>
          <p:cNvPicPr>
            <a:picLocks noChangeAspect="1"/>
          </p:cNvPicPr>
          <p:nvPr/>
        </p:nvPicPr>
        <p:blipFill>
          <a:blip r:embed="rId5"/>
          <a:stretch>
            <a:fillRect/>
          </a:stretch>
        </p:blipFill>
        <p:spPr>
          <a:xfrm>
            <a:off x="1862175" y="4359402"/>
            <a:ext cx="2615184" cy="1634489"/>
          </a:xfrm>
          <a:prstGeom prst="rect">
            <a:avLst/>
          </a:prstGeom>
          <a:effectLst/>
        </p:spPr>
      </p:pic>
      <p:sp>
        <p:nvSpPr>
          <p:cNvPr id="17" name="TextBox 16"/>
          <p:cNvSpPr txBox="1"/>
          <p:nvPr/>
        </p:nvSpPr>
        <p:spPr>
          <a:xfrm>
            <a:off x="1862175" y="6039612"/>
            <a:ext cx="2615184" cy="274320"/>
          </a:xfrm>
          <a:prstGeom prst="rect">
            <a:avLst/>
          </a:prstGeom>
          <a:noFill/>
        </p:spPr>
        <p:txBody>
          <a:bodyPr wrap="square" lIns="0" rIns="0" tIns="0" bIns="0" anchor="t">
            <a:spAutoFit/>
          </a:bodyPr>
          <a:lstStyle/>
          <a:p>
            <a:pPr algn="ctr">
              <a:lnSpc>
                <a:spcPct val="100000"/>
              </a:lnSpc>
            </a:pPr>
            <a:r>
              <a:rPr sz="1150" b="1">
                <a:solidFill>
                  <a:srgbClr val="22252B"/>
                </a:solidFill>
                <a:latin typeface="Arial"/>
              </a:rPr>
              <a:t>CGPA calculator</a:t>
            </a:r>
          </a:p>
        </p:txBody>
      </p:sp>
      <p:sp>
        <p:nvSpPr>
          <p:cNvPr id="18" name="Rounded Rectangle 17"/>
          <p:cNvSpPr/>
          <p:nvPr/>
        </p:nvSpPr>
        <p:spPr>
          <a:xfrm>
            <a:off x="4788255" y="4359402"/>
            <a:ext cx="2615184" cy="1634489"/>
          </a:xfrm>
          <a:prstGeom prst="roundRect">
            <a:avLst>
              <a:gd name="adj" fmla="val 4500"/>
            </a:avLst>
          </a:prstGeom>
          <a:solidFill>
            <a:srgbClr val="FFFFFF"/>
          </a:solidFill>
          <a:ln>
            <a:noFill/>
          </a:ln>
          <a:effectLst>
            <a:outerShdw blurRad="91440" dist="50292" dir="5400000" rotWithShape="0">
              <a:srgbClr val="22252B">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achievements.png"/>
          <p:cNvPicPr>
            <a:picLocks noChangeAspect="1"/>
          </p:cNvPicPr>
          <p:nvPr/>
        </p:nvPicPr>
        <p:blipFill>
          <a:blip r:embed="rId6"/>
          <a:stretch>
            <a:fillRect/>
          </a:stretch>
        </p:blipFill>
        <p:spPr>
          <a:xfrm>
            <a:off x="4788255" y="4359402"/>
            <a:ext cx="2615184" cy="1634489"/>
          </a:xfrm>
          <a:prstGeom prst="rect">
            <a:avLst/>
          </a:prstGeom>
          <a:effectLst/>
        </p:spPr>
      </p:pic>
      <p:sp>
        <p:nvSpPr>
          <p:cNvPr id="20" name="TextBox 19"/>
          <p:cNvSpPr txBox="1"/>
          <p:nvPr/>
        </p:nvSpPr>
        <p:spPr>
          <a:xfrm>
            <a:off x="4788255" y="6039612"/>
            <a:ext cx="2615184" cy="274320"/>
          </a:xfrm>
          <a:prstGeom prst="rect">
            <a:avLst/>
          </a:prstGeom>
          <a:noFill/>
        </p:spPr>
        <p:txBody>
          <a:bodyPr wrap="square" lIns="0" rIns="0" tIns="0" bIns="0" anchor="t">
            <a:spAutoFit/>
          </a:bodyPr>
          <a:lstStyle/>
          <a:p>
            <a:pPr algn="ctr">
              <a:lnSpc>
                <a:spcPct val="100000"/>
              </a:lnSpc>
            </a:pPr>
            <a:r>
              <a:rPr sz="1150" b="1">
                <a:solidFill>
                  <a:srgbClr val="22252B"/>
                </a:solidFill>
                <a:latin typeface="Arial"/>
              </a:rPr>
              <a:t>Achievements</a:t>
            </a:r>
          </a:p>
        </p:txBody>
      </p:sp>
      <p:sp>
        <p:nvSpPr>
          <p:cNvPr id="21" name="Rounded Rectangle 20"/>
          <p:cNvSpPr/>
          <p:nvPr/>
        </p:nvSpPr>
        <p:spPr>
          <a:xfrm>
            <a:off x="7714335" y="4359402"/>
            <a:ext cx="2615184" cy="1634489"/>
          </a:xfrm>
          <a:prstGeom prst="roundRect">
            <a:avLst>
              <a:gd name="adj" fmla="val 4500"/>
            </a:avLst>
          </a:prstGeom>
          <a:solidFill>
            <a:srgbClr val="FFFFFF"/>
          </a:solidFill>
          <a:ln>
            <a:noFill/>
          </a:ln>
          <a:effectLst>
            <a:outerShdw blurRad="91440" dist="50292" dir="5400000" rotWithShape="0">
              <a:srgbClr val="22252B">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notifications.png"/>
          <p:cNvPicPr>
            <a:picLocks noChangeAspect="1"/>
          </p:cNvPicPr>
          <p:nvPr/>
        </p:nvPicPr>
        <p:blipFill>
          <a:blip r:embed="rId7"/>
          <a:stretch>
            <a:fillRect/>
          </a:stretch>
        </p:blipFill>
        <p:spPr>
          <a:xfrm>
            <a:off x="7714335" y="4359402"/>
            <a:ext cx="2615184" cy="1634489"/>
          </a:xfrm>
          <a:prstGeom prst="rect">
            <a:avLst/>
          </a:prstGeom>
          <a:effectLst/>
        </p:spPr>
      </p:pic>
      <p:sp>
        <p:nvSpPr>
          <p:cNvPr id="23" name="TextBox 22"/>
          <p:cNvSpPr txBox="1"/>
          <p:nvPr/>
        </p:nvSpPr>
        <p:spPr>
          <a:xfrm>
            <a:off x="7714335" y="6039612"/>
            <a:ext cx="2615184" cy="274320"/>
          </a:xfrm>
          <a:prstGeom prst="rect">
            <a:avLst/>
          </a:prstGeom>
          <a:noFill/>
        </p:spPr>
        <p:txBody>
          <a:bodyPr wrap="square" lIns="0" rIns="0" tIns="0" bIns="0" anchor="t">
            <a:spAutoFit/>
          </a:bodyPr>
          <a:lstStyle/>
          <a:p>
            <a:pPr algn="ctr">
              <a:lnSpc>
                <a:spcPct val="100000"/>
              </a:lnSpc>
            </a:pPr>
            <a:r>
              <a:rPr sz="1150" b="1">
                <a:solidFill>
                  <a:srgbClr val="22252B"/>
                </a:solidFill>
                <a:latin typeface="Arial"/>
              </a:rPr>
              <a:t>Notifications</a:t>
            </a:r>
          </a:p>
        </p:txBody>
      </p:sp>
      <p:sp>
        <p:nvSpPr>
          <p:cNvPr id="24" name="TextBox 23"/>
          <p:cNvSpPr txBox="1"/>
          <p:nvPr/>
        </p:nvSpPr>
        <p:spPr>
          <a:xfrm>
            <a:off x="640080" y="6455664"/>
            <a:ext cx="4572000" cy="274320"/>
          </a:xfrm>
          <a:prstGeom prst="rect">
            <a:avLst/>
          </a:prstGeom>
          <a:noFill/>
        </p:spPr>
        <p:txBody>
          <a:bodyPr wrap="square" lIns="0" rIns="0" tIns="0" bIns="0" anchor="t">
            <a:spAutoFit/>
          </a:bodyPr>
          <a:lstStyle/>
          <a:p>
            <a:pPr algn="l">
              <a:lnSpc>
                <a:spcPct val="100000"/>
              </a:lnSpc>
            </a:pPr>
            <a:r>
              <a:rPr sz="950" b="0">
                <a:solidFill>
                  <a:srgbClr val="A3AEB1"/>
                </a:solidFill>
                <a:latin typeface="Arial"/>
              </a:rPr>
              <a:t>Synora  ·  Web Development Project</a:t>
            </a:r>
          </a:p>
        </p:txBody>
      </p:sp>
      <p:sp>
        <p:nvSpPr>
          <p:cNvPr id="25" name="TextBox 24"/>
          <p:cNvSpPr txBox="1"/>
          <p:nvPr/>
        </p:nvSpPr>
        <p:spPr>
          <a:xfrm>
            <a:off x="9722815" y="6455664"/>
            <a:ext cx="1828800" cy="274320"/>
          </a:xfrm>
          <a:prstGeom prst="rect">
            <a:avLst/>
          </a:prstGeom>
          <a:noFill/>
        </p:spPr>
        <p:txBody>
          <a:bodyPr wrap="square" lIns="0" rIns="0" tIns="0" bIns="0" anchor="t">
            <a:spAutoFit/>
          </a:bodyPr>
          <a:lstStyle/>
          <a:p>
            <a:pPr algn="r">
              <a:lnSpc>
                <a:spcPct val="100000"/>
              </a:lnSpc>
            </a:pPr>
            <a:r>
              <a:rPr sz="950" b="0">
                <a:solidFill>
                  <a:srgbClr val="A3AEB1"/>
                </a:solidFill>
                <a:latin typeface="Arial"/>
              </a:rPr>
              <a:t>18 / 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7315200" cy="274320"/>
          </a:xfrm>
          <a:prstGeom prst="rect">
            <a:avLst/>
          </a:prstGeom>
          <a:noFill/>
        </p:spPr>
        <p:txBody>
          <a:bodyPr wrap="square" lIns="0" rIns="0" tIns="0" bIns="0" anchor="t">
            <a:spAutoFit/>
          </a:bodyPr>
          <a:lstStyle/>
          <a:p>
            <a:pPr algn="l">
              <a:lnSpc>
                <a:spcPct val="100000"/>
              </a:lnSpc>
            </a:pPr>
            <a:r>
              <a:rPr sz="1200" b="1" spc="180">
                <a:solidFill>
                  <a:srgbClr val="B09F95"/>
                </a:solidFill>
                <a:latin typeface="Arial"/>
              </a:rPr>
              <a:t>SYLLABUS MAPPING</a:t>
            </a:r>
          </a:p>
        </p:txBody>
      </p:sp>
      <p:sp>
        <p:nvSpPr>
          <p:cNvPr id="4" name="TextBox 3"/>
          <p:cNvSpPr txBox="1"/>
          <p:nvPr/>
        </p:nvSpPr>
        <p:spPr>
          <a:xfrm>
            <a:off x="640080" y="841247"/>
            <a:ext cx="10911535" cy="822960"/>
          </a:xfrm>
          <a:prstGeom prst="rect">
            <a:avLst/>
          </a:prstGeom>
          <a:noFill/>
        </p:spPr>
        <p:txBody>
          <a:bodyPr wrap="square" lIns="0" rIns="0" tIns="0" bIns="0" anchor="t">
            <a:spAutoFit/>
          </a:bodyPr>
          <a:lstStyle/>
          <a:p>
            <a:pPr algn="l">
              <a:lnSpc>
                <a:spcPct val="100000"/>
              </a:lnSpc>
            </a:pPr>
            <a:r>
              <a:rPr sz="3000" b="1">
                <a:solidFill>
                  <a:srgbClr val="22252B"/>
                </a:solidFill>
                <a:latin typeface="Arial"/>
              </a:rPr>
              <a:t>What we applied</a:t>
            </a:r>
          </a:p>
        </p:txBody>
      </p:sp>
      <p:sp>
        <p:nvSpPr>
          <p:cNvPr id="5" name="Rounded Rectangle 4"/>
          <p:cNvSpPr/>
          <p:nvPr/>
        </p:nvSpPr>
        <p:spPr>
          <a:xfrm>
            <a:off x="640080" y="1828800"/>
            <a:ext cx="1975104" cy="4023360"/>
          </a:xfrm>
          <a:prstGeom prst="roundRect">
            <a:avLst>
              <a:gd name="adj" fmla="val 7000"/>
            </a:avLst>
          </a:prstGeom>
          <a:solidFill>
            <a:srgbClr val="FFFFFF"/>
          </a:solidFill>
          <a:ln w="15240">
            <a:solidFill>
              <a:srgbClr val="E5E8EB"/>
            </a:solidFill>
          </a:ln>
          <a:effectLst>
            <a:outerShdw blurRad="91440" dist="50292" dir="5400000" rotWithShape="0">
              <a:srgbClr val="22252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828800"/>
            <a:ext cx="1975104" cy="566928"/>
          </a:xfrm>
          <a:prstGeom prst="roundRect">
            <a:avLst>
              <a:gd name="adj" fmla="val 7000"/>
            </a:avLst>
          </a:prstGeom>
          <a:solidFill>
            <a:srgbClr val="222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139696"/>
            <a:ext cx="1975104" cy="274320"/>
          </a:xfrm>
          <a:prstGeom prst="rect">
            <a:avLst/>
          </a:prstGeom>
          <a:solidFill>
            <a:srgbClr val="222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828800"/>
            <a:ext cx="1975104" cy="566928"/>
          </a:xfrm>
          <a:prstGeom prst="rect">
            <a:avLst/>
          </a:prstGeom>
          <a:noFill/>
        </p:spPr>
        <p:txBody>
          <a:bodyPr wrap="square" lIns="0" rIns="0" tIns="0" bIns="0" anchor="ctr">
            <a:spAutoFit/>
          </a:bodyPr>
          <a:lstStyle/>
          <a:p>
            <a:pPr algn="ctr">
              <a:lnSpc>
                <a:spcPct val="100000"/>
              </a:lnSpc>
            </a:pPr>
            <a:r>
              <a:rPr sz="1400" b="1">
                <a:solidFill>
                  <a:srgbClr val="F3F1EC"/>
                </a:solidFill>
                <a:latin typeface="Arial"/>
              </a:rPr>
              <a:t>HTML5</a:t>
            </a:r>
          </a:p>
        </p:txBody>
      </p:sp>
      <p:sp>
        <p:nvSpPr>
          <p:cNvPr id="9" name="Rounded Rectangle 8"/>
          <p:cNvSpPr/>
          <p:nvPr/>
        </p:nvSpPr>
        <p:spPr>
          <a:xfrm>
            <a:off x="841247" y="2615184"/>
            <a:ext cx="310896" cy="310896"/>
          </a:xfrm>
          <a:prstGeom prst="roundRect">
            <a:avLst>
              <a:gd name="adj" fmla="val 40000"/>
            </a:avLst>
          </a:prstGeom>
          <a:solidFill>
            <a:srgbClr val="E7E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2596896"/>
            <a:ext cx="310896" cy="310896"/>
          </a:xfrm>
          <a:prstGeom prst="rect">
            <a:avLst/>
          </a:prstGeom>
          <a:noFill/>
        </p:spPr>
        <p:txBody>
          <a:bodyPr wrap="square" lIns="0" rIns="0" tIns="0" bIns="0" anchor="ctr">
            <a:spAutoFit/>
          </a:bodyPr>
          <a:lstStyle/>
          <a:p>
            <a:pPr algn="ctr">
              <a:lnSpc>
                <a:spcPct val="100000"/>
              </a:lnSpc>
            </a:pPr>
            <a:r>
              <a:rPr sz="1300" b="1">
                <a:solidFill>
                  <a:srgbClr val="53655C"/>
                </a:solidFill>
                <a:latin typeface="Arial"/>
              </a:rPr>
              <a:t>✓</a:t>
            </a:r>
          </a:p>
        </p:txBody>
      </p:sp>
      <p:sp>
        <p:nvSpPr>
          <p:cNvPr id="11" name="TextBox 10"/>
          <p:cNvSpPr txBox="1"/>
          <p:nvPr/>
        </p:nvSpPr>
        <p:spPr>
          <a:xfrm>
            <a:off x="1225295" y="2560320"/>
            <a:ext cx="1261872" cy="640080"/>
          </a:xfrm>
          <a:prstGeom prst="rect">
            <a:avLst/>
          </a:prstGeom>
          <a:noFill/>
        </p:spPr>
        <p:txBody>
          <a:bodyPr wrap="square" lIns="0" rIns="0" tIns="0" bIns="0" anchor="ctr">
            <a:spAutoFit/>
          </a:bodyPr>
          <a:lstStyle/>
          <a:p>
            <a:pPr algn="l">
              <a:lnSpc>
                <a:spcPct val="105000"/>
              </a:lnSpc>
            </a:pPr>
            <a:r>
              <a:rPr sz="1100" b="0">
                <a:solidFill>
                  <a:srgbClr val="22252B"/>
                </a:solidFill>
                <a:latin typeface="Arial"/>
              </a:rPr>
              <a:t>Semantic structure</a:t>
            </a:r>
          </a:p>
        </p:txBody>
      </p:sp>
      <p:sp>
        <p:nvSpPr>
          <p:cNvPr id="12" name="Rounded Rectangle 11"/>
          <p:cNvSpPr/>
          <p:nvPr/>
        </p:nvSpPr>
        <p:spPr>
          <a:xfrm>
            <a:off x="841247" y="3364991"/>
            <a:ext cx="310896" cy="310896"/>
          </a:xfrm>
          <a:prstGeom prst="roundRect">
            <a:avLst>
              <a:gd name="adj" fmla="val 40000"/>
            </a:avLst>
          </a:prstGeom>
          <a:solidFill>
            <a:srgbClr val="E7E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3346703"/>
            <a:ext cx="310896" cy="310896"/>
          </a:xfrm>
          <a:prstGeom prst="rect">
            <a:avLst/>
          </a:prstGeom>
          <a:noFill/>
        </p:spPr>
        <p:txBody>
          <a:bodyPr wrap="square" lIns="0" rIns="0" tIns="0" bIns="0" anchor="ctr">
            <a:spAutoFit/>
          </a:bodyPr>
          <a:lstStyle/>
          <a:p>
            <a:pPr algn="ctr">
              <a:lnSpc>
                <a:spcPct val="100000"/>
              </a:lnSpc>
            </a:pPr>
            <a:r>
              <a:rPr sz="1300" b="1">
                <a:solidFill>
                  <a:srgbClr val="53655C"/>
                </a:solidFill>
                <a:latin typeface="Arial"/>
              </a:rPr>
              <a:t>✓</a:t>
            </a:r>
          </a:p>
        </p:txBody>
      </p:sp>
      <p:sp>
        <p:nvSpPr>
          <p:cNvPr id="14" name="TextBox 13"/>
          <p:cNvSpPr txBox="1"/>
          <p:nvPr/>
        </p:nvSpPr>
        <p:spPr>
          <a:xfrm>
            <a:off x="1225295" y="3310127"/>
            <a:ext cx="1261872" cy="640080"/>
          </a:xfrm>
          <a:prstGeom prst="rect">
            <a:avLst/>
          </a:prstGeom>
          <a:noFill/>
        </p:spPr>
        <p:txBody>
          <a:bodyPr wrap="square" lIns="0" rIns="0" tIns="0" bIns="0" anchor="ctr">
            <a:spAutoFit/>
          </a:bodyPr>
          <a:lstStyle/>
          <a:p>
            <a:pPr algn="l">
              <a:lnSpc>
                <a:spcPct val="105000"/>
              </a:lnSpc>
            </a:pPr>
            <a:r>
              <a:rPr sz="1100" b="0">
                <a:solidFill>
                  <a:srgbClr val="22252B"/>
                </a:solidFill>
                <a:latin typeface="Arial"/>
              </a:rPr>
              <a:t>Forms &amp; inputs</a:t>
            </a:r>
          </a:p>
        </p:txBody>
      </p:sp>
      <p:sp>
        <p:nvSpPr>
          <p:cNvPr id="15" name="Rounded Rectangle 14"/>
          <p:cNvSpPr/>
          <p:nvPr/>
        </p:nvSpPr>
        <p:spPr>
          <a:xfrm>
            <a:off x="841247" y="4114800"/>
            <a:ext cx="310896" cy="310896"/>
          </a:xfrm>
          <a:prstGeom prst="roundRect">
            <a:avLst>
              <a:gd name="adj" fmla="val 40000"/>
            </a:avLst>
          </a:prstGeom>
          <a:solidFill>
            <a:srgbClr val="E7E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4096512"/>
            <a:ext cx="310896" cy="310896"/>
          </a:xfrm>
          <a:prstGeom prst="rect">
            <a:avLst/>
          </a:prstGeom>
          <a:noFill/>
        </p:spPr>
        <p:txBody>
          <a:bodyPr wrap="square" lIns="0" rIns="0" tIns="0" bIns="0" anchor="ctr">
            <a:spAutoFit/>
          </a:bodyPr>
          <a:lstStyle/>
          <a:p>
            <a:pPr algn="ctr">
              <a:lnSpc>
                <a:spcPct val="100000"/>
              </a:lnSpc>
            </a:pPr>
            <a:r>
              <a:rPr sz="1300" b="1">
                <a:solidFill>
                  <a:srgbClr val="53655C"/>
                </a:solidFill>
                <a:latin typeface="Arial"/>
              </a:rPr>
              <a:t>✓</a:t>
            </a:r>
          </a:p>
        </p:txBody>
      </p:sp>
      <p:sp>
        <p:nvSpPr>
          <p:cNvPr id="17" name="TextBox 16"/>
          <p:cNvSpPr txBox="1"/>
          <p:nvPr/>
        </p:nvSpPr>
        <p:spPr>
          <a:xfrm>
            <a:off x="1225295" y="4059936"/>
            <a:ext cx="1261872" cy="640080"/>
          </a:xfrm>
          <a:prstGeom prst="rect">
            <a:avLst/>
          </a:prstGeom>
          <a:noFill/>
        </p:spPr>
        <p:txBody>
          <a:bodyPr wrap="square" lIns="0" rIns="0" tIns="0" bIns="0" anchor="ctr">
            <a:spAutoFit/>
          </a:bodyPr>
          <a:lstStyle/>
          <a:p>
            <a:pPr algn="l">
              <a:lnSpc>
                <a:spcPct val="105000"/>
              </a:lnSpc>
            </a:pPr>
            <a:r>
              <a:rPr sz="1100" b="0">
                <a:solidFill>
                  <a:srgbClr val="22252B"/>
                </a:solidFill>
                <a:latin typeface="Arial"/>
              </a:rPr>
              <a:t>Accessibility basics</a:t>
            </a:r>
          </a:p>
        </p:txBody>
      </p:sp>
      <p:sp>
        <p:nvSpPr>
          <p:cNvPr id="18" name="Rounded Rectangle 17"/>
          <p:cNvSpPr/>
          <p:nvPr/>
        </p:nvSpPr>
        <p:spPr>
          <a:xfrm>
            <a:off x="841247" y="4864608"/>
            <a:ext cx="310896" cy="310896"/>
          </a:xfrm>
          <a:prstGeom prst="roundRect">
            <a:avLst>
              <a:gd name="adj" fmla="val 40000"/>
            </a:avLst>
          </a:prstGeom>
          <a:solidFill>
            <a:srgbClr val="E7E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7" y="4846320"/>
            <a:ext cx="310896" cy="310896"/>
          </a:xfrm>
          <a:prstGeom prst="rect">
            <a:avLst/>
          </a:prstGeom>
          <a:noFill/>
        </p:spPr>
        <p:txBody>
          <a:bodyPr wrap="square" lIns="0" rIns="0" tIns="0" bIns="0" anchor="ctr">
            <a:spAutoFit/>
          </a:bodyPr>
          <a:lstStyle/>
          <a:p>
            <a:pPr algn="ctr">
              <a:lnSpc>
                <a:spcPct val="100000"/>
              </a:lnSpc>
            </a:pPr>
            <a:r>
              <a:rPr sz="1300" b="1">
                <a:solidFill>
                  <a:srgbClr val="53655C"/>
                </a:solidFill>
                <a:latin typeface="Arial"/>
              </a:rPr>
              <a:t>✓</a:t>
            </a:r>
          </a:p>
        </p:txBody>
      </p:sp>
      <p:sp>
        <p:nvSpPr>
          <p:cNvPr id="20" name="TextBox 19"/>
          <p:cNvSpPr txBox="1"/>
          <p:nvPr/>
        </p:nvSpPr>
        <p:spPr>
          <a:xfrm>
            <a:off x="1225295" y="4809744"/>
            <a:ext cx="1261872" cy="640080"/>
          </a:xfrm>
          <a:prstGeom prst="rect">
            <a:avLst/>
          </a:prstGeom>
          <a:noFill/>
        </p:spPr>
        <p:txBody>
          <a:bodyPr wrap="square" lIns="0" rIns="0" tIns="0" bIns="0" anchor="ctr">
            <a:spAutoFit/>
          </a:bodyPr>
          <a:lstStyle/>
          <a:p>
            <a:pPr algn="l">
              <a:lnSpc>
                <a:spcPct val="105000"/>
              </a:lnSpc>
            </a:pPr>
            <a:r>
              <a:rPr sz="1100" b="0">
                <a:solidFill>
                  <a:srgbClr val="22252B"/>
                </a:solidFill>
                <a:latin typeface="Arial"/>
              </a:rPr>
              <a:t>Figure / media</a:t>
            </a:r>
          </a:p>
        </p:txBody>
      </p:sp>
      <p:sp>
        <p:nvSpPr>
          <p:cNvPr id="21" name="Rounded Rectangle 20"/>
          <p:cNvSpPr/>
          <p:nvPr/>
        </p:nvSpPr>
        <p:spPr>
          <a:xfrm>
            <a:off x="2874187" y="1828800"/>
            <a:ext cx="1975104" cy="4023360"/>
          </a:xfrm>
          <a:prstGeom prst="roundRect">
            <a:avLst>
              <a:gd name="adj" fmla="val 7000"/>
            </a:avLst>
          </a:prstGeom>
          <a:solidFill>
            <a:srgbClr val="FFFFFF"/>
          </a:solidFill>
          <a:ln w="15240">
            <a:solidFill>
              <a:srgbClr val="E5E8EB"/>
            </a:solidFill>
          </a:ln>
          <a:effectLst>
            <a:outerShdw blurRad="91440" dist="50292" dir="5400000" rotWithShape="0">
              <a:srgbClr val="22252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874187" y="1828800"/>
            <a:ext cx="1975104" cy="566928"/>
          </a:xfrm>
          <a:prstGeom prst="roundRect">
            <a:avLst>
              <a:gd name="adj" fmla="val 7000"/>
            </a:avLst>
          </a:prstGeom>
          <a:solidFill>
            <a:srgbClr val="222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874187" y="2139696"/>
            <a:ext cx="1975104" cy="274320"/>
          </a:xfrm>
          <a:prstGeom prst="rect">
            <a:avLst/>
          </a:prstGeom>
          <a:solidFill>
            <a:srgbClr val="222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74187" y="1828800"/>
            <a:ext cx="1975104" cy="566928"/>
          </a:xfrm>
          <a:prstGeom prst="rect">
            <a:avLst/>
          </a:prstGeom>
          <a:noFill/>
        </p:spPr>
        <p:txBody>
          <a:bodyPr wrap="square" lIns="0" rIns="0" tIns="0" bIns="0" anchor="ctr">
            <a:spAutoFit/>
          </a:bodyPr>
          <a:lstStyle/>
          <a:p>
            <a:pPr algn="ctr">
              <a:lnSpc>
                <a:spcPct val="100000"/>
              </a:lnSpc>
            </a:pPr>
            <a:r>
              <a:rPr sz="1400" b="1">
                <a:solidFill>
                  <a:srgbClr val="F3F1EC"/>
                </a:solidFill>
                <a:latin typeface="Arial"/>
              </a:rPr>
              <a:t>CSS3</a:t>
            </a:r>
          </a:p>
        </p:txBody>
      </p:sp>
      <p:sp>
        <p:nvSpPr>
          <p:cNvPr id="25" name="Rounded Rectangle 24"/>
          <p:cNvSpPr/>
          <p:nvPr/>
        </p:nvSpPr>
        <p:spPr>
          <a:xfrm>
            <a:off x="3075355" y="2615184"/>
            <a:ext cx="310896" cy="310896"/>
          </a:xfrm>
          <a:prstGeom prst="roundRect">
            <a:avLst>
              <a:gd name="adj" fmla="val 40000"/>
            </a:avLst>
          </a:prstGeom>
          <a:solidFill>
            <a:srgbClr val="E7E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75355" y="2596896"/>
            <a:ext cx="310896" cy="310896"/>
          </a:xfrm>
          <a:prstGeom prst="rect">
            <a:avLst/>
          </a:prstGeom>
          <a:noFill/>
        </p:spPr>
        <p:txBody>
          <a:bodyPr wrap="square" lIns="0" rIns="0" tIns="0" bIns="0" anchor="ctr">
            <a:spAutoFit/>
          </a:bodyPr>
          <a:lstStyle/>
          <a:p>
            <a:pPr algn="ctr">
              <a:lnSpc>
                <a:spcPct val="100000"/>
              </a:lnSpc>
            </a:pPr>
            <a:r>
              <a:rPr sz="1300" b="1">
                <a:solidFill>
                  <a:srgbClr val="53655C"/>
                </a:solidFill>
                <a:latin typeface="Arial"/>
              </a:rPr>
              <a:t>✓</a:t>
            </a:r>
          </a:p>
        </p:txBody>
      </p:sp>
      <p:sp>
        <p:nvSpPr>
          <p:cNvPr id="27" name="TextBox 26"/>
          <p:cNvSpPr txBox="1"/>
          <p:nvPr/>
        </p:nvSpPr>
        <p:spPr>
          <a:xfrm>
            <a:off x="3459403" y="2560320"/>
            <a:ext cx="1261872" cy="640080"/>
          </a:xfrm>
          <a:prstGeom prst="rect">
            <a:avLst/>
          </a:prstGeom>
          <a:noFill/>
        </p:spPr>
        <p:txBody>
          <a:bodyPr wrap="square" lIns="0" rIns="0" tIns="0" bIns="0" anchor="ctr">
            <a:spAutoFit/>
          </a:bodyPr>
          <a:lstStyle/>
          <a:p>
            <a:pPr algn="l">
              <a:lnSpc>
                <a:spcPct val="105000"/>
              </a:lnSpc>
            </a:pPr>
            <a:r>
              <a:rPr sz="1100" b="0">
                <a:solidFill>
                  <a:srgbClr val="22252B"/>
                </a:solidFill>
                <a:latin typeface="Arial"/>
              </a:rPr>
              <a:t>Box model</a:t>
            </a:r>
          </a:p>
        </p:txBody>
      </p:sp>
      <p:sp>
        <p:nvSpPr>
          <p:cNvPr id="28" name="Rounded Rectangle 27"/>
          <p:cNvSpPr/>
          <p:nvPr/>
        </p:nvSpPr>
        <p:spPr>
          <a:xfrm>
            <a:off x="3075355" y="3364991"/>
            <a:ext cx="310896" cy="310896"/>
          </a:xfrm>
          <a:prstGeom prst="roundRect">
            <a:avLst>
              <a:gd name="adj" fmla="val 40000"/>
            </a:avLst>
          </a:prstGeom>
          <a:solidFill>
            <a:srgbClr val="E7E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75355" y="3346703"/>
            <a:ext cx="310896" cy="310896"/>
          </a:xfrm>
          <a:prstGeom prst="rect">
            <a:avLst/>
          </a:prstGeom>
          <a:noFill/>
        </p:spPr>
        <p:txBody>
          <a:bodyPr wrap="square" lIns="0" rIns="0" tIns="0" bIns="0" anchor="ctr">
            <a:spAutoFit/>
          </a:bodyPr>
          <a:lstStyle/>
          <a:p>
            <a:pPr algn="ctr">
              <a:lnSpc>
                <a:spcPct val="100000"/>
              </a:lnSpc>
            </a:pPr>
            <a:r>
              <a:rPr sz="1300" b="1">
                <a:solidFill>
                  <a:srgbClr val="53655C"/>
                </a:solidFill>
                <a:latin typeface="Arial"/>
              </a:rPr>
              <a:t>✓</a:t>
            </a:r>
          </a:p>
        </p:txBody>
      </p:sp>
      <p:sp>
        <p:nvSpPr>
          <p:cNvPr id="30" name="TextBox 29"/>
          <p:cNvSpPr txBox="1"/>
          <p:nvPr/>
        </p:nvSpPr>
        <p:spPr>
          <a:xfrm>
            <a:off x="3459403" y="3310127"/>
            <a:ext cx="1261872" cy="640080"/>
          </a:xfrm>
          <a:prstGeom prst="rect">
            <a:avLst/>
          </a:prstGeom>
          <a:noFill/>
        </p:spPr>
        <p:txBody>
          <a:bodyPr wrap="square" lIns="0" rIns="0" tIns="0" bIns="0" anchor="ctr">
            <a:spAutoFit/>
          </a:bodyPr>
          <a:lstStyle/>
          <a:p>
            <a:pPr algn="l">
              <a:lnSpc>
                <a:spcPct val="105000"/>
              </a:lnSpc>
            </a:pPr>
            <a:r>
              <a:rPr sz="1100" b="0">
                <a:solidFill>
                  <a:srgbClr val="22252B"/>
                </a:solidFill>
                <a:latin typeface="Arial"/>
              </a:rPr>
              <a:t>Flexbox</a:t>
            </a:r>
          </a:p>
        </p:txBody>
      </p:sp>
      <p:sp>
        <p:nvSpPr>
          <p:cNvPr id="31" name="Rounded Rectangle 30"/>
          <p:cNvSpPr/>
          <p:nvPr/>
        </p:nvSpPr>
        <p:spPr>
          <a:xfrm>
            <a:off x="3075355" y="4114800"/>
            <a:ext cx="310896" cy="310896"/>
          </a:xfrm>
          <a:prstGeom prst="roundRect">
            <a:avLst>
              <a:gd name="adj" fmla="val 40000"/>
            </a:avLst>
          </a:prstGeom>
          <a:solidFill>
            <a:srgbClr val="E7E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75355" y="4096512"/>
            <a:ext cx="310896" cy="310896"/>
          </a:xfrm>
          <a:prstGeom prst="rect">
            <a:avLst/>
          </a:prstGeom>
          <a:noFill/>
        </p:spPr>
        <p:txBody>
          <a:bodyPr wrap="square" lIns="0" rIns="0" tIns="0" bIns="0" anchor="ctr">
            <a:spAutoFit/>
          </a:bodyPr>
          <a:lstStyle/>
          <a:p>
            <a:pPr algn="ctr">
              <a:lnSpc>
                <a:spcPct val="100000"/>
              </a:lnSpc>
            </a:pPr>
            <a:r>
              <a:rPr sz="1300" b="1">
                <a:solidFill>
                  <a:srgbClr val="53655C"/>
                </a:solidFill>
                <a:latin typeface="Arial"/>
              </a:rPr>
              <a:t>✓</a:t>
            </a:r>
          </a:p>
        </p:txBody>
      </p:sp>
      <p:sp>
        <p:nvSpPr>
          <p:cNvPr id="33" name="TextBox 32"/>
          <p:cNvSpPr txBox="1"/>
          <p:nvPr/>
        </p:nvSpPr>
        <p:spPr>
          <a:xfrm>
            <a:off x="3459403" y="4059936"/>
            <a:ext cx="1261872" cy="640080"/>
          </a:xfrm>
          <a:prstGeom prst="rect">
            <a:avLst/>
          </a:prstGeom>
          <a:noFill/>
        </p:spPr>
        <p:txBody>
          <a:bodyPr wrap="square" lIns="0" rIns="0" tIns="0" bIns="0" anchor="ctr">
            <a:spAutoFit/>
          </a:bodyPr>
          <a:lstStyle/>
          <a:p>
            <a:pPr algn="l">
              <a:lnSpc>
                <a:spcPct val="105000"/>
              </a:lnSpc>
            </a:pPr>
            <a:r>
              <a:rPr sz="1100" b="0">
                <a:solidFill>
                  <a:srgbClr val="22252B"/>
                </a:solidFill>
                <a:latin typeface="Arial"/>
              </a:rPr>
              <a:t>Grid</a:t>
            </a:r>
          </a:p>
        </p:txBody>
      </p:sp>
      <p:sp>
        <p:nvSpPr>
          <p:cNvPr id="34" name="Rounded Rectangle 33"/>
          <p:cNvSpPr/>
          <p:nvPr/>
        </p:nvSpPr>
        <p:spPr>
          <a:xfrm>
            <a:off x="3075355" y="4864608"/>
            <a:ext cx="310896" cy="310896"/>
          </a:xfrm>
          <a:prstGeom prst="roundRect">
            <a:avLst>
              <a:gd name="adj" fmla="val 40000"/>
            </a:avLst>
          </a:prstGeom>
          <a:solidFill>
            <a:srgbClr val="E7E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075355" y="4846320"/>
            <a:ext cx="310896" cy="310896"/>
          </a:xfrm>
          <a:prstGeom prst="rect">
            <a:avLst/>
          </a:prstGeom>
          <a:noFill/>
        </p:spPr>
        <p:txBody>
          <a:bodyPr wrap="square" lIns="0" rIns="0" tIns="0" bIns="0" anchor="ctr">
            <a:spAutoFit/>
          </a:bodyPr>
          <a:lstStyle/>
          <a:p>
            <a:pPr algn="ctr">
              <a:lnSpc>
                <a:spcPct val="100000"/>
              </a:lnSpc>
            </a:pPr>
            <a:r>
              <a:rPr sz="1300" b="1">
                <a:solidFill>
                  <a:srgbClr val="53655C"/>
                </a:solidFill>
                <a:latin typeface="Arial"/>
              </a:rPr>
              <a:t>✓</a:t>
            </a:r>
          </a:p>
        </p:txBody>
      </p:sp>
      <p:sp>
        <p:nvSpPr>
          <p:cNvPr id="36" name="TextBox 35"/>
          <p:cNvSpPr txBox="1"/>
          <p:nvPr/>
        </p:nvSpPr>
        <p:spPr>
          <a:xfrm>
            <a:off x="3459403" y="4809744"/>
            <a:ext cx="1261872" cy="640080"/>
          </a:xfrm>
          <a:prstGeom prst="rect">
            <a:avLst/>
          </a:prstGeom>
          <a:noFill/>
        </p:spPr>
        <p:txBody>
          <a:bodyPr wrap="square" lIns="0" rIns="0" tIns="0" bIns="0" anchor="ctr">
            <a:spAutoFit/>
          </a:bodyPr>
          <a:lstStyle/>
          <a:p>
            <a:pPr algn="l">
              <a:lnSpc>
                <a:spcPct val="105000"/>
              </a:lnSpc>
            </a:pPr>
            <a:r>
              <a:rPr sz="1100" b="0">
                <a:solidFill>
                  <a:srgbClr val="22252B"/>
                </a:solidFill>
                <a:latin typeface="Arial"/>
              </a:rPr>
              <a:t>Media queries</a:t>
            </a:r>
          </a:p>
        </p:txBody>
      </p:sp>
      <p:sp>
        <p:nvSpPr>
          <p:cNvPr id="37" name="Rounded Rectangle 36"/>
          <p:cNvSpPr/>
          <p:nvPr/>
        </p:nvSpPr>
        <p:spPr>
          <a:xfrm>
            <a:off x="5108295" y="1828800"/>
            <a:ext cx="1975104" cy="4023360"/>
          </a:xfrm>
          <a:prstGeom prst="roundRect">
            <a:avLst>
              <a:gd name="adj" fmla="val 7000"/>
            </a:avLst>
          </a:prstGeom>
          <a:solidFill>
            <a:srgbClr val="FFFFFF"/>
          </a:solidFill>
          <a:ln w="15240">
            <a:solidFill>
              <a:srgbClr val="E5E8EB"/>
            </a:solidFill>
          </a:ln>
          <a:effectLst>
            <a:outerShdw blurRad="91440" dist="50292" dir="5400000" rotWithShape="0">
              <a:srgbClr val="22252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108295" y="1828800"/>
            <a:ext cx="1975104" cy="566928"/>
          </a:xfrm>
          <a:prstGeom prst="roundRect">
            <a:avLst>
              <a:gd name="adj" fmla="val 7000"/>
            </a:avLst>
          </a:prstGeom>
          <a:solidFill>
            <a:srgbClr val="222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108295" y="2139696"/>
            <a:ext cx="1975104" cy="274320"/>
          </a:xfrm>
          <a:prstGeom prst="rect">
            <a:avLst/>
          </a:prstGeom>
          <a:solidFill>
            <a:srgbClr val="222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08295" y="1828800"/>
            <a:ext cx="1975104" cy="566928"/>
          </a:xfrm>
          <a:prstGeom prst="rect">
            <a:avLst/>
          </a:prstGeom>
          <a:noFill/>
        </p:spPr>
        <p:txBody>
          <a:bodyPr wrap="square" lIns="0" rIns="0" tIns="0" bIns="0" anchor="ctr">
            <a:spAutoFit/>
          </a:bodyPr>
          <a:lstStyle/>
          <a:p>
            <a:pPr algn="ctr">
              <a:lnSpc>
                <a:spcPct val="100000"/>
              </a:lnSpc>
            </a:pPr>
            <a:r>
              <a:rPr sz="1400" b="1">
                <a:solidFill>
                  <a:srgbClr val="F3F1EC"/>
                </a:solidFill>
                <a:latin typeface="Arial"/>
              </a:rPr>
              <a:t>JavaScript</a:t>
            </a:r>
          </a:p>
        </p:txBody>
      </p:sp>
      <p:sp>
        <p:nvSpPr>
          <p:cNvPr id="41" name="Rounded Rectangle 40"/>
          <p:cNvSpPr/>
          <p:nvPr/>
        </p:nvSpPr>
        <p:spPr>
          <a:xfrm>
            <a:off x="5309463" y="2615184"/>
            <a:ext cx="310896" cy="310896"/>
          </a:xfrm>
          <a:prstGeom prst="roundRect">
            <a:avLst>
              <a:gd name="adj" fmla="val 40000"/>
            </a:avLst>
          </a:prstGeom>
          <a:solidFill>
            <a:srgbClr val="E7E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309463" y="2596896"/>
            <a:ext cx="310896" cy="310896"/>
          </a:xfrm>
          <a:prstGeom prst="rect">
            <a:avLst/>
          </a:prstGeom>
          <a:noFill/>
        </p:spPr>
        <p:txBody>
          <a:bodyPr wrap="square" lIns="0" rIns="0" tIns="0" bIns="0" anchor="ctr">
            <a:spAutoFit/>
          </a:bodyPr>
          <a:lstStyle/>
          <a:p>
            <a:pPr algn="ctr">
              <a:lnSpc>
                <a:spcPct val="100000"/>
              </a:lnSpc>
            </a:pPr>
            <a:r>
              <a:rPr sz="1300" b="1">
                <a:solidFill>
                  <a:srgbClr val="53655C"/>
                </a:solidFill>
                <a:latin typeface="Arial"/>
              </a:rPr>
              <a:t>✓</a:t>
            </a:r>
          </a:p>
        </p:txBody>
      </p:sp>
      <p:sp>
        <p:nvSpPr>
          <p:cNvPr id="43" name="TextBox 42"/>
          <p:cNvSpPr txBox="1"/>
          <p:nvPr/>
        </p:nvSpPr>
        <p:spPr>
          <a:xfrm>
            <a:off x="5693511" y="2560320"/>
            <a:ext cx="1261872" cy="640080"/>
          </a:xfrm>
          <a:prstGeom prst="rect">
            <a:avLst/>
          </a:prstGeom>
          <a:noFill/>
        </p:spPr>
        <p:txBody>
          <a:bodyPr wrap="square" lIns="0" rIns="0" tIns="0" bIns="0" anchor="ctr">
            <a:spAutoFit/>
          </a:bodyPr>
          <a:lstStyle/>
          <a:p>
            <a:pPr algn="l">
              <a:lnSpc>
                <a:spcPct val="105000"/>
              </a:lnSpc>
            </a:pPr>
            <a:r>
              <a:rPr sz="1100" b="0">
                <a:solidFill>
                  <a:srgbClr val="22252B"/>
                </a:solidFill>
                <a:latin typeface="Arial"/>
              </a:rPr>
              <a:t>Variables &amp; functions</a:t>
            </a:r>
          </a:p>
        </p:txBody>
      </p:sp>
      <p:sp>
        <p:nvSpPr>
          <p:cNvPr id="44" name="Rounded Rectangle 43"/>
          <p:cNvSpPr/>
          <p:nvPr/>
        </p:nvSpPr>
        <p:spPr>
          <a:xfrm>
            <a:off x="5309463" y="3364991"/>
            <a:ext cx="310896" cy="310896"/>
          </a:xfrm>
          <a:prstGeom prst="roundRect">
            <a:avLst>
              <a:gd name="adj" fmla="val 40000"/>
            </a:avLst>
          </a:prstGeom>
          <a:solidFill>
            <a:srgbClr val="E7E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309463" y="3346703"/>
            <a:ext cx="310896" cy="310896"/>
          </a:xfrm>
          <a:prstGeom prst="rect">
            <a:avLst/>
          </a:prstGeom>
          <a:noFill/>
        </p:spPr>
        <p:txBody>
          <a:bodyPr wrap="square" lIns="0" rIns="0" tIns="0" bIns="0" anchor="ctr">
            <a:spAutoFit/>
          </a:bodyPr>
          <a:lstStyle/>
          <a:p>
            <a:pPr algn="ctr">
              <a:lnSpc>
                <a:spcPct val="100000"/>
              </a:lnSpc>
            </a:pPr>
            <a:r>
              <a:rPr sz="1300" b="1">
                <a:solidFill>
                  <a:srgbClr val="53655C"/>
                </a:solidFill>
                <a:latin typeface="Arial"/>
              </a:rPr>
              <a:t>✓</a:t>
            </a:r>
          </a:p>
        </p:txBody>
      </p:sp>
      <p:sp>
        <p:nvSpPr>
          <p:cNvPr id="46" name="TextBox 45"/>
          <p:cNvSpPr txBox="1"/>
          <p:nvPr/>
        </p:nvSpPr>
        <p:spPr>
          <a:xfrm>
            <a:off x="5693511" y="3310127"/>
            <a:ext cx="1261872" cy="640080"/>
          </a:xfrm>
          <a:prstGeom prst="rect">
            <a:avLst/>
          </a:prstGeom>
          <a:noFill/>
        </p:spPr>
        <p:txBody>
          <a:bodyPr wrap="square" lIns="0" rIns="0" tIns="0" bIns="0" anchor="ctr">
            <a:spAutoFit/>
          </a:bodyPr>
          <a:lstStyle/>
          <a:p>
            <a:pPr algn="l">
              <a:lnSpc>
                <a:spcPct val="105000"/>
              </a:lnSpc>
            </a:pPr>
            <a:r>
              <a:rPr sz="1100" b="0">
                <a:solidFill>
                  <a:srgbClr val="22252B"/>
                </a:solidFill>
                <a:latin typeface="Arial"/>
              </a:rPr>
              <a:t>Arrays &amp; objects</a:t>
            </a:r>
          </a:p>
        </p:txBody>
      </p:sp>
      <p:sp>
        <p:nvSpPr>
          <p:cNvPr id="47" name="Rounded Rectangle 46"/>
          <p:cNvSpPr/>
          <p:nvPr/>
        </p:nvSpPr>
        <p:spPr>
          <a:xfrm>
            <a:off x="5309463" y="4114800"/>
            <a:ext cx="310896" cy="310896"/>
          </a:xfrm>
          <a:prstGeom prst="roundRect">
            <a:avLst>
              <a:gd name="adj" fmla="val 40000"/>
            </a:avLst>
          </a:prstGeom>
          <a:solidFill>
            <a:srgbClr val="E7E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309463" y="4096512"/>
            <a:ext cx="310896" cy="310896"/>
          </a:xfrm>
          <a:prstGeom prst="rect">
            <a:avLst/>
          </a:prstGeom>
          <a:noFill/>
        </p:spPr>
        <p:txBody>
          <a:bodyPr wrap="square" lIns="0" rIns="0" tIns="0" bIns="0" anchor="ctr">
            <a:spAutoFit/>
          </a:bodyPr>
          <a:lstStyle/>
          <a:p>
            <a:pPr algn="ctr">
              <a:lnSpc>
                <a:spcPct val="100000"/>
              </a:lnSpc>
            </a:pPr>
            <a:r>
              <a:rPr sz="1300" b="1">
                <a:solidFill>
                  <a:srgbClr val="53655C"/>
                </a:solidFill>
                <a:latin typeface="Arial"/>
              </a:rPr>
              <a:t>✓</a:t>
            </a:r>
          </a:p>
        </p:txBody>
      </p:sp>
      <p:sp>
        <p:nvSpPr>
          <p:cNvPr id="49" name="TextBox 48"/>
          <p:cNvSpPr txBox="1"/>
          <p:nvPr/>
        </p:nvSpPr>
        <p:spPr>
          <a:xfrm>
            <a:off x="5693511" y="4059936"/>
            <a:ext cx="1261872" cy="640080"/>
          </a:xfrm>
          <a:prstGeom prst="rect">
            <a:avLst/>
          </a:prstGeom>
          <a:noFill/>
        </p:spPr>
        <p:txBody>
          <a:bodyPr wrap="square" lIns="0" rIns="0" tIns="0" bIns="0" anchor="ctr">
            <a:spAutoFit/>
          </a:bodyPr>
          <a:lstStyle/>
          <a:p>
            <a:pPr algn="l">
              <a:lnSpc>
                <a:spcPct val="105000"/>
              </a:lnSpc>
            </a:pPr>
            <a:r>
              <a:rPr sz="1100" b="0">
                <a:solidFill>
                  <a:srgbClr val="22252B"/>
                </a:solidFill>
                <a:latin typeface="Arial"/>
              </a:rPr>
              <a:t>Loops</a:t>
            </a:r>
          </a:p>
        </p:txBody>
      </p:sp>
      <p:sp>
        <p:nvSpPr>
          <p:cNvPr id="50" name="Rounded Rectangle 49"/>
          <p:cNvSpPr/>
          <p:nvPr/>
        </p:nvSpPr>
        <p:spPr>
          <a:xfrm>
            <a:off x="5309463" y="4864608"/>
            <a:ext cx="310896" cy="310896"/>
          </a:xfrm>
          <a:prstGeom prst="roundRect">
            <a:avLst>
              <a:gd name="adj" fmla="val 40000"/>
            </a:avLst>
          </a:prstGeom>
          <a:solidFill>
            <a:srgbClr val="E7E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309463" y="4846320"/>
            <a:ext cx="310896" cy="310896"/>
          </a:xfrm>
          <a:prstGeom prst="rect">
            <a:avLst/>
          </a:prstGeom>
          <a:noFill/>
        </p:spPr>
        <p:txBody>
          <a:bodyPr wrap="square" lIns="0" rIns="0" tIns="0" bIns="0" anchor="ctr">
            <a:spAutoFit/>
          </a:bodyPr>
          <a:lstStyle/>
          <a:p>
            <a:pPr algn="ctr">
              <a:lnSpc>
                <a:spcPct val="100000"/>
              </a:lnSpc>
            </a:pPr>
            <a:r>
              <a:rPr sz="1300" b="1">
                <a:solidFill>
                  <a:srgbClr val="53655C"/>
                </a:solidFill>
                <a:latin typeface="Arial"/>
              </a:rPr>
              <a:t>✓</a:t>
            </a:r>
          </a:p>
        </p:txBody>
      </p:sp>
      <p:sp>
        <p:nvSpPr>
          <p:cNvPr id="52" name="TextBox 51"/>
          <p:cNvSpPr txBox="1"/>
          <p:nvPr/>
        </p:nvSpPr>
        <p:spPr>
          <a:xfrm>
            <a:off x="5693511" y="4809744"/>
            <a:ext cx="1261872" cy="640080"/>
          </a:xfrm>
          <a:prstGeom prst="rect">
            <a:avLst/>
          </a:prstGeom>
          <a:noFill/>
        </p:spPr>
        <p:txBody>
          <a:bodyPr wrap="square" lIns="0" rIns="0" tIns="0" bIns="0" anchor="ctr">
            <a:spAutoFit/>
          </a:bodyPr>
          <a:lstStyle/>
          <a:p>
            <a:pPr algn="l">
              <a:lnSpc>
                <a:spcPct val="105000"/>
              </a:lnSpc>
            </a:pPr>
            <a:r>
              <a:rPr sz="1100" b="0">
                <a:solidFill>
                  <a:srgbClr val="22252B"/>
                </a:solidFill>
                <a:latin typeface="Arial"/>
              </a:rPr>
              <a:t>localStorage</a:t>
            </a:r>
          </a:p>
        </p:txBody>
      </p:sp>
      <p:sp>
        <p:nvSpPr>
          <p:cNvPr id="53" name="Rounded Rectangle 52"/>
          <p:cNvSpPr/>
          <p:nvPr/>
        </p:nvSpPr>
        <p:spPr>
          <a:xfrm>
            <a:off x="7342403" y="1828800"/>
            <a:ext cx="1975104" cy="4023360"/>
          </a:xfrm>
          <a:prstGeom prst="roundRect">
            <a:avLst>
              <a:gd name="adj" fmla="val 7000"/>
            </a:avLst>
          </a:prstGeom>
          <a:solidFill>
            <a:srgbClr val="FFFFFF"/>
          </a:solidFill>
          <a:ln w="15240">
            <a:solidFill>
              <a:srgbClr val="E5E8EB"/>
            </a:solidFill>
          </a:ln>
          <a:effectLst>
            <a:outerShdw blurRad="91440" dist="50292" dir="5400000" rotWithShape="0">
              <a:srgbClr val="22252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7342403" y="1828800"/>
            <a:ext cx="1975104" cy="566928"/>
          </a:xfrm>
          <a:prstGeom prst="roundRect">
            <a:avLst>
              <a:gd name="adj" fmla="val 7000"/>
            </a:avLst>
          </a:prstGeom>
          <a:solidFill>
            <a:srgbClr val="222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342403" y="2139696"/>
            <a:ext cx="1975104" cy="274320"/>
          </a:xfrm>
          <a:prstGeom prst="rect">
            <a:avLst/>
          </a:prstGeom>
          <a:solidFill>
            <a:srgbClr val="222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42403" y="1828800"/>
            <a:ext cx="1975104" cy="566928"/>
          </a:xfrm>
          <a:prstGeom prst="rect">
            <a:avLst/>
          </a:prstGeom>
          <a:noFill/>
        </p:spPr>
        <p:txBody>
          <a:bodyPr wrap="square" lIns="0" rIns="0" tIns="0" bIns="0" anchor="ctr">
            <a:spAutoFit/>
          </a:bodyPr>
          <a:lstStyle/>
          <a:p>
            <a:pPr algn="ctr">
              <a:lnSpc>
                <a:spcPct val="100000"/>
              </a:lnSpc>
            </a:pPr>
            <a:r>
              <a:rPr sz="1400" b="1">
                <a:solidFill>
                  <a:srgbClr val="F3F1EC"/>
                </a:solidFill>
                <a:latin typeface="Arial"/>
              </a:rPr>
              <a:t>DOM</a:t>
            </a:r>
          </a:p>
        </p:txBody>
      </p:sp>
      <p:sp>
        <p:nvSpPr>
          <p:cNvPr id="57" name="Rounded Rectangle 56"/>
          <p:cNvSpPr/>
          <p:nvPr/>
        </p:nvSpPr>
        <p:spPr>
          <a:xfrm>
            <a:off x="7543571" y="2615184"/>
            <a:ext cx="310896" cy="310896"/>
          </a:xfrm>
          <a:prstGeom prst="roundRect">
            <a:avLst>
              <a:gd name="adj" fmla="val 40000"/>
            </a:avLst>
          </a:prstGeom>
          <a:solidFill>
            <a:srgbClr val="E7E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543571" y="2596896"/>
            <a:ext cx="310896" cy="310896"/>
          </a:xfrm>
          <a:prstGeom prst="rect">
            <a:avLst/>
          </a:prstGeom>
          <a:noFill/>
        </p:spPr>
        <p:txBody>
          <a:bodyPr wrap="square" lIns="0" rIns="0" tIns="0" bIns="0" anchor="ctr">
            <a:spAutoFit/>
          </a:bodyPr>
          <a:lstStyle/>
          <a:p>
            <a:pPr algn="ctr">
              <a:lnSpc>
                <a:spcPct val="100000"/>
              </a:lnSpc>
            </a:pPr>
            <a:r>
              <a:rPr sz="1300" b="1">
                <a:solidFill>
                  <a:srgbClr val="53655C"/>
                </a:solidFill>
                <a:latin typeface="Arial"/>
              </a:rPr>
              <a:t>✓</a:t>
            </a:r>
          </a:p>
        </p:txBody>
      </p:sp>
      <p:sp>
        <p:nvSpPr>
          <p:cNvPr id="59" name="TextBox 58"/>
          <p:cNvSpPr txBox="1"/>
          <p:nvPr/>
        </p:nvSpPr>
        <p:spPr>
          <a:xfrm>
            <a:off x="7927619" y="2560320"/>
            <a:ext cx="1261872" cy="640080"/>
          </a:xfrm>
          <a:prstGeom prst="rect">
            <a:avLst/>
          </a:prstGeom>
          <a:noFill/>
        </p:spPr>
        <p:txBody>
          <a:bodyPr wrap="square" lIns="0" rIns="0" tIns="0" bIns="0" anchor="ctr">
            <a:spAutoFit/>
          </a:bodyPr>
          <a:lstStyle/>
          <a:p>
            <a:pPr algn="l">
              <a:lnSpc>
                <a:spcPct val="105000"/>
              </a:lnSpc>
            </a:pPr>
            <a:r>
              <a:rPr sz="1100" b="0">
                <a:solidFill>
                  <a:srgbClr val="22252B"/>
                </a:solidFill>
                <a:latin typeface="Arial"/>
              </a:rPr>
              <a:t>querySelector(All)</a:t>
            </a:r>
          </a:p>
        </p:txBody>
      </p:sp>
      <p:sp>
        <p:nvSpPr>
          <p:cNvPr id="60" name="Rounded Rectangle 59"/>
          <p:cNvSpPr/>
          <p:nvPr/>
        </p:nvSpPr>
        <p:spPr>
          <a:xfrm>
            <a:off x="7543571" y="3364991"/>
            <a:ext cx="310896" cy="310896"/>
          </a:xfrm>
          <a:prstGeom prst="roundRect">
            <a:avLst>
              <a:gd name="adj" fmla="val 40000"/>
            </a:avLst>
          </a:prstGeom>
          <a:solidFill>
            <a:srgbClr val="E7E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543571" y="3346703"/>
            <a:ext cx="310896" cy="310896"/>
          </a:xfrm>
          <a:prstGeom prst="rect">
            <a:avLst/>
          </a:prstGeom>
          <a:noFill/>
        </p:spPr>
        <p:txBody>
          <a:bodyPr wrap="square" lIns="0" rIns="0" tIns="0" bIns="0" anchor="ctr">
            <a:spAutoFit/>
          </a:bodyPr>
          <a:lstStyle/>
          <a:p>
            <a:pPr algn="ctr">
              <a:lnSpc>
                <a:spcPct val="100000"/>
              </a:lnSpc>
            </a:pPr>
            <a:r>
              <a:rPr sz="1300" b="1">
                <a:solidFill>
                  <a:srgbClr val="53655C"/>
                </a:solidFill>
                <a:latin typeface="Arial"/>
              </a:rPr>
              <a:t>✓</a:t>
            </a:r>
          </a:p>
        </p:txBody>
      </p:sp>
      <p:sp>
        <p:nvSpPr>
          <p:cNvPr id="62" name="TextBox 61"/>
          <p:cNvSpPr txBox="1"/>
          <p:nvPr/>
        </p:nvSpPr>
        <p:spPr>
          <a:xfrm>
            <a:off x="7927619" y="3310127"/>
            <a:ext cx="1261872" cy="640080"/>
          </a:xfrm>
          <a:prstGeom prst="rect">
            <a:avLst/>
          </a:prstGeom>
          <a:noFill/>
        </p:spPr>
        <p:txBody>
          <a:bodyPr wrap="square" lIns="0" rIns="0" tIns="0" bIns="0" anchor="ctr">
            <a:spAutoFit/>
          </a:bodyPr>
          <a:lstStyle/>
          <a:p>
            <a:pPr algn="l">
              <a:lnSpc>
                <a:spcPct val="105000"/>
              </a:lnSpc>
            </a:pPr>
            <a:r>
              <a:rPr sz="1100" b="0">
                <a:solidFill>
                  <a:srgbClr val="22252B"/>
                </a:solidFill>
                <a:latin typeface="Arial"/>
              </a:rPr>
              <a:t>getElementById</a:t>
            </a:r>
          </a:p>
        </p:txBody>
      </p:sp>
      <p:sp>
        <p:nvSpPr>
          <p:cNvPr id="63" name="Rounded Rectangle 62"/>
          <p:cNvSpPr/>
          <p:nvPr/>
        </p:nvSpPr>
        <p:spPr>
          <a:xfrm>
            <a:off x="7543571" y="4114800"/>
            <a:ext cx="310896" cy="310896"/>
          </a:xfrm>
          <a:prstGeom prst="roundRect">
            <a:avLst>
              <a:gd name="adj" fmla="val 40000"/>
            </a:avLst>
          </a:prstGeom>
          <a:solidFill>
            <a:srgbClr val="E7E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543571" y="4096512"/>
            <a:ext cx="310896" cy="310896"/>
          </a:xfrm>
          <a:prstGeom prst="rect">
            <a:avLst/>
          </a:prstGeom>
          <a:noFill/>
        </p:spPr>
        <p:txBody>
          <a:bodyPr wrap="square" lIns="0" rIns="0" tIns="0" bIns="0" anchor="ctr">
            <a:spAutoFit/>
          </a:bodyPr>
          <a:lstStyle/>
          <a:p>
            <a:pPr algn="ctr">
              <a:lnSpc>
                <a:spcPct val="100000"/>
              </a:lnSpc>
            </a:pPr>
            <a:r>
              <a:rPr sz="1300" b="1">
                <a:solidFill>
                  <a:srgbClr val="53655C"/>
                </a:solidFill>
                <a:latin typeface="Arial"/>
              </a:rPr>
              <a:t>✓</a:t>
            </a:r>
          </a:p>
        </p:txBody>
      </p:sp>
      <p:sp>
        <p:nvSpPr>
          <p:cNvPr id="65" name="TextBox 64"/>
          <p:cNvSpPr txBox="1"/>
          <p:nvPr/>
        </p:nvSpPr>
        <p:spPr>
          <a:xfrm>
            <a:off x="7927619" y="4059936"/>
            <a:ext cx="1261872" cy="640080"/>
          </a:xfrm>
          <a:prstGeom prst="rect">
            <a:avLst/>
          </a:prstGeom>
          <a:noFill/>
        </p:spPr>
        <p:txBody>
          <a:bodyPr wrap="square" lIns="0" rIns="0" tIns="0" bIns="0" anchor="ctr">
            <a:spAutoFit/>
          </a:bodyPr>
          <a:lstStyle/>
          <a:p>
            <a:pPr algn="l">
              <a:lnSpc>
                <a:spcPct val="105000"/>
              </a:lnSpc>
            </a:pPr>
            <a:r>
              <a:rPr sz="1100" b="0">
                <a:solidFill>
                  <a:srgbClr val="22252B"/>
                </a:solidFill>
                <a:latin typeface="Arial"/>
              </a:rPr>
              <a:t>create / append</a:t>
            </a:r>
          </a:p>
        </p:txBody>
      </p:sp>
      <p:sp>
        <p:nvSpPr>
          <p:cNvPr id="66" name="Rounded Rectangle 65"/>
          <p:cNvSpPr/>
          <p:nvPr/>
        </p:nvSpPr>
        <p:spPr>
          <a:xfrm>
            <a:off x="7543571" y="4864608"/>
            <a:ext cx="310896" cy="310896"/>
          </a:xfrm>
          <a:prstGeom prst="roundRect">
            <a:avLst>
              <a:gd name="adj" fmla="val 40000"/>
            </a:avLst>
          </a:prstGeom>
          <a:solidFill>
            <a:srgbClr val="E7E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543571" y="4846320"/>
            <a:ext cx="310896" cy="310896"/>
          </a:xfrm>
          <a:prstGeom prst="rect">
            <a:avLst/>
          </a:prstGeom>
          <a:noFill/>
        </p:spPr>
        <p:txBody>
          <a:bodyPr wrap="square" lIns="0" rIns="0" tIns="0" bIns="0" anchor="ctr">
            <a:spAutoFit/>
          </a:bodyPr>
          <a:lstStyle/>
          <a:p>
            <a:pPr algn="ctr">
              <a:lnSpc>
                <a:spcPct val="100000"/>
              </a:lnSpc>
            </a:pPr>
            <a:r>
              <a:rPr sz="1300" b="1">
                <a:solidFill>
                  <a:srgbClr val="53655C"/>
                </a:solidFill>
                <a:latin typeface="Arial"/>
              </a:rPr>
              <a:t>✓</a:t>
            </a:r>
          </a:p>
        </p:txBody>
      </p:sp>
      <p:sp>
        <p:nvSpPr>
          <p:cNvPr id="68" name="TextBox 67"/>
          <p:cNvSpPr txBox="1"/>
          <p:nvPr/>
        </p:nvSpPr>
        <p:spPr>
          <a:xfrm>
            <a:off x="7927619" y="4809744"/>
            <a:ext cx="1261872" cy="640080"/>
          </a:xfrm>
          <a:prstGeom prst="rect">
            <a:avLst/>
          </a:prstGeom>
          <a:noFill/>
        </p:spPr>
        <p:txBody>
          <a:bodyPr wrap="square" lIns="0" rIns="0" tIns="0" bIns="0" anchor="ctr">
            <a:spAutoFit/>
          </a:bodyPr>
          <a:lstStyle/>
          <a:p>
            <a:pPr algn="l">
              <a:lnSpc>
                <a:spcPct val="105000"/>
              </a:lnSpc>
            </a:pPr>
            <a:r>
              <a:rPr sz="1100" b="0">
                <a:solidFill>
                  <a:srgbClr val="22252B"/>
                </a:solidFill>
                <a:latin typeface="Arial"/>
              </a:rPr>
              <a:t>remove nodes</a:t>
            </a:r>
          </a:p>
        </p:txBody>
      </p:sp>
      <p:sp>
        <p:nvSpPr>
          <p:cNvPr id="69" name="Rounded Rectangle 68"/>
          <p:cNvSpPr/>
          <p:nvPr/>
        </p:nvSpPr>
        <p:spPr>
          <a:xfrm>
            <a:off x="9576511" y="1828800"/>
            <a:ext cx="1975104" cy="4023360"/>
          </a:xfrm>
          <a:prstGeom prst="roundRect">
            <a:avLst>
              <a:gd name="adj" fmla="val 7000"/>
            </a:avLst>
          </a:prstGeom>
          <a:solidFill>
            <a:srgbClr val="FFFFFF"/>
          </a:solidFill>
          <a:ln w="15240">
            <a:solidFill>
              <a:srgbClr val="E5E8EB"/>
            </a:solidFill>
          </a:ln>
          <a:effectLst>
            <a:outerShdw blurRad="91440" dist="50292" dir="5400000" rotWithShape="0">
              <a:srgbClr val="22252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9576511" y="1828800"/>
            <a:ext cx="1975104" cy="566928"/>
          </a:xfrm>
          <a:prstGeom prst="roundRect">
            <a:avLst>
              <a:gd name="adj" fmla="val 7000"/>
            </a:avLst>
          </a:prstGeom>
          <a:solidFill>
            <a:srgbClr val="222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9576511" y="2139696"/>
            <a:ext cx="1975104" cy="274320"/>
          </a:xfrm>
          <a:prstGeom prst="rect">
            <a:avLst/>
          </a:prstGeom>
          <a:solidFill>
            <a:srgbClr val="222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576511" y="1828800"/>
            <a:ext cx="1975104" cy="566928"/>
          </a:xfrm>
          <a:prstGeom prst="rect">
            <a:avLst/>
          </a:prstGeom>
          <a:noFill/>
        </p:spPr>
        <p:txBody>
          <a:bodyPr wrap="square" lIns="0" rIns="0" tIns="0" bIns="0" anchor="ctr">
            <a:spAutoFit/>
          </a:bodyPr>
          <a:lstStyle/>
          <a:p>
            <a:pPr algn="ctr">
              <a:lnSpc>
                <a:spcPct val="100000"/>
              </a:lnSpc>
            </a:pPr>
            <a:r>
              <a:rPr sz="1400" b="1">
                <a:solidFill>
                  <a:srgbClr val="F3F1EC"/>
                </a:solidFill>
                <a:latin typeface="Arial"/>
              </a:rPr>
              <a:t>Events</a:t>
            </a:r>
          </a:p>
        </p:txBody>
      </p:sp>
      <p:sp>
        <p:nvSpPr>
          <p:cNvPr id="73" name="Rounded Rectangle 72"/>
          <p:cNvSpPr/>
          <p:nvPr/>
        </p:nvSpPr>
        <p:spPr>
          <a:xfrm>
            <a:off x="9777679" y="2615184"/>
            <a:ext cx="310896" cy="310896"/>
          </a:xfrm>
          <a:prstGeom prst="roundRect">
            <a:avLst>
              <a:gd name="adj" fmla="val 40000"/>
            </a:avLst>
          </a:prstGeom>
          <a:solidFill>
            <a:srgbClr val="E7E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777679" y="2596896"/>
            <a:ext cx="310896" cy="310896"/>
          </a:xfrm>
          <a:prstGeom prst="rect">
            <a:avLst/>
          </a:prstGeom>
          <a:noFill/>
        </p:spPr>
        <p:txBody>
          <a:bodyPr wrap="square" lIns="0" rIns="0" tIns="0" bIns="0" anchor="ctr">
            <a:spAutoFit/>
          </a:bodyPr>
          <a:lstStyle/>
          <a:p>
            <a:pPr algn="ctr">
              <a:lnSpc>
                <a:spcPct val="100000"/>
              </a:lnSpc>
            </a:pPr>
            <a:r>
              <a:rPr sz="1300" b="1">
                <a:solidFill>
                  <a:srgbClr val="53655C"/>
                </a:solidFill>
                <a:latin typeface="Arial"/>
              </a:rPr>
              <a:t>✓</a:t>
            </a:r>
          </a:p>
        </p:txBody>
      </p:sp>
      <p:sp>
        <p:nvSpPr>
          <p:cNvPr id="75" name="TextBox 74"/>
          <p:cNvSpPr txBox="1"/>
          <p:nvPr/>
        </p:nvSpPr>
        <p:spPr>
          <a:xfrm>
            <a:off x="10161727" y="2560320"/>
            <a:ext cx="1261872" cy="640080"/>
          </a:xfrm>
          <a:prstGeom prst="rect">
            <a:avLst/>
          </a:prstGeom>
          <a:noFill/>
        </p:spPr>
        <p:txBody>
          <a:bodyPr wrap="square" lIns="0" rIns="0" tIns="0" bIns="0" anchor="ctr">
            <a:spAutoFit/>
          </a:bodyPr>
          <a:lstStyle/>
          <a:p>
            <a:pPr algn="l">
              <a:lnSpc>
                <a:spcPct val="105000"/>
              </a:lnSpc>
            </a:pPr>
            <a:r>
              <a:rPr sz="1100" b="0">
                <a:solidFill>
                  <a:srgbClr val="22252B"/>
                </a:solidFill>
                <a:latin typeface="Arial"/>
              </a:rPr>
              <a:t>addEventListener</a:t>
            </a:r>
          </a:p>
        </p:txBody>
      </p:sp>
      <p:sp>
        <p:nvSpPr>
          <p:cNvPr id="76" name="Rounded Rectangle 75"/>
          <p:cNvSpPr/>
          <p:nvPr/>
        </p:nvSpPr>
        <p:spPr>
          <a:xfrm>
            <a:off x="9777679" y="3364991"/>
            <a:ext cx="310896" cy="310896"/>
          </a:xfrm>
          <a:prstGeom prst="roundRect">
            <a:avLst>
              <a:gd name="adj" fmla="val 40000"/>
            </a:avLst>
          </a:prstGeom>
          <a:solidFill>
            <a:srgbClr val="E7E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777679" y="3346703"/>
            <a:ext cx="310896" cy="310896"/>
          </a:xfrm>
          <a:prstGeom prst="rect">
            <a:avLst/>
          </a:prstGeom>
          <a:noFill/>
        </p:spPr>
        <p:txBody>
          <a:bodyPr wrap="square" lIns="0" rIns="0" tIns="0" bIns="0" anchor="ctr">
            <a:spAutoFit/>
          </a:bodyPr>
          <a:lstStyle/>
          <a:p>
            <a:pPr algn="ctr">
              <a:lnSpc>
                <a:spcPct val="100000"/>
              </a:lnSpc>
            </a:pPr>
            <a:r>
              <a:rPr sz="1300" b="1">
                <a:solidFill>
                  <a:srgbClr val="53655C"/>
                </a:solidFill>
                <a:latin typeface="Arial"/>
              </a:rPr>
              <a:t>✓</a:t>
            </a:r>
          </a:p>
        </p:txBody>
      </p:sp>
      <p:sp>
        <p:nvSpPr>
          <p:cNvPr id="78" name="TextBox 77"/>
          <p:cNvSpPr txBox="1"/>
          <p:nvPr/>
        </p:nvSpPr>
        <p:spPr>
          <a:xfrm>
            <a:off x="10161727" y="3310127"/>
            <a:ext cx="1261872" cy="640080"/>
          </a:xfrm>
          <a:prstGeom prst="rect">
            <a:avLst/>
          </a:prstGeom>
          <a:noFill/>
        </p:spPr>
        <p:txBody>
          <a:bodyPr wrap="square" lIns="0" rIns="0" tIns="0" bIns="0" anchor="ctr">
            <a:spAutoFit/>
          </a:bodyPr>
          <a:lstStyle/>
          <a:p>
            <a:pPr algn="l">
              <a:lnSpc>
                <a:spcPct val="105000"/>
              </a:lnSpc>
            </a:pPr>
            <a:r>
              <a:rPr sz="1100" b="0">
                <a:solidFill>
                  <a:srgbClr val="22252B"/>
                </a:solidFill>
                <a:latin typeface="Arial"/>
              </a:rPr>
              <a:t>Delegation</a:t>
            </a:r>
          </a:p>
        </p:txBody>
      </p:sp>
      <p:sp>
        <p:nvSpPr>
          <p:cNvPr id="79" name="Rounded Rectangle 78"/>
          <p:cNvSpPr/>
          <p:nvPr/>
        </p:nvSpPr>
        <p:spPr>
          <a:xfrm>
            <a:off x="9777679" y="4114800"/>
            <a:ext cx="310896" cy="310896"/>
          </a:xfrm>
          <a:prstGeom prst="roundRect">
            <a:avLst>
              <a:gd name="adj" fmla="val 40000"/>
            </a:avLst>
          </a:prstGeom>
          <a:solidFill>
            <a:srgbClr val="E7E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777679" y="4096512"/>
            <a:ext cx="310896" cy="310896"/>
          </a:xfrm>
          <a:prstGeom prst="rect">
            <a:avLst/>
          </a:prstGeom>
          <a:noFill/>
        </p:spPr>
        <p:txBody>
          <a:bodyPr wrap="square" lIns="0" rIns="0" tIns="0" bIns="0" anchor="ctr">
            <a:spAutoFit/>
          </a:bodyPr>
          <a:lstStyle/>
          <a:p>
            <a:pPr algn="ctr">
              <a:lnSpc>
                <a:spcPct val="100000"/>
              </a:lnSpc>
            </a:pPr>
            <a:r>
              <a:rPr sz="1300" b="1">
                <a:solidFill>
                  <a:srgbClr val="53655C"/>
                </a:solidFill>
                <a:latin typeface="Arial"/>
              </a:rPr>
              <a:t>✓</a:t>
            </a:r>
          </a:p>
        </p:txBody>
      </p:sp>
      <p:sp>
        <p:nvSpPr>
          <p:cNvPr id="81" name="TextBox 80"/>
          <p:cNvSpPr txBox="1"/>
          <p:nvPr/>
        </p:nvSpPr>
        <p:spPr>
          <a:xfrm>
            <a:off x="10161727" y="4059936"/>
            <a:ext cx="1261872" cy="640080"/>
          </a:xfrm>
          <a:prstGeom prst="rect">
            <a:avLst/>
          </a:prstGeom>
          <a:noFill/>
        </p:spPr>
        <p:txBody>
          <a:bodyPr wrap="square" lIns="0" rIns="0" tIns="0" bIns="0" anchor="ctr">
            <a:spAutoFit/>
          </a:bodyPr>
          <a:lstStyle/>
          <a:p>
            <a:pPr algn="l">
              <a:lnSpc>
                <a:spcPct val="105000"/>
              </a:lnSpc>
            </a:pPr>
            <a:r>
              <a:rPr sz="1100" b="0">
                <a:solidFill>
                  <a:srgbClr val="22252B"/>
                </a:solidFill>
                <a:latin typeface="Arial"/>
              </a:rPr>
              <a:t>Form validation</a:t>
            </a:r>
          </a:p>
        </p:txBody>
      </p:sp>
      <p:sp>
        <p:nvSpPr>
          <p:cNvPr id="82" name="Rounded Rectangle 81"/>
          <p:cNvSpPr/>
          <p:nvPr/>
        </p:nvSpPr>
        <p:spPr>
          <a:xfrm>
            <a:off x="9777679" y="4864608"/>
            <a:ext cx="310896" cy="310896"/>
          </a:xfrm>
          <a:prstGeom prst="roundRect">
            <a:avLst>
              <a:gd name="adj" fmla="val 40000"/>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9777679" y="4846320"/>
            <a:ext cx="310896" cy="310896"/>
          </a:xfrm>
          <a:prstGeom prst="rect">
            <a:avLst/>
          </a:prstGeom>
          <a:noFill/>
        </p:spPr>
        <p:txBody>
          <a:bodyPr wrap="square" lIns="0" rIns="0" tIns="0" bIns="0" anchor="ctr">
            <a:spAutoFit/>
          </a:bodyPr>
          <a:lstStyle/>
          <a:p>
            <a:pPr algn="ctr">
              <a:lnSpc>
                <a:spcPct val="100000"/>
              </a:lnSpc>
            </a:pPr>
            <a:r>
              <a:rPr sz="1300" b="1">
                <a:solidFill>
                  <a:srgbClr val="A3AEB1"/>
                </a:solidFill>
                <a:latin typeface="Arial"/>
              </a:rPr>
              <a:t>○</a:t>
            </a:r>
          </a:p>
        </p:txBody>
      </p:sp>
      <p:sp>
        <p:nvSpPr>
          <p:cNvPr id="84" name="TextBox 83"/>
          <p:cNvSpPr txBox="1"/>
          <p:nvPr/>
        </p:nvSpPr>
        <p:spPr>
          <a:xfrm>
            <a:off x="10161727" y="4809744"/>
            <a:ext cx="1261872" cy="640080"/>
          </a:xfrm>
          <a:prstGeom prst="rect">
            <a:avLst/>
          </a:prstGeom>
          <a:noFill/>
        </p:spPr>
        <p:txBody>
          <a:bodyPr wrap="square" lIns="0" rIns="0" tIns="0" bIns="0" anchor="ctr">
            <a:spAutoFit/>
          </a:bodyPr>
          <a:lstStyle/>
          <a:p>
            <a:pPr algn="l">
              <a:lnSpc>
                <a:spcPct val="105000"/>
              </a:lnSpc>
            </a:pPr>
            <a:r>
              <a:rPr sz="1100" b="0">
                <a:solidFill>
                  <a:srgbClr val="A3AEB1"/>
                </a:solidFill>
                <a:latin typeface="Arial"/>
              </a:rPr>
              <a:t>Capturing</a:t>
            </a:r>
          </a:p>
        </p:txBody>
      </p:sp>
      <p:sp>
        <p:nvSpPr>
          <p:cNvPr id="85" name="TextBox 84"/>
          <p:cNvSpPr txBox="1"/>
          <p:nvPr/>
        </p:nvSpPr>
        <p:spPr>
          <a:xfrm>
            <a:off x="640080" y="6053328"/>
            <a:ext cx="10911535" cy="274320"/>
          </a:xfrm>
          <a:prstGeom prst="rect">
            <a:avLst/>
          </a:prstGeom>
          <a:noFill/>
        </p:spPr>
        <p:txBody>
          <a:bodyPr wrap="square" lIns="0" rIns="0" tIns="0" bIns="0" anchor="t">
            <a:spAutoFit/>
          </a:bodyPr>
          <a:lstStyle/>
          <a:p>
            <a:pPr algn="l">
              <a:lnSpc>
                <a:spcPct val="100000"/>
              </a:lnSpc>
            </a:pPr>
            <a:r>
              <a:rPr sz="1200" b="1">
                <a:solidFill>
                  <a:srgbClr val="53655C"/>
                </a:solidFill>
                <a:latin typeface="Arial"/>
              </a:rPr>
              <a:t>✓  </a:t>
            </a:r>
            <a:r>
              <a:rPr sz="1150" b="0">
                <a:solidFill>
                  <a:srgbClr val="606772"/>
                </a:solidFill>
                <a:latin typeface="Arial"/>
              </a:rPr>
              <a:t>implemented in Synora        </a:t>
            </a:r>
            <a:r>
              <a:rPr sz="1200" b="1">
                <a:solidFill>
                  <a:srgbClr val="A3AEB1"/>
                </a:solidFill>
                <a:latin typeface="Arial"/>
              </a:rPr>
              <a:t>○  </a:t>
            </a:r>
            <a:r>
              <a:rPr sz="1150" b="0">
                <a:solidFill>
                  <a:srgbClr val="606772"/>
                </a:solidFill>
                <a:latin typeface="Arial"/>
              </a:rPr>
              <a:t>learned as a concept, not a primary pattern</a:t>
            </a:r>
          </a:p>
        </p:txBody>
      </p:sp>
      <p:sp>
        <p:nvSpPr>
          <p:cNvPr id="86" name="TextBox 85"/>
          <p:cNvSpPr txBox="1"/>
          <p:nvPr/>
        </p:nvSpPr>
        <p:spPr>
          <a:xfrm>
            <a:off x="640080" y="6455664"/>
            <a:ext cx="4572000" cy="274320"/>
          </a:xfrm>
          <a:prstGeom prst="rect">
            <a:avLst/>
          </a:prstGeom>
          <a:noFill/>
        </p:spPr>
        <p:txBody>
          <a:bodyPr wrap="square" lIns="0" rIns="0" tIns="0" bIns="0" anchor="t">
            <a:spAutoFit/>
          </a:bodyPr>
          <a:lstStyle/>
          <a:p>
            <a:pPr algn="l">
              <a:lnSpc>
                <a:spcPct val="100000"/>
              </a:lnSpc>
            </a:pPr>
            <a:r>
              <a:rPr sz="950" b="0">
                <a:solidFill>
                  <a:srgbClr val="A3AEB1"/>
                </a:solidFill>
                <a:latin typeface="Arial"/>
              </a:rPr>
              <a:t>Synora  ·  Web Development Project</a:t>
            </a:r>
          </a:p>
        </p:txBody>
      </p:sp>
      <p:sp>
        <p:nvSpPr>
          <p:cNvPr id="87" name="TextBox 86"/>
          <p:cNvSpPr txBox="1"/>
          <p:nvPr/>
        </p:nvSpPr>
        <p:spPr>
          <a:xfrm>
            <a:off x="9722815" y="6455664"/>
            <a:ext cx="1828800" cy="274320"/>
          </a:xfrm>
          <a:prstGeom prst="rect">
            <a:avLst/>
          </a:prstGeom>
          <a:noFill/>
        </p:spPr>
        <p:txBody>
          <a:bodyPr wrap="square" lIns="0" rIns="0" tIns="0" bIns="0" anchor="t">
            <a:spAutoFit/>
          </a:bodyPr>
          <a:lstStyle/>
          <a:p>
            <a:pPr algn="r">
              <a:lnSpc>
                <a:spcPct val="100000"/>
              </a:lnSpc>
            </a:pPr>
            <a:r>
              <a:rPr sz="950" b="0">
                <a:solidFill>
                  <a:srgbClr val="A3AEB1"/>
                </a:solidFill>
                <a:latin typeface="Arial"/>
              </a:rPr>
              <a:t>19 / 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2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85800"/>
            <a:ext cx="7315200" cy="274320"/>
          </a:xfrm>
          <a:prstGeom prst="rect">
            <a:avLst/>
          </a:prstGeom>
          <a:noFill/>
        </p:spPr>
        <p:txBody>
          <a:bodyPr wrap="square" lIns="0" rIns="0" tIns="0" bIns="0" anchor="t">
            <a:spAutoFit/>
          </a:bodyPr>
          <a:lstStyle/>
          <a:p>
            <a:pPr algn="l">
              <a:lnSpc>
                <a:spcPct val="100000"/>
              </a:lnSpc>
            </a:pPr>
            <a:r>
              <a:rPr sz="1200" b="1" spc="180">
                <a:solidFill>
                  <a:srgbClr val="C9B9AE"/>
                </a:solidFill>
                <a:latin typeface="Arial"/>
              </a:rPr>
              <a:t>THE TAKEAWAY</a:t>
            </a:r>
          </a:p>
        </p:txBody>
      </p:sp>
      <p:sp>
        <p:nvSpPr>
          <p:cNvPr id="4" name="TextBox 3"/>
          <p:cNvSpPr txBox="1"/>
          <p:nvPr/>
        </p:nvSpPr>
        <p:spPr>
          <a:xfrm>
            <a:off x="640080" y="1005840"/>
            <a:ext cx="10911535" cy="731520"/>
          </a:xfrm>
          <a:prstGeom prst="rect">
            <a:avLst/>
          </a:prstGeom>
          <a:noFill/>
        </p:spPr>
        <p:txBody>
          <a:bodyPr wrap="square" lIns="0" rIns="0" tIns="0" bIns="0" anchor="t">
            <a:spAutoFit/>
          </a:bodyPr>
          <a:lstStyle/>
          <a:p>
            <a:pPr algn="l">
              <a:lnSpc>
                <a:spcPct val="100000"/>
              </a:lnSpc>
            </a:pPr>
            <a:r>
              <a:rPr sz="3200" b="1">
                <a:solidFill>
                  <a:srgbClr val="F3F1EC"/>
                </a:solidFill>
                <a:latin typeface="Arial"/>
              </a:rPr>
              <a:t>Concepts in, product out</a:t>
            </a:r>
          </a:p>
        </p:txBody>
      </p:sp>
      <p:sp>
        <p:nvSpPr>
          <p:cNvPr id="5" name="Rounded Rectangle 4"/>
          <p:cNvSpPr/>
          <p:nvPr/>
        </p:nvSpPr>
        <p:spPr>
          <a:xfrm>
            <a:off x="640080" y="2148840"/>
            <a:ext cx="2743200" cy="3108960"/>
          </a:xfrm>
          <a:prstGeom prst="roundRect">
            <a:avLst>
              <a:gd name="adj" fmla="val 7000"/>
            </a:avLst>
          </a:prstGeom>
          <a:solidFill>
            <a:srgbClr val="2B2F37"/>
          </a:solidFill>
          <a:ln w="12700">
            <a:solidFill>
              <a:srgbClr val="3136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377440"/>
            <a:ext cx="2743200" cy="365760"/>
          </a:xfrm>
          <a:prstGeom prst="rect">
            <a:avLst/>
          </a:prstGeom>
          <a:noFill/>
        </p:spPr>
        <p:txBody>
          <a:bodyPr wrap="square" lIns="0" rIns="0" tIns="0" bIns="0" anchor="t">
            <a:spAutoFit/>
          </a:bodyPr>
          <a:lstStyle/>
          <a:p>
            <a:pPr algn="ctr">
              <a:lnSpc>
                <a:spcPct val="100000"/>
              </a:lnSpc>
            </a:pPr>
            <a:r>
              <a:rPr sz="1300" b="1" spc="160">
                <a:solidFill>
                  <a:srgbClr val="C9B9AE"/>
                </a:solidFill>
                <a:latin typeface="Arial"/>
              </a:rPr>
              <a:t>SYLLABUS</a:t>
            </a:r>
          </a:p>
        </p:txBody>
      </p:sp>
      <p:sp>
        <p:nvSpPr>
          <p:cNvPr id="7" name="TextBox 6"/>
          <p:cNvSpPr txBox="1"/>
          <p:nvPr/>
        </p:nvSpPr>
        <p:spPr>
          <a:xfrm>
            <a:off x="640080" y="2880360"/>
            <a:ext cx="2743200" cy="365760"/>
          </a:xfrm>
          <a:prstGeom prst="rect">
            <a:avLst/>
          </a:prstGeom>
          <a:noFill/>
        </p:spPr>
        <p:txBody>
          <a:bodyPr wrap="square" lIns="0" rIns="0" tIns="0" bIns="0" anchor="t">
            <a:spAutoFit/>
          </a:bodyPr>
          <a:lstStyle/>
          <a:p>
            <a:pPr algn="ctr">
              <a:lnSpc>
                <a:spcPct val="100000"/>
              </a:lnSpc>
            </a:pPr>
            <a:r>
              <a:rPr sz="1500" b="1">
                <a:solidFill>
                  <a:srgbClr val="F3F1EC"/>
                </a:solidFill>
                <a:latin typeface="Arial"/>
              </a:rPr>
              <a:t>HTML5</a:t>
            </a:r>
          </a:p>
        </p:txBody>
      </p:sp>
      <p:sp>
        <p:nvSpPr>
          <p:cNvPr id="8" name="TextBox 7"/>
          <p:cNvSpPr txBox="1"/>
          <p:nvPr/>
        </p:nvSpPr>
        <p:spPr>
          <a:xfrm>
            <a:off x="640080" y="3300984"/>
            <a:ext cx="2743200" cy="365760"/>
          </a:xfrm>
          <a:prstGeom prst="rect">
            <a:avLst/>
          </a:prstGeom>
          <a:noFill/>
        </p:spPr>
        <p:txBody>
          <a:bodyPr wrap="square" lIns="0" rIns="0" tIns="0" bIns="0" anchor="t">
            <a:spAutoFit/>
          </a:bodyPr>
          <a:lstStyle/>
          <a:p>
            <a:pPr algn="ctr">
              <a:lnSpc>
                <a:spcPct val="100000"/>
              </a:lnSpc>
            </a:pPr>
            <a:r>
              <a:rPr sz="1500" b="1">
                <a:solidFill>
                  <a:srgbClr val="F3F1EC"/>
                </a:solidFill>
                <a:latin typeface="Arial"/>
              </a:rPr>
              <a:t>CSS3</a:t>
            </a:r>
          </a:p>
        </p:txBody>
      </p:sp>
      <p:sp>
        <p:nvSpPr>
          <p:cNvPr id="9" name="TextBox 8"/>
          <p:cNvSpPr txBox="1"/>
          <p:nvPr/>
        </p:nvSpPr>
        <p:spPr>
          <a:xfrm>
            <a:off x="640080" y="3721608"/>
            <a:ext cx="2743200" cy="365760"/>
          </a:xfrm>
          <a:prstGeom prst="rect">
            <a:avLst/>
          </a:prstGeom>
          <a:noFill/>
        </p:spPr>
        <p:txBody>
          <a:bodyPr wrap="square" lIns="0" rIns="0" tIns="0" bIns="0" anchor="t">
            <a:spAutoFit/>
          </a:bodyPr>
          <a:lstStyle/>
          <a:p>
            <a:pPr algn="ctr">
              <a:lnSpc>
                <a:spcPct val="100000"/>
              </a:lnSpc>
            </a:pPr>
            <a:r>
              <a:rPr sz="1500" b="1">
                <a:solidFill>
                  <a:srgbClr val="F3F1EC"/>
                </a:solidFill>
                <a:latin typeface="Arial"/>
              </a:rPr>
              <a:t>JavaScript</a:t>
            </a:r>
          </a:p>
        </p:txBody>
      </p:sp>
      <p:sp>
        <p:nvSpPr>
          <p:cNvPr id="10" name="TextBox 9"/>
          <p:cNvSpPr txBox="1"/>
          <p:nvPr/>
        </p:nvSpPr>
        <p:spPr>
          <a:xfrm>
            <a:off x="640080" y="4142232"/>
            <a:ext cx="2743200" cy="365760"/>
          </a:xfrm>
          <a:prstGeom prst="rect">
            <a:avLst/>
          </a:prstGeom>
          <a:noFill/>
        </p:spPr>
        <p:txBody>
          <a:bodyPr wrap="square" lIns="0" rIns="0" tIns="0" bIns="0" anchor="t">
            <a:spAutoFit/>
          </a:bodyPr>
          <a:lstStyle/>
          <a:p>
            <a:pPr algn="ctr">
              <a:lnSpc>
                <a:spcPct val="100000"/>
              </a:lnSpc>
            </a:pPr>
            <a:r>
              <a:rPr sz="1500" b="1">
                <a:solidFill>
                  <a:srgbClr val="F3F1EC"/>
                </a:solidFill>
                <a:latin typeface="Arial"/>
              </a:rPr>
              <a:t>DOM</a:t>
            </a:r>
          </a:p>
        </p:txBody>
      </p:sp>
      <p:sp>
        <p:nvSpPr>
          <p:cNvPr id="11" name="TextBox 10"/>
          <p:cNvSpPr txBox="1"/>
          <p:nvPr/>
        </p:nvSpPr>
        <p:spPr>
          <a:xfrm>
            <a:off x="640080" y="4562856"/>
            <a:ext cx="2743200" cy="365760"/>
          </a:xfrm>
          <a:prstGeom prst="rect">
            <a:avLst/>
          </a:prstGeom>
          <a:noFill/>
        </p:spPr>
        <p:txBody>
          <a:bodyPr wrap="square" lIns="0" rIns="0" tIns="0" bIns="0" anchor="t">
            <a:spAutoFit/>
          </a:bodyPr>
          <a:lstStyle/>
          <a:p>
            <a:pPr algn="ctr">
              <a:lnSpc>
                <a:spcPct val="100000"/>
              </a:lnSpc>
            </a:pPr>
            <a:r>
              <a:rPr sz="1500" b="1">
                <a:solidFill>
                  <a:srgbClr val="F3F1EC"/>
                </a:solidFill>
                <a:latin typeface="Arial"/>
              </a:rPr>
              <a:t>Events</a:t>
            </a:r>
          </a:p>
        </p:txBody>
      </p:sp>
      <p:sp>
        <p:nvSpPr>
          <p:cNvPr id="12" name="Chevron 11"/>
          <p:cNvSpPr/>
          <p:nvPr/>
        </p:nvSpPr>
        <p:spPr>
          <a:xfrm>
            <a:off x="3611880" y="3511296"/>
            <a:ext cx="422452" cy="384048"/>
          </a:xfrm>
          <a:prstGeom prst="chevron">
            <a:avLst/>
          </a:prstGeom>
          <a:solidFill>
            <a:srgbClr val="B09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251960" y="2148840"/>
            <a:ext cx="2743200" cy="3108960"/>
          </a:xfrm>
          <a:prstGeom prst="roundRect">
            <a:avLst>
              <a:gd name="adj" fmla="val 7000"/>
            </a:avLst>
          </a:prstGeom>
          <a:solidFill>
            <a:srgbClr val="2B2F37"/>
          </a:solidFill>
          <a:ln w="12700">
            <a:solidFill>
              <a:srgbClr val="3136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51960" y="2377440"/>
            <a:ext cx="2743200" cy="365760"/>
          </a:xfrm>
          <a:prstGeom prst="rect">
            <a:avLst/>
          </a:prstGeom>
          <a:noFill/>
        </p:spPr>
        <p:txBody>
          <a:bodyPr wrap="square" lIns="0" rIns="0" tIns="0" bIns="0" anchor="t">
            <a:spAutoFit/>
          </a:bodyPr>
          <a:lstStyle/>
          <a:p>
            <a:pPr algn="ctr">
              <a:lnSpc>
                <a:spcPct val="100000"/>
              </a:lnSpc>
            </a:pPr>
            <a:r>
              <a:rPr sz="1300" b="1" spc="140">
                <a:solidFill>
                  <a:srgbClr val="C9B9AE"/>
                </a:solidFill>
                <a:latin typeface="Arial"/>
              </a:rPr>
              <a:t>IMPLEMENTATION</a:t>
            </a:r>
          </a:p>
        </p:txBody>
      </p:sp>
      <p:sp>
        <p:nvSpPr>
          <p:cNvPr id="15" name="TextBox 14"/>
          <p:cNvSpPr txBox="1"/>
          <p:nvPr/>
        </p:nvSpPr>
        <p:spPr>
          <a:xfrm>
            <a:off x="4251960" y="2880360"/>
            <a:ext cx="2743200" cy="365760"/>
          </a:xfrm>
          <a:prstGeom prst="rect">
            <a:avLst/>
          </a:prstGeom>
          <a:noFill/>
        </p:spPr>
        <p:txBody>
          <a:bodyPr wrap="square" lIns="0" rIns="0" tIns="0" bIns="0" anchor="t">
            <a:spAutoFit/>
          </a:bodyPr>
          <a:lstStyle/>
          <a:p>
            <a:pPr algn="ctr">
              <a:lnSpc>
                <a:spcPct val="100000"/>
              </a:lnSpc>
            </a:pPr>
            <a:r>
              <a:rPr sz="1400" b="0">
                <a:solidFill>
                  <a:srgbClr val="F3F1EC"/>
                </a:solidFill>
                <a:latin typeface="Arial"/>
              </a:rPr>
              <a:t>Structure</a:t>
            </a:r>
          </a:p>
        </p:txBody>
      </p:sp>
      <p:sp>
        <p:nvSpPr>
          <p:cNvPr id="16" name="TextBox 15"/>
          <p:cNvSpPr txBox="1"/>
          <p:nvPr/>
        </p:nvSpPr>
        <p:spPr>
          <a:xfrm>
            <a:off x="4251960" y="3300984"/>
            <a:ext cx="2743200" cy="365760"/>
          </a:xfrm>
          <a:prstGeom prst="rect">
            <a:avLst/>
          </a:prstGeom>
          <a:noFill/>
        </p:spPr>
        <p:txBody>
          <a:bodyPr wrap="square" lIns="0" rIns="0" tIns="0" bIns="0" anchor="t">
            <a:spAutoFit/>
          </a:bodyPr>
          <a:lstStyle/>
          <a:p>
            <a:pPr algn="ctr">
              <a:lnSpc>
                <a:spcPct val="100000"/>
              </a:lnSpc>
            </a:pPr>
            <a:r>
              <a:rPr sz="1400" b="0">
                <a:solidFill>
                  <a:srgbClr val="F3F1EC"/>
                </a:solidFill>
                <a:latin typeface="Arial"/>
              </a:rPr>
              <a:t>Design system</a:t>
            </a:r>
          </a:p>
        </p:txBody>
      </p:sp>
      <p:sp>
        <p:nvSpPr>
          <p:cNvPr id="17" name="TextBox 16"/>
          <p:cNvSpPr txBox="1"/>
          <p:nvPr/>
        </p:nvSpPr>
        <p:spPr>
          <a:xfrm>
            <a:off x="4251960" y="3721608"/>
            <a:ext cx="2743200" cy="365760"/>
          </a:xfrm>
          <a:prstGeom prst="rect">
            <a:avLst/>
          </a:prstGeom>
          <a:noFill/>
        </p:spPr>
        <p:txBody>
          <a:bodyPr wrap="square" lIns="0" rIns="0" tIns="0" bIns="0" anchor="t">
            <a:spAutoFit/>
          </a:bodyPr>
          <a:lstStyle/>
          <a:p>
            <a:pPr algn="ctr">
              <a:lnSpc>
                <a:spcPct val="100000"/>
              </a:lnSpc>
            </a:pPr>
            <a:r>
              <a:rPr sz="1400" b="0">
                <a:solidFill>
                  <a:srgbClr val="F3F1EC"/>
                </a:solidFill>
                <a:latin typeface="Arial"/>
              </a:rPr>
              <a:t>Logic &amp; state</a:t>
            </a:r>
          </a:p>
        </p:txBody>
      </p:sp>
      <p:sp>
        <p:nvSpPr>
          <p:cNvPr id="18" name="TextBox 17"/>
          <p:cNvSpPr txBox="1"/>
          <p:nvPr/>
        </p:nvSpPr>
        <p:spPr>
          <a:xfrm>
            <a:off x="4251960" y="4142232"/>
            <a:ext cx="2743200" cy="365760"/>
          </a:xfrm>
          <a:prstGeom prst="rect">
            <a:avLst/>
          </a:prstGeom>
          <a:noFill/>
        </p:spPr>
        <p:txBody>
          <a:bodyPr wrap="square" lIns="0" rIns="0" tIns="0" bIns="0" anchor="t">
            <a:spAutoFit/>
          </a:bodyPr>
          <a:lstStyle/>
          <a:p>
            <a:pPr algn="ctr">
              <a:lnSpc>
                <a:spcPct val="100000"/>
              </a:lnSpc>
            </a:pPr>
            <a:r>
              <a:rPr sz="1400" b="0">
                <a:solidFill>
                  <a:srgbClr val="F3F1EC"/>
                </a:solidFill>
                <a:latin typeface="Arial"/>
              </a:rPr>
              <a:t>Dynamic UI</a:t>
            </a:r>
          </a:p>
        </p:txBody>
      </p:sp>
      <p:sp>
        <p:nvSpPr>
          <p:cNvPr id="19" name="TextBox 18"/>
          <p:cNvSpPr txBox="1"/>
          <p:nvPr/>
        </p:nvSpPr>
        <p:spPr>
          <a:xfrm>
            <a:off x="4251960" y="4562856"/>
            <a:ext cx="2743200" cy="365760"/>
          </a:xfrm>
          <a:prstGeom prst="rect">
            <a:avLst/>
          </a:prstGeom>
          <a:noFill/>
        </p:spPr>
        <p:txBody>
          <a:bodyPr wrap="square" lIns="0" rIns="0" tIns="0" bIns="0" anchor="t">
            <a:spAutoFit/>
          </a:bodyPr>
          <a:lstStyle/>
          <a:p>
            <a:pPr algn="ctr">
              <a:lnSpc>
                <a:spcPct val="100000"/>
              </a:lnSpc>
            </a:pPr>
            <a:r>
              <a:rPr sz="1400" b="0">
                <a:solidFill>
                  <a:srgbClr val="F3F1EC"/>
                </a:solidFill>
                <a:latin typeface="Arial"/>
              </a:rPr>
              <a:t>Interaction</a:t>
            </a:r>
          </a:p>
        </p:txBody>
      </p:sp>
      <p:sp>
        <p:nvSpPr>
          <p:cNvPr id="20" name="Chevron 19"/>
          <p:cNvSpPr/>
          <p:nvPr/>
        </p:nvSpPr>
        <p:spPr>
          <a:xfrm>
            <a:off x="7269480" y="3511296"/>
            <a:ext cx="422452" cy="384048"/>
          </a:xfrm>
          <a:prstGeom prst="chevron">
            <a:avLst/>
          </a:prstGeom>
          <a:solidFill>
            <a:srgbClr val="B09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909560" y="2148840"/>
            <a:ext cx="3657600" cy="3108960"/>
          </a:xfrm>
          <a:prstGeom prst="roundRect">
            <a:avLst>
              <a:gd name="adj" fmla="val 7000"/>
            </a:avLst>
          </a:prstGeom>
          <a:solidFill>
            <a:srgbClr val="53655C"/>
          </a:solidFill>
          <a:ln>
            <a:noFill/>
          </a:ln>
          <a:effectLst>
            <a:outerShdw blurRad="91440" dist="50292"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logo-mark-dark.png"/>
          <p:cNvPicPr>
            <a:picLocks noChangeAspect="1"/>
          </p:cNvPicPr>
          <p:nvPr/>
        </p:nvPicPr>
        <p:blipFill>
          <a:blip r:embed="rId2"/>
          <a:stretch>
            <a:fillRect/>
          </a:stretch>
        </p:blipFill>
        <p:spPr>
          <a:xfrm>
            <a:off x="8275320" y="2487168"/>
            <a:ext cx="603504" cy="555474"/>
          </a:xfrm>
          <a:prstGeom prst="rect">
            <a:avLst/>
          </a:prstGeom>
          <a:effectLst/>
        </p:spPr>
      </p:pic>
      <p:sp>
        <p:nvSpPr>
          <p:cNvPr id="23" name="TextBox 22"/>
          <p:cNvSpPr txBox="1"/>
          <p:nvPr/>
        </p:nvSpPr>
        <p:spPr>
          <a:xfrm>
            <a:off x="8961120" y="2487168"/>
            <a:ext cx="2743200" cy="548640"/>
          </a:xfrm>
          <a:prstGeom prst="rect">
            <a:avLst/>
          </a:prstGeom>
          <a:noFill/>
        </p:spPr>
        <p:txBody>
          <a:bodyPr wrap="square" lIns="0" rIns="0" tIns="0" bIns="0" anchor="ctr">
            <a:spAutoFit/>
          </a:bodyPr>
          <a:lstStyle/>
          <a:p>
            <a:pPr algn="l">
              <a:lnSpc>
                <a:spcPct val="100000"/>
              </a:lnSpc>
            </a:pPr>
            <a:r>
              <a:rPr sz="2400" b="1">
                <a:solidFill>
                  <a:srgbClr val="FFFFFF"/>
                </a:solidFill>
                <a:latin typeface="Arial"/>
              </a:rPr>
              <a:t>Synora</a:t>
            </a:r>
          </a:p>
        </p:txBody>
      </p:sp>
      <p:sp>
        <p:nvSpPr>
          <p:cNvPr id="24" name="TextBox 23"/>
          <p:cNvSpPr txBox="1"/>
          <p:nvPr/>
        </p:nvSpPr>
        <p:spPr>
          <a:xfrm>
            <a:off x="8229600" y="3337560"/>
            <a:ext cx="3108960" cy="1737360"/>
          </a:xfrm>
          <a:prstGeom prst="rect">
            <a:avLst/>
          </a:prstGeom>
          <a:noFill/>
        </p:spPr>
        <p:txBody>
          <a:bodyPr wrap="square" lIns="0" rIns="0" tIns="0" bIns="0" anchor="t">
            <a:spAutoFit/>
          </a:bodyPr>
          <a:lstStyle/>
          <a:p>
            <a:pPr algn="l">
              <a:lnSpc>
                <a:spcPct val="130000"/>
              </a:lnSpc>
            </a:pPr>
            <a:r>
              <a:rPr sz="1450" b="0">
                <a:solidFill>
                  <a:srgbClr val="EFF3EE"/>
                </a:solidFill>
                <a:latin typeface="Arial"/>
              </a:rPr>
              <a:t>A real, responsive student-productivity product — built entirely from the syllabus, then taken further.</a:t>
            </a:r>
          </a:p>
        </p:txBody>
      </p:sp>
      <p:sp>
        <p:nvSpPr>
          <p:cNvPr id="25" name="TextBox 24"/>
          <p:cNvSpPr txBox="1"/>
          <p:nvPr/>
        </p:nvSpPr>
        <p:spPr>
          <a:xfrm>
            <a:off x="640080" y="5715000"/>
            <a:ext cx="10911535" cy="548640"/>
          </a:xfrm>
          <a:prstGeom prst="rect">
            <a:avLst/>
          </a:prstGeom>
          <a:noFill/>
        </p:spPr>
        <p:txBody>
          <a:bodyPr wrap="square" lIns="0" rIns="0" tIns="0" bIns="0" anchor="t">
            <a:spAutoFit/>
          </a:bodyPr>
          <a:lstStyle/>
          <a:p>
            <a:pPr algn="ctr">
              <a:lnSpc>
                <a:spcPct val="100000"/>
              </a:lnSpc>
            </a:pPr>
            <a:r>
              <a:rPr sz="1700" b="1">
                <a:solidFill>
                  <a:srgbClr val="F3F1EC"/>
                </a:solidFill>
                <a:latin typeface="Arial"/>
              </a:rPr>
              <a:t>Synora — one calm home for everything you're studying.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