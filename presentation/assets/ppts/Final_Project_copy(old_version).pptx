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Synora is a real, working student-productivity web app built only with HTML5, CSS3 and vanilla JavaScript. This deck tells the whole story — problem, product, how it's built, which syllabus concepts it uses, and what we added beyond them. Submitted by Manan Kochhar, Arshpreet Kaur and Atharv Bains.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fragmentation. Six disconnected tools, none sharing data — deadlines slip, attendance is done by hand, grades live in fragile spreadsheets. The scattered cards and red warning badges make the pain visible; the red band drives it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relief beat: the eight scattered tools converge into one calm, personalized workspace. Same colour language as the app (sage), ordered and quiet — deliberately the opposite of the previous slide. The dashboard is the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feature families: Productivity (tasks/calendar/notes), Academic (timetable/attendance/CGPA), Progress (achievements/notifications), Personalization (profile/subjects/avatar/theme). Everything is per-user and saved on-device.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minimal stack: HTML5, CSS3, vanilla JS, localStorage for persistence, Git/GitHub for version control. No React, no bundler — the syllabus building blocks are the whole toolkit. localStorage is genuinely used (16 call-sites).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project tree with headline counts: 14 HTML pages (index + 13 app pages), 7 stylesheets, 18 JS modules, and ZERO frameworks. One page + one module per feature, no build step — the browser opens the files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flows from sign-in through personalization into a per-user profile and subject list. Subjects are the single source of truth — attendance, CGPA and timetable all reference a subject by id, so renaming it once renames it everywhere. Everything rolls up to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tags carry meaning: header/nav/main/section/aside/footer, with aria-labelledby tying a heading to its region. Viva: why semantic HTML? Accessibility, SEO, and a structure our JS can target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flow: landing → sign up → personalize → dashboard. Emphasise that HTML provides the page structure and navigation that stitches the journey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landing page is built from labelled &lt;section&gt; blocks with anchor navigation. Notably the FAQ accordion and mobile menu are pure CSS (a hidden checkbox) — no JS. Contact is a real validated form. Viva: which parts need no JavaScript? The menu and FAQ.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up collects first/last name, username, email, password + confirm. Each field uses the correct input type (email/password), which sets the keyboard and gives the browser's native validation. Then confirmation → personalization →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Onboarding is a wizard of HTML form controls — radio-style avatar picker, selects for program/semester, repeatable subject rows with a checkbox for attendance tracking, a number input for the target, and a theme choice. This is where each user's workspace is shaped.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Productivity trio: Tasks (priorities + filters), Calendar (deadline timeline), Quick Notes (subject-tagged cards). Each is structured HTML — lists, cards, forms — before any styling or scripting.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Academic trio: Timetable (weekly grid), Attendance (how many classes you can skip and stay above target), CGPA (live 10-point calculator). Note the labelled cards and the chart containers that JS later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+ account trio: Achievements (gamified milestones), Notifications (reconciled deadline/attendance alerts), Settings (edit profile/subjects/theme). Structured lists and controls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framing: accessibility BASICS, not certified WCAG. Genuinely present: 16 labels, 91 aria-*, correct input types, 18 alt attributes, a skip-link and a visually-hidden utility. Viva: what makes a form accessible? Programmatic label-to-input association and correct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CSS built a design SYSTEM, not per-page styling. tokens.css holds 120+ token definitions (85 unique names); light/dark themes swap the same tokens. Viva: why CSS variables? Single source of truth — change a token, the whole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card is a box. .stat-card sets padding (space inside), a 1px border, rounded corners and a soft shadow — all via tokens. Viva: name the four box-model layers inside out — content, padding, border,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Flexbox handles one-dimensional rows: the sticky top bar, toolbars, button groups (116 rules). Properties actually used: display:flex, align-items, gap, flex-wrap. Viva: flex vs grid? Flex = one axis, grid =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handles two-dimensional structure (51 rules): the 7-column calendar, the dashboard's auto-fit stat cards, the notes masonry. Viva: why Grid for the calendar? It's a genuine rows × columns arrangement.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Mandatory responsive proof — the SAME landing page at 1440/768/390. The grid hero collapses to one column, buttons go full-width, the navbar becomes a hamburger. Strategy is desktop-first: 23 media-query blocks adapting DOWN. The menu is pure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Theming = one attribute. theme.js reads matchMedia for the system preference, lets the saved choice win, sets data-theme on &lt;html&gt;, and the CSS custom properties do the rest. It runs in &lt;head&gt; before first paint so dark-mode users never see a white flash. Persisted in localStorage.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splash is a real UX feature. Three states — splash, handover, landing. Honest mechanism: the animation is pure CSS @keyframes; JavaScript only controls timing (shows ≥ 2000ms, then removes the node); prefers-reduced-motion is honoured.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clear message: without JS the page is frozen; JavaScript makes it respond. The loop is always the same — you act, an event fires, a handler runs, the DOM updates, you see it change. Three concrete examples: completing a task, recomputing attendance, flipping the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fundamental maps to something concrete: state in variables; render/toggleComplete functions; tasks/subjects arrays; each task an object; .map/.filter/.forEach loops. Viva: array vs object? Ordered list vs keyed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 = the browser's live object tree of the HTML. We select nodes (querySelector 161×, querySelectorAll 23×, getElementById 9×) and read/write text, classes (35×) and attributes. Viva: what is the DOM? A tree of objects representing the document that JS changes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Dynamic UI: data → JS builds nodes → inserts them → removes when done. The toast shows the full lifecycle: createElement → configure → appendChild → remove. Task rows render the same way. Real counts: createElement 18, appendChild 11, remove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slide. USED: addEventListener (93×), delegation via closest (28), bubbling, preventDefault (11). NOT used as a pattern: explicit capturing — say so. Why delegation? Rows re-render, so one parent listener is more robust than per-button ones. Viva: bubbling vs capturing — child→parent vs parent→child.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 is layered: HTML attributes first (required/type/minlength), then JS on submit — preventDefault, trim, regex, friendly inline errors that clear live. Viva: why validate in JS if HTML does? Custom messages, cross-field checks (password confirm), UX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Persistence: JS objects are serialised with JSON.stringify into localStorage and read back with JSON.parse (3 each). Global keys (users/session/theme) plus per-user namespaced keys so accounts don't collide. Limitation: per-device only, no server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engineering pay-off, shown as the actual formulas we coded. Attendance % = attended/held×100. CGPA = Σ(credits×gradePoint)/Σ(credits), fails score 0 but keep their credits. 'Can miss' and 'catch up' are derived from the target inequality. Nothing is stored — it's all computed live from the subject list, per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pay-off slide. The syllabus gave five building blocks; on top we engineered authentication, personalized onboarding, an avatar system, task/calendar/notes, timetable, attendance and CGPA logic, achievements, notifications, theming, and a per-user data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polished showcase — the dashboard plus the core academic screens. This is the visual proof that Synora is a complete, working product, not a demo of isolated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big — 'Thank you' is the hero. Restate the thesis: we used the web-development syllabus as the foundation and built Synora into a complete, responsive, personalized student-productivity platform. The QR links to the live deployment (sample URL — replace before final).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3.png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21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26.png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1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42.png"/><Relationship Id="rId7" Type="http://schemas.openxmlformats.org/officeDocument/2006/relationships/image" Target="../media/image53.pn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21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40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41.png"/><Relationship Id="rId4" Type="http://schemas.openxmlformats.org/officeDocument/2006/relationships/image" Target="../media/image59.png"/><Relationship Id="rId5" Type="http://schemas.openxmlformats.org/officeDocument/2006/relationships/image" Target="../media/image42.png"/><Relationship Id="rId6" Type="http://schemas.openxmlformats.org/officeDocument/2006/relationships/image" Target="../media/image60.png"/><Relationship Id="rId7" Type="http://schemas.openxmlformats.org/officeDocument/2006/relationships/image" Target="../media/image43.pn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26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51.png"/><Relationship Id="rId4" Type="http://schemas.openxmlformats.org/officeDocument/2006/relationships/image" Target="../media/image53.png"/><Relationship Id="rId5" Type="http://schemas.openxmlformats.org/officeDocument/2006/relationships/image" Target="../media/image66.png"/><Relationship Id="rId6" Type="http://schemas.openxmlformats.org/officeDocument/2006/relationships/image" Target="../media/image48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69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3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67.png"/><Relationship Id="rId5" Type="http://schemas.openxmlformats.org/officeDocument/2006/relationships/image" Target="../media/image48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75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9.png"/><Relationship Id="rId9" Type="http://schemas.openxmlformats.org/officeDocument/2006/relationships/image" Target="../media/image73.png"/><Relationship Id="rId1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76.png"/><Relationship Id="rId4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77.png"/><Relationship Id="rId7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48.png"/><Relationship Id="rId7" Type="http://schemas.openxmlformats.org/officeDocument/2006/relationships/image" Target="../media/image54.png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75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66.png"/><Relationship Id="rId8" Type="http://schemas.openxmlformats.org/officeDocument/2006/relationships/image" Target="../media/image78.png"/><Relationship Id="rId9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66.png"/><Relationship Id="rId5" Type="http://schemas.openxmlformats.org/officeDocument/2006/relationships/image" Target="../media/image77.png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66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84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85.png"/><Relationship Id="rId5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-lockup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920240" cy="492984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40080" y="196596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300" b="1">
                <a:solidFill>
                  <a:srgbClr val="F3F1EC"/>
                </a:solidFill>
                <a:latin typeface="Arial"/>
              </a:rPr>
              <a:t>One </a:t>
            </a:r>
            <a:r>
              <a:rPr sz="4300" b="1">
                <a:solidFill>
                  <a:srgbClr val="9FB6A6"/>
                </a:solidFill>
                <a:latin typeface="Arial"/>
              </a:rPr>
              <a:t>calm</a:t>
            </a:r>
            <a:r>
              <a:rPr sz="4300" b="1">
                <a:solidFill>
                  <a:srgbClr val="F3F1EC"/>
                </a:solidFill>
                <a:latin typeface="Arial"/>
              </a:rPr>
              <a:t> home</a:t>
            </a:r>
          </a:p>
          <a:p>
            <a:pPr algn="l">
              <a:lnSpc>
                <a:spcPct val="102000"/>
              </a:lnSpc>
            </a:pPr>
            <a:r>
              <a:rPr sz="4300" b="1">
                <a:solidFill>
                  <a:srgbClr val="F3F1EC"/>
                </a:solidFill>
                <a:latin typeface="Arial"/>
              </a:rPr>
              <a:t>for everything</a:t>
            </a:r>
          </a:p>
          <a:p>
            <a:pPr algn="l">
              <a:lnSpc>
                <a:spcPct val="102000"/>
              </a:lnSpc>
            </a:pPr>
            <a:r>
              <a:rPr sz="4300" b="1">
                <a:solidFill>
                  <a:srgbClr val="F3F1EC"/>
                </a:solidFill>
                <a:latin typeface="Arial"/>
              </a:rPr>
              <a:t>you're studying.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9AA2AC"/>
                </a:solidFill>
                <a:latin typeface="Arial"/>
              </a:rPr>
              <a:t>Student Productivity &amp; Academic Management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54880"/>
            <a:ext cx="651052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HTML5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9148" y="4754880"/>
            <a:ext cx="583021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CSS3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30186" y="4754880"/>
            <a:ext cx="991209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JavaScript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9411" y="4754880"/>
            <a:ext cx="514990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DOM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92417" y="4754880"/>
            <a:ext cx="719084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80">
                <a:solidFill>
                  <a:srgbClr val="C9B9AE"/>
                </a:solidFill>
                <a:latin typeface="Arial"/>
              </a:rPr>
              <a:t>SUBMITTED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0702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F1EC"/>
                </a:solidFill>
                <a:latin typeface="Arial"/>
              </a:rPr>
              <a:t>Manan Kochhar    ·    Arshpreet Kaur    ·    Atharv Bains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1828800"/>
            <a:ext cx="4846320" cy="302894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ashboard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828800"/>
            <a:ext cx="4846320" cy="3028949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6766560" y="51206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AA2AC"/>
                </a:solidFill>
                <a:latin typeface="Arial"/>
              </a:rPr>
              <a:t>The Synora dashboard — a live, working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98932"/>
            <a:ext cx="123444" cy="123444"/>
          </a:xfrm>
          <a:prstGeom prst="ellipse">
            <a:avLst/>
          </a:prstGeom>
          <a:solidFill>
            <a:srgbClr val="C6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C67A6C"/>
                </a:solidFill>
                <a:latin typeface="Arial"/>
              </a:rPr>
              <a:t>01 · 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6868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A student's semester is scattered across apps that never talk.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46888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9848" y="269748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-square-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65" y="2811597"/>
            <a:ext cx="247253" cy="247253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691640" y="2468880"/>
            <a:ext cx="14173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To-do app</a:t>
            </a:r>
          </a:p>
        </p:txBody>
      </p:sp>
      <p:pic>
        <p:nvPicPr>
          <p:cNvPr id="20" name="Picture 19" descr="alert-triangle-hi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2615184"/>
            <a:ext cx="274320" cy="274320"/>
          </a:xfrm>
          <a:prstGeom prst="rect">
            <a:avLst/>
          </a:prstGeom>
          <a:effectLst/>
        </p:spPr>
      </p:pic>
      <p:sp>
        <p:nvSpPr>
          <p:cNvPr id="21" name="Rounded Rectangle 20"/>
          <p:cNvSpPr/>
          <p:nvPr/>
        </p:nvSpPr>
        <p:spPr>
          <a:xfrm>
            <a:off x="4297680" y="224028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98848" y="246888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le-text-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965" y="2582997"/>
            <a:ext cx="247253" cy="247253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5120640" y="2240280"/>
            <a:ext cx="14173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Sticky notes</a:t>
            </a:r>
          </a:p>
        </p:txBody>
      </p:sp>
      <p:pic>
        <p:nvPicPr>
          <p:cNvPr id="25" name="Picture 24" descr="alert-triangle-hi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386584"/>
            <a:ext cx="274320" cy="274320"/>
          </a:xfrm>
          <a:prstGeom prst="rect">
            <a:avLst/>
          </a:prstGeom>
          <a:effectLst/>
        </p:spPr>
      </p:pic>
      <p:sp>
        <p:nvSpPr>
          <p:cNvPr id="26" name="Rounded Rectangle 25"/>
          <p:cNvSpPr/>
          <p:nvPr/>
        </p:nvSpPr>
        <p:spPr>
          <a:xfrm>
            <a:off x="7726679" y="260604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7848" y="283464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ercent-s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1965" y="2948757"/>
            <a:ext cx="247253" cy="247253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8549640" y="2606040"/>
            <a:ext cx="14173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Attendance sheet</a:t>
            </a:r>
          </a:p>
        </p:txBody>
      </p:sp>
      <p:pic>
        <p:nvPicPr>
          <p:cNvPr id="30" name="Picture 29" descr="alert-triangle-hi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655" y="2752344"/>
            <a:ext cx="274320" cy="274320"/>
          </a:xfrm>
          <a:prstGeom prst="rect">
            <a:avLst/>
          </a:prstGeom>
          <a:effectLst/>
        </p:spPr>
      </p:pic>
      <p:sp>
        <p:nvSpPr>
          <p:cNvPr id="31" name="Rounded Rectangle 30"/>
          <p:cNvSpPr/>
          <p:nvPr/>
        </p:nvSpPr>
        <p:spPr>
          <a:xfrm>
            <a:off x="1325880" y="393192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27048" y="416052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alendar-s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1165" y="4274637"/>
            <a:ext cx="247253" cy="247253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2148840" y="3931920"/>
            <a:ext cx="14173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Wall calendar</a:t>
            </a:r>
          </a:p>
        </p:txBody>
      </p:sp>
      <p:pic>
        <p:nvPicPr>
          <p:cNvPr id="35" name="Picture 34" descr="alert-triangle-hi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4078224"/>
            <a:ext cx="274320" cy="274320"/>
          </a:xfrm>
          <a:prstGeom prst="rect">
            <a:avLst/>
          </a:prstGeom>
          <a:effectLst/>
        </p:spPr>
      </p:pic>
      <p:sp>
        <p:nvSpPr>
          <p:cNvPr id="36" name="Rounded Rectangle 35"/>
          <p:cNvSpPr/>
          <p:nvPr/>
        </p:nvSpPr>
        <p:spPr>
          <a:xfrm>
            <a:off x="4754880" y="420624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56048" y="443484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ell-sl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0165" y="4548957"/>
            <a:ext cx="247253" cy="247253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5577840" y="4206240"/>
            <a:ext cx="14173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Reminders</a:t>
            </a:r>
          </a:p>
        </p:txBody>
      </p:sp>
      <p:pic>
        <p:nvPicPr>
          <p:cNvPr id="40" name="Picture 39" descr="alert-triangle-hi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4352544"/>
            <a:ext cx="274320" cy="274320"/>
          </a:xfrm>
          <a:prstGeom prst="rect">
            <a:avLst/>
          </a:prstGeom>
          <a:effectLst/>
        </p:spPr>
      </p:pic>
      <p:sp>
        <p:nvSpPr>
          <p:cNvPr id="41" name="Rounded Rectangle 40"/>
          <p:cNvSpPr/>
          <p:nvPr/>
        </p:nvSpPr>
        <p:spPr>
          <a:xfrm>
            <a:off x="8229600" y="388620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30768" y="411480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ar-chart-2-sl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4885" y="4228917"/>
            <a:ext cx="247253" cy="247253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9052560" y="3886200"/>
            <a:ext cx="14173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Grades sheet</a:t>
            </a:r>
          </a:p>
        </p:txBody>
      </p:sp>
      <p:pic>
        <p:nvPicPr>
          <p:cNvPr id="45" name="Picture 44" descr="alert-triangle-hi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76" y="4032504"/>
            <a:ext cx="274320" cy="274320"/>
          </a:xfrm>
          <a:prstGeom prst="rect">
            <a:avLst/>
          </a:prstGeom>
          <a:effectLst/>
        </p:spPr>
      </p:pic>
      <p:sp>
        <p:nvSpPr>
          <p:cNvPr id="46" name="Rounded Rectangle 45"/>
          <p:cNvSpPr/>
          <p:nvPr/>
        </p:nvSpPr>
        <p:spPr>
          <a:xfrm>
            <a:off x="640080" y="5596128"/>
            <a:ext cx="10911535" cy="713232"/>
          </a:xfrm>
          <a:prstGeom prst="roundRect">
            <a:avLst>
              <a:gd name="adj" fmla="val 12000"/>
            </a:avLst>
          </a:prstGeom>
          <a:solidFill>
            <a:srgbClr val="FBEEE9"/>
          </a:solidFill>
          <a:ln w="16510">
            <a:solidFill>
              <a:srgbClr val="E8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4400" y="5724144"/>
            <a:ext cx="457200" cy="457200"/>
          </a:xfrm>
          <a:prstGeom prst="ellipse">
            <a:avLst/>
          </a:prstGeom>
          <a:solidFill>
            <a:srgbClr val="C6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alert-triangle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" y="5833872"/>
            <a:ext cx="237744" cy="237744"/>
          </a:xfrm>
          <a:prstGeom prst="rect">
            <a:avLst/>
          </a:prstGeom>
          <a:effectLst/>
        </p:spPr>
      </p:pic>
      <p:sp>
        <p:nvSpPr>
          <p:cNvPr id="49" name="TextBox 48"/>
          <p:cNvSpPr txBox="1"/>
          <p:nvPr/>
        </p:nvSpPr>
        <p:spPr>
          <a:xfrm>
            <a:off x="1572768" y="5596128"/>
            <a:ext cx="963137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C67A6C"/>
                </a:solidFill>
                <a:latin typeface="Arial"/>
              </a:rPr>
              <a:t>Six apps.  </a:t>
            </a:r>
            <a:r>
              <a:rPr sz="1350" b="0">
                <a:solidFill>
                  <a:srgbClr val="22252B"/>
                </a:solidFill>
                <a:latin typeface="Arial"/>
              </a:rPr>
              <a:t>Zero that talk to each other — so deadlines slip through the gaps and nothing sees the whole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98932"/>
            <a:ext cx="123444" cy="123444"/>
          </a:xfrm>
          <a:prstGeom prst="ellipse">
            <a:avLst/>
          </a:prstGeom>
          <a:solidFill>
            <a:srgbClr val="45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455A50"/>
                </a:solidFill>
                <a:latin typeface="Arial"/>
              </a:rPr>
              <a:t>01 · 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686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Eight tools, gathered into one calm workspace.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28800"/>
            <a:ext cx="306324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21031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-square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0" y="2175540"/>
            <a:ext cx="184343" cy="184343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371600" y="21031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Tasks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25603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lendar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20" y="2632740"/>
            <a:ext cx="184343" cy="184343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1371600" y="25603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Calendar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0175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eather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20" y="3089940"/>
            <a:ext cx="184343" cy="184343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1371600" y="30175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Notes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34747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rid-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820" y="3547140"/>
            <a:ext cx="184343" cy="184343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1371600" y="34747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39319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ercent-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820" y="4004340"/>
            <a:ext cx="184343" cy="184343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1371600" y="39319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43891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rending-up-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820" y="4461540"/>
            <a:ext cx="184343" cy="184343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1371600" y="43891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48463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ward-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820" y="4918740"/>
            <a:ext cx="184343" cy="184343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1371600" y="48463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" y="53035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bell-s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820" y="5375940"/>
            <a:ext cx="184343" cy="184343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1371600" y="53035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Notifications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840480" y="3749039"/>
            <a:ext cx="457200" cy="274320"/>
          </a:xfrm>
          <a:prstGeom prst="rightArrow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34840" y="3063240"/>
            <a:ext cx="1645920" cy="1645920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-mark-d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401568"/>
            <a:ext cx="457200" cy="420813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4434840" y="397763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Synora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6263640" y="3749039"/>
            <a:ext cx="457200" cy="274320"/>
          </a:xfrm>
          <a:prstGeom prst="rightArrow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12280" y="2148840"/>
            <a:ext cx="4754880" cy="2971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dashboard_deskt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2280" y="2148840"/>
            <a:ext cx="4754880" cy="2971800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6812280" y="51206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One dashboard for the whole semester.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Arial"/>
              </a:rPr>
              <a:t>One account.  </a:t>
            </a:r>
            <a:r>
              <a:rPr sz="1250" b="0">
                <a:solidFill>
                  <a:srgbClr val="606772"/>
                </a:solidFill>
                <a:latin typeface="Arial"/>
              </a:rPr>
              <a:t>One quiet home — personal to each student, on every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01 · 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What is Synora?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06772"/>
                </a:solidFill>
                <a:latin typeface="Arial"/>
              </a:rPr>
              <a:t>A personalized student productivity workspace — academic planning, task management and performance tracking in one interface. Its features fall into four groups: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286000"/>
            <a:ext cx="2615184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2560320"/>
            <a:ext cx="566928" cy="56692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-squar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74" y="2696382"/>
            <a:ext cx="294802" cy="294802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572768" y="2560320"/>
            <a:ext cx="160934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52B"/>
                </a:solidFill>
                <a:latin typeface="Arial"/>
              </a:rPr>
              <a:t>Productivity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" y="3346704"/>
            <a:ext cx="2103120" cy="0"/>
          </a:xfrm>
          <a:prstGeom prst="line">
            <a:avLst/>
          </a:prstGeom>
          <a:ln w="1270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4400" y="3566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-squar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3646627"/>
            <a:ext cx="204825" cy="204825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1389888" y="3566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Tasks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133087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alendar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" y="4213555"/>
            <a:ext cx="204825" cy="204825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1389888" y="4133087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Calendar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4700016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eather-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" y="4780483"/>
            <a:ext cx="204825" cy="204825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1389888" y="4700016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Quick Notes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5530" y="2286000"/>
            <a:ext cx="2615184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61562" y="2560320"/>
            <a:ext cx="566928" cy="566928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ook-open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625" y="2696382"/>
            <a:ext cx="294802" cy="294802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4338218" y="2560320"/>
            <a:ext cx="160934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52B"/>
                </a:solidFill>
                <a:latin typeface="Arial"/>
              </a:rPr>
              <a:t>Academic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61562" y="3346704"/>
            <a:ext cx="2103120" cy="0"/>
          </a:xfrm>
          <a:prstGeom prst="line">
            <a:avLst/>
          </a:prstGeom>
          <a:ln w="1270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679850" y="3566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grid-tau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0317" y="3646627"/>
            <a:ext cx="204825" cy="204825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4155338" y="3566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39" name="Oval 38"/>
          <p:cNvSpPr/>
          <p:nvPr/>
        </p:nvSpPr>
        <p:spPr>
          <a:xfrm>
            <a:off x="3679850" y="4133087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ercent-tau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0317" y="4213555"/>
            <a:ext cx="204825" cy="204825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4155338" y="4133087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42" name="Oval 41"/>
          <p:cNvSpPr/>
          <p:nvPr/>
        </p:nvSpPr>
        <p:spPr>
          <a:xfrm>
            <a:off x="3679850" y="4700016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trending-up-taup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0317" y="4780483"/>
            <a:ext cx="204825" cy="204825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4155338" y="4700016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0980" y="2286000"/>
            <a:ext cx="2615184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27012" y="2560320"/>
            <a:ext cx="566928" cy="56692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ward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3075" y="2696382"/>
            <a:ext cx="294802" cy="294802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7103668" y="2560320"/>
            <a:ext cx="160934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52B"/>
                </a:solidFill>
                <a:latin typeface="Arial"/>
              </a:rPr>
              <a:t>Progress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27012" y="3346704"/>
            <a:ext cx="2103120" cy="0"/>
          </a:xfrm>
          <a:prstGeom prst="line">
            <a:avLst/>
          </a:prstGeom>
          <a:ln w="1270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445300" y="3566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ward-s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5768" y="3646627"/>
            <a:ext cx="204825" cy="204825"/>
          </a:xfrm>
          <a:prstGeom prst="rect">
            <a:avLst/>
          </a:prstGeom>
          <a:effectLst/>
        </p:spPr>
      </p:pic>
      <p:sp>
        <p:nvSpPr>
          <p:cNvPr id="52" name="TextBox 51"/>
          <p:cNvSpPr txBox="1"/>
          <p:nvPr/>
        </p:nvSpPr>
        <p:spPr>
          <a:xfrm>
            <a:off x="6920788" y="3566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53" name="Oval 52"/>
          <p:cNvSpPr/>
          <p:nvPr/>
        </p:nvSpPr>
        <p:spPr>
          <a:xfrm>
            <a:off x="6445300" y="4133087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ell-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5768" y="4213555"/>
            <a:ext cx="204825" cy="204825"/>
          </a:xfrm>
          <a:prstGeom prst="rect">
            <a:avLst/>
          </a:prstGeom>
          <a:effectLst/>
        </p:spPr>
      </p:pic>
      <p:sp>
        <p:nvSpPr>
          <p:cNvPr id="55" name="TextBox 54"/>
          <p:cNvSpPr txBox="1"/>
          <p:nvPr/>
        </p:nvSpPr>
        <p:spPr>
          <a:xfrm>
            <a:off x="6920788" y="4133087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Notifications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36431" y="2286000"/>
            <a:ext cx="2615184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192463" y="2560320"/>
            <a:ext cx="566928" cy="566928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user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8525" y="2696382"/>
            <a:ext cx="294802" cy="294802"/>
          </a:xfrm>
          <a:prstGeom prst="rect">
            <a:avLst/>
          </a:prstGeom>
          <a:effectLst/>
        </p:spPr>
      </p:pic>
      <p:sp>
        <p:nvSpPr>
          <p:cNvPr id="59" name="TextBox 58"/>
          <p:cNvSpPr txBox="1"/>
          <p:nvPr/>
        </p:nvSpPr>
        <p:spPr>
          <a:xfrm>
            <a:off x="9869119" y="2560320"/>
            <a:ext cx="160934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52B"/>
                </a:solidFill>
                <a:latin typeface="Arial"/>
              </a:rPr>
              <a:t>Personalization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92463" y="3346704"/>
            <a:ext cx="2103120" cy="0"/>
          </a:xfrm>
          <a:prstGeom prst="line">
            <a:avLst/>
          </a:prstGeom>
          <a:ln w="1270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9210751" y="3566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user-tau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1218" y="3646627"/>
            <a:ext cx="204825" cy="204825"/>
          </a:xfrm>
          <a:prstGeom prst="rect">
            <a:avLst/>
          </a:prstGeom>
          <a:effectLst/>
        </p:spPr>
      </p:pic>
      <p:sp>
        <p:nvSpPr>
          <p:cNvPr id="63" name="TextBox 62"/>
          <p:cNvSpPr txBox="1"/>
          <p:nvPr/>
        </p:nvSpPr>
        <p:spPr>
          <a:xfrm>
            <a:off x="9686239" y="3566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Profile</a:t>
            </a:r>
          </a:p>
        </p:txBody>
      </p:sp>
      <p:sp>
        <p:nvSpPr>
          <p:cNvPr id="64" name="Oval 63"/>
          <p:cNvSpPr/>
          <p:nvPr/>
        </p:nvSpPr>
        <p:spPr>
          <a:xfrm>
            <a:off x="9210751" y="4133087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ayers-taup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1218" y="4213555"/>
            <a:ext cx="204825" cy="204825"/>
          </a:xfrm>
          <a:prstGeom prst="rect">
            <a:avLst/>
          </a:prstGeom>
          <a:effectLst/>
        </p:spPr>
      </p:pic>
      <p:sp>
        <p:nvSpPr>
          <p:cNvPr id="66" name="TextBox 65"/>
          <p:cNvSpPr txBox="1"/>
          <p:nvPr/>
        </p:nvSpPr>
        <p:spPr>
          <a:xfrm>
            <a:off x="9686239" y="4133087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Subjects</a:t>
            </a:r>
          </a:p>
        </p:txBody>
      </p:sp>
      <p:sp>
        <p:nvSpPr>
          <p:cNvPr id="67" name="Oval 66"/>
          <p:cNvSpPr/>
          <p:nvPr/>
        </p:nvSpPr>
        <p:spPr>
          <a:xfrm>
            <a:off x="9210751" y="4700016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eye-taup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1218" y="4780483"/>
            <a:ext cx="204825" cy="204825"/>
          </a:xfrm>
          <a:prstGeom prst="rect">
            <a:avLst/>
          </a:prstGeom>
          <a:effectLst/>
        </p:spPr>
      </p:pic>
      <p:sp>
        <p:nvSpPr>
          <p:cNvPr id="69" name="TextBox 68"/>
          <p:cNvSpPr txBox="1"/>
          <p:nvPr/>
        </p:nvSpPr>
        <p:spPr>
          <a:xfrm>
            <a:off x="9686239" y="4700016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Avatar &amp; Theme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01 · 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06772"/>
                </a:solidFill>
                <a:latin typeface="Arial"/>
              </a:rPr>
              <a:t>Core web technologies only — no frameworks, no build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148840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" y="2240280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d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33" y="2341229"/>
            <a:ext cx="218724" cy="218724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17319" y="214884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HTML5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148840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Structure &amp; semantics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862072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6384" y="2953512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ay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33" y="3054461"/>
            <a:ext cx="218724" cy="218724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1417319" y="2862072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CSS3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862072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Design system + responsive layout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75304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6384" y="3666744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pu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333" y="3767693"/>
            <a:ext cx="218724" cy="218724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1417319" y="3575304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JavaScript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575304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Logic, state &amp; interactivity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288536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" y="4379975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git-branc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333" y="4480925"/>
            <a:ext cx="218724" cy="21872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1417319" y="4288536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DOM APIs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288536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A live, dynamic interface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01768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6384" y="5093208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databas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33" y="5194157"/>
            <a:ext cx="218724" cy="218724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1417319" y="5001768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localStorage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001768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Per-user persistence in the browser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715000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6384" y="5806440"/>
            <a:ext cx="420624" cy="420624"/>
          </a:xfrm>
          <a:prstGeom prst="ellipse">
            <a:avLst/>
          </a:prstGeom>
          <a:solidFill>
            <a:srgbClr val="A3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github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333" y="5907389"/>
            <a:ext cx="218724" cy="218724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1417319" y="571500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Git &amp; GitHub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715000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Version control</a:t>
            </a:r>
          </a:p>
        </p:txBody>
      </p:sp>
      <p:pic>
        <p:nvPicPr>
          <p:cNvPr id="47" name="Picture 46" descr="illo_st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2148840"/>
            <a:ext cx="3291840" cy="2852928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8138160" y="4956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Courier New"/>
              </a:rPr>
              <a:t>HTML</a:t>
            </a:r>
            <a:r>
              <a:rPr sz="1100" b="0">
                <a:solidFill>
                  <a:srgbClr val="A3AEB1"/>
                </a:solidFill>
                <a:latin typeface="Arial"/>
              </a:rPr>
              <a:t> → </a:t>
            </a:r>
            <a:r>
              <a:rPr sz="1100" b="1">
                <a:solidFill>
                  <a:srgbClr val="455A50"/>
                </a:solidFill>
                <a:latin typeface="Courier New"/>
              </a:rPr>
              <a:t>CSS</a:t>
            </a:r>
            <a:r>
              <a:rPr sz="1100" b="0">
                <a:solidFill>
                  <a:srgbClr val="A3AEB1"/>
                </a:solidFill>
                <a:latin typeface="Arial"/>
              </a:rPr>
              <a:t> → </a:t>
            </a:r>
            <a:r>
              <a:rPr sz="1100" b="1">
                <a:solidFill>
                  <a:srgbClr val="455A50"/>
                </a:solidFill>
                <a:latin typeface="Courier New"/>
              </a:rPr>
              <a:t>JS</a:t>
            </a:r>
            <a:r>
              <a:rPr sz="1100" b="0">
                <a:solidFill>
                  <a:srgbClr val="A3AEB1"/>
                </a:solidFill>
                <a:latin typeface="Arial"/>
              </a:rPr>
              <a:t> → </a:t>
            </a:r>
            <a:r>
              <a:rPr sz="1100" b="1">
                <a:solidFill>
                  <a:srgbClr val="455A50"/>
                </a:solidFill>
                <a:latin typeface="Courier New"/>
              </a:rPr>
              <a:t>DOM</a:t>
            </a:r>
            <a:r>
              <a:rPr sz="1100" b="0">
                <a:solidFill>
                  <a:srgbClr val="A3AEB1"/>
                </a:solidFill>
                <a:latin typeface="Arial"/>
              </a:rPr>
              <a:t> → </a:t>
            </a:r>
            <a:r>
              <a:rPr sz="1100" b="1">
                <a:solidFill>
                  <a:srgbClr val="B09F95"/>
                </a:solidFill>
                <a:latin typeface="Courier New"/>
              </a:rPr>
              <a:t>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02 ·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How the project is structured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6304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No framework, no build step — files a browser opens directly. One page and one module per feature.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993392"/>
            <a:ext cx="67208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212848"/>
            <a:ext cx="63093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050" b="1">
                <a:solidFill>
                  <a:srgbClr val="22252B"/>
                </a:solidFill>
                <a:latin typeface="Courier New"/>
              </a:rPr>
              <a:t>Synora/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index.html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Landing page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notes.html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Project &amp; viva doc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README.md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Documentation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1">
                <a:solidFill>
                  <a:srgbClr val="455A50"/>
                </a:solidFill>
                <a:latin typeface="Courier New"/>
              </a:rPr>
              <a:t>app/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     the signed-in workspace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dashboard.html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Home overview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tasks.html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Task manager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cgpa.html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CGPA calculator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└──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… 10 more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timetable, attendance …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1">
                <a:solidFill>
                  <a:srgbClr val="455A50"/>
                </a:solidFill>
                <a:latin typeface="Courier New"/>
              </a:rPr>
              <a:t>scripts/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 18 vanilla-JS modules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app.js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Shared core + helpers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storage.js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localStorage layer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└──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… 16 more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auth, theme, tasks …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1">
                <a:solidFill>
                  <a:srgbClr val="455A50"/>
                </a:solidFill>
                <a:latin typeface="Courier New"/>
              </a:rPr>
              <a:t>styles/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  7 stylesheets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tokens.css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Design tokens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└──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… 6 more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base, components …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└── </a:t>
            </a:r>
            <a:r>
              <a:rPr sz="1050" b="1">
                <a:solidFill>
                  <a:srgbClr val="455A50"/>
                </a:solidFill>
                <a:latin typeface="Courier New"/>
              </a:rPr>
              <a:t>assets/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  logos · avatars · icons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993392"/>
            <a:ext cx="37947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993392"/>
            <a:ext cx="137160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53655C"/>
                </a:solidFill>
                <a:latin typeface="Arial"/>
              </a:rPr>
              <a:t>14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2212848"/>
            <a:ext cx="0" cy="493776"/>
          </a:xfrm>
          <a:prstGeom prst="line">
            <a:avLst/>
          </a:prstGeom>
          <a:ln w="1778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0" y="1993392"/>
            <a:ext cx="18745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HTML pages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063240"/>
            <a:ext cx="37947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063240"/>
            <a:ext cx="137160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B09F95"/>
                </a:solidFill>
                <a:latin typeface="Arial"/>
              </a:rPr>
              <a:t>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3282696"/>
            <a:ext cx="0" cy="493776"/>
          </a:xfrm>
          <a:prstGeom prst="line">
            <a:avLst/>
          </a:prstGeom>
          <a:ln w="1778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0" y="3063240"/>
            <a:ext cx="18745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CSS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133087"/>
            <a:ext cx="37947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133087"/>
            <a:ext cx="137160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53655C"/>
                </a:solidFill>
                <a:latin typeface="Arial"/>
              </a:rPr>
              <a:t>18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72600" y="4352544"/>
            <a:ext cx="0" cy="493776"/>
          </a:xfrm>
          <a:prstGeom prst="line">
            <a:avLst/>
          </a:prstGeom>
          <a:ln w="1778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0" y="4133087"/>
            <a:ext cx="18745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JS modules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5202936"/>
            <a:ext cx="37947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5202936"/>
            <a:ext cx="137160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B09F95"/>
                </a:solidFill>
                <a:latin typeface="Arial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72600" y="5422392"/>
            <a:ext cx="0" cy="493776"/>
          </a:xfrm>
          <a:prstGeom prst="line">
            <a:avLst/>
          </a:prstGeom>
          <a:ln w="1778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601200" y="5202936"/>
            <a:ext cx="18745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frameworks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02 ·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Data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3" y="2112264"/>
            <a:ext cx="10253167" cy="91440"/>
          </a:xfrm>
          <a:prstGeom prst="roundRect">
            <a:avLst>
              <a:gd name="adj" fmla="val 50000"/>
            </a:avLst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5400000">
            <a:off x="2608021" y="2057400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5995263" y="2057400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9382506" y="2057400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1783080"/>
            <a:ext cx="749808" cy="74980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se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33" y="1963033"/>
            <a:ext cx="389900" cy="389900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-36576" y="26517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User</a:t>
            </a:r>
          </a:p>
        </p:txBody>
      </p:sp>
      <p:sp>
        <p:nvSpPr>
          <p:cNvPr id="23" name="Oval 22"/>
          <p:cNvSpPr/>
          <p:nvPr/>
        </p:nvSpPr>
        <p:spPr>
          <a:xfrm>
            <a:off x="4027322" y="1783080"/>
            <a:ext cx="749808" cy="74980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276" y="1963033"/>
            <a:ext cx="389900" cy="389900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3350666" y="26517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Sign in</a:t>
            </a:r>
          </a:p>
        </p:txBody>
      </p:sp>
      <p:sp>
        <p:nvSpPr>
          <p:cNvPr id="26" name="Oval 25"/>
          <p:cNvSpPr/>
          <p:nvPr/>
        </p:nvSpPr>
        <p:spPr>
          <a:xfrm>
            <a:off x="7414564" y="1783080"/>
            <a:ext cx="749808" cy="74980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lider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518" y="1963033"/>
            <a:ext cx="389900" cy="38990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6737908" y="26517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Personalize</a:t>
            </a:r>
          </a:p>
        </p:txBody>
      </p:sp>
      <p:sp>
        <p:nvSpPr>
          <p:cNvPr id="29" name="Oval 28"/>
          <p:cNvSpPr/>
          <p:nvPr/>
        </p:nvSpPr>
        <p:spPr>
          <a:xfrm>
            <a:off x="10801807" y="1783080"/>
            <a:ext cx="749808" cy="74980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ay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1761" y="1963033"/>
            <a:ext cx="389900" cy="38990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10125151" y="26517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Profile + Subjects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976975" y="2971800"/>
            <a:ext cx="237744" cy="347472"/>
          </a:xfrm>
          <a:prstGeom prst="downArrow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0" y="340156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40">
                <a:solidFill>
                  <a:srgbClr val="B09F95"/>
                </a:solidFill>
                <a:latin typeface="Arial"/>
              </a:rPr>
              <a:t>SUBJECTS ARE THE SOURCE OF TRUTH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3694176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6772"/>
                </a:solidFill>
                <a:latin typeface="Arial"/>
              </a:rPr>
              <a:t>every academic feature references a subject by its 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5167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72387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eck-squar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2115" y="4361688"/>
            <a:ext cx="237744" cy="237744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655167" y="469087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Tasks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93111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10331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eather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0059" y="4361688"/>
            <a:ext cx="237744" cy="237744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2493111" y="469087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Notes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31055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48275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rid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8003" y="4361688"/>
            <a:ext cx="237744" cy="237744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4331055" y="469087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68999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86219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percen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5947" y="4361688"/>
            <a:ext cx="237744" cy="237744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6168999" y="469087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06943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624163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rending-up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3891" y="4361688"/>
            <a:ext cx="237744" cy="237744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8006943" y="469087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44887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62107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award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1835" y="4361688"/>
            <a:ext cx="237744" cy="237744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9844887" y="469087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5976975" y="5120640"/>
            <a:ext cx="237744" cy="310896"/>
          </a:xfrm>
          <a:prstGeom prst="downArrow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657600" y="5541264"/>
            <a:ext cx="4876495" cy="768096"/>
          </a:xfrm>
          <a:prstGeom prst="roundRect">
            <a:avLst>
              <a:gd name="adj" fmla="val 10000"/>
            </a:avLst>
          </a:prstGeom>
          <a:solidFill>
            <a:srgbClr val="22252B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5541264"/>
            <a:ext cx="4876495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3F1EC"/>
                </a:solidFill>
                <a:latin typeface="Arial"/>
              </a:rPr>
              <a:t>Dashboard</a:t>
            </a:r>
            <a:r>
              <a:rPr sz="1300" b="0">
                <a:solidFill>
                  <a:srgbClr val="9AA2AC"/>
                </a:solidFill>
                <a:latin typeface="Arial"/>
              </a:rPr>
              <a:t>   —  one live view of everything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structure behind Synora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517904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06772"/>
                </a:solidFill>
                <a:latin typeface="Arial"/>
              </a:rPr>
              <a:t>Every page is written with semantic HTML5 — elements that describe what each region means, not just how it looks. The browser, assistive tech and our own JavaScript all read that same structure.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de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0" y="3163092"/>
            <a:ext cx="184343" cy="184343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097280" y="3108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&lt;header&gt;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site header + nav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5478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de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0" y="3620292"/>
            <a:ext cx="184343" cy="184343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1097280" y="3566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&lt;main&gt;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×14 primary content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0050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ode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0" y="4077492"/>
            <a:ext cx="184343" cy="184343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109728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&lt;section&gt;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×11 labelled regions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622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de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0" y="4534692"/>
            <a:ext cx="184343" cy="184343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1097280" y="4480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&lt;aside&gt;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×12 sidebar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9194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ode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0" y="4991892"/>
            <a:ext cx="184343" cy="184343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1097280" y="4937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&lt;footer&gt;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landing footer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3766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ode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0" y="5449092"/>
            <a:ext cx="184343" cy="184343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1097280" y="5394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&lt;figure&gt;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×3 media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1481328"/>
            <a:ext cx="5596128" cy="3164799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27064" y="1636776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91655" y="1636776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1636776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3992" y="1572768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index.html — landing 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1996135"/>
            <a:ext cx="5120640" cy="2529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&lt;header </a:t>
            </a:r>
            <a:r>
              <a:rPr sz="1250">
                <a:solidFill>
                  <a:srgbClr val="A9C3B0"/>
                </a:solidFill>
                <a:latin typeface="Courier New"/>
              </a:rPr>
              <a:t>class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"site-header"</a:t>
            </a:r>
            <a:r>
              <a:rPr sz="1250">
                <a:solidFill>
                  <a:srgbClr val="D6C6B8"/>
                </a:solidFill>
                <a:latin typeface="Courier New"/>
              </a:rPr>
              <a:t>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  &lt;nav </a:t>
            </a:r>
            <a:r>
              <a:rPr sz="1250">
                <a:solidFill>
                  <a:srgbClr val="A9C3B0"/>
                </a:solidFill>
                <a:latin typeface="Courier New"/>
              </a:rPr>
              <a:t>aria-label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"Primary"</a:t>
            </a:r>
            <a:r>
              <a:rPr sz="1250">
                <a:solidFill>
                  <a:srgbClr val="D6C6B8"/>
                </a:solidFill>
                <a:latin typeface="Courier New"/>
              </a:rPr>
              <a:t>&gt; … &lt;/nav&gt;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&lt;/header&gt;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E7EAEE"/>
                </a:solidFill>
                <a:latin typeface="Courier New"/>
              </a:rPr>
              <a:t/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&lt;main </a:t>
            </a:r>
            <a:r>
              <a:rPr sz="1250">
                <a:solidFill>
                  <a:srgbClr val="A9C3B0"/>
                </a:solidFill>
                <a:latin typeface="Courier New"/>
              </a:rPr>
              <a:t>id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"main"</a:t>
            </a:r>
            <a:r>
              <a:rPr sz="1250">
                <a:solidFill>
                  <a:srgbClr val="D6C6B8"/>
                </a:solidFill>
                <a:latin typeface="Courier New"/>
              </a:rPr>
              <a:t>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  &lt;section </a:t>
            </a:r>
            <a:r>
              <a:rPr sz="1250">
                <a:solidFill>
                  <a:srgbClr val="A9C3B0"/>
                </a:solidFill>
                <a:latin typeface="Courier New"/>
              </a:rPr>
              <a:t>class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"hero"</a:t>
            </a:r>
            <a:r>
              <a:rPr sz="1250">
                <a:solidFill>
                  <a:srgbClr val="D6C6B8"/>
                </a:solidFill>
                <a:latin typeface="Courier New"/>
              </a:rPr>
              <a:t>&gt;…&lt;/section&gt;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  &lt;section </a:t>
            </a:r>
            <a:r>
              <a:rPr sz="1250">
                <a:solidFill>
                  <a:srgbClr val="A9C3B0"/>
                </a:solidFill>
                <a:latin typeface="Courier New"/>
              </a:rPr>
              <a:t>aria-labelledby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"features"</a:t>
            </a:r>
            <a:r>
              <a:rPr sz="1250">
                <a:solidFill>
                  <a:srgbClr val="D6C6B8"/>
                </a:solidFill>
                <a:latin typeface="Courier New"/>
              </a:rPr>
              <a:t>&gt;…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  &lt;/section&gt;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&lt;/main&gt;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&lt;footer </a:t>
            </a:r>
            <a:r>
              <a:rPr sz="1250">
                <a:solidFill>
                  <a:srgbClr val="A9C3B0"/>
                </a:solidFill>
                <a:latin typeface="Courier New"/>
              </a:rPr>
              <a:t>class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"site-footer"</a:t>
            </a:r>
            <a:r>
              <a:rPr sz="1250">
                <a:solidFill>
                  <a:srgbClr val="D6C6B8"/>
                </a:solidFill>
                <a:latin typeface="Courier New"/>
              </a:rPr>
              <a:t>&gt;…&lt;/footer&gt;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6035040"/>
            <a:ext cx="5596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A3AEB1"/>
                </a:solidFill>
                <a:latin typeface="Arial"/>
              </a:rPr>
              <a:t>Real markup from index.html — trimmed.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User journey: landing to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6772"/>
                </a:solidFill>
                <a:latin typeface="Arial"/>
              </a:rPr>
              <a:t>Five HTML pages, one continuous flow — structure and links carry the user through.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377440"/>
            <a:ext cx="2542032" cy="158876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nding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2542032" cy="1588769"/>
          </a:xfrm>
          <a:prstGeom prst="rect">
            <a:avLst/>
          </a:prstGeom>
          <a:effectLst/>
        </p:spPr>
      </p:pic>
      <p:sp>
        <p:nvSpPr>
          <p:cNvPr id="19" name="Rounded Rectangle 18"/>
          <p:cNvSpPr/>
          <p:nvPr/>
        </p:nvSpPr>
        <p:spPr>
          <a:xfrm>
            <a:off x="777240" y="22311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index.html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5765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Landing</a:t>
            </a:r>
          </a:p>
        </p:txBody>
      </p:sp>
      <p:sp>
        <p:nvSpPr>
          <p:cNvPr id="21" name="Chevron 20"/>
          <p:cNvSpPr/>
          <p:nvPr/>
        </p:nvSpPr>
        <p:spPr>
          <a:xfrm>
            <a:off x="3214573" y="3062097"/>
            <a:ext cx="241401" cy="219456"/>
          </a:xfrm>
          <a:prstGeom prst="chevron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29914" y="2377440"/>
            <a:ext cx="2542032" cy="158876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914" y="2377440"/>
            <a:ext cx="2542032" cy="1588769"/>
          </a:xfrm>
          <a:prstGeom prst="rect">
            <a:avLst/>
          </a:prstGeom>
          <a:effectLst/>
        </p:spPr>
      </p:pic>
      <p:sp>
        <p:nvSpPr>
          <p:cNvPr id="24" name="Rounded Rectangle 23"/>
          <p:cNvSpPr/>
          <p:nvPr/>
        </p:nvSpPr>
        <p:spPr>
          <a:xfrm>
            <a:off x="3567074" y="2231136"/>
            <a:ext cx="1035100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signup.html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914" y="405765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Sign up</a:t>
            </a:r>
          </a:p>
        </p:txBody>
      </p:sp>
      <p:sp>
        <p:nvSpPr>
          <p:cNvPr id="26" name="Chevron 25"/>
          <p:cNvSpPr/>
          <p:nvPr/>
        </p:nvSpPr>
        <p:spPr>
          <a:xfrm>
            <a:off x="6004407" y="3062097"/>
            <a:ext cx="241401" cy="219456"/>
          </a:xfrm>
          <a:prstGeom prst="chevron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9748" y="2377440"/>
            <a:ext cx="2542032" cy="158876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748" y="2377440"/>
            <a:ext cx="2542032" cy="1588769"/>
          </a:xfrm>
          <a:prstGeom prst="rect">
            <a:avLst/>
          </a:prstGeom>
          <a:effectLst/>
        </p:spPr>
      </p:pic>
      <p:sp>
        <p:nvSpPr>
          <p:cNvPr id="29" name="Rounded Rectangle 28"/>
          <p:cNvSpPr/>
          <p:nvPr/>
        </p:nvSpPr>
        <p:spPr>
          <a:xfrm>
            <a:off x="6356908" y="2231136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onboarding.html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9748" y="405765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Personalize</a:t>
            </a:r>
          </a:p>
        </p:txBody>
      </p:sp>
      <p:sp>
        <p:nvSpPr>
          <p:cNvPr id="31" name="Chevron 30"/>
          <p:cNvSpPr/>
          <p:nvPr/>
        </p:nvSpPr>
        <p:spPr>
          <a:xfrm>
            <a:off x="8794242" y="3062097"/>
            <a:ext cx="241401" cy="219456"/>
          </a:xfrm>
          <a:prstGeom prst="chevron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09583" y="2377440"/>
            <a:ext cx="2542032" cy="158876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ashboard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583" y="2377440"/>
            <a:ext cx="2542032" cy="1588769"/>
          </a:xfrm>
          <a:prstGeom prst="rect">
            <a:avLst/>
          </a:prstGeom>
          <a:effectLst/>
        </p:spPr>
      </p:pic>
      <p:sp>
        <p:nvSpPr>
          <p:cNvPr id="34" name="Rounded Rectangle 33"/>
          <p:cNvSpPr/>
          <p:nvPr/>
        </p:nvSpPr>
        <p:spPr>
          <a:xfrm>
            <a:off x="9146743" y="2231136"/>
            <a:ext cx="1232611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dashboard.html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9583" y="405765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Each page is a self-contained HTML document; anchors and links move between them, and the same navigation structure repeats so the product feels like one continuous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landing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572768"/>
            <a:ext cx="6766560" cy="42291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ing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6766560" cy="4229100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142646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index.html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3892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Hero, navigation and marketing sections.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7635240" y="151790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ayou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7" y="1627631"/>
            <a:ext cx="237744" cy="237744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8238744" y="148132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Hero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177393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headline + product preview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2304288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enu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7" y="2414016"/>
            <a:ext cx="237744" cy="237744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8238744" y="226771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Navbar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5603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centred links + theme + auth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3090672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rid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7" y="3200400"/>
            <a:ext cx="237744" cy="237744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8238744" y="305409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Features / How it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334670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semantic sections with IDs</a:t>
            </a:r>
          </a:p>
        </p:txBody>
      </p:sp>
      <p:sp>
        <p:nvSpPr>
          <p:cNvPr id="32" name="Oval 31"/>
          <p:cNvSpPr/>
          <p:nvPr/>
        </p:nvSpPr>
        <p:spPr>
          <a:xfrm>
            <a:off x="7635240" y="3877056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as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7" y="3986784"/>
            <a:ext cx="237744" cy="237744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8238744" y="38404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FAQ (CSS-only)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413308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accordion, no JavaScript</a:t>
            </a:r>
          </a:p>
        </p:txBody>
      </p:sp>
      <p:sp>
        <p:nvSpPr>
          <p:cNvPr id="36" name="Oval 35"/>
          <p:cNvSpPr/>
          <p:nvPr/>
        </p:nvSpPr>
        <p:spPr>
          <a:xfrm>
            <a:off x="7635240" y="4663440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edit-3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7" y="4773168"/>
            <a:ext cx="237744" cy="237744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8238744" y="462686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491947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a real, validated form</a:t>
            </a:r>
          </a:p>
        </p:txBody>
      </p:sp>
      <p:sp>
        <p:nvSpPr>
          <p:cNvPr id="40" name="Oval 39"/>
          <p:cNvSpPr/>
          <p:nvPr/>
        </p:nvSpPr>
        <p:spPr>
          <a:xfrm>
            <a:off x="7635240" y="544982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evron-right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7" y="5559552"/>
            <a:ext cx="237744" cy="237744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8238744" y="541324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Footer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8744" y="570585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links + sitemap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account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481328"/>
            <a:ext cx="5577840" cy="348614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1328"/>
            <a:ext cx="5577840" cy="3486149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0749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app/signup.html — one form, the right input type per field.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554480"/>
            <a:ext cx="402336" cy="402336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vron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55064"/>
            <a:ext cx="201168" cy="201168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6858000" y="151790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1.  Sign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4708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first &amp; last name, username, email, password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011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5E8EB"/>
                </a:solidFill>
                <a:latin typeface="Arial"/>
              </a:rPr>
              <a:t>│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2468880"/>
            <a:ext cx="402336" cy="402336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vron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569464"/>
            <a:ext cx="201168" cy="201168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6858000" y="243230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2.  Confirmation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76148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account created, stored on this device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2926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5E8EB"/>
                </a:solidFill>
                <a:latin typeface="Arial"/>
              </a:rPr>
              <a:t>│</a:t>
            </a:r>
          </a:p>
        </p:txBody>
      </p:sp>
      <p:sp>
        <p:nvSpPr>
          <p:cNvPr id="29" name="Oval 28"/>
          <p:cNvSpPr/>
          <p:nvPr/>
        </p:nvSpPr>
        <p:spPr>
          <a:xfrm>
            <a:off x="6355080" y="3383280"/>
            <a:ext cx="402336" cy="402336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hevron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483864"/>
            <a:ext cx="201168" cy="201168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6858000" y="334670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3.  Personalize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67588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the onboarding wizard sets up the workspace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3840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5E8EB"/>
                </a:solidFill>
                <a:latin typeface="Arial"/>
              </a:rPr>
              <a:t>│</a:t>
            </a:r>
          </a:p>
        </p:txBody>
      </p:sp>
      <p:sp>
        <p:nvSpPr>
          <p:cNvPr id="34" name="Oval 33"/>
          <p:cNvSpPr/>
          <p:nvPr/>
        </p:nvSpPr>
        <p:spPr>
          <a:xfrm>
            <a:off x="6355080" y="4297680"/>
            <a:ext cx="402336" cy="402336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hevron-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4398264"/>
            <a:ext cx="201168" cy="201168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6858000" y="426110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4. 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59028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the populated product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4406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606772"/>
                </a:solidFill>
                <a:latin typeface="Arial"/>
              </a:rPr>
              <a:t>Input types — text, email, password — give the right keyboard and the browser's first layer of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Personalization: building the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481328"/>
            <a:ext cx="5943600" cy="37147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1328"/>
            <a:ext cx="5943600" cy="371475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0749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app/onboarding.html — a six-step wizard of HTML form controls.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151790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s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1627631"/>
            <a:ext cx="237744" cy="23774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315200" y="148132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79222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avatar illustration or initials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234086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ook-ope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450592"/>
            <a:ext cx="237744" cy="237744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7315200" y="230428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Academic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1518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program + semester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6382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ay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3273552"/>
            <a:ext cx="237744" cy="237744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7315200" y="312724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Subjects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381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name, credits, track attendance?</a:t>
            </a:r>
          </a:p>
        </p:txBody>
      </p:sp>
      <p:sp>
        <p:nvSpPr>
          <p:cNvPr id="31" name="Oval 30"/>
          <p:cNvSpPr/>
          <p:nvPr/>
        </p:nvSpPr>
        <p:spPr>
          <a:xfrm>
            <a:off x="6720840" y="398678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ercen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4096512"/>
            <a:ext cx="237744" cy="237744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7315200" y="395020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2611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target percentage</a:t>
            </a:r>
          </a:p>
        </p:txBody>
      </p:sp>
      <p:sp>
        <p:nvSpPr>
          <p:cNvPr id="35" name="Oval 34"/>
          <p:cNvSpPr/>
          <p:nvPr/>
        </p:nvSpPr>
        <p:spPr>
          <a:xfrm>
            <a:off x="6720840" y="480974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ey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0568" y="4919472"/>
            <a:ext cx="237744" cy="237744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315200" y="47731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Appearance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08406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light or dark theme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Feature walkthrough — Productivity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194560"/>
            <a:ext cx="3310128" cy="206882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3310128" cy="2068829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204825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tasks.html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373118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-squar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17" y="4474067"/>
            <a:ext cx="218724" cy="21872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1170431" y="4345686"/>
            <a:ext cx="27614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12030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Create, prioritise, complete — filtered by today / upcoming / overdue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0783" y="2194560"/>
            <a:ext cx="3310128" cy="218376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783" y="2194560"/>
            <a:ext cx="3310128" cy="2183765"/>
          </a:xfrm>
          <a:prstGeom prst="rect">
            <a:avLst/>
          </a:prstGeom>
          <a:effectLst/>
        </p:spPr>
      </p:pic>
      <p:sp>
        <p:nvSpPr>
          <p:cNvPr id="25" name="Rounded Rectangle 24"/>
          <p:cNvSpPr/>
          <p:nvPr/>
        </p:nvSpPr>
        <p:spPr>
          <a:xfrm>
            <a:off x="4623663" y="2048256"/>
            <a:ext cx="1166774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calendar.html</a:t>
            </a:r>
          </a:p>
        </p:txBody>
      </p:sp>
      <p:sp>
        <p:nvSpPr>
          <p:cNvPr id="26" name="Oval 25"/>
          <p:cNvSpPr/>
          <p:nvPr/>
        </p:nvSpPr>
        <p:spPr>
          <a:xfrm>
            <a:off x="4459071" y="4488052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lendar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021" y="4589002"/>
            <a:ext cx="218724" cy="218724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971135" y="4460621"/>
            <a:ext cx="27614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Calendar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0783" y="4926965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Every deadline on one timeline; click a day to see what's due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1487" y="2194560"/>
            <a:ext cx="3310128" cy="206882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no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487" y="2194560"/>
            <a:ext cx="3310128" cy="2068829"/>
          </a:xfrm>
          <a:prstGeom prst="rect">
            <a:avLst/>
          </a:prstGeom>
          <a:effectLst/>
        </p:spPr>
      </p:pic>
      <p:sp>
        <p:nvSpPr>
          <p:cNvPr id="32" name="Rounded Rectangle 31"/>
          <p:cNvSpPr/>
          <p:nvPr/>
        </p:nvSpPr>
        <p:spPr>
          <a:xfrm>
            <a:off x="8424367" y="204825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notes.html</a:t>
            </a:r>
          </a:p>
        </p:txBody>
      </p:sp>
      <p:sp>
        <p:nvSpPr>
          <p:cNvPr id="33" name="Oval 32"/>
          <p:cNvSpPr/>
          <p:nvPr/>
        </p:nvSpPr>
        <p:spPr>
          <a:xfrm>
            <a:off x="8259775" y="4373118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eather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0724" y="4474067"/>
            <a:ext cx="218724" cy="21872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8771839" y="4345686"/>
            <a:ext cx="27614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Quick Notes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1487" y="4812030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Jot lecture notes as cards, tagged by subject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A3AEB1"/>
                </a:solidFill>
                <a:latin typeface="Arial"/>
              </a:rPr>
              <a:t>Structured HTML — lists, cards, forms and controls — gives each feature its shape.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Feature walkthrough — Academic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194560"/>
            <a:ext cx="3310128" cy="206882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ime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3310128" cy="2068829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2048256"/>
            <a:ext cx="1232611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timetable.html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373118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rid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17" y="4474067"/>
            <a:ext cx="218724" cy="21872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1170431" y="4345686"/>
            <a:ext cx="27614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12030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Your week of classes as an editable grid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0783" y="2194560"/>
            <a:ext cx="3310128" cy="206882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tten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783" y="2194560"/>
            <a:ext cx="3310128" cy="2068829"/>
          </a:xfrm>
          <a:prstGeom prst="rect">
            <a:avLst/>
          </a:prstGeom>
          <a:effectLst/>
        </p:spPr>
      </p:pic>
      <p:sp>
        <p:nvSpPr>
          <p:cNvPr id="25" name="Rounded Rectangle 24"/>
          <p:cNvSpPr/>
          <p:nvPr/>
        </p:nvSpPr>
        <p:spPr>
          <a:xfrm>
            <a:off x="4623663" y="2048256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attendance.html</a:t>
            </a:r>
          </a:p>
        </p:txBody>
      </p:sp>
      <p:sp>
        <p:nvSpPr>
          <p:cNvPr id="26" name="Oval 25"/>
          <p:cNvSpPr/>
          <p:nvPr/>
        </p:nvSpPr>
        <p:spPr>
          <a:xfrm>
            <a:off x="4459071" y="4373118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ercen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021" y="4474067"/>
            <a:ext cx="218724" cy="218724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971135" y="4345686"/>
            <a:ext cx="27614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0783" y="4812030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How many classes you can still miss, per subject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1487" y="2194560"/>
            <a:ext cx="3310128" cy="206882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gp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487" y="2194560"/>
            <a:ext cx="3310128" cy="2068829"/>
          </a:xfrm>
          <a:prstGeom prst="rect">
            <a:avLst/>
          </a:prstGeom>
          <a:effectLst/>
        </p:spPr>
      </p:pic>
      <p:sp>
        <p:nvSpPr>
          <p:cNvPr id="32" name="Rounded Rectangle 31"/>
          <p:cNvSpPr/>
          <p:nvPr/>
        </p:nvSpPr>
        <p:spPr>
          <a:xfrm>
            <a:off x="8424367" y="2048256"/>
            <a:ext cx="903427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cgpa.html</a:t>
            </a:r>
          </a:p>
        </p:txBody>
      </p:sp>
      <p:sp>
        <p:nvSpPr>
          <p:cNvPr id="33" name="Oval 32"/>
          <p:cNvSpPr/>
          <p:nvPr/>
        </p:nvSpPr>
        <p:spPr>
          <a:xfrm>
            <a:off x="8259775" y="4373118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trending-up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0724" y="4474067"/>
            <a:ext cx="218724" cy="21872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8771839" y="4345686"/>
            <a:ext cx="27614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1487" y="4812030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Live 10-point GPA as you enter credits and grades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A3AEB1"/>
                </a:solidFill>
                <a:latin typeface="Arial"/>
              </a:rPr>
              <a:t>Cards, labels, form controls and chart containers structure the academic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Feature walkthrough — Progress &amp; account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194560"/>
            <a:ext cx="3310128" cy="206882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chiev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3310128" cy="2068829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2048256"/>
            <a:ext cx="1430121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achievements.html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373118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ward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17" y="4474067"/>
            <a:ext cx="218724" cy="21872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1170431" y="4345686"/>
            <a:ext cx="27614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12030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Small wins unlock as you actually use Synora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0783" y="2194560"/>
            <a:ext cx="3310128" cy="206882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otific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783" y="2194560"/>
            <a:ext cx="3310128" cy="2068829"/>
          </a:xfrm>
          <a:prstGeom prst="rect">
            <a:avLst/>
          </a:prstGeom>
          <a:effectLst/>
        </p:spPr>
      </p:pic>
      <p:sp>
        <p:nvSpPr>
          <p:cNvPr id="25" name="Rounded Rectangle 24"/>
          <p:cNvSpPr/>
          <p:nvPr/>
        </p:nvSpPr>
        <p:spPr>
          <a:xfrm>
            <a:off x="4623663" y="2048256"/>
            <a:ext cx="1495958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notifications.html</a:t>
            </a:r>
          </a:p>
        </p:txBody>
      </p:sp>
      <p:sp>
        <p:nvSpPr>
          <p:cNvPr id="26" name="Oval 25"/>
          <p:cNvSpPr/>
          <p:nvPr/>
        </p:nvSpPr>
        <p:spPr>
          <a:xfrm>
            <a:off x="4459071" y="4373118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ell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021" y="4474067"/>
            <a:ext cx="218724" cy="218724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971135" y="4345686"/>
            <a:ext cx="27614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0783" y="4812030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Deadlines, attendance warnings and unlocks in one place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1487" y="2194560"/>
            <a:ext cx="3310128" cy="206882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487" y="2194560"/>
            <a:ext cx="3310128" cy="2068829"/>
          </a:xfrm>
          <a:prstGeom prst="rect">
            <a:avLst/>
          </a:prstGeom>
          <a:effectLst/>
        </p:spPr>
      </p:pic>
      <p:sp>
        <p:nvSpPr>
          <p:cNvPr id="32" name="Rounded Rectangle 31"/>
          <p:cNvSpPr/>
          <p:nvPr/>
        </p:nvSpPr>
        <p:spPr>
          <a:xfrm>
            <a:off x="8424367" y="2048256"/>
            <a:ext cx="116677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settings.html</a:t>
            </a:r>
          </a:p>
        </p:txBody>
      </p:sp>
      <p:sp>
        <p:nvSpPr>
          <p:cNvPr id="33" name="Oval 32"/>
          <p:cNvSpPr/>
          <p:nvPr/>
        </p:nvSpPr>
        <p:spPr>
          <a:xfrm>
            <a:off x="8259775" y="4373118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ettings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0724" y="4474067"/>
            <a:ext cx="218724" cy="21872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8771839" y="4345686"/>
            <a:ext cx="27614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Settings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1487" y="4812030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Profile, subjects, appearance and account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A3AEB1"/>
                </a:solidFill>
                <a:latin typeface="Arial"/>
              </a:rPr>
              <a:t>Status indicators, controls and structured lists — all built from semantic HTML.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Forms &amp; accessibility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481328"/>
            <a:ext cx="5806440" cy="3629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1328"/>
            <a:ext cx="5806440" cy="3629024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230368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Settings — every field has a real &lt;label&gt; and the right input type.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151790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dit-3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1627631"/>
            <a:ext cx="237744" cy="23774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315200" y="14996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Labelled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7922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16 &lt;label&gt; elements — clicking a label focuses its field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2359152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ey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468880"/>
            <a:ext cx="237744" cy="237744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7315200" y="234086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ARIA where it helps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3347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91 aria-* attributes — labels, live regions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200400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eck-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3310128"/>
            <a:ext cx="237744" cy="237744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7315200" y="31821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Right input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74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email, number, date, password adapt the keyboard</a:t>
            </a:r>
          </a:p>
        </p:txBody>
      </p:sp>
      <p:sp>
        <p:nvSpPr>
          <p:cNvPr id="31" name="Oval 30"/>
          <p:cNvSpPr/>
          <p:nvPr/>
        </p:nvSpPr>
        <p:spPr>
          <a:xfrm>
            <a:off x="6720840" y="4041648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ayou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4151376"/>
            <a:ext cx="237744" cy="237744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7315200" y="40233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Alt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31596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18 alt attributes; decorative art marked aria-hidden</a:t>
            </a:r>
          </a:p>
        </p:txBody>
      </p:sp>
      <p:sp>
        <p:nvSpPr>
          <p:cNvPr id="35" name="Oval 34"/>
          <p:cNvSpPr/>
          <p:nvPr/>
        </p:nvSpPr>
        <p:spPr>
          <a:xfrm>
            <a:off x="6720840" y="4882896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ov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0568" y="4992624"/>
            <a:ext cx="237744" cy="237744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315200" y="486460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Keyboard-friendly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15721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a skip-link and a .visually-hidden pattern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One design system, not many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>
                <a:solidFill>
                  <a:srgbClr val="606772"/>
                </a:solidFill>
                <a:latin typeface="Arial"/>
              </a:rPr>
              <a:t>CSS custom properties define the visual language once — 120+ design tokens (85 unique) for colour, type, spacing, radius and shadow, reused across every page so the product feels like one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22252B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039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#22252B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76272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53655C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76272" y="38039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4050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#53655C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12463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A3AEB1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3" y="38039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Slate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4050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#A3AEB1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48656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E5E8EB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38039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Mist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4050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#E5E8EB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84848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B09F95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38039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Taupe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4050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#B09F95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617720"/>
            <a:ext cx="402336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77316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B09F95"/>
                </a:solidFill>
                <a:latin typeface="Arial"/>
              </a:rPr>
              <a:t>TYPOGRAPHY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84064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2252B"/>
                </a:solidFill>
                <a:latin typeface="Arial"/>
              </a:rPr>
              <a:t>Manrope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06772"/>
                </a:solidFill>
                <a:latin typeface="Arial"/>
              </a:rPr>
              <a:t>headings  ·  Inter for body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4617720"/>
            <a:ext cx="402336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477316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B09F95"/>
                </a:solidFill>
                <a:latin typeface="Arial"/>
              </a:rPr>
              <a:t>REUSED COMPONENTS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510235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55A50"/>
                </a:solidFill>
                <a:latin typeface="Courier New"/>
              </a:rPr>
              <a:t>.btn  .card  .field  .chip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4864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06772"/>
                </a:solidFill>
                <a:latin typeface="Arial"/>
              </a:rPr>
              <a:t>defined once, used everywhere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49640" y="1828800"/>
            <a:ext cx="3063240" cy="19145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828800"/>
            <a:ext cx="3063240" cy="1914525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8549640" y="380390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A3AEB1"/>
                </a:solidFill>
                <a:latin typeface="Arial"/>
              </a:rPr>
              <a:t>Same cards, buttons and</a:t>
            </a:r>
          </a:p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A3AEB1"/>
                </a:solidFill>
                <a:latin typeface="Arial"/>
              </a:rPr>
              <a:t>spacing tokens on every page.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box model behind the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627632"/>
            <a:ext cx="4114800" cy="2697480"/>
          </a:xfrm>
          <a:prstGeom prst="roundRect">
            <a:avLst>
              <a:gd name="adj" fmla="val 3000"/>
            </a:avLst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09F95"/>
                </a:solidFill>
                <a:latin typeface="Arial"/>
              </a:rPr>
              <a:t>margin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1993392"/>
            <a:ext cx="3200400" cy="1965960"/>
          </a:xfrm>
          <a:prstGeom prst="roundRect">
            <a:avLst>
              <a:gd name="adj" fmla="val 3000"/>
            </a:avLst>
          </a:prstGeom>
          <a:solidFill>
            <a:srgbClr val="DC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7" y="20482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55A50"/>
                </a:solidFill>
                <a:latin typeface="Arial"/>
              </a:rPr>
              <a:t>border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8760" y="2340864"/>
            <a:ext cx="2377440" cy="1271016"/>
          </a:xfrm>
          <a:prstGeom prst="roundRect">
            <a:avLst>
              <a:gd name="adj" fmla="val 3000"/>
            </a:avLst>
          </a:prstGeom>
          <a:solidFill>
            <a:srgbClr val="E9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18488" y="2395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3AEB1"/>
                </a:solidFill>
                <a:latin typeface="Arial"/>
              </a:rPr>
              <a:t>padding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2688336"/>
            <a:ext cx="1371600" cy="576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2688336"/>
            <a:ext cx="13716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6772"/>
                </a:solidFill>
                <a:latin typeface="Arial"/>
              </a:rPr>
              <a:t>content → padding → border → margin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1627632"/>
            <a:ext cx="6172200" cy="2433279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2704" y="1783080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97296" y="1783080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61888" y="1783080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1719072"/>
            <a:ext cx="51297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styles/app.css — a dashboard stat 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2704" y="2142439"/>
            <a:ext cx="5696712" cy="17983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.stat-card</a:t>
            </a:r>
            <a:r>
              <a:rPr sz="1250">
                <a:solidFill>
                  <a:srgbClr val="E7EAEE"/>
                </a:solidFill>
                <a:latin typeface="Courier New"/>
              </a:rPr>
              <a:t> {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padding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B9C7CD"/>
                </a:solidFill>
                <a:latin typeface="Courier New"/>
              </a:rPr>
              <a:t>20px 24px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  <a:r>
              <a:rPr sz="1250">
                <a:solidFill>
                  <a:srgbClr val="7C8590"/>
                </a:solidFill>
                <a:latin typeface="Courier New"/>
              </a:rPr>
              <a:t>      /* space inside */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background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CBB69F"/>
                </a:solidFill>
                <a:latin typeface="Courier New"/>
              </a:rPr>
              <a:t>var(--color-surface)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border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B9C7CD"/>
                </a:solidFill>
                <a:latin typeface="Courier New"/>
              </a:rPr>
              <a:t>1px solid </a:t>
            </a:r>
            <a:r>
              <a:rPr sz="1250">
                <a:solidFill>
                  <a:srgbClr val="CBB69F"/>
                </a:solidFill>
                <a:latin typeface="Courier New"/>
              </a:rPr>
              <a:t>var(--color-border)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border-radius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CBB69F"/>
                </a:solidFill>
                <a:latin typeface="Courier New"/>
              </a:rPr>
              <a:t>var(--radius-lg)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box-shadow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CBB69F"/>
                </a:solidFill>
                <a:latin typeface="Courier New"/>
              </a:rPr>
              <a:t>var(--shadow-sm)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E7EAEE"/>
                </a:solidFill>
                <a:latin typeface="Courier New"/>
              </a:rPr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7316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Those same tokens build every card — here, the CGPA summary row: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81047" y="5102352"/>
            <a:ext cx="8229600" cy="130628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gpa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102352"/>
            <a:ext cx="8229600" cy="130628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Flexbox — alignment &amp;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554480"/>
            <a:ext cx="5760720" cy="360044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760720" cy="3600449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2578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The Tasks toolbar — search, sort and view controls in a flex 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55A50"/>
                </a:solidFill>
                <a:latin typeface="Arial"/>
              </a:rPr>
              <a:t>One-dimensional layout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103120"/>
            <a:ext cx="384048" cy="384048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ov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90" y="2189530"/>
            <a:ext cx="211226" cy="211226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086600" y="2084831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display: flex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377439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lay children out in a row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852927"/>
            <a:ext cx="384048" cy="384048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ov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90" y="2939338"/>
            <a:ext cx="211226" cy="211226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7086600" y="2834639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align-items: center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127247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vertically centre them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602735"/>
            <a:ext cx="384048" cy="384048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ov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90" y="3689146"/>
            <a:ext cx="211226" cy="211226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7086600" y="3584447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877055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even spacing without margins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4352544"/>
            <a:ext cx="384048" cy="384048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ov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90" y="4438954"/>
            <a:ext cx="211226" cy="211226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7086600" y="4334256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flex-wrap: wrap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626864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fold onto the next line when tight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57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3AEB1"/>
                </a:solidFill>
                <a:latin typeface="Arial"/>
              </a:rPr>
              <a:t>Used in ~116 rules — top bar, toolbars, button groups, list rows.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Grid — structuring the layouts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554480"/>
            <a:ext cx="6675120" cy="44037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75120" cy="44037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1389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The calendar — a true two-dimensional grid of seven columns.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554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09F95"/>
                </a:solidFill>
                <a:latin typeface="Arial"/>
              </a:rPr>
              <a:t>Two-dimensional layout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2103120"/>
            <a:ext cx="384048" cy="384048"/>
          </a:xfrm>
          <a:prstGeom prst="ellipse">
            <a:avLst/>
          </a:prstGeom>
          <a:solidFill>
            <a:srgbClr val="ED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rid-tau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490" y="2189530"/>
            <a:ext cx="211226" cy="211226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8001000" y="2084831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Rows &amp; columns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37743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the calendar is 7 columns × N weeks</a:t>
            </a:r>
          </a:p>
        </p:txBody>
      </p:sp>
      <p:sp>
        <p:nvSpPr>
          <p:cNvPr id="24" name="Oval 23"/>
          <p:cNvSpPr/>
          <p:nvPr/>
        </p:nvSpPr>
        <p:spPr>
          <a:xfrm>
            <a:off x="7498079" y="2852927"/>
            <a:ext cx="384048" cy="384048"/>
          </a:xfrm>
          <a:prstGeom prst="ellipse">
            <a:avLst/>
          </a:prstGeom>
          <a:solidFill>
            <a:srgbClr val="ED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rid-tau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490" y="2939338"/>
            <a:ext cx="211226" cy="211226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8001000" y="283463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Dashboard cards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127247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auto-fitting stat grid</a:t>
            </a:r>
          </a:p>
        </p:txBody>
      </p:sp>
      <p:sp>
        <p:nvSpPr>
          <p:cNvPr id="28" name="Oval 27"/>
          <p:cNvSpPr/>
          <p:nvPr/>
        </p:nvSpPr>
        <p:spPr>
          <a:xfrm>
            <a:off x="7498079" y="3602735"/>
            <a:ext cx="384048" cy="384048"/>
          </a:xfrm>
          <a:prstGeom prst="ellipse">
            <a:avLst/>
          </a:prstGeom>
          <a:solidFill>
            <a:srgbClr val="ED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rid-tau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490" y="3689146"/>
            <a:ext cx="211226" cy="211226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8001000" y="3584447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Notes masonry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877055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cards flow into a responsive grid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4526280"/>
            <a:ext cx="4069080" cy="1799295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35823" y="468172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00415" y="468172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65007" y="468172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1" y="4617720"/>
            <a:ext cx="30266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styles/app.css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3" y="5041087"/>
            <a:ext cx="3593592" cy="1164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00">
                <a:solidFill>
                  <a:srgbClr val="D6C6B8"/>
                </a:solidFill>
                <a:latin typeface="Courier New"/>
              </a:rPr>
              <a:t>.cal-grid</a:t>
            </a:r>
            <a:r>
              <a:rPr sz="1100">
                <a:solidFill>
                  <a:srgbClr val="E7EAEE"/>
                </a:solidFill>
                <a:latin typeface="Courier New"/>
              </a:rPr>
              <a:t> {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A9C3B0"/>
                </a:solidFill>
                <a:latin typeface="Courier New"/>
              </a:rPr>
              <a:t>  display</a:t>
            </a:r>
            <a:r>
              <a:rPr sz="1100">
                <a:solidFill>
                  <a:srgbClr val="E7EAEE"/>
                </a:solidFill>
                <a:latin typeface="Courier New"/>
              </a:rPr>
              <a:t>: </a:t>
            </a:r>
            <a:r>
              <a:rPr sz="1100">
                <a:solidFill>
                  <a:srgbClr val="B9C7CD"/>
                </a:solidFill>
                <a:latin typeface="Courier New"/>
              </a:rPr>
              <a:t>grid</a:t>
            </a:r>
            <a:r>
              <a:rPr sz="110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A9C3B0"/>
                </a:solidFill>
                <a:latin typeface="Courier New"/>
              </a:rPr>
              <a:t>  grid-template-columns</a:t>
            </a:r>
            <a:r>
              <a:rPr sz="1100">
                <a:solidFill>
                  <a:srgbClr val="E7EAEE"/>
                </a:solidFill>
                <a:latin typeface="Courier New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CBB69F"/>
                </a:solidFill>
                <a:latin typeface="Courier New"/>
              </a:rPr>
              <a:t>    repeat(7, </a:t>
            </a:r>
            <a:r>
              <a:rPr sz="1100">
                <a:solidFill>
                  <a:srgbClr val="D6C6B8"/>
                </a:solidFill>
                <a:latin typeface="Courier New"/>
              </a:rPr>
              <a:t>minmax</a:t>
            </a:r>
            <a:r>
              <a:rPr sz="1100">
                <a:solidFill>
                  <a:srgbClr val="CBB69F"/>
                </a:solidFill>
                <a:latin typeface="Courier New"/>
              </a:rPr>
              <a:t>(0,1fr));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E7EAEE"/>
                </a:solidFill>
                <a:latin typeface="Courier New"/>
              </a:rPr>
              <a:t>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5321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3AEB1"/>
                </a:solidFill>
                <a:latin typeface="Arial"/>
              </a:rPr>
              <a:t>Used in ~51 rules for every structured, two-dimensional layout.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 · RESPONSIVE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One Synora, every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80235"/>
            <a:ext cx="5623560" cy="35147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rk_res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80235"/>
            <a:ext cx="5623560" cy="35147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522976"/>
            <a:ext cx="5623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5A50"/>
                </a:solidFill>
                <a:latin typeface="Arial"/>
              </a:rPr>
              <a:t>1440px  ·  Desktop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2529840"/>
            <a:ext cx="2148840" cy="2865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rk_resp_tab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529840"/>
            <a:ext cx="2148840" cy="2865120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040880" y="552297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5A50"/>
                </a:solidFill>
                <a:latin typeface="Arial"/>
              </a:rPr>
              <a:t>768px  ·  Tablet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228791"/>
            <a:ext cx="1463040" cy="31661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ark_resp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228791"/>
            <a:ext cx="1463040" cy="3166168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9098280" y="55229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5A50"/>
                </a:solidFill>
                <a:latin typeface="Arial"/>
              </a:rPr>
              <a:t>390px  ·  Mobile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8978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Arial"/>
              </a:rPr>
              <a:t>Same landing page  </a:t>
            </a:r>
            <a:r>
              <a:rPr sz="1250" b="0">
                <a:solidFill>
                  <a:srgbClr val="606772"/>
                </a:solidFill>
                <a:latin typeface="Arial"/>
              </a:rPr>
              <a:t>— Flexbox + Grid reflow, </a:t>
            </a:r>
            <a:r>
              <a:rPr sz="1250" b="1">
                <a:solidFill>
                  <a:srgbClr val="455A50"/>
                </a:solidFill>
                <a:latin typeface="Courier New"/>
              </a:rPr>
              <a:t>23 media-query blocks</a:t>
            </a:r>
            <a:r>
              <a:rPr sz="1250" b="0">
                <a:solidFill>
                  <a:srgbClr val="606772"/>
                </a:solidFill>
                <a:latin typeface="Arial"/>
              </a:rPr>
              <a:t> adapt down, and the nav collapses to a CSS-only menu.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Dark mode &amp; theming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554480"/>
            <a:ext cx="5074920" cy="3171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074920" cy="3171824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475488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3AEB1"/>
                </a:solidFill>
                <a:latin typeface="Arial"/>
              </a:rPr>
              <a:t>Light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5074920" cy="3171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rk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554480"/>
            <a:ext cx="5074920" cy="317182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5943600" y="475488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3AEB1"/>
                </a:solidFill>
                <a:latin typeface="Arial"/>
              </a:rPr>
              <a:t>Dark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66360"/>
            <a:ext cx="5669280" cy="1155557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532180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2415" y="532180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7007" y="532180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44752" y="5257800"/>
            <a:ext cx="46268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scripts/theme.js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681167"/>
            <a:ext cx="5193792" cy="5205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00">
                <a:solidFill>
                  <a:srgbClr val="A9C3B0"/>
                </a:solidFill>
                <a:latin typeface="Courier New"/>
              </a:rPr>
              <a:t>var</a:t>
            </a:r>
            <a:r>
              <a:rPr sz="1100">
                <a:solidFill>
                  <a:srgbClr val="E7EAEE"/>
                </a:solidFill>
                <a:latin typeface="Courier New"/>
              </a:rPr>
              <a:t> saved = localStorage.</a:t>
            </a:r>
            <a:r>
              <a:rPr sz="1100">
                <a:solidFill>
                  <a:srgbClr val="D6C6B8"/>
                </a:solidFill>
                <a:latin typeface="Courier New"/>
              </a:rPr>
              <a:t>getItem</a:t>
            </a:r>
            <a:r>
              <a:rPr sz="1100">
                <a:solidFill>
                  <a:srgbClr val="E7EAEE"/>
                </a:solidFill>
                <a:latin typeface="Courier New"/>
              </a:rPr>
              <a:t>(</a:t>
            </a:r>
            <a:r>
              <a:rPr sz="1100">
                <a:solidFill>
                  <a:srgbClr val="CBB69F"/>
                </a:solidFill>
                <a:latin typeface="Courier New"/>
              </a:rPr>
              <a:t>"synora-theme"</a:t>
            </a:r>
            <a:r>
              <a:rPr sz="1100">
                <a:solidFill>
                  <a:srgbClr val="E7EAEE"/>
                </a:solidFill>
                <a:latin typeface="Courier New"/>
              </a:rPr>
              <a:t>);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E7EAEE"/>
                </a:solidFill>
                <a:latin typeface="Courier New"/>
              </a:rPr>
              <a:t>root.</a:t>
            </a:r>
            <a:r>
              <a:rPr sz="1100">
                <a:solidFill>
                  <a:srgbClr val="D6C6B8"/>
                </a:solidFill>
                <a:latin typeface="Courier New"/>
              </a:rPr>
              <a:t>setAttribute</a:t>
            </a:r>
            <a:r>
              <a:rPr sz="1100">
                <a:solidFill>
                  <a:srgbClr val="E7EAEE"/>
                </a:solidFill>
                <a:latin typeface="Courier New"/>
              </a:rPr>
              <a:t>(</a:t>
            </a:r>
            <a:r>
              <a:rPr sz="1100">
                <a:solidFill>
                  <a:srgbClr val="CBB69F"/>
                </a:solidFill>
                <a:latin typeface="Courier New"/>
              </a:rPr>
              <a:t>"data-theme"</a:t>
            </a:r>
            <a:r>
              <a:rPr sz="1100">
                <a:solidFill>
                  <a:srgbClr val="E7EAEE"/>
                </a:solidFill>
                <a:latin typeface="Courier New"/>
              </a:rPr>
              <a:t>, theme);</a:t>
            </a:r>
            <a:r>
              <a:rPr sz="1100">
                <a:solidFill>
                  <a:srgbClr val="7C8590"/>
                </a:solidFill>
                <a:latin typeface="Courier New"/>
              </a:rPr>
              <a:t>  // CSS reacts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193792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252B"/>
                </a:solidFill>
                <a:latin typeface="Arial"/>
              </a:rPr>
              <a:t>Same tokens, two themes.  </a:t>
            </a:r>
          </a:p>
          <a:p>
            <a:pPr algn="l">
              <a:lnSpc>
                <a:spcPct val="122000"/>
              </a:lnSpc>
            </a:pPr>
            <a:r>
              <a:rPr sz="1150" b="1">
                <a:solidFill>
                  <a:srgbClr val="455A50"/>
                </a:solidFill>
                <a:latin typeface="Courier New"/>
              </a:rPr>
              <a:t>data-theme</a:t>
            </a:r>
            <a:r>
              <a:rPr sz="1150" b="0">
                <a:solidFill>
                  <a:srgbClr val="606772"/>
                </a:solidFill>
                <a:latin typeface="Arial"/>
              </a:rPr>
              <a:t> on </a:t>
            </a:r>
            <a:r>
              <a:rPr sz="1150" b="1">
                <a:solidFill>
                  <a:srgbClr val="455A50"/>
                </a:solidFill>
                <a:latin typeface="Courier New"/>
              </a:rPr>
              <a:t>&lt;html&gt;</a:t>
            </a:r>
            <a:r>
              <a:rPr sz="1150" b="0">
                <a:solidFill>
                  <a:srgbClr val="606772"/>
                </a:solidFill>
                <a:latin typeface="Arial"/>
              </a:rPr>
              <a:t> swaps every token; the choice is saved to localStorage and applied before first paint — no flash.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 · 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Before Synora appears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783080"/>
            <a:ext cx="5623560" cy="35147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623560" cy="35147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389245"/>
            <a:ext cx="5623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The Synora splash — logo, ring and wordmark.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8105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B09F95"/>
                </a:solidFill>
                <a:latin typeface="Arial"/>
              </a:rPr>
              <a:t>THE FLOW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2148840"/>
            <a:ext cx="475488" cy="47548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za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117" y="2262957"/>
            <a:ext cx="247253" cy="247253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479792" y="21305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Splash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43230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logo, ring &amp; wordmark animate in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2825496"/>
            <a:ext cx="475488" cy="47548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ov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117" y="2939613"/>
            <a:ext cx="247253" cy="247253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7479792" y="28072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Handover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31089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the splash fades and lifts away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3502152"/>
            <a:ext cx="475488" cy="47548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ayou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117" y="3616269"/>
            <a:ext cx="247253" cy="247253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7479792" y="348386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Landing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785615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the hero arrives underneath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0" y="4407408"/>
            <a:ext cx="4663440" cy="0"/>
          </a:xfrm>
          <a:prstGeom prst="line">
            <a:avLst/>
          </a:prstGeom>
          <a:ln w="1524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B09F95"/>
                </a:solidFill>
                <a:latin typeface="Arial"/>
              </a:rPr>
              <a:t>HOW IT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90118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55A50"/>
                </a:solidFill>
                <a:latin typeface="Courier New"/>
              </a:rPr>
              <a:t>CSS @keyframes  —  </a:t>
            </a:r>
            <a:r>
              <a:rPr sz="1100" b="0">
                <a:solidFill>
                  <a:srgbClr val="606772"/>
                </a:solidFill>
                <a:latin typeface="Arial"/>
              </a:rPr>
              <a:t>pure-CSS animation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03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55A50"/>
                </a:solidFill>
                <a:latin typeface="Courier New"/>
              </a:rPr>
              <a:t>JavaScript timing  —  </a:t>
            </a:r>
            <a:r>
              <a:rPr sz="1100" b="0">
                <a:solidFill>
                  <a:srgbClr val="606772"/>
                </a:solidFill>
                <a:latin typeface="Arial"/>
              </a:rPr>
              <a:t>shows ≥ 2000ms, then loader.remove()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70585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55A50"/>
                </a:solidFill>
                <a:latin typeface="Courier New"/>
              </a:rPr>
              <a:t>Reduced motion  —  </a:t>
            </a:r>
            <a:r>
              <a:rPr sz="1100" b="0">
                <a:solidFill>
                  <a:srgbClr val="606772"/>
                </a:solidFill>
                <a:latin typeface="Arial"/>
              </a:rPr>
              <a:t>honoured — 600ms, no animation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Making Synora 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>
                <a:solidFill>
                  <a:srgbClr val="606772"/>
                </a:solidFill>
                <a:latin typeface="Arial"/>
              </a:rPr>
              <a:t>HTML and CSS render the page — JavaScript is what makes it respond. Every click, keystroke and toggle runs code that updates the screen: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7" y="2670048"/>
            <a:ext cx="10234879" cy="91440"/>
          </a:xfrm>
          <a:prstGeom prst="roundRect">
            <a:avLst>
              <a:gd name="adj" fmla="val 50000"/>
            </a:avLst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2191473" y="2615184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4727333" y="2615184"/>
            <a:ext cx="201168" cy="201168"/>
          </a:xfrm>
          <a:prstGeom prst="triangl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63193" y="2615184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9799053" y="2615184"/>
            <a:ext cx="201168" cy="201168"/>
          </a:xfrm>
          <a:prstGeom prst="triangl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2331720"/>
            <a:ext cx="768096" cy="768096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ov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23" y="2516063"/>
            <a:ext cx="399409" cy="399409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-27432" y="3218687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You act</a:t>
            </a:r>
          </a:p>
        </p:txBody>
      </p:sp>
      <p:sp>
        <p:nvSpPr>
          <p:cNvPr id="25" name="Oval 24"/>
          <p:cNvSpPr/>
          <p:nvPr/>
        </p:nvSpPr>
        <p:spPr>
          <a:xfrm>
            <a:off x="3175939" y="2331720"/>
            <a:ext cx="768096" cy="768096"/>
          </a:xfrm>
          <a:prstGeom prst="ellipse">
            <a:avLst/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za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282" y="2516063"/>
            <a:ext cx="399409" cy="399409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2508427" y="3218687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Event fires</a:t>
            </a:r>
          </a:p>
        </p:txBody>
      </p:sp>
      <p:sp>
        <p:nvSpPr>
          <p:cNvPr id="28" name="Oval 27"/>
          <p:cNvSpPr/>
          <p:nvPr/>
        </p:nvSpPr>
        <p:spPr>
          <a:xfrm>
            <a:off x="5711799" y="2331720"/>
            <a:ext cx="768096" cy="768096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pu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142" y="2516063"/>
            <a:ext cx="399409" cy="399409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5044287" y="3218687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JS runs</a:t>
            </a:r>
          </a:p>
        </p:txBody>
      </p:sp>
      <p:sp>
        <p:nvSpPr>
          <p:cNvPr id="31" name="Oval 30"/>
          <p:cNvSpPr/>
          <p:nvPr/>
        </p:nvSpPr>
        <p:spPr>
          <a:xfrm>
            <a:off x="8247659" y="2331720"/>
            <a:ext cx="768096" cy="768096"/>
          </a:xfrm>
          <a:prstGeom prst="ellipse">
            <a:avLst/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git-branc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002" y="2516063"/>
            <a:ext cx="399409" cy="399409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7580147" y="3218687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DOM updates</a:t>
            </a:r>
          </a:p>
        </p:txBody>
      </p:sp>
      <p:sp>
        <p:nvSpPr>
          <p:cNvPr id="34" name="Oval 33"/>
          <p:cNvSpPr/>
          <p:nvPr/>
        </p:nvSpPr>
        <p:spPr>
          <a:xfrm>
            <a:off x="10783519" y="2331720"/>
            <a:ext cx="768096" cy="768096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ey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7862" y="2516063"/>
            <a:ext cx="399409" cy="399409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10116007" y="3218687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You see 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794760"/>
            <a:ext cx="3401568" cy="21259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tas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94760"/>
            <a:ext cx="3401568" cy="2125980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640080" y="5993892"/>
            <a:ext cx="3401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Tick a task → it completes and the counts drop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95063" y="3794760"/>
            <a:ext cx="3401568" cy="21259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attend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5063" y="3794760"/>
            <a:ext cx="3401568" cy="2125980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4395063" y="5993892"/>
            <a:ext cx="3401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Tap +/− → every percentage recomputes live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0047" y="3794760"/>
            <a:ext cx="3401568" cy="21259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dark_dash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0047" y="3794760"/>
            <a:ext cx="3401568" cy="2125980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8150047" y="5993892"/>
            <a:ext cx="3401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Toggle the theme → the whole app repaints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Fundamentals, mapped to Synora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737360"/>
            <a:ext cx="6583680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384" y="1883664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as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33" y="1984613"/>
            <a:ext cx="218724" cy="218724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389888" y="1737360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1737360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hold application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73736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55A50"/>
                </a:solidFill>
                <a:latin typeface="Courier New"/>
              </a:rPr>
              <a:t>state = { view, sort, query 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560320"/>
            <a:ext cx="6583680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6384" y="2706624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oo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33" y="2807573"/>
            <a:ext cx="218724" cy="218724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1389888" y="2560320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560320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reusable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56032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55A50"/>
                </a:solidFill>
                <a:latin typeface="Courier New"/>
              </a:rPr>
              <a:t>render()  ·  toggleComplete()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83279"/>
            <a:ext cx="6583680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6384" y="3529584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ayer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333" y="3630533"/>
            <a:ext cx="218724" cy="218724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1389888" y="3383279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Arrays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383279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lists of things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383279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55A50"/>
                </a:solidFill>
                <a:latin typeface="Courier New"/>
              </a:rPr>
              <a:t>tasks · subjects · 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206240"/>
            <a:ext cx="6583680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6384" y="4352544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ayou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333" y="4453493"/>
            <a:ext cx="218724" cy="218724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1389888" y="4206240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Objects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206240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structured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420624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55A50"/>
                </a:solidFill>
                <a:latin typeface="Courier New"/>
              </a:rPr>
              <a:t>{ id, title, priority, deadline 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029200"/>
            <a:ext cx="6583680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6384" y="5175504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refresh-cw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33" y="5276453"/>
            <a:ext cx="218724" cy="218724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1389888" y="5029200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Loops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5029200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render each item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5029200"/>
            <a:ext cx="2331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55A50"/>
                </a:solidFill>
                <a:latin typeface="Courier New"/>
              </a:rPr>
              <a:t>.map() · .filter() · .forEach()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173736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22252B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2011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C9B9AE"/>
                </a:solidFill>
                <a:latin typeface="Arial"/>
              </a:rPr>
              <a:t>ALL FIVE, ONE FUNCTION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2423160"/>
            <a:ext cx="3520440" cy="1955352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01583" y="257860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66175" y="257860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30767" y="257860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68511" y="2514600"/>
            <a:ext cx="24780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tasks.js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1583" y="2937967"/>
            <a:ext cx="3044952" cy="13203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050">
                <a:solidFill>
                  <a:srgbClr val="A9C3B0"/>
                </a:solidFill>
                <a:latin typeface="Courier New"/>
              </a:rPr>
              <a:t>function</a:t>
            </a:r>
            <a:r>
              <a:rPr sz="1050">
                <a:solidFill>
                  <a:srgbClr val="E7EAEE"/>
                </a:solidFill>
                <a:latin typeface="Courier New"/>
              </a:rPr>
              <a:t> filtered(){</a:t>
            </a:r>
          </a:p>
          <a:p>
            <a:pPr>
              <a:lnSpc>
                <a:spcPct val="128000"/>
              </a:lnSpc>
            </a:pPr>
            <a:r>
              <a:rPr sz="1050">
                <a:solidFill>
                  <a:srgbClr val="E7EAEE"/>
                </a:solidFill>
                <a:latin typeface="Courier New"/>
              </a:rPr>
              <a:t> items = all().</a:t>
            </a:r>
            <a:r>
              <a:rPr sz="1050">
                <a:solidFill>
                  <a:srgbClr val="D6C6B8"/>
                </a:solidFill>
                <a:latin typeface="Courier New"/>
              </a:rPr>
              <a:t>slice</a:t>
            </a:r>
            <a:r>
              <a:rPr sz="1050">
                <a:solidFill>
                  <a:srgbClr val="E7EAEE"/>
                </a:solidFill>
                <a:latin typeface="Courier New"/>
              </a:rPr>
              <a:t>();</a:t>
            </a:r>
          </a:p>
          <a:p>
            <a:pPr>
              <a:lnSpc>
                <a:spcPct val="128000"/>
              </a:lnSpc>
            </a:pPr>
            <a:r>
              <a:rPr sz="1050">
                <a:solidFill>
                  <a:srgbClr val="E7EAEE"/>
                </a:solidFill>
                <a:latin typeface="Courier New"/>
              </a:rPr>
              <a:t> items = items.</a:t>
            </a:r>
            <a:r>
              <a:rPr sz="1050">
                <a:solidFill>
                  <a:srgbClr val="D6C6B8"/>
                </a:solidFill>
                <a:latin typeface="Courier New"/>
              </a:rPr>
              <a:t>filter</a:t>
            </a:r>
            <a:r>
              <a:rPr sz="1050">
                <a:solidFill>
                  <a:srgbClr val="E7EAEE"/>
                </a:solidFill>
                <a:latin typeface="Courier New"/>
              </a:rPr>
              <a:t>(fn)</a:t>
            </a:r>
          </a:p>
          <a:p>
            <a:pPr>
              <a:lnSpc>
                <a:spcPct val="128000"/>
              </a:lnSpc>
            </a:pPr>
            <a:r>
              <a:rPr sz="1050">
                <a:solidFill>
                  <a:srgbClr val="E7EAEE"/>
                </a:solidFill>
                <a:latin typeface="Courier New"/>
              </a:rPr>
              <a:t>       .</a:t>
            </a:r>
            <a:r>
              <a:rPr sz="1050">
                <a:solidFill>
                  <a:srgbClr val="D6C6B8"/>
                </a:solidFill>
                <a:latin typeface="Courier New"/>
              </a:rPr>
              <a:t>sort</a:t>
            </a:r>
            <a:r>
              <a:rPr sz="1050">
                <a:solidFill>
                  <a:srgbClr val="E7EAEE"/>
                </a:solidFill>
                <a:latin typeface="Courier New"/>
              </a:rPr>
              <a:t>(byDate);</a:t>
            </a:r>
          </a:p>
          <a:p>
            <a:pPr>
              <a:lnSpc>
                <a:spcPct val="128000"/>
              </a:lnSpc>
            </a:pPr>
            <a:r>
              <a:rPr sz="1050">
                <a:solidFill>
                  <a:srgbClr val="A9C3B0"/>
                </a:solidFill>
                <a:latin typeface="Courier New"/>
              </a:rPr>
              <a:t> return</a:t>
            </a:r>
            <a:r>
              <a:rPr sz="1050">
                <a:solidFill>
                  <a:srgbClr val="E7EAEE"/>
                </a:solidFill>
                <a:latin typeface="Courier New"/>
              </a:rPr>
              <a:t> items;</a:t>
            </a:r>
          </a:p>
          <a:p>
            <a:pPr>
              <a:lnSpc>
                <a:spcPct val="128000"/>
              </a:lnSpc>
            </a:pPr>
            <a:r>
              <a:rPr sz="1050">
                <a:solidFill>
                  <a:srgbClr val="E7EAEE"/>
                </a:solidFill>
                <a:latin typeface="Courier New"/>
              </a:rPr>
              <a:t>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0749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A2AC"/>
                </a:solidFill>
                <a:latin typeface="Arial"/>
              </a:rPr>
              <a:t>Variables, functions, arrays, objects and loops — together in a few lines.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DOM — bridge between JS and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The page is a live tree of nodes: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847088"/>
            <a:ext cx="52120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2066543"/>
            <a:ext cx="47548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50" b="1">
                <a:solidFill>
                  <a:srgbClr val="22252B"/>
                </a:solidFill>
                <a:latin typeface="Courier New"/>
              </a:rPr>
              <a:t>document</a:t>
            </a:r>
          </a:p>
          <a:p>
            <a:pPr>
              <a:lnSpc>
                <a:spcPct val="150000"/>
              </a:lnSpc>
            </a:pPr>
            <a:r>
              <a:rPr sz="1150" b="0">
                <a:solidFill>
                  <a:srgbClr val="AEB6BC"/>
                </a:solidFill>
                <a:latin typeface="Courier New"/>
              </a:rPr>
              <a:t>└── </a:t>
            </a:r>
            <a:r>
              <a:rPr sz="1150" b="1">
                <a:solidFill>
                  <a:srgbClr val="455A50"/>
                </a:solidFill>
                <a:latin typeface="Courier New"/>
              </a:rPr>
              <a:t>main.page</a:t>
            </a:r>
          </a:p>
          <a:p>
            <a:pPr>
              <a:lnSpc>
                <a:spcPct val="150000"/>
              </a:lnSpc>
            </a:pPr>
            <a:r>
              <a:rPr sz="1150" b="0">
                <a:solidFill>
                  <a:srgbClr val="AEB6BC"/>
                </a:solidFill>
                <a:latin typeface="Courier New"/>
              </a:rPr>
              <a:t>    ├── </a:t>
            </a:r>
            <a:r>
              <a:rPr sz="1150" b="1">
                <a:solidFill>
                  <a:srgbClr val="455A50"/>
                </a:solidFill>
                <a:latin typeface="Courier New"/>
              </a:rPr>
              <a:t>section.toolbar</a:t>
            </a:r>
          </a:p>
          <a:p>
            <a:pPr>
              <a:lnSpc>
                <a:spcPct val="150000"/>
              </a:lnSpc>
            </a:pPr>
            <a:r>
              <a:rPr sz="1150" b="0">
                <a:solidFill>
                  <a:srgbClr val="AEB6BC"/>
                </a:solidFill>
                <a:latin typeface="Courier New"/>
              </a:rPr>
              <a:t>    │   └── </a:t>
            </a:r>
            <a:r>
              <a:rPr sz="1150" b="0">
                <a:solidFill>
                  <a:srgbClr val="606772"/>
                </a:solidFill>
                <a:latin typeface="Courier New"/>
              </a:rPr>
              <a:t>input[data-search]</a:t>
            </a:r>
          </a:p>
          <a:p>
            <a:pPr>
              <a:lnSpc>
                <a:spcPct val="150000"/>
              </a:lnSpc>
            </a:pPr>
            <a:r>
              <a:rPr sz="1150" b="0">
                <a:solidFill>
                  <a:srgbClr val="AEB6BC"/>
                </a:solidFill>
                <a:latin typeface="Courier New"/>
              </a:rPr>
              <a:t>    └── </a:t>
            </a:r>
            <a:r>
              <a:rPr sz="1150" b="1">
                <a:solidFill>
                  <a:srgbClr val="455A50"/>
                </a:solidFill>
                <a:latin typeface="Courier New"/>
              </a:rPr>
              <a:t>div[data-list]</a:t>
            </a:r>
          </a:p>
          <a:p>
            <a:pPr>
              <a:lnSpc>
                <a:spcPct val="150000"/>
              </a:lnSpc>
            </a:pPr>
            <a:r>
              <a:rPr sz="1150" b="0">
                <a:solidFill>
                  <a:srgbClr val="AEB6BC"/>
                </a:solidFill>
                <a:latin typeface="Courier New"/>
              </a:rPr>
              <a:t>        └── </a:t>
            </a:r>
            <a:r>
              <a:rPr sz="1150" b="0">
                <a:solidFill>
                  <a:srgbClr val="606772"/>
                </a:solidFill>
                <a:latin typeface="Courier New"/>
              </a:rPr>
              <a:t>div.trow</a:t>
            </a:r>
            <a:r>
              <a:rPr sz="1150" b="0">
                <a:solidFill>
                  <a:srgbClr val="A3AEB1"/>
                </a:solidFill>
                <a:latin typeface="Courier New"/>
              </a:rPr>
              <a:t>             one node per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24528"/>
            <a:ext cx="521208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20">
                <a:solidFill>
                  <a:srgbClr val="B09F95"/>
                </a:solidFill>
                <a:latin typeface="Arial"/>
              </a:rPr>
              <a:t>SELECTORS ACTUALLY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querySelector()</a:t>
            </a:r>
            <a:r>
              <a:rPr sz="1100" b="0">
                <a:solidFill>
                  <a:srgbClr val="A3AEB1"/>
                </a:solidFill>
                <a:latin typeface="Arial"/>
              </a:rPr>
              <a:t>   ×161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7550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querySelectorAll()</a:t>
            </a:r>
            <a:r>
              <a:rPr sz="1100" b="0">
                <a:solidFill>
                  <a:srgbClr val="A3AEB1"/>
                </a:solidFill>
                <a:latin typeface="Arial"/>
              </a:rPr>
              <a:t>   ×23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getElementById()</a:t>
            </a:r>
            <a:r>
              <a:rPr sz="1100" b="0">
                <a:solidFill>
                  <a:srgbClr val="A3AEB1"/>
                </a:solidFill>
                <a:latin typeface="Arial"/>
              </a:rPr>
              <a:t>   ×9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48132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JavaScript selects, reads and writes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920240"/>
            <a:ext cx="5321808" cy="1623730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01383" y="207568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65975" y="207568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0568" y="207568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8312" y="2011680"/>
            <a:ext cx="42793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scripts/tasks.js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3" y="2435047"/>
            <a:ext cx="4846320" cy="988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>
                <a:solidFill>
                  <a:srgbClr val="A9C3B0"/>
                </a:solidFill>
                <a:latin typeface="Courier New"/>
              </a:rPr>
              <a:t>var</a:t>
            </a:r>
            <a:r>
              <a:rPr sz="1150">
                <a:solidFill>
                  <a:srgbClr val="E7EAEE"/>
                </a:solidFill>
                <a:latin typeface="Courier New"/>
              </a:rPr>
              <a:t> root = document.</a:t>
            </a:r>
            <a:r>
              <a:rPr sz="1150">
                <a:solidFill>
                  <a:srgbClr val="D6C6B8"/>
                </a:solidFill>
                <a:latin typeface="Courier New"/>
              </a:rPr>
              <a:t>querySelector</a:t>
            </a:r>
            <a:r>
              <a:rPr sz="1150">
                <a:solidFill>
                  <a:srgbClr val="E7EAEE"/>
                </a:solidFill>
                <a:latin typeface="Courier New"/>
              </a:rPr>
              <a:t>(</a:t>
            </a:r>
            <a:r>
              <a:rPr sz="1150">
                <a:solidFill>
                  <a:srgbClr val="CBB69F"/>
                </a:solidFill>
                <a:latin typeface="Courier New"/>
              </a:rPr>
              <a:t>"[data-tasks-page]"</a:t>
            </a:r>
            <a:r>
              <a:rPr sz="1150">
                <a:solidFill>
                  <a:srgbClr val="E7EAEE"/>
                </a:solidFill>
                <a:latin typeface="Courier New"/>
              </a:rPr>
              <a:t>);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E7EAEE"/>
                </a:solidFill>
                <a:latin typeface="Courier New"/>
              </a:rPr>
              <a:t>root.</a:t>
            </a:r>
            <a:r>
              <a:rPr sz="1150">
                <a:solidFill>
                  <a:srgbClr val="D6C6B8"/>
                </a:solidFill>
                <a:latin typeface="Courier New"/>
              </a:rPr>
              <a:t>querySelectorAll</a:t>
            </a:r>
            <a:r>
              <a:rPr sz="1150">
                <a:solidFill>
                  <a:srgbClr val="E7EAEE"/>
                </a:solidFill>
                <a:latin typeface="Courier New"/>
              </a:rPr>
              <a:t>(</a:t>
            </a:r>
            <a:r>
              <a:rPr sz="1150">
                <a:solidFill>
                  <a:srgbClr val="CBB69F"/>
                </a:solidFill>
                <a:latin typeface="Courier New"/>
              </a:rPr>
              <a:t>"[data-view]"</a:t>
            </a:r>
            <a:r>
              <a:rPr sz="1150">
                <a:solidFill>
                  <a:srgbClr val="E7EAEE"/>
                </a:solidFill>
                <a:latin typeface="Courier New"/>
              </a:rPr>
              <a:t>).</a:t>
            </a:r>
            <a:r>
              <a:rPr sz="1150">
                <a:solidFill>
                  <a:srgbClr val="D6C6B8"/>
                </a:solidFill>
                <a:latin typeface="Courier New"/>
              </a:rPr>
              <a:t>forEach</a:t>
            </a:r>
            <a:r>
              <a:rPr sz="1150">
                <a:solidFill>
                  <a:srgbClr val="E7EAEE"/>
                </a:solidFill>
                <a:latin typeface="Courier New"/>
              </a:rPr>
              <a:t>(…);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E7EAEE"/>
                </a:solidFill>
                <a:latin typeface="Courier New"/>
              </a:rPr>
              <a:t>el.classList.</a:t>
            </a:r>
            <a:r>
              <a:rPr sz="1150">
                <a:solidFill>
                  <a:srgbClr val="D6C6B8"/>
                </a:solidFill>
                <a:latin typeface="Courier New"/>
              </a:rPr>
              <a:t>toggle</a:t>
            </a:r>
            <a:r>
              <a:rPr sz="1150">
                <a:solidFill>
                  <a:srgbClr val="E7EAEE"/>
                </a:solidFill>
                <a:latin typeface="Courier New"/>
              </a:rPr>
              <a:t>(</a:t>
            </a:r>
            <a:r>
              <a:rPr sz="1150">
                <a:solidFill>
                  <a:srgbClr val="CBB69F"/>
                </a:solidFill>
                <a:latin typeface="Courier New"/>
              </a:rPr>
              <a:t>"is-active"</a:t>
            </a:r>
            <a:r>
              <a:rPr sz="1150">
                <a:solidFill>
                  <a:srgbClr val="E7EAEE"/>
                </a:solidFill>
                <a:latin typeface="Courier New"/>
              </a:rPr>
              <a:t>, on);</a:t>
            </a:r>
            <a:r>
              <a:rPr sz="1150">
                <a:solidFill>
                  <a:srgbClr val="7C8590"/>
                </a:solidFill>
                <a:latin typeface="Courier New"/>
              </a:rPr>
              <a:t> // write CSS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E7EAEE"/>
                </a:solidFill>
                <a:latin typeface="Courier New"/>
              </a:rPr>
              <a:t>el.textContent = value;</a:t>
            </a:r>
            <a:r>
              <a:rPr sz="1150">
                <a:solidFill>
                  <a:srgbClr val="7C8590"/>
                </a:solidFill>
                <a:latin typeface="Courier New"/>
              </a:rPr>
              <a:t>            // write 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14800"/>
            <a:ext cx="532180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Select an element, then read or change its text, its classes (classList toggled ~35×) or its attributes — and the browser repaints instantly. The DOM is the object tree JavaScript reaches through to change what you see.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Building the interface dynamically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5" y="2002536"/>
            <a:ext cx="10289743" cy="91440"/>
          </a:xfrm>
          <a:prstGeom prst="roundRect">
            <a:avLst>
              <a:gd name="adj" fmla="val 50000"/>
            </a:avLst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5400000">
            <a:off x="2170899" y="1947672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720475" y="1947672"/>
            <a:ext cx="201168" cy="201168"/>
          </a:xfrm>
          <a:prstGeom prst="triangl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7270051" y="1947672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9819627" y="1947672"/>
            <a:ext cx="201168" cy="201168"/>
          </a:xfrm>
          <a:prstGeom prst="triangl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79" y="1691640"/>
            <a:ext cx="713232" cy="713232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atabas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5" y="1862815"/>
            <a:ext cx="370880" cy="3708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-54864" y="252374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Data</a:t>
            </a:r>
          </a:p>
        </p:txBody>
      </p:sp>
      <p:sp>
        <p:nvSpPr>
          <p:cNvPr id="24" name="Oval 23"/>
          <p:cNvSpPr/>
          <p:nvPr/>
        </p:nvSpPr>
        <p:spPr>
          <a:xfrm>
            <a:off x="3189655" y="1691640"/>
            <a:ext cx="713232" cy="713232"/>
          </a:xfrm>
          <a:prstGeom prst="ellipse">
            <a:avLst/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pu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831" y="1862815"/>
            <a:ext cx="370880" cy="370880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2494711" y="252374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JavaScript</a:t>
            </a:r>
          </a:p>
        </p:txBody>
      </p:sp>
      <p:sp>
        <p:nvSpPr>
          <p:cNvPr id="27" name="Oval 26"/>
          <p:cNvSpPr/>
          <p:nvPr/>
        </p:nvSpPr>
        <p:spPr>
          <a:xfrm>
            <a:off x="5739231" y="1691640"/>
            <a:ext cx="713232" cy="713232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d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407" y="1862815"/>
            <a:ext cx="370880" cy="370880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5044287" y="252374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createElement</a:t>
            </a:r>
          </a:p>
        </p:txBody>
      </p:sp>
      <p:sp>
        <p:nvSpPr>
          <p:cNvPr id="30" name="Oval 29"/>
          <p:cNvSpPr/>
          <p:nvPr/>
        </p:nvSpPr>
        <p:spPr>
          <a:xfrm>
            <a:off x="8288807" y="1691640"/>
            <a:ext cx="713232" cy="713232"/>
          </a:xfrm>
          <a:prstGeom prst="ellipse">
            <a:avLst/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git-branc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983" y="1862815"/>
            <a:ext cx="370880" cy="37088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7593863" y="252374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appendChild</a:t>
            </a:r>
          </a:p>
        </p:txBody>
      </p:sp>
      <p:sp>
        <p:nvSpPr>
          <p:cNvPr id="33" name="Oval 32"/>
          <p:cNvSpPr/>
          <p:nvPr/>
        </p:nvSpPr>
        <p:spPr>
          <a:xfrm>
            <a:off x="10838383" y="1691640"/>
            <a:ext cx="713232" cy="713232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ayou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9558" y="1862815"/>
            <a:ext cx="370880" cy="37088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10143439" y="252374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Rendered UI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3017520"/>
            <a:ext cx="5760720" cy="1896831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7824" y="317296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2415" y="317296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7007" y="317296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44752" y="3108960"/>
            <a:ext cx="471830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scripts/app.js — a node, born and removed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" y="3532327"/>
            <a:ext cx="5285231" cy="1261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>
                <a:solidFill>
                  <a:srgbClr val="A9C3B0"/>
                </a:solidFill>
                <a:latin typeface="Courier New"/>
              </a:rPr>
              <a:t>var</a:t>
            </a:r>
            <a:r>
              <a:rPr sz="1200">
                <a:solidFill>
                  <a:srgbClr val="E7EAEE"/>
                </a:solidFill>
                <a:latin typeface="Courier New"/>
              </a:rPr>
              <a:t> el = document.</a:t>
            </a:r>
            <a:r>
              <a:rPr sz="1200">
                <a:solidFill>
                  <a:srgbClr val="D6C6B8"/>
                </a:solidFill>
                <a:latin typeface="Courier New"/>
              </a:rPr>
              <a:t>createElement</a:t>
            </a:r>
            <a:r>
              <a:rPr sz="1200">
                <a:solidFill>
                  <a:srgbClr val="E7EAEE"/>
                </a:solidFill>
                <a:latin typeface="Courier New"/>
              </a:rPr>
              <a:t>(</a:t>
            </a:r>
            <a:r>
              <a:rPr sz="1200">
                <a:solidFill>
                  <a:srgbClr val="CBB69F"/>
                </a:solidFill>
                <a:latin typeface="Courier New"/>
              </a:rPr>
              <a:t>"div"</a:t>
            </a:r>
            <a:r>
              <a:rPr sz="1200">
                <a:solidFill>
                  <a:srgbClr val="E7EAEE"/>
                </a:solidFill>
                <a:latin typeface="Courier New"/>
              </a:rPr>
              <a:t>);</a:t>
            </a:r>
            <a:r>
              <a:rPr sz="1200">
                <a:solidFill>
                  <a:srgbClr val="7C8590"/>
                </a:solidFill>
                <a:latin typeface="Courier New"/>
              </a:rPr>
              <a:t>  // 1 create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E7EAEE"/>
                </a:solidFill>
                <a:latin typeface="Courier New"/>
              </a:rPr>
              <a:t>el.className = </a:t>
            </a:r>
            <a:r>
              <a:rPr sz="1200">
                <a:solidFill>
                  <a:srgbClr val="CBB69F"/>
                </a:solidFill>
                <a:latin typeface="Courier New"/>
              </a:rPr>
              <a:t>"toast"</a:t>
            </a:r>
            <a:r>
              <a:rPr sz="120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E7EAEE"/>
                </a:solidFill>
                <a:latin typeface="Courier New"/>
              </a:rPr>
              <a:t>el.</a:t>
            </a:r>
            <a:r>
              <a:rPr sz="1200">
                <a:solidFill>
                  <a:srgbClr val="D6C6B8"/>
                </a:solidFill>
                <a:latin typeface="Courier New"/>
              </a:rPr>
              <a:t>setAttribute</a:t>
            </a:r>
            <a:r>
              <a:rPr sz="1200">
                <a:solidFill>
                  <a:srgbClr val="E7EAEE"/>
                </a:solidFill>
                <a:latin typeface="Courier New"/>
              </a:rPr>
              <a:t>(</a:t>
            </a:r>
            <a:r>
              <a:rPr sz="1200">
                <a:solidFill>
                  <a:srgbClr val="CBB69F"/>
                </a:solidFill>
                <a:latin typeface="Courier New"/>
              </a:rPr>
              <a:t>"role"</a:t>
            </a:r>
            <a:r>
              <a:rPr sz="1200">
                <a:solidFill>
                  <a:srgbClr val="E7EAEE"/>
                </a:solidFill>
                <a:latin typeface="Courier New"/>
              </a:rPr>
              <a:t>, </a:t>
            </a:r>
            <a:r>
              <a:rPr sz="1200">
                <a:solidFill>
                  <a:srgbClr val="CBB69F"/>
                </a:solidFill>
                <a:latin typeface="Courier New"/>
              </a:rPr>
              <a:t>"status"</a:t>
            </a:r>
            <a:r>
              <a:rPr sz="1200">
                <a:solidFill>
                  <a:srgbClr val="E7EAEE"/>
                </a:solidFill>
                <a:latin typeface="Courier New"/>
              </a:rPr>
              <a:t>);</a:t>
            </a:r>
            <a:r>
              <a:rPr sz="1200">
                <a:solidFill>
                  <a:srgbClr val="7C8590"/>
                </a:solidFill>
                <a:latin typeface="Courier New"/>
              </a:rPr>
              <a:t> // 2 config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E7EAEE"/>
                </a:solidFill>
                <a:latin typeface="Courier New"/>
              </a:rPr>
              <a:t>region.</a:t>
            </a:r>
            <a:r>
              <a:rPr sz="1200">
                <a:solidFill>
                  <a:srgbClr val="D6C6B8"/>
                </a:solidFill>
                <a:latin typeface="Courier New"/>
              </a:rPr>
              <a:t>appendChild</a:t>
            </a:r>
            <a:r>
              <a:rPr sz="1200">
                <a:solidFill>
                  <a:srgbClr val="E7EAEE"/>
                </a:solidFill>
                <a:latin typeface="Courier New"/>
              </a:rPr>
              <a:t>(el);</a:t>
            </a:r>
            <a:r>
              <a:rPr sz="1200">
                <a:solidFill>
                  <a:srgbClr val="7C8590"/>
                </a:solidFill>
                <a:latin typeface="Courier New"/>
              </a:rPr>
              <a:t>           // 3 insert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E7EAEE"/>
                </a:solidFill>
                <a:latin typeface="Courier New"/>
              </a:rPr>
              <a:t>…  el.</a:t>
            </a:r>
            <a:r>
              <a:rPr sz="1200">
                <a:solidFill>
                  <a:srgbClr val="D6C6B8"/>
                </a:solidFill>
                <a:latin typeface="Courier New"/>
              </a:rPr>
              <a:t>remove</a:t>
            </a:r>
            <a:r>
              <a:rPr sz="1200">
                <a:solidFill>
                  <a:srgbClr val="E7EAEE"/>
                </a:solidFill>
                <a:latin typeface="Courier New"/>
              </a:rPr>
              <a:t>();</a:t>
            </a:r>
            <a:r>
              <a:rPr sz="1200">
                <a:solidFill>
                  <a:srgbClr val="7C8590"/>
                </a:solidFill>
                <a:latin typeface="Courier New"/>
              </a:rPr>
              <a:t>                   // 4 delete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07492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606772"/>
                </a:solidFill>
                <a:latin typeface="Arial"/>
              </a:rPr>
              <a:t>Every task row is built from data and rendered into the list the same way — createElement ×18, appendChild ×11, element.remove() ×17.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3017520"/>
            <a:ext cx="4892040" cy="30575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as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017520"/>
            <a:ext cx="4892040" cy="3057524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6675120" y="6148196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Tasks — a list rendered node by node.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Event handling &amp; delegation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" y="1856232"/>
            <a:ext cx="10344607" cy="91440"/>
          </a:xfrm>
          <a:prstGeom prst="roundRect">
            <a:avLst>
              <a:gd name="adj" fmla="val 50000"/>
            </a:avLst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5400000">
            <a:off x="2150325" y="1801368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713617" y="1801368"/>
            <a:ext cx="201168" cy="201168"/>
          </a:xfrm>
          <a:prstGeom prst="triangl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7276909" y="1801368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9840201" y="1801368"/>
            <a:ext cx="201168" cy="201168"/>
          </a:xfrm>
          <a:prstGeom prst="triangl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1572768"/>
            <a:ext cx="658368" cy="65836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ov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8" y="1730776"/>
            <a:ext cx="342351" cy="342351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-82295" y="23500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You act</a:t>
            </a:r>
          </a:p>
        </p:txBody>
      </p:sp>
      <p:sp>
        <p:nvSpPr>
          <p:cNvPr id="24" name="Oval 23"/>
          <p:cNvSpPr/>
          <p:nvPr/>
        </p:nvSpPr>
        <p:spPr>
          <a:xfrm>
            <a:off x="3203371" y="1572768"/>
            <a:ext cx="658368" cy="658368"/>
          </a:xfrm>
          <a:prstGeom prst="ellipse">
            <a:avLst/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za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380" y="1730776"/>
            <a:ext cx="342351" cy="342351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2480995" y="23500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Event fires</a:t>
            </a:r>
          </a:p>
        </p:txBody>
      </p:sp>
      <p:sp>
        <p:nvSpPr>
          <p:cNvPr id="27" name="Oval 26"/>
          <p:cNvSpPr/>
          <p:nvPr/>
        </p:nvSpPr>
        <p:spPr>
          <a:xfrm>
            <a:off x="5766663" y="1572768"/>
            <a:ext cx="658368" cy="65836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d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671" y="1730776"/>
            <a:ext cx="342351" cy="342351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5044287" y="23500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addEventListener</a:t>
            </a:r>
          </a:p>
        </p:txBody>
      </p:sp>
      <p:sp>
        <p:nvSpPr>
          <p:cNvPr id="30" name="Oval 29"/>
          <p:cNvSpPr/>
          <p:nvPr/>
        </p:nvSpPr>
        <p:spPr>
          <a:xfrm>
            <a:off x="8329955" y="1572768"/>
            <a:ext cx="658368" cy="658368"/>
          </a:xfrm>
          <a:prstGeom prst="ellipse">
            <a:avLst/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pu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963" y="1730776"/>
            <a:ext cx="342351" cy="342351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7607579" y="23500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Handler runs</a:t>
            </a:r>
          </a:p>
        </p:txBody>
      </p:sp>
      <p:sp>
        <p:nvSpPr>
          <p:cNvPr id="33" name="Oval 32"/>
          <p:cNvSpPr/>
          <p:nvPr/>
        </p:nvSpPr>
        <p:spPr>
          <a:xfrm>
            <a:off x="10893247" y="1572768"/>
            <a:ext cx="658368" cy="65836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git-bra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1255" y="1730776"/>
            <a:ext cx="342351" cy="342351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10170871" y="23500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DOM updates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2880360"/>
            <a:ext cx="5943600" cy="1848063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7824" y="303580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2415" y="303580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7007" y="303580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44752" y="2971800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scripts/tasks.js — event delegation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" y="3395167"/>
            <a:ext cx="5468112" cy="1213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>
                <a:solidFill>
                  <a:srgbClr val="7C8590"/>
                </a:solidFill>
                <a:latin typeface="Courier New"/>
              </a:rPr>
              <a:t>// ONE listener handles every task row (delegation)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E7EAEE"/>
                </a:solidFill>
                <a:latin typeface="Courier New"/>
              </a:rPr>
              <a:t>container.</a:t>
            </a:r>
            <a:r>
              <a:rPr sz="1150">
                <a:solidFill>
                  <a:srgbClr val="D6C6B8"/>
                </a:solidFill>
                <a:latin typeface="Courier New"/>
              </a:rPr>
              <a:t>addEventListener</a:t>
            </a:r>
            <a:r>
              <a:rPr sz="1150">
                <a:solidFill>
                  <a:srgbClr val="E7EAEE"/>
                </a:solidFill>
                <a:latin typeface="Courier New"/>
              </a:rPr>
              <a:t>(</a:t>
            </a:r>
            <a:r>
              <a:rPr sz="1150">
                <a:solidFill>
                  <a:srgbClr val="CBB69F"/>
                </a:solidFill>
                <a:latin typeface="Courier New"/>
              </a:rPr>
              <a:t>"click"</a:t>
            </a:r>
            <a:r>
              <a:rPr sz="1150">
                <a:solidFill>
                  <a:srgbClr val="E7EAEE"/>
                </a:solidFill>
                <a:latin typeface="Courier New"/>
              </a:rPr>
              <a:t>, </a:t>
            </a:r>
            <a:r>
              <a:rPr sz="1150">
                <a:solidFill>
                  <a:srgbClr val="A9C3B0"/>
                </a:solidFill>
                <a:latin typeface="Courier New"/>
              </a:rPr>
              <a:t>function</a:t>
            </a:r>
            <a:r>
              <a:rPr sz="1150">
                <a:solidFill>
                  <a:srgbClr val="E7EAEE"/>
                </a:solidFill>
                <a:latin typeface="Courier New"/>
              </a:rPr>
              <a:t>(e){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A9C3B0"/>
                </a:solidFill>
                <a:latin typeface="Courier New"/>
              </a:rPr>
              <a:t>  var</a:t>
            </a:r>
            <a:r>
              <a:rPr sz="1150">
                <a:solidFill>
                  <a:srgbClr val="E7EAEE"/>
                </a:solidFill>
                <a:latin typeface="Courier New"/>
              </a:rPr>
              <a:t> t = e.target.</a:t>
            </a:r>
            <a:r>
              <a:rPr sz="1150">
                <a:solidFill>
                  <a:srgbClr val="D6C6B8"/>
                </a:solidFill>
                <a:latin typeface="Courier New"/>
              </a:rPr>
              <a:t>closest</a:t>
            </a:r>
            <a:r>
              <a:rPr sz="1150">
                <a:solidFill>
                  <a:srgbClr val="E7EAEE"/>
                </a:solidFill>
                <a:latin typeface="Courier New"/>
              </a:rPr>
              <a:t>(</a:t>
            </a:r>
            <a:r>
              <a:rPr sz="1150">
                <a:solidFill>
                  <a:srgbClr val="CBB69F"/>
                </a:solidFill>
                <a:latin typeface="Courier New"/>
              </a:rPr>
              <a:t>"[data-toggle]"</a:t>
            </a:r>
            <a:r>
              <a:rPr sz="1150">
                <a:solidFill>
                  <a:srgbClr val="E7EAEE"/>
                </a:solidFill>
                <a:latin typeface="Courier New"/>
              </a:rPr>
              <a:t>);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A9C3B0"/>
                </a:solidFill>
                <a:latin typeface="Courier New"/>
              </a:rPr>
              <a:t>  if</a:t>
            </a:r>
            <a:r>
              <a:rPr sz="1150">
                <a:solidFill>
                  <a:srgbClr val="E7EAEE"/>
                </a:solidFill>
                <a:latin typeface="Courier New"/>
              </a:rPr>
              <a:t> (t) { toggleComplete(t…); rerender(); }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E7EAEE"/>
                </a:solidFill>
                <a:latin typeface="Courier New"/>
              </a:rPr>
              <a:t>});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2651760"/>
            <a:ext cx="365760" cy="36576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heck-circl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1462" y="2739542"/>
            <a:ext cx="190195" cy="190195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7059168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addEventListener  </a:t>
            </a:r>
            <a:r>
              <a:rPr sz="1050" b="0">
                <a:solidFill>
                  <a:srgbClr val="606772"/>
                </a:solidFill>
                <a:latin typeface="Arial"/>
              </a:rPr>
              <a:t>used ~93× across the app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3200400"/>
            <a:ext cx="365760" cy="36576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heck-circl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1462" y="3288182"/>
            <a:ext cx="190195" cy="190195"/>
          </a:xfrm>
          <a:prstGeom prst="rect">
            <a:avLst/>
          </a:prstGeom>
          <a:effectLst/>
        </p:spPr>
      </p:pic>
      <p:sp>
        <p:nvSpPr>
          <p:cNvPr id="47" name="TextBox 46"/>
          <p:cNvSpPr txBox="1"/>
          <p:nvPr/>
        </p:nvSpPr>
        <p:spPr>
          <a:xfrm>
            <a:off x="7059168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Event delegation  </a:t>
            </a:r>
            <a:r>
              <a:rPr sz="1050" b="0">
                <a:solidFill>
                  <a:srgbClr val="606772"/>
                </a:solidFill>
                <a:latin typeface="Arial"/>
              </a:rPr>
              <a:t>used — .closest() in ~28 handlers</a:t>
            </a:r>
          </a:p>
        </p:txBody>
      </p:sp>
      <p:sp>
        <p:nvSpPr>
          <p:cNvPr id="48" name="Oval 47"/>
          <p:cNvSpPr/>
          <p:nvPr/>
        </p:nvSpPr>
        <p:spPr>
          <a:xfrm>
            <a:off x="6583680" y="3749039"/>
            <a:ext cx="365760" cy="36576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check-circl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1462" y="3836822"/>
            <a:ext cx="190195" cy="190195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7059168" y="37490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Bubbling  </a:t>
            </a:r>
            <a:r>
              <a:rPr sz="1050" b="0">
                <a:solidFill>
                  <a:srgbClr val="606772"/>
                </a:solidFill>
                <a:latin typeface="Arial"/>
              </a:rPr>
              <a:t>used — clicks bubble to the parent list</a:t>
            </a:r>
          </a:p>
        </p:txBody>
      </p:sp>
      <p:sp>
        <p:nvSpPr>
          <p:cNvPr id="51" name="Oval 50"/>
          <p:cNvSpPr/>
          <p:nvPr/>
        </p:nvSpPr>
        <p:spPr>
          <a:xfrm>
            <a:off x="6583680" y="4297679"/>
            <a:ext cx="365760" cy="36576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heck-circl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1462" y="4385462"/>
            <a:ext cx="190195" cy="190195"/>
          </a:xfrm>
          <a:prstGeom prst="rect">
            <a:avLst/>
          </a:prstGeom>
          <a:effectLst/>
        </p:spPr>
      </p:pic>
      <p:sp>
        <p:nvSpPr>
          <p:cNvPr id="53" name="TextBox 52"/>
          <p:cNvSpPr txBox="1"/>
          <p:nvPr/>
        </p:nvSpPr>
        <p:spPr>
          <a:xfrm>
            <a:off x="7059168" y="429767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preventDefault  </a:t>
            </a:r>
            <a:r>
              <a:rPr sz="1050" b="0">
                <a:solidFill>
                  <a:srgbClr val="606772"/>
                </a:solidFill>
                <a:latin typeface="Arial"/>
              </a:rPr>
              <a:t>used — forms &amp; links (~11)</a:t>
            </a:r>
          </a:p>
        </p:txBody>
      </p:sp>
      <p:sp>
        <p:nvSpPr>
          <p:cNvPr id="54" name="Oval 53"/>
          <p:cNvSpPr/>
          <p:nvPr/>
        </p:nvSpPr>
        <p:spPr>
          <a:xfrm>
            <a:off x="6583680" y="4846319"/>
            <a:ext cx="365760" cy="365760"/>
          </a:xfrm>
          <a:prstGeom prst="ellipse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alert-triangle-sl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1462" y="4934102"/>
            <a:ext cx="190195" cy="190195"/>
          </a:xfrm>
          <a:prstGeom prst="rect">
            <a:avLst/>
          </a:prstGeom>
          <a:effectLst/>
        </p:spPr>
      </p:pic>
      <p:sp>
        <p:nvSpPr>
          <p:cNvPr id="56" name="TextBox 55"/>
          <p:cNvSpPr txBox="1"/>
          <p:nvPr/>
        </p:nvSpPr>
        <p:spPr>
          <a:xfrm>
            <a:off x="7059168" y="48463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Explicit capturing  </a:t>
            </a:r>
            <a:r>
              <a:rPr sz="1050" b="0" i="1">
                <a:solidFill>
                  <a:srgbClr val="606772"/>
                </a:solidFill>
                <a:latin typeface="Arial"/>
              </a:rPr>
              <a:t>concept only — not a pattern we use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55321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A3AEB1"/>
                </a:solidFill>
                <a:latin typeface="Arial"/>
              </a:rPr>
              <a:t>Rows re-render constantly, so one durable listener on the parent beats binding one per button.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Forms, validation &amp; interaction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481328"/>
            <a:ext cx="5532120" cy="345757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in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1328"/>
            <a:ext cx="5532120" cy="3457574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07492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Sign-in / sign-up validate on submit and clear errors as you type.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151790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hield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627631"/>
            <a:ext cx="237744" cy="23774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040880" y="151790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HTML attributes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1051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required, type=email, minlength — the browser's first check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234086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-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450592"/>
            <a:ext cx="237744" cy="237744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7040880" y="234086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JavaScript on 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63347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preventDefault(), trim, regex, friendly inline errors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316382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efresh-cw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273552"/>
            <a:ext cx="237744" cy="237744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7040880" y="316382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Live error clearing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45643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the message clears the moment the field is fixed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114800"/>
            <a:ext cx="5120640" cy="1799295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84264" y="427024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48855" y="427024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13448" y="427024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4206240"/>
            <a:ext cx="40782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scripts/auth.js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84264" y="4629607"/>
            <a:ext cx="4645152" cy="1164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00">
                <a:solidFill>
                  <a:srgbClr val="E7EAEE"/>
                </a:solidFill>
                <a:latin typeface="Courier New"/>
              </a:rPr>
              <a:t>form.</a:t>
            </a:r>
            <a:r>
              <a:rPr sz="1100">
                <a:solidFill>
                  <a:srgbClr val="D6C6B8"/>
                </a:solidFill>
                <a:latin typeface="Courier New"/>
              </a:rPr>
              <a:t>addEventListener</a:t>
            </a:r>
            <a:r>
              <a:rPr sz="1100">
                <a:solidFill>
                  <a:srgbClr val="E7EAEE"/>
                </a:solidFill>
                <a:latin typeface="Courier New"/>
              </a:rPr>
              <a:t>(</a:t>
            </a:r>
            <a:r>
              <a:rPr sz="1100">
                <a:solidFill>
                  <a:srgbClr val="CBB69F"/>
                </a:solidFill>
                <a:latin typeface="Courier New"/>
              </a:rPr>
              <a:t>"submit"</a:t>
            </a:r>
            <a:r>
              <a:rPr sz="1100">
                <a:solidFill>
                  <a:srgbClr val="E7EAEE"/>
                </a:solidFill>
                <a:latin typeface="Courier New"/>
              </a:rPr>
              <a:t>, </a:t>
            </a:r>
            <a:r>
              <a:rPr sz="1100">
                <a:solidFill>
                  <a:srgbClr val="A9C3B0"/>
                </a:solidFill>
                <a:latin typeface="Courier New"/>
              </a:rPr>
              <a:t>function</a:t>
            </a:r>
            <a:r>
              <a:rPr sz="1100">
                <a:solidFill>
                  <a:srgbClr val="E7EAEE"/>
                </a:solidFill>
                <a:latin typeface="Courier New"/>
              </a:rPr>
              <a:t>(e){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E7EAEE"/>
                </a:solidFill>
                <a:latin typeface="Courier New"/>
              </a:rPr>
              <a:t>  e.</a:t>
            </a:r>
            <a:r>
              <a:rPr sz="1100">
                <a:solidFill>
                  <a:srgbClr val="D6C6B8"/>
                </a:solidFill>
                <a:latin typeface="Courier New"/>
              </a:rPr>
              <a:t>preventDefault</a:t>
            </a:r>
            <a:r>
              <a:rPr sz="1100">
                <a:solidFill>
                  <a:srgbClr val="E7EAEE"/>
                </a:solidFill>
                <a:latin typeface="Courier New"/>
              </a:rPr>
              <a:t>();</a:t>
            </a:r>
            <a:r>
              <a:rPr sz="1100">
                <a:solidFill>
                  <a:srgbClr val="7C8590"/>
                </a:solidFill>
                <a:latin typeface="Courier New"/>
              </a:rPr>
              <a:t>            // stop native submit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A9C3B0"/>
                </a:solidFill>
                <a:latin typeface="Courier New"/>
              </a:rPr>
              <a:t>  if</a:t>
            </a:r>
            <a:r>
              <a:rPr sz="1100">
                <a:solidFill>
                  <a:srgbClr val="E7EAEE"/>
                </a:solidFill>
                <a:latin typeface="Courier New"/>
              </a:rPr>
              <a:t> (!EMAIL_RE.</a:t>
            </a:r>
            <a:r>
              <a:rPr sz="1100">
                <a:solidFill>
                  <a:srgbClr val="D6C6B8"/>
                </a:solidFill>
                <a:latin typeface="Courier New"/>
              </a:rPr>
              <a:t>test</a:t>
            </a:r>
            <a:r>
              <a:rPr sz="1100">
                <a:solidFill>
                  <a:srgbClr val="E7EAEE"/>
                </a:solidFill>
                <a:latin typeface="Courier New"/>
              </a:rPr>
              <a:t>(email))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E7EAEE"/>
                </a:solidFill>
                <a:latin typeface="Courier New"/>
              </a:rPr>
              <a:t>    setError(</a:t>
            </a:r>
            <a:r>
              <a:rPr sz="1100">
                <a:solidFill>
                  <a:srgbClr val="CBB69F"/>
                </a:solidFill>
                <a:latin typeface="Courier New"/>
              </a:rPr>
              <a:t>"email"</a:t>
            </a:r>
            <a:r>
              <a:rPr sz="1100">
                <a:solidFill>
                  <a:srgbClr val="E7EAEE"/>
                </a:solidFill>
                <a:latin typeface="Courier New"/>
              </a:rPr>
              <a:t>, </a:t>
            </a:r>
            <a:r>
              <a:rPr sz="1100">
                <a:solidFill>
                  <a:srgbClr val="CBB69F"/>
                </a:solidFill>
                <a:latin typeface="Courier New"/>
              </a:rPr>
              <a:t>"Check your email."</a:t>
            </a:r>
            <a:r>
              <a:rPr sz="1100">
                <a:solidFill>
                  <a:srgbClr val="E7EAEE"/>
                </a:solidFill>
                <a:latin typeface="Courier New"/>
              </a:rPr>
              <a:t>);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E7EAEE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Data &amp; persistence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" y="1947672"/>
            <a:ext cx="7900415" cy="91440"/>
          </a:xfrm>
          <a:prstGeom prst="roundRect">
            <a:avLst>
              <a:gd name="adj" fmla="val 50000"/>
            </a:avLst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5400000">
            <a:off x="2188464" y="1892808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791455" y="1892808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7394447" y="1892808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1645920"/>
            <a:ext cx="694944" cy="694944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ayou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66" y="1812706"/>
            <a:ext cx="361370" cy="361370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-64007" y="245973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User data</a:t>
            </a:r>
          </a:p>
        </p:txBody>
      </p:sp>
      <p:sp>
        <p:nvSpPr>
          <p:cNvPr id="23" name="Oval 22"/>
          <p:cNvSpPr/>
          <p:nvPr/>
        </p:nvSpPr>
        <p:spPr>
          <a:xfrm>
            <a:off x="3243072" y="1645920"/>
            <a:ext cx="694944" cy="694944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ay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858" y="1812706"/>
            <a:ext cx="361370" cy="361370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2538983" y="245973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JS objects</a:t>
            </a:r>
          </a:p>
        </p:txBody>
      </p:sp>
      <p:sp>
        <p:nvSpPr>
          <p:cNvPr id="26" name="Oval 25"/>
          <p:cNvSpPr/>
          <p:nvPr/>
        </p:nvSpPr>
        <p:spPr>
          <a:xfrm>
            <a:off x="5846063" y="1645920"/>
            <a:ext cx="694944" cy="694944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d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850" y="1812706"/>
            <a:ext cx="361370" cy="36137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5141976" y="245973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JSON</a:t>
            </a:r>
          </a:p>
        </p:txBody>
      </p:sp>
      <p:sp>
        <p:nvSpPr>
          <p:cNvPr id="29" name="Oval 28"/>
          <p:cNvSpPr/>
          <p:nvPr/>
        </p:nvSpPr>
        <p:spPr>
          <a:xfrm>
            <a:off x="8449055" y="1645920"/>
            <a:ext cx="694944" cy="694944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atabas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5842" y="1812706"/>
            <a:ext cx="361370" cy="36137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7744967" y="245973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localStorage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17373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A3AEB1"/>
                </a:solidFill>
                <a:latin typeface="Arial"/>
              </a:rPr>
              <a:t>…restored on every refresh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2971800"/>
            <a:ext cx="5852160" cy="1848063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7824" y="312724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2415" y="312724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07007" y="312724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44752" y="3063240"/>
            <a:ext cx="4809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scripts/storage.js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3486607"/>
            <a:ext cx="5376672" cy="1213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>
                <a:solidFill>
                  <a:srgbClr val="E7EAEE"/>
                </a:solidFill>
                <a:latin typeface="Courier New"/>
              </a:rPr>
              <a:t>store.</a:t>
            </a:r>
            <a:r>
              <a:rPr sz="1150">
                <a:solidFill>
                  <a:srgbClr val="D6C6B8"/>
                </a:solidFill>
                <a:latin typeface="Courier New"/>
              </a:rPr>
              <a:t>set</a:t>
            </a:r>
            <a:r>
              <a:rPr sz="1150">
                <a:solidFill>
                  <a:srgbClr val="E7EAEE"/>
                </a:solidFill>
                <a:latin typeface="Courier New"/>
              </a:rPr>
              <a:t>(</a:t>
            </a:r>
            <a:r>
              <a:rPr sz="1150">
                <a:solidFill>
                  <a:srgbClr val="CBB69F"/>
                </a:solidFill>
                <a:latin typeface="Courier New"/>
              </a:rPr>
              <a:t>"tasks"</a:t>
            </a:r>
            <a:r>
              <a:rPr sz="1150">
                <a:solidFill>
                  <a:srgbClr val="E7EAEE"/>
                </a:solidFill>
                <a:latin typeface="Courier New"/>
              </a:rPr>
              <a:t>, tasks);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E7EAEE"/>
                </a:solidFill>
                <a:latin typeface="Courier New"/>
              </a:rPr>
              <a:t>  → localStorage.</a:t>
            </a:r>
            <a:r>
              <a:rPr sz="1150">
                <a:solidFill>
                  <a:srgbClr val="D6C6B8"/>
                </a:solidFill>
                <a:latin typeface="Courier New"/>
              </a:rPr>
              <a:t>setItem</a:t>
            </a:r>
            <a:r>
              <a:rPr sz="1150">
                <a:solidFill>
                  <a:srgbClr val="E7EAEE"/>
                </a:solidFill>
                <a:latin typeface="Courier New"/>
              </a:rPr>
              <a:t>(key, </a:t>
            </a:r>
            <a:r>
              <a:rPr sz="1150">
                <a:solidFill>
                  <a:srgbClr val="D6C6B8"/>
                </a:solidFill>
                <a:latin typeface="Courier New"/>
              </a:rPr>
              <a:t>JSON</a:t>
            </a:r>
            <a:r>
              <a:rPr sz="1150">
                <a:solidFill>
                  <a:srgbClr val="E7EAEE"/>
                </a:solidFill>
                <a:latin typeface="Courier New"/>
              </a:rPr>
              <a:t>.</a:t>
            </a:r>
            <a:r>
              <a:rPr sz="1150">
                <a:solidFill>
                  <a:srgbClr val="D6C6B8"/>
                </a:solidFill>
                <a:latin typeface="Courier New"/>
              </a:rPr>
              <a:t>stringify</a:t>
            </a:r>
            <a:r>
              <a:rPr sz="1150">
                <a:solidFill>
                  <a:srgbClr val="E7EAEE"/>
                </a:solidFill>
                <a:latin typeface="Courier New"/>
              </a:rPr>
              <a:t>(v));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E7EAEE"/>
                </a:solidFill>
                <a:latin typeface="Courier New"/>
              </a:rPr>
              <a:t/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E7EAEE"/>
                </a:solidFill>
                <a:latin typeface="Courier New"/>
              </a:rPr>
              <a:t>store.</a:t>
            </a:r>
            <a:r>
              <a:rPr sz="1150">
                <a:solidFill>
                  <a:srgbClr val="D6C6B8"/>
                </a:solidFill>
                <a:latin typeface="Courier New"/>
              </a:rPr>
              <a:t>get</a:t>
            </a:r>
            <a:r>
              <a:rPr sz="1150">
                <a:solidFill>
                  <a:srgbClr val="E7EAEE"/>
                </a:solidFill>
                <a:latin typeface="Courier New"/>
              </a:rPr>
              <a:t>(</a:t>
            </a:r>
            <a:r>
              <a:rPr sz="1150">
                <a:solidFill>
                  <a:srgbClr val="CBB69F"/>
                </a:solidFill>
                <a:latin typeface="Courier New"/>
              </a:rPr>
              <a:t>"tasks"</a:t>
            </a:r>
            <a:r>
              <a:rPr sz="1150">
                <a:solidFill>
                  <a:srgbClr val="E7EAEE"/>
                </a:solidFill>
                <a:latin typeface="Courier New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150">
                <a:solidFill>
                  <a:srgbClr val="D6C6B8"/>
                </a:solidFill>
                <a:latin typeface="Courier New"/>
              </a:rPr>
              <a:t>  → JSON</a:t>
            </a:r>
            <a:r>
              <a:rPr sz="1150">
                <a:solidFill>
                  <a:srgbClr val="E7EAEE"/>
                </a:solidFill>
                <a:latin typeface="Courier New"/>
              </a:rPr>
              <a:t>.</a:t>
            </a:r>
            <a:r>
              <a:rPr sz="1150">
                <a:solidFill>
                  <a:srgbClr val="D6C6B8"/>
                </a:solidFill>
                <a:latin typeface="Courier New"/>
              </a:rPr>
              <a:t>parse</a:t>
            </a:r>
            <a:r>
              <a:rPr sz="1150">
                <a:solidFill>
                  <a:srgbClr val="E7EAEE"/>
                </a:solidFill>
                <a:latin typeface="Courier New"/>
              </a:rPr>
              <a:t>(localStorage.</a:t>
            </a:r>
            <a:r>
              <a:rPr sz="1150">
                <a:solidFill>
                  <a:srgbClr val="D6C6B8"/>
                </a:solidFill>
                <a:latin typeface="Courier New"/>
              </a:rPr>
              <a:t>getItem</a:t>
            </a:r>
            <a:r>
              <a:rPr sz="1150">
                <a:solidFill>
                  <a:srgbClr val="E7EAEE"/>
                </a:solidFill>
                <a:latin typeface="Courier New"/>
              </a:rPr>
              <a:t>(key));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2971800"/>
            <a:ext cx="50292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31821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20">
                <a:solidFill>
                  <a:srgbClr val="B09F95"/>
                </a:solidFill>
                <a:latin typeface="Arial"/>
              </a:rPr>
              <a:t>WHAT IS STORED — PER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52958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55A50"/>
                </a:solidFill>
                <a:latin typeface="Courier New"/>
              </a:rPr>
              <a:t>synora-users · synora-session · synora-theme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8953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55A50"/>
                </a:solidFill>
                <a:latin typeface="Courier New"/>
              </a:rPr>
              <a:t>synora:&lt;user&gt;:subjects  (source of truth)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26110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55A50"/>
                </a:solidFill>
                <a:latin typeface="Courier New"/>
              </a:rPr>
              <a:t>…:tasks · notes · timetable · attendance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62686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55A50"/>
                </a:solidFill>
                <a:latin typeface="Courier New"/>
              </a:rPr>
              <a:t>…:cgpa · achievements · notifications · profile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12064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Every account gets its own namespaced workspace. Limitation: data is per-browser, not synced across devices.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logic we 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6772"/>
                </a:solidFill>
                <a:latin typeface="Arial"/>
              </a:rPr>
              <a:t>The academic numbers aren't stored — JavaScript computes them live from your subjects. The real formulas behind the screens: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874519"/>
            <a:ext cx="535838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2093976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ercen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03704"/>
            <a:ext cx="237744" cy="237744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81328" y="2075688"/>
            <a:ext cx="4306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Attendance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2624327"/>
            <a:ext cx="4846320" cy="512064"/>
          </a:xfrm>
          <a:prstGeom prst="roundRect">
            <a:avLst>
              <a:gd name="adj" fmla="val 6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624327"/>
            <a:ext cx="46268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C3B0"/>
                </a:solidFill>
                <a:latin typeface="Courier New"/>
              </a:rPr>
              <a:t>attended / held ×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20954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how much of each subject you've attended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3231" y="1874519"/>
            <a:ext cx="535838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9263" y="2093976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rending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991" y="2203704"/>
            <a:ext cx="237744" cy="237744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7034479" y="2075688"/>
            <a:ext cx="4306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9263" y="2624327"/>
            <a:ext cx="4846320" cy="512064"/>
          </a:xfrm>
          <a:prstGeom prst="roundRect">
            <a:avLst>
              <a:gd name="adj" fmla="val 6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8991" y="2624327"/>
            <a:ext cx="46268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C3B0"/>
                </a:solidFill>
                <a:latin typeface="Courier New"/>
              </a:rPr>
              <a:t>Σ(credits × grade point) / Σ(credits)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9263" y="320954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weighted by each subject's credits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721608"/>
            <a:ext cx="535838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6112" y="394106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heck-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50792"/>
            <a:ext cx="237744" cy="237744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1481328" y="3922776"/>
            <a:ext cx="4306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Classes you can safely miss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" y="4471416"/>
            <a:ext cx="4846320" cy="512064"/>
          </a:xfrm>
          <a:prstGeom prst="roundRect">
            <a:avLst>
              <a:gd name="adj" fmla="val 6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471416"/>
            <a:ext cx="46268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C3B0"/>
                </a:solidFill>
                <a:latin typeface="Courier New"/>
              </a:rPr>
              <a:t>floor(attended × 100 / target) − held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50566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when you're already above target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3231" y="3721608"/>
            <a:ext cx="535838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49263" y="394106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lert-triang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991" y="4050792"/>
            <a:ext cx="237744" cy="237744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7034479" y="3922776"/>
            <a:ext cx="4306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Classes to attend in a row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9263" y="4471416"/>
            <a:ext cx="4846320" cy="512064"/>
          </a:xfrm>
          <a:prstGeom prst="roundRect">
            <a:avLst>
              <a:gd name="adj" fmla="val 6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8991" y="4471416"/>
            <a:ext cx="46268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C3B0"/>
                </a:solidFill>
                <a:latin typeface="Courier New"/>
              </a:rPr>
              <a:t>ceil((target × held − 100 × attended) / (100 − target))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9263" y="50566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to climb back above target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568696"/>
            <a:ext cx="10911535" cy="658368"/>
          </a:xfrm>
          <a:prstGeom prst="roundRect">
            <a:avLst>
              <a:gd name="adj" fmla="val 10000"/>
            </a:avLst>
          </a:prstGeom>
          <a:solidFill>
            <a:srgbClr val="22252B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5568696"/>
            <a:ext cx="1036289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B9AE"/>
                </a:solidFill>
                <a:latin typeface="Arial"/>
              </a:rPr>
              <a:t>Subjects are the source of truth  —  </a:t>
            </a:r>
            <a:r>
              <a:rPr sz="1250" b="0">
                <a:solidFill>
                  <a:srgbClr val="F3F1EC"/>
                </a:solidFill>
                <a:latin typeface="Arial"/>
              </a:rPr>
              <a:t>attendance, CGPA, timetable and tasks all reference a subject by id, in each user's own workspace.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What we built beyond the syllabus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600200"/>
            <a:ext cx="2880360" cy="4114800"/>
          </a:xfrm>
          <a:prstGeom prst="roundRect">
            <a:avLst>
              <a:gd name="adj" fmla="val 6000"/>
            </a:avLst>
          </a:prstGeom>
          <a:solidFill>
            <a:srgbClr val="22252B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84708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60">
                <a:solidFill>
                  <a:srgbClr val="C9B9AE"/>
                </a:solidFill>
                <a:latin typeface="Arial"/>
              </a:rPr>
              <a:t>SYLLABUS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2860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HTML5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CSS3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Events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3703320" y="3474720"/>
            <a:ext cx="402336" cy="365760"/>
          </a:xfrm>
          <a:prstGeom prst="chevron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34840" y="16276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44568" y="17373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ck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035" y="1817827"/>
            <a:ext cx="204825" cy="204825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5020055" y="16276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Authentication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3227" y="16276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02955" y="17373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liders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422" y="1817827"/>
            <a:ext cx="204825" cy="20482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8578443" y="16276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Personalized onboarding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23134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44568" y="2423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user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035" y="2503627"/>
            <a:ext cx="204825" cy="204825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5020055" y="23134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Avatar system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3227" y="23134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02955" y="2423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heck-square-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422" y="2503627"/>
            <a:ext cx="204825" cy="2048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578443" y="23134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Task management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29992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44568" y="31089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calendar-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5035" y="3189427"/>
            <a:ext cx="204825" cy="20482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5020055" y="29992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Calendar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93227" y="29992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02955" y="31089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eather-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422" y="3189427"/>
            <a:ext cx="204825" cy="204825"/>
          </a:xfrm>
          <a:prstGeom prst="rect">
            <a:avLst/>
          </a:prstGeom>
          <a:effectLst/>
        </p:spPr>
      </p:pic>
      <p:sp>
        <p:nvSpPr>
          <p:cNvPr id="47" name="TextBox 46"/>
          <p:cNvSpPr txBox="1"/>
          <p:nvPr/>
        </p:nvSpPr>
        <p:spPr>
          <a:xfrm>
            <a:off x="8578443" y="29992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Quick Notes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34840" y="36850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44568" y="37947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grid-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5035" y="3875227"/>
            <a:ext cx="204825" cy="204825"/>
          </a:xfrm>
          <a:prstGeom prst="rect">
            <a:avLst/>
          </a:prstGeom>
          <a:effectLst/>
        </p:spPr>
      </p:pic>
      <p:sp>
        <p:nvSpPr>
          <p:cNvPr id="51" name="TextBox 50"/>
          <p:cNvSpPr txBox="1"/>
          <p:nvPr/>
        </p:nvSpPr>
        <p:spPr>
          <a:xfrm>
            <a:off x="5020055" y="36850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93227" y="36850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02955" y="37947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ercent-s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3422" y="3875227"/>
            <a:ext cx="204825" cy="204825"/>
          </a:xfrm>
          <a:prstGeom prst="rect">
            <a:avLst/>
          </a:prstGeom>
          <a:effectLst/>
        </p:spPr>
      </p:pic>
      <p:sp>
        <p:nvSpPr>
          <p:cNvPr id="55" name="TextBox 54"/>
          <p:cNvSpPr txBox="1"/>
          <p:nvPr/>
        </p:nvSpPr>
        <p:spPr>
          <a:xfrm>
            <a:off x="8578443" y="36850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Attendance logic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34840" y="43708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544568" y="44805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trending-up-s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5035" y="4561027"/>
            <a:ext cx="204825" cy="204825"/>
          </a:xfrm>
          <a:prstGeom prst="rect">
            <a:avLst/>
          </a:prstGeom>
          <a:effectLst/>
        </p:spPr>
      </p:pic>
      <p:sp>
        <p:nvSpPr>
          <p:cNvPr id="59" name="TextBox 58"/>
          <p:cNvSpPr txBox="1"/>
          <p:nvPr/>
        </p:nvSpPr>
        <p:spPr>
          <a:xfrm>
            <a:off x="5020055" y="43708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CGPA logic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93227" y="43708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102955" y="44805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award-s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3422" y="4561027"/>
            <a:ext cx="204825" cy="204825"/>
          </a:xfrm>
          <a:prstGeom prst="rect">
            <a:avLst/>
          </a:prstGeom>
          <a:effectLst/>
        </p:spPr>
      </p:pic>
      <p:sp>
        <p:nvSpPr>
          <p:cNvPr id="63" name="TextBox 62"/>
          <p:cNvSpPr txBox="1"/>
          <p:nvPr/>
        </p:nvSpPr>
        <p:spPr>
          <a:xfrm>
            <a:off x="8578443" y="43708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34840" y="50566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44568" y="51663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bell-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5035" y="5246827"/>
            <a:ext cx="204825" cy="204825"/>
          </a:xfrm>
          <a:prstGeom prst="rect">
            <a:avLst/>
          </a:prstGeom>
          <a:effectLst/>
        </p:spPr>
      </p:pic>
      <p:sp>
        <p:nvSpPr>
          <p:cNvPr id="67" name="TextBox 66"/>
          <p:cNvSpPr txBox="1"/>
          <p:nvPr/>
        </p:nvSpPr>
        <p:spPr>
          <a:xfrm>
            <a:off x="5020055" y="50566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Notifications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93227" y="50566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102955" y="51663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eye-s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3422" y="5246827"/>
            <a:ext cx="204825" cy="204825"/>
          </a:xfrm>
          <a:prstGeom prst="rect">
            <a:avLst/>
          </a:prstGeom>
          <a:effectLst/>
        </p:spPr>
      </p:pic>
      <p:sp>
        <p:nvSpPr>
          <p:cNvPr id="71" name="TextBox 70"/>
          <p:cNvSpPr txBox="1"/>
          <p:nvPr/>
        </p:nvSpPr>
        <p:spPr>
          <a:xfrm>
            <a:off x="8578443" y="5056632"/>
            <a:ext cx="27614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Light / dark mode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534924"/>
            <a:ext cx="123444" cy="123444"/>
          </a:xfrm>
          <a:prstGeom prst="ellipse">
            <a:avLst/>
          </a:prstGeom>
          <a:solidFill>
            <a:srgbClr val="C9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C9B9AE"/>
                </a:solidFill>
                <a:latin typeface="Arial"/>
              </a:rPr>
              <a:t>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3F1EC"/>
                </a:solidFill>
                <a:latin typeface="Arial"/>
              </a:rPr>
              <a:t>Synora in one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691640"/>
            <a:ext cx="6766560" cy="42291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ing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766560" cy="422910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9436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9AA2AC"/>
                </a:solidFill>
                <a:latin typeface="Arial"/>
              </a:rPr>
              <a:t>Landing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691640"/>
            <a:ext cx="1883664" cy="1177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91640"/>
            <a:ext cx="1883664" cy="1177289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635240" y="2914650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9AA2AC"/>
                </a:solidFill>
                <a:latin typeface="Arial"/>
              </a:rPr>
              <a:t>Tasks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5208" y="1691640"/>
            <a:ext cx="1883664" cy="1177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ime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208" y="1691640"/>
            <a:ext cx="1883664" cy="1177289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9665208" y="2914650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9AA2AC"/>
                </a:solidFill>
                <a:latin typeface="Arial"/>
              </a:rPr>
              <a:t>Timetable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840480"/>
            <a:ext cx="1883664" cy="1177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ttend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3840480"/>
            <a:ext cx="1883664" cy="1177289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7635240" y="5063490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9AA2AC"/>
                </a:solidFill>
                <a:latin typeface="Arial"/>
              </a:rPr>
              <a:t>Attendance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65208" y="3840480"/>
            <a:ext cx="1883664" cy="1177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gp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208" y="3840480"/>
            <a:ext cx="1883664" cy="1177289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665208" y="5063490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9AA2AC"/>
                </a:solidFill>
                <a:latin typeface="Arial"/>
              </a:rPr>
              <a:t>CGPA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-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777240" cy="715383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1554480" y="62179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3F1EC"/>
                </a:solidFill>
                <a:latin typeface="Arial"/>
              </a:rPr>
              <a:t>Synora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59" y="1627632"/>
            <a:ext cx="7863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400" b="1">
                <a:solidFill>
                  <a:srgbClr val="F3F1EC"/>
                </a:solidFill>
                <a:latin typeface="Arial"/>
              </a:rPr>
              <a:t>Thank</a:t>
            </a:r>
          </a:p>
          <a:p>
            <a:pPr algn="l">
              <a:lnSpc>
                <a:spcPct val="92000"/>
              </a:lnSpc>
            </a:pPr>
            <a:r>
              <a:rPr sz="10400" b="1">
                <a:solidFill>
                  <a:srgbClr val="F3F1EC"/>
                </a:solidFill>
                <a:latin typeface="Arial"/>
              </a:rPr>
              <a:t>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9FB6A6"/>
                </a:solidFill>
                <a:latin typeface="Arial"/>
              </a:rPr>
              <a:t>Synora — one calm home for everything you're studying.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C9B9AE"/>
                </a:solidFill>
                <a:latin typeface="Arial"/>
              </a:rPr>
              <a:t>SUBMITTED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338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1EC"/>
                </a:solidFill>
                <a:latin typeface="Arial"/>
              </a:rPr>
              <a:t>Manan Kochhar    ·    Arshpreet Kaur    ·    Atharv Bains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148840"/>
            <a:ext cx="23317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2404872"/>
            <a:ext cx="1819655" cy="1819655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8458200" y="464515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3F1EC"/>
                </a:solidFill>
                <a:latin typeface="Arial"/>
              </a:rPr>
              <a:t>Scan for the live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9377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FB6A6"/>
                </a:solidFill>
                <a:latin typeface="Courier New"/>
              </a:rPr>
              <a:t>synora.vercel.app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