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Synora — a student productivity and academic management workspace built entirely in HTML5, CSS3 and vanilla JavaScript. Open by stating the one-line promise: one calm home for everything you're studying. The whole deck shows how the Web Development syllabus was turned into a real, working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Synora is a single workspace for a student's academic life: tasks, calendar, notes, timetable, attendance, CGPA, achievements and notifications. The screenshot on the right is the real running app (the demo account), not a mock-up. Core message: instead of scattered tools, one personalized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fragmentation. Each piece of a student's academic life lives in a different place, and the mental overhead of stitching them together is the real cost. Synora targets that fragmentation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groups every feature under three intentions — Productivity, Planning and Academics — all feeding one interface. This is the mental model behind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product-specific advantages. Emphasise Lightweight (this is genuinely a no-framework, no-build project) and Extensible (the data model is deliberately structured so a backend could be added without rewriting the 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feature surface, grouped. Note that Progress, streaks and warnings are derived automatically from the underlying data — the student never maintains them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journey: land, sign up, a confirmation screen that waits for you (no timed redirect), then an optional six-step personalization, and into the dashboard. Onboarding is offered, never forced — the app guard only checks that you're signed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deliberately minimal — three core web technologies plus the browser's own storage. The bottom strip maps the Module 2 tooling (VS Code, DevTools, Git/GitHub) onto the actual development workflow used to build Synora.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 for the evaluator: a direct mapping from each syllabus topic to exactly where it appears in Synora. Nothing here is aspirational — every row corresponds to real code, shown in the code slides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 layers with a strict one-way data flow. Two design decisions to highlight in a viva: (1) a single navigation model builds the chrome for every page, and (2) 'subjects' is the single source of truth that attendance, CGPA and timetable all reference by id, so a rename or delete cascades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HTML5 gives Synora its semantic skeleton. Every input has a real &lt;label&gt; tied by id, every action is a real &lt;button&gt;, and validation is handled in JS (novalidate) so the messages match the rest of the UI. This is the structure CSS and JavaScript then operate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colour, space, radius and shadow is a semantic CSS custom property in tokens.css, so both themes are one edit away. Layout is Flexbox and Grid. Note minmax(0,1fr) rather than 1fr on the dashboard grid — a subtle but real fix so a wide table scrolls inside its card instead of pushing the whole page sideways.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mandatory responsiveness slide: the landing page at three real viewports, identical content. The navbar collapses into a CSS-only hamburger menu (a checkbox + label, no JavaScript), the two-column hero stacks, and the multi-column sections reflow to one column. This is the syllabus' static responsive landing page, built with fluid units, Flexbox, Grid and media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real function shows every JavaScript fundamental from the syllabus: variables (var), an object literal for the stats, an array of tasks, a forEach loop, and conditional logic. The output of this function is exactly what drives the dashboard's Total / Overdue / Due-today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matters in a viva. Rather than claim ES6 features that aren't there, this slide states the truth: the code is ES5-style by design so it runs with no build tooling. It genuinely uses Promises (for confirm dialogs), ES6 array methods, padStart, and modern Web Platform APIs. Arrow functions, let/const, destructuring, modules, async/await and fetch are intentionally absent.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completion is the clearest event-driven example. A single delegated click listener catches the toggle, one function updates the data and the streak, the change is persisted, and Synora.refresh() re-renders the list, the counts, the notifications and the achievements — with a toast for feedback, and no page 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persistence flows through one file. JavaScript objects are serialized with JSON.stringify into localStorage under a per-user namespaced key, and JSON.parse reads them back. Forms are validated in JS. The honest limitation — localStorage is not a database and hashing is obfuscation, not security — is an excellent viva talking point and sets up the future-scope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Synora goes past the classroom mini-projects. Four pieces of genuine product engineering: the attendance maths (including can-miss/must-attend), the credit-weighted CGPA with a documented failure assumption, the subjects-as-source-of-truth data model with cascading deletes, and per-user namespaced storage with everything derived rather than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real screens from the running demo workspace: the dashboard, task list, attendance with its chart and can-miss maths, the credit-weighted CGPA with grades charted above and below the baseline, the weekly timetable, and the personalization/settings page showing the subject data model with tracked vs not-tracked subjects.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trajectory. Today Synora is a complete, honest frontend product. The roadmap moves persistence and auth to a real backend, adds cloud sync, then AI-assisted planning and analytics, and finally a mobile, cross-device platform. End on the tagline and invite questions. Central message: the syllabus gave the building blocks; Synora turned them into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2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6.png"/><Relationship Id="rId9" Type="http://schemas.openxmlformats.org/officeDocument/2006/relationships/image" Target="../media/image-8-6.png"/><Relationship Id="rId10" Type="http://schemas.openxmlformats.org/officeDocument/2006/relationships/image" Target="../media/image-8-6.png"/><Relationship Id="rId11" Type="http://schemas.openxmlformats.org/officeDocument/2006/relationships/image" Target="../media/image-8-6.png"/><Relationship Id="rId12" Type="http://schemas.openxmlformats.org/officeDocument/2006/relationships/image" Target="../media/image-8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2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2.png"/><Relationship Id="rId5" Type="http://schemas.openxmlformats.org/officeDocument/2006/relationships/image" Target="../media/image-16-5.png"/><Relationship Id="rId6" Type="http://schemas.openxmlformats.org/officeDocument/2006/relationships/image" Target="../media/image-16-2.png"/><Relationship Id="rId7" Type="http://schemas.openxmlformats.org/officeDocument/2006/relationships/image" Target="../media/image-16-7.png"/><Relationship Id="rId8" Type="http://schemas.openxmlformats.org/officeDocument/2006/relationships/image" Target="../media/image-16-2.png"/><Relationship Id="rId9" Type="http://schemas.openxmlformats.org/officeDocument/2006/relationships/image" Target="../media/image-16-9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2.png"/><Relationship Id="rId5" Type="http://schemas.openxmlformats.org/officeDocument/2006/relationships/image" Target="../media/image-20-5.png"/><Relationship Id="rId6" Type="http://schemas.openxmlformats.org/officeDocument/2006/relationships/image" Target="../media/image-20-2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oval">
            <a:avLst/>
          </a:prstGeom>
          <a:solidFill>
            <a:srgbClr val="53655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840480"/>
            <a:ext cx="5669280" cy="5669280"/>
          </a:xfrm>
          <a:prstGeom prst="oval">
            <a:avLst/>
          </a:prstGeom>
          <a:solidFill>
            <a:srgbClr val="B09F95">
              <a:alpha val="12000"/>
            </a:srgbClr>
          </a:solidFill>
          <a:ln/>
        </p:spPr>
      </p:sp>
      <p:pic>
        <p:nvPicPr>
          <p:cNvPr id="4" name="Image 0" descr="/Users/manan/Coding Data/College/Sem_3_FEE_II/Synora/presentation/assets/logo-locku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572768"/>
            <a:ext cx="4325112" cy="11064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home for everything you’re studying.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14400" y="340156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student productivity &amp; academic management workspace.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160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    ·      CSS3      ·      VANILLA JAVASCRIPT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4892040"/>
            <a:ext cx="3227832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·  Semester 3 Project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53912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Manan Kochhar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Synora?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brings a student’s entire academic workflow into one calm workspace — instead of juggling six notebooks, three apps and a group chat, everything a student actually tracks lives in a single dashboard.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9352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7" name="Image 0" descr="/Users/manan/Coding Data/College/Sem_3_FEE_II/Synora/presentation/assets/icons/grid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3023006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83464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54096" y="2834640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63824" y="29352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1" name="Image 1" descr="/Users/manan/Coding Data/College/Sem_3_FEE_II/Synora/presentation/assets/icons/check-square-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606" y="3023006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2834640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529584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8368" y="36301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5" name="Image 2" descr="/Users/manan/Coding Data/College/Sem_3_FEE_II/Synora/presentation/assets/icons/calendar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3717950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352958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054096" y="3529584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163824" y="36301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9" name="Image 3" descr="/Users/manan/Coding Data/College/Sem_3_FEE_II/Synora/presentation/assets/icons/file-text-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606" y="3717950"/>
            <a:ext cx="190195" cy="1901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1024" y="3529584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Notes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224528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8368" y="4325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3" name="Image 4" descr="/Users/manan/Coding Data/College/Sem_3_FEE_II/Synora/presentation/assets/icons/clock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4412894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15568" y="4224528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054096" y="4224528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163824" y="4325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7" name="Image 5" descr="/Users/manan/Coding Data/College/Sem_3_FEE_II/Synora/presentation/assets/icons/users-s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606" y="4412894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621024" y="4224528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48640" y="4919472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58368" y="50200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31" name="Image 6" descr="/Users/manan/Coding Data/College/Sem_3_FEE_II/Synora/presentation/assets/icons/bar-chart-2-s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" y="5107838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15568" y="491947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3054096" y="4919472"/>
            <a:ext cx="239572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3163824" y="50200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35" name="Image 7" descr="/Users/manan/Coding Data/College/Sem_3_FEE_II/Synora/presentation/assets/icons/award-s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606" y="5107838"/>
            <a:ext cx="190195" cy="19019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21024" y="4919472"/>
            <a:ext cx="1755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200" dirty="0"/>
          </a:p>
        </p:txBody>
      </p:sp>
      <p:pic>
        <p:nvPicPr>
          <p:cNvPr id="37" name="Image 8" descr="/Users/manan/Coding Data/College/Sem_3_FEE_II/Synora/presentation/screenshots/framed/hero_dash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1481328"/>
            <a:ext cx="5852160" cy="36576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806440" y="51937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Synora dashboard — the demo workspace, signed in as Arshpreet Kaur.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48640" y="5852160"/>
            <a:ext cx="5166360" cy="566928"/>
          </a:xfrm>
          <a:prstGeom prst="roundRect">
            <a:avLst>
              <a:gd name="adj" fmla="val 25806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777240" y="58521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that answers </a:t>
            </a:r>
            <a:pPr indent="0" marL="0">
              <a:buNone/>
            </a:pPr>
            <a:r>
              <a:rPr lang="en-US" sz="1150" i="1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need to do today?”</a:t>
            </a:r>
            <a:pPr indent="0" marL="0">
              <a:buNone/>
            </a:pPr>
            <a:r>
              <a:rPr lang="en-US" sz="11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glance.</a:t>
            </a:r>
            <a:endParaRPr lang="en-US" sz="1150" dirty="0"/>
          </a:p>
        </p:txBody>
      </p:sp>
      <p:sp>
        <p:nvSpPr>
          <p:cNvPr id="41" name="Text 30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42" name="Text 31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workflow is scattered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6" name="Image 0" descr="/Users/manan/Coding Data/College/Sem_3_FEE_II/Synora/presentation/assets/icons/calendar-tau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201936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837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72768" y="21671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chats and sticky notes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2544" y="1600200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745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1" name="Image 1" descr="/Users/manan/Coding Data/College/Sem_3_FEE_II/Synora/presentation/assets/icons/file-text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417" y="201936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76672" y="1837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76672" y="21671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over three different apps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6448" y="1600200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7452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6" name="Image 2" descr="/Users/manan/Coding Data/College/Sem_3_FEE_II/Synora/presentation/assets/icons/clock-tau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019361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1837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80576" y="21671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the board, somewhere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2990088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26440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1" name="Image 3" descr="/Users/manan/Coding Data/College/Sem_3_FEE_II/Synora/presentation/assets/icons/users-ta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13" y="340924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32278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72768" y="3557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by hand every week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2544" y="2990088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326440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6" name="Image 4" descr="/Users/manan/Coding Data/College/Sem_3_FEE_II/Synora/presentation/assets/icons/bar-chart-2-tau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417" y="3409249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76672" y="32278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76672" y="3557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you forget to open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6448" y="2990088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26440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31" name="Image 5" descr="/Users/manan/Coding Data/College/Sem_3_FEE_II/Synora/presentation/assets/icons/check-square-tau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321" y="3409249"/>
            <a:ext cx="313822" cy="3138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32278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80576" y="3557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remembered a little too late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553212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  </a:t>
            </a:r>
            <a:pPr indent="0" marL="0">
              <a:buNone/>
            </a:pPr>
            <a:r>
              <a:rPr lang="en-US" sz="13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more time managing their academic information than actually focusing on it.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 Every academic workflow.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55464" y="1517904"/>
            <a:ext cx="2468880" cy="658368"/>
          </a:xfrm>
          <a:prstGeom prst="roundRect">
            <a:avLst>
              <a:gd name="adj" fmla="val 69444"/>
            </a:avLst>
          </a:prstGeom>
          <a:solidFill>
            <a:srgbClr val="53655C"/>
          </a:solidFill>
          <a:ln w="12700">
            <a:solidFill>
              <a:srgbClr val="53655C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55464" y="151790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9904" y="2176272"/>
            <a:ext cx="-3758184" cy="457200"/>
          </a:xfrm>
          <a:prstGeom prst="line">
            <a:avLst/>
          </a:prstGeom>
          <a:noFill/>
          <a:ln w="19050">
            <a:solidFill>
              <a:srgbClr val="CFD5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2176272"/>
            <a:ext cx="4572" cy="457200"/>
          </a:xfrm>
          <a:prstGeom prst="line">
            <a:avLst/>
          </a:prstGeom>
          <a:noFill/>
          <a:ln w="19050">
            <a:solidFill>
              <a:srgbClr val="CFD5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9904" y="2176272"/>
            <a:ext cx="3767328" cy="457200"/>
          </a:xfrm>
          <a:prstGeom prst="line">
            <a:avLst/>
          </a:prstGeom>
          <a:noFill/>
          <a:ln w="19050">
            <a:solidFill>
              <a:srgbClr val="CFD5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788920"/>
            <a:ext cx="331012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02536" y="308152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1" name="Image 0" descr="/Users/manan/Coding Data/College/Sem_3_FEE_II/Synora/presentation/assets/icons/layers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544" y="3239536"/>
            <a:ext cx="342351" cy="34235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76656" y="3849624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50976" y="4343400"/>
            <a:ext cx="27614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Notes</a:t>
            </a:r>
            <a:endParaRPr lang="en-US" sz="13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89704" y="2788920"/>
            <a:ext cx="331012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15584" y="308152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6" name="Image 1" descr="/Users/manan/Coding Data/College/Sem_3_FEE_II/Synora/presentation/assets/icons/clock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592" y="3239536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9704" y="3849624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64024" y="4343400"/>
            <a:ext cx="27614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3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302752" y="2788920"/>
            <a:ext cx="3310128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28632" y="308152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1" name="Image 2" descr="/Users/manan/Coding Data/College/Sem_3_FEE_II/Synora/presentation/assets/icons/bar-chart-2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640" y="3239536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02752" y="3849624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577072" y="4343400"/>
            <a:ext cx="27614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300" dirty="0"/>
          </a:p>
          <a:p>
            <a:pPr algn="ctr"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unifies productivity and academic tracking into a single, personalized interface.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ADVANTAGES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Synora?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6616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layers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88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0540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instead of six disconnected tools.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2544" y="1627632"/>
            <a:ext cx="356616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1" name="Image 1" descr="/Users/manan/Coding Data/College/Sem_3_FEE_II/Synora/presentation/assets/icons/sliders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483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688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26864" y="30540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configures their own subjects &amp; workspace.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6448" y="1627632"/>
            <a:ext cx="356616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1920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6" name="Image 2" descr="/Users/manan/Coding Data/College/Sem_3_FEE_II/Synora/presentation/assets/icons/user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87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688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Student-centric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0768" y="30540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real student workflows, not generic to-dos.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86784"/>
            <a:ext cx="356616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7939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1" name="Image 3" descr="/Users/manan/Coding Data/College/Sem_3_FEE_II/Synora/presentation/assets/icons/feather-ta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43301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474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4132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tech — no framework, no build step, no bundler.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52544" y="3986784"/>
            <a:ext cx="356616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427939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6" name="Image 4" descr="/Users/manan/Coding Data/College/Sem_3_FEE_II/Synora/presentation/assets/icons/smartphone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483" y="443301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50474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26864" y="54132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 320px phone to a large monitor.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56448" y="3986784"/>
            <a:ext cx="356616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27939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31" name="Image 5" descr="/Users/manan/Coding Data/College/Sem_3_FEE_II/Synora/presentation/assets/icons/trending-up-tau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387" y="443301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0768" y="50474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30768" y="54132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ready to grow into a cloud platform.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72030" cy="3310128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3759" y="209397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check-square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989" y="2243206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62072"/>
            <a:ext cx="20720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4944" y="3447288"/>
            <a:ext cx="177942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(full CRUD)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Notes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03550" y="1783080"/>
            <a:ext cx="2072030" cy="3310128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8670" y="209397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1" name="Image 1" descr="/Users/manan/Coding Data/College/Sem_3_FEE_II/Synora/presentation/assets/icons/bar-chart-2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00" y="2243206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3550" y="2862072"/>
            <a:ext cx="20720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49854" y="3447288"/>
            <a:ext cx="177942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calculator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58461" y="1783080"/>
            <a:ext cx="2072030" cy="3310128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09397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6" name="Image 2" descr="/Users/manan/Coding Data/College/Sem_3_FEE_II/Synora/presentation/assets/icons/award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810" y="224320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8461" y="2862072"/>
            <a:ext cx="20720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04765" y="3447288"/>
            <a:ext cx="177942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ring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streak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3371" y="1783080"/>
            <a:ext cx="2072030" cy="3310128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8490" y="209397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1" name="Image 3" descr="/Users/manan/Coding Data/College/Sem_3_FEE_II/Synora/presentation/assets/icons/sliders-ta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720" y="2243206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3371" y="2862072"/>
            <a:ext cx="20720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59675" y="3447288"/>
            <a:ext cx="177942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avatars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&amp; credits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68282" y="1783080"/>
            <a:ext cx="2072030" cy="3310128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93401" y="2093976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6" name="Image 4" descr="/Users/manan/Coding Data/College/Sem_3_FEE_II/Synora/presentation/assets/icons/bell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631" y="2243206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68282" y="2862072"/>
            <a:ext cx="20720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714586" y="3447288"/>
            <a:ext cx="177942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/ overdue alerts</a:t>
            </a:r>
            <a:endParaRPr lang="en-US" sz="1100" dirty="0"/>
          </a:p>
          <a:p>
            <a:pPr algn="ctr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warnings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features, one visual language — every screen shares the same tokens, components and dashboard.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USER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 up to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77393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96596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monitor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612" y="2106412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8775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250" dirty="0"/>
          </a:p>
        </p:txBody>
      </p:sp>
      <p:pic>
        <p:nvPicPr>
          <p:cNvPr id="8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323" y="2203704"/>
            <a:ext cx="310896" cy="3108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46654" y="1783080"/>
            <a:ext cx="177393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541014" y="196596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1" name="Image 2" descr="/Users/manan/Coding Data/College/Sem_3_FEE_II/Synora/presentation/assets/icons/edit-3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66" y="2106412"/>
            <a:ext cx="304312" cy="304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46654" y="258775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50" dirty="0"/>
          </a:p>
        </p:txBody>
      </p:sp>
      <p:pic>
        <p:nvPicPr>
          <p:cNvPr id="13" name="Image 3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177" y="2203704"/>
            <a:ext cx="310896" cy="31089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07508" y="1783080"/>
            <a:ext cx="177393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801868" y="196596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6" name="Image 4" descr="/Users/manan/Coding Data/College/Sem_3_FEE_II/Synora/presentation/assets/icons/check-circle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320" y="2106412"/>
            <a:ext cx="304312" cy="3043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07508" y="258775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50" dirty="0"/>
          </a:p>
        </p:txBody>
      </p:sp>
      <p:pic>
        <p:nvPicPr>
          <p:cNvPr id="18" name="Image 5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031" y="2203704"/>
            <a:ext cx="310896" cy="31089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68362" y="1783080"/>
            <a:ext cx="177393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8062722" y="196596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1" name="Image 6" descr="/Users/manan/Coding Data/College/Sem_3_FEE_II/Synora/presentation/assets/icons/sliders-s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174" y="2106412"/>
            <a:ext cx="304312" cy="30431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68362" y="258775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250" dirty="0"/>
          </a:p>
        </p:txBody>
      </p:sp>
      <p:pic>
        <p:nvPicPr>
          <p:cNvPr id="23" name="Image 7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885" y="2203704"/>
            <a:ext cx="310896" cy="31089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729216" y="1783080"/>
            <a:ext cx="177393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10323576" y="196596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6" name="Image 8" descr="/Users/manan/Coding Data/College/Sem_3_FEE_II/Synora/presentation/assets/icons/grid-s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4028" y="2106412"/>
            <a:ext cx="304312" cy="30431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729216" y="258775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8" name="Shape 17"/>
          <p:cNvSpPr/>
          <p:nvPr/>
        </p:nvSpPr>
        <p:spPr>
          <a:xfrm>
            <a:off x="548640" y="32461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822960" y="33832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SYNORA — 6 STEPS</a:t>
            </a:r>
            <a:endParaRPr lang="en-US" sz="1050" dirty="0"/>
          </a:p>
        </p:txBody>
      </p:sp>
      <p:sp>
        <p:nvSpPr>
          <p:cNvPr id="30" name="Text 19"/>
          <p:cNvSpPr/>
          <p:nvPr/>
        </p:nvSpPr>
        <p:spPr>
          <a:xfrm>
            <a:off x="822960" y="3703320"/>
            <a:ext cx="1757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2580132" y="3703320"/>
            <a:ext cx="1757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4337304" y="3703320"/>
            <a:ext cx="1757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&amp; Credits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6094476" y="3703320"/>
            <a:ext cx="1757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target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7851648" y="3703320"/>
            <a:ext cx="1757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9608820" y="3703320"/>
            <a:ext cx="1757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finish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548640" y="46177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777240" y="48280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38" name="Image 9" descr="/Users/manan/Coding Data/College/Sem_3_FEE_II/Synora/presentation/assets/icons/check-square-sa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135" y="4950927"/>
            <a:ext cx="266273" cy="266273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417320" y="48280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workspace</a:t>
            </a:r>
            <a:endParaRPr lang="en-US" sz="1400" dirty="0"/>
          </a:p>
        </p:txBody>
      </p:sp>
      <p:sp>
        <p:nvSpPr>
          <p:cNvPr id="40" name="Text 28"/>
          <p:cNvSpPr/>
          <p:nvPr/>
        </p:nvSpPr>
        <p:spPr>
          <a:xfrm>
            <a:off x="1417320" y="51755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 ·  Calendar  ·  Quick Notes  ·  Timetable</a:t>
            </a:r>
            <a:endParaRPr lang="en-US" sz="1150" dirty="0"/>
          </a:p>
        </p:txBody>
      </p:sp>
      <p:sp>
        <p:nvSpPr>
          <p:cNvPr id="41" name="Text 29"/>
          <p:cNvSpPr/>
          <p:nvPr/>
        </p:nvSpPr>
        <p:spPr>
          <a:xfrm>
            <a:off x="777240" y="55046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touch every day, in one place.</a:t>
            </a:r>
            <a:endParaRPr lang="en-US" sz="1100" dirty="0"/>
          </a:p>
        </p:txBody>
      </p:sp>
      <p:sp>
        <p:nvSpPr>
          <p:cNvPr id="42" name="Shape 30"/>
          <p:cNvSpPr/>
          <p:nvPr/>
        </p:nvSpPr>
        <p:spPr>
          <a:xfrm>
            <a:off x="6199632" y="46177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6428232" y="48280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44" name="Image 10" descr="/Users/manan/Coding Data/College/Sem_3_FEE_II/Synora/presentation/assets/icons/bar-chart-2-taup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1127" y="4950927"/>
            <a:ext cx="266273" cy="266273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068312" y="48280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tracking</a:t>
            </a:r>
            <a:endParaRPr lang="en-US" sz="1400" dirty="0"/>
          </a:p>
        </p:txBody>
      </p:sp>
      <p:sp>
        <p:nvSpPr>
          <p:cNvPr id="46" name="Text 33"/>
          <p:cNvSpPr/>
          <p:nvPr/>
        </p:nvSpPr>
        <p:spPr>
          <a:xfrm>
            <a:off x="7068312" y="51755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 ·  CGPA  ·  Achievements  ·  Progress</a:t>
            </a:r>
            <a:endParaRPr lang="en-US" sz="1150" dirty="0"/>
          </a:p>
        </p:txBody>
      </p:sp>
      <p:sp>
        <p:nvSpPr>
          <p:cNvPr id="47" name="Text 34"/>
          <p:cNvSpPr/>
          <p:nvPr/>
        </p:nvSpPr>
        <p:spPr>
          <a:xfrm>
            <a:off x="6428232" y="55046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decide your semester, kept current.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49" name="Text 36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TECHNOLOGY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core web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072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3759" y="182880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layout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989" y="197803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78608"/>
            <a:ext cx="2072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" y="292608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&amp; forms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03550" y="1572768"/>
            <a:ext cx="2072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8670" y="182880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1" name="Image 1" descr="/Users/manan/Coding Data/College/Sem_3_FEE_II/Synora/presentation/assets/icons/code-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00" y="1978030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03550" y="2578608"/>
            <a:ext cx="2072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31566" y="292608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tokens, Flexbox &amp; Grid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58461" y="1572768"/>
            <a:ext cx="2072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182880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6" name="Image 2" descr="/Users/manan/Coding Data/College/Sem_3_FEE_II/Synora/presentation/assets/icons/cpu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810" y="1978030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8461" y="2578608"/>
            <a:ext cx="2072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86477" y="292608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DOM &amp; all calculations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3371" y="1572768"/>
            <a:ext cx="2072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8490" y="182880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1" name="Image 3" descr="/Users/manan/Coding Data/College/Sem_3_FEE_II/Synora/presentation/assets/icons/database-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720" y="197803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3371" y="2578608"/>
            <a:ext cx="2072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Storage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41387" y="292608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localStorage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568282" y="1572768"/>
            <a:ext cx="207203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93401" y="182880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6" name="Image 4" descr="/Users/manan/Coding Data/College/Sem_3_FEE_II/Synora/presentation/assets/icons/git-branch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631" y="1978030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68282" y="2578608"/>
            <a:ext cx="2072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96298" y="2926080"/>
            <a:ext cx="18159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374904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22960" y="37490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framework. No build step. No bundler.  </a:t>
            </a:r>
            <a:pPr indent="0" marL="0">
              <a:buNone/>
            </a:pPr>
            <a:r>
              <a:rPr lang="en-US" sz="120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external resource is the Google Fonts stylesheet (Inter + Manrope) — it degrades to system fonts without it.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8521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50" dirty="0"/>
          </a:p>
        </p:txBody>
      </p:sp>
      <p:pic>
        <p:nvPicPr>
          <p:cNvPr id="34" name="Image 5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076" y="5202936"/>
            <a:ext cx="219456" cy="219456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96596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00253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</p:txBody>
      </p:sp>
      <p:pic>
        <p:nvPicPr>
          <p:cNvPr id="37" name="Image 6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8396" y="5202936"/>
            <a:ext cx="219456" cy="219456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338328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341985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50" dirty="0"/>
          </a:p>
        </p:txBody>
      </p:sp>
      <p:pic>
        <p:nvPicPr>
          <p:cNvPr id="40" name="Image 7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5716" y="5202936"/>
            <a:ext cx="219456" cy="219456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480060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483717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50" dirty="0"/>
          </a:p>
        </p:txBody>
      </p:sp>
      <p:pic>
        <p:nvPicPr>
          <p:cNvPr id="43" name="Image 8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3036" y="5202936"/>
            <a:ext cx="219456" cy="219456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621792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625449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pic>
        <p:nvPicPr>
          <p:cNvPr id="46" name="Image 9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0356" y="5202936"/>
            <a:ext cx="219456" cy="21945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763524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767181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DevTools</a:t>
            </a:r>
            <a:endParaRPr lang="en-US" sz="950" dirty="0"/>
          </a:p>
        </p:txBody>
      </p:sp>
      <p:pic>
        <p:nvPicPr>
          <p:cNvPr id="49" name="Image 10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7676" y="5202936"/>
            <a:ext cx="219456" cy="219456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905256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908913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950" dirty="0"/>
          </a:p>
        </p:txBody>
      </p:sp>
      <p:pic>
        <p:nvPicPr>
          <p:cNvPr id="52" name="Image 1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4996" y="5202936"/>
            <a:ext cx="219456" cy="219456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10469880" y="5029200"/>
            <a:ext cx="1170432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54" name="Text 40"/>
          <p:cNvSpPr/>
          <p:nvPr/>
        </p:nvSpPr>
        <p:spPr>
          <a:xfrm>
            <a:off x="10506456" y="502920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55" name="Text 41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VS Code · debugged and responsive-tested with Chrome DevTools · versioned with Git &amp; hosted on GitHub.</a:t>
            </a:r>
            <a:endParaRPr lang="en-US" sz="1100" dirty="0"/>
          </a:p>
        </p:txBody>
      </p:sp>
      <p:sp>
        <p:nvSpPr>
          <p:cNvPr id="56" name="Text 42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57" name="Text 43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SYLLABUS →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syllabus to a real product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611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&amp; CSS3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365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Synora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365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HTML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/ nav / main / section / footer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&amp;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sign-up, sign-in, contact, task forms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labels, real buttons, focus, aria-live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cards, fields, steppers, tiles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navbar, toolbars, card headers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Grid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timetable, feature grids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queries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 → drawer, 7-col → stacked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~320px up to large monitors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611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&amp; Tooling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365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Synora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365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&amp; functions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state, reusable feature logic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&amp; objects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subjects, tasks, users, 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rendering (map / forEach)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manipulation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sidebar, charts, live lists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clicks, forms, event delegation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JSON.stringify / JSON.parse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namespaced localStorage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&amp; GitHub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F6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 &amp; version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demonstrated by working code in this project — the following slides show the actual snippets.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Synora is 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8064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layout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330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739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81328" y="20848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· login · signup · onboarding · dashboard · 9 feature pages</a:t>
            </a:r>
            <a:endParaRPr lang="en-US" sz="1000" dirty="0"/>
          </a:p>
        </p:txBody>
      </p:sp>
      <p:pic>
        <p:nvPicPr>
          <p:cNvPr id="9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2478024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670048"/>
            <a:ext cx="58064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8096" y="28437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2" name="Image 2" descr="/Users/manan/Coding Data/College/Sem_3_FEE_II/Synora/presentation/assets/icons/code-tau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2975458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816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81328" y="31272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· base · components · app · landing · auth · onboarding</a:t>
            </a:r>
            <a:endParaRPr lang="en-US" sz="1000" dirty="0"/>
          </a:p>
        </p:txBody>
      </p:sp>
      <p:pic>
        <p:nvPicPr>
          <p:cNvPr id="15" name="Image 3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76" y="352044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3712464"/>
            <a:ext cx="58064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68096" y="3886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8" name="Image 4" descr="/Users/manan/Coding Data/College/Sem_3_FEE_II/Synora/presentation/assets/icons/cpu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70" y="401787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81328" y="38587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481328" y="416966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storage · avatars · app  +  11 feature scripts</a:t>
            </a:r>
            <a:endParaRPr lang="en-US" sz="1000" dirty="0"/>
          </a:p>
        </p:txBody>
      </p:sp>
      <p:pic>
        <p:nvPicPr>
          <p:cNvPr id="21" name="Image 5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4562856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4754880"/>
            <a:ext cx="58064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68096" y="49286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4" name="Image 6" descr="/Users/manan/Coding Data/College/Sem_3_FEE_II/Synora/presentation/assets/icons/database-tau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70" y="5060290"/>
            <a:ext cx="285293" cy="28529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81328" y="490118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storage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1481328" y="52120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synora:&lt;user&gt;:&lt;collection&gt;  —  per-user localStorage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6720840" y="1627632"/>
            <a:ext cx="4919472" cy="1417320"/>
          </a:xfrm>
          <a:prstGeom prst="roundRect">
            <a:avLst>
              <a:gd name="adj" fmla="val 6452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6949440" y="1755648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ONE LINE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6949440" y="2121408"/>
            <a:ext cx="4462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A6A0"/>
                </a:solidFill>
              </a:rPr>
              <a:t>  →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tokens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A6A0"/>
                </a:solidFill>
              </a:rPr>
              <a:t>  →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storage.js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A6A0"/>
                </a:solidFill>
              </a:rPr>
              <a:t>  →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BA6A0"/>
                </a:solidFill>
              </a:rPr>
              <a:t>  →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per-page script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720840" y="3191256"/>
            <a:ext cx="491947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6949440" y="3310128"/>
            <a:ext cx="44622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navigation model.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builds the sidebar and topbar once from a single NAV list, then feature scripts wait for a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synora:ready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 before rendering into their page.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720840" y="4636008"/>
            <a:ext cx="4919472" cy="1298448"/>
          </a:xfrm>
          <a:prstGeom prst="roundRect">
            <a:avLst>
              <a:gd name="adj" fmla="val 7042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949440" y="4754880"/>
            <a:ext cx="44622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are the source of truth.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CGPA and the timetable all reference a subject by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rename or delete once, and every module follows.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HTML5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accessibility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89320" cy="4160520"/>
          </a:xfrm>
          <a:prstGeom prst="roundRect">
            <a:avLst>
              <a:gd name="adj" fmla="val 1978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98932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5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22122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Landing contact form --&gt;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"contact-form"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novalidate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"field"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"contact-email"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"contact-email"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autocomplete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"you@example.com"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"field__error"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"btn btn--primary"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1600200"/>
            <a:ext cx="478231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0" y="1783080"/>
            <a:ext cx="4233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2148840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148840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0738" y="2148840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0738" y="2148840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49156" y="2148840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9156" y="2148840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307574" y="2148840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07574" y="2148840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2715768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715768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90738" y="2715768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0738" y="2715768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49156" y="2715768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49156" y="2715768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07574" y="2715768"/>
            <a:ext cx="948690" cy="438912"/>
          </a:xfrm>
          <a:prstGeom prst="roundRect">
            <a:avLst>
              <a:gd name="adj" fmla="val 16667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07574" y="2715768"/>
            <a:ext cx="94869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3639312"/>
            <a:ext cx="4782312" cy="2121408"/>
          </a:xfrm>
          <a:prstGeom prst="roundRect">
            <a:avLst>
              <a:gd name="adj" fmla="val 4310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803904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4005072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+ accessible forms.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32320" y="4443984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4645152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sign-in, personalization, subjects &amp; the contact form.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32320" y="5138928"/>
            <a:ext cx="4233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5340096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&lt;label&gt;s, &lt;button&gt;s, focus states and aria-live make the app usable by keyboard and screen reader.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CSS3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structure to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72200" cy="4160520"/>
          </a:xfrm>
          <a:prstGeom prst="roundRect">
            <a:avLst>
              <a:gd name="adj" fmla="val 1978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tokens.css + app.css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17220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0410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#53655C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sage */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#B09F95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taupe */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600200"/>
            <a:ext cx="45994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96912" y="1755648"/>
            <a:ext cx="4142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2084832"/>
            <a:ext cx="3593592" cy="1664208"/>
          </a:xfrm>
          <a:prstGeom prst="rect">
            <a:avLst/>
          </a:prstGeom>
          <a:solidFill>
            <a:srgbClr val="F0ECE7"/>
          </a:solidFill>
          <a:ln w="12700">
            <a:solidFill>
              <a:srgbClr val="B09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8664" y="2112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8A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01000" y="2340864"/>
            <a:ext cx="2679192" cy="1152144"/>
          </a:xfrm>
          <a:prstGeom prst="rect">
            <a:avLst/>
          </a:prstGeom>
          <a:solidFill>
            <a:srgbClr val="E7EDE9"/>
          </a:solidFill>
          <a:ln w="12700">
            <a:solidFill>
              <a:srgbClr val="5365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55864" y="236829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35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12480" y="2587752"/>
            <a:ext cx="18562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6151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15400" y="2834640"/>
            <a:ext cx="850392" cy="164592"/>
          </a:xfrm>
          <a:prstGeom prst="rect">
            <a:avLst/>
          </a:prstGeom>
          <a:solidFill>
            <a:srgbClr val="22252B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834640"/>
            <a:ext cx="8503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40880" y="4041648"/>
            <a:ext cx="4599432" cy="1719072"/>
          </a:xfrm>
          <a:prstGeom prst="roundRect">
            <a:avLst>
              <a:gd name="adj" fmla="val 5319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4187952"/>
            <a:ext cx="4142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SYNORA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4517136"/>
            <a:ext cx="19339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4517136"/>
            <a:ext cx="1933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40596" y="4517136"/>
            <a:ext cx="19339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0596" y="4517136"/>
            <a:ext cx="1933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96912" y="5084064"/>
            <a:ext cx="19339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5084064"/>
            <a:ext cx="1933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40596" y="5084064"/>
            <a:ext cx="19339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40596" y="5084064"/>
            <a:ext cx="1933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RESPONSIVE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 Every screen.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landing page at three real viewports. The full navbar collapses into a CSS-only hamburger menu, the two-column hero stacks into one, and every section reflows to a single column.</a:t>
            </a:r>
            <a:endParaRPr lang="en-US" sz="1250" dirty="0"/>
          </a:p>
        </p:txBody>
      </p:sp>
      <p:pic>
        <p:nvPicPr>
          <p:cNvPr id="5" name="Image 0" descr="/Users/manan/Coding Data/College/Sem_3_FEE_II/Synora/presentation/screenshots/framed/frame_land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2863"/>
            <a:ext cx="5074920" cy="3171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595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1440px · Desktop</a:t>
            </a:r>
            <a:endParaRPr lang="en-US" sz="1150" dirty="0"/>
          </a:p>
        </p:txBody>
      </p:sp>
      <p:pic>
        <p:nvPicPr>
          <p:cNvPr id="7" name="Image 1" descr="/Users/manan/Coding Data/College/Sem_3_FEE_II/Synora/presentation/screenshots/framed/frame_land_tab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38528"/>
            <a:ext cx="267462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0" y="5559552"/>
            <a:ext cx="32232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 · Tablet</a:t>
            </a:r>
            <a:endParaRPr lang="en-US" sz="1150" dirty="0"/>
          </a:p>
        </p:txBody>
      </p:sp>
      <p:pic>
        <p:nvPicPr>
          <p:cNvPr id="9" name="Image 2" descr="/Users/manan/Coding Data/College/Sem_3_FEE_II/Synora/presentation/screenshots/framed/frame_land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801368"/>
            <a:ext cx="1711250" cy="3703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98280" y="5559552"/>
            <a:ext cx="28085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390px · Mobile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172958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2" name="Text 7"/>
          <p:cNvSpPr/>
          <p:nvPr/>
        </p:nvSpPr>
        <p:spPr>
          <a:xfrm>
            <a:off x="172958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96986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4" name="Text 9"/>
          <p:cNvSpPr/>
          <p:nvPr/>
        </p:nvSpPr>
        <p:spPr>
          <a:xfrm>
            <a:off x="396986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1014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6" name="Text 11"/>
          <p:cNvSpPr/>
          <p:nvPr/>
        </p:nvSpPr>
        <p:spPr>
          <a:xfrm>
            <a:off x="621014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450428" y="596188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2252B"/>
          </a:solidFill>
          <a:ln/>
        </p:spPr>
      </p:sp>
      <p:sp>
        <p:nvSpPr>
          <p:cNvPr id="18" name="Text 13"/>
          <p:cNvSpPr/>
          <p:nvPr/>
        </p:nvSpPr>
        <p:spPr>
          <a:xfrm>
            <a:off x="8450428" y="5961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JAVASCRIPT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interface interactive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263640" cy="4297680"/>
          </a:xfrm>
          <a:prstGeom prst="roundRect">
            <a:avLst>
              <a:gd name="adj" fmla="val 1915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— derive.taskStats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26364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9554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taskStats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"tasks"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dueToday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daysUntil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D7B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dueToday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627632"/>
            <a:ext cx="4553712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2904" y="17465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sp>
        <p:nvSpPr>
          <p:cNvPr id="12" name="Text 10"/>
          <p:cNvSpPr/>
          <p:nvPr/>
        </p:nvSpPr>
        <p:spPr>
          <a:xfrm>
            <a:off x="7232904" y="1746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1700784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1975104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 localStorage</a:t>
            </a:r>
            <a:endParaRPr lang="en-US" sz="1050" dirty="0"/>
          </a:p>
        </p:txBody>
      </p:sp>
      <p:pic>
        <p:nvPicPr>
          <p:cNvPr id="15" name="Image 0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2286000"/>
            <a:ext cx="201168" cy="2011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2414016"/>
            <a:ext cx="4553712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32904" y="25328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sp>
        <p:nvSpPr>
          <p:cNvPr id="18" name="Text 15"/>
          <p:cNvSpPr/>
          <p:nvPr/>
        </p:nvSpPr>
        <p:spPr>
          <a:xfrm>
            <a:off x="7232904" y="2532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0" y="248716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logic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0" y="2761488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objects, conditions</a:t>
            </a:r>
            <a:endParaRPr lang="en-US" sz="1050" dirty="0"/>
          </a:p>
        </p:txBody>
      </p:sp>
      <p:pic>
        <p:nvPicPr>
          <p:cNvPr id="21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72" y="3072384"/>
            <a:ext cx="201168" cy="20116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086600" y="3200400"/>
            <a:ext cx="4553712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32904" y="3319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sp>
        <p:nvSpPr>
          <p:cNvPr id="24" name="Text 20"/>
          <p:cNvSpPr/>
          <p:nvPr/>
        </p:nvSpPr>
        <p:spPr>
          <a:xfrm>
            <a:off x="7232904" y="3319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772400" y="3273552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772400" y="354787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&amp; lists built in code</a:t>
            </a:r>
            <a:endParaRPr lang="en-US" sz="1050" dirty="0"/>
          </a:p>
        </p:txBody>
      </p:sp>
      <p:pic>
        <p:nvPicPr>
          <p:cNvPr id="27" name="Image 2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3858768"/>
            <a:ext cx="201168" cy="20116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086600" y="3986784"/>
            <a:ext cx="4553712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32904" y="4105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sp>
        <p:nvSpPr>
          <p:cNvPr id="30" name="Text 25"/>
          <p:cNvSpPr/>
          <p:nvPr/>
        </p:nvSpPr>
        <p:spPr>
          <a:xfrm>
            <a:off x="7232904" y="4105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772400" y="4059936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772400" y="4334256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updates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086600" y="4892040"/>
            <a:ext cx="4553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in one function: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an object, an array, a loop and conditionals — turning stored data into the numbers on the dashboard.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MODERN JAVASCRIPT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ES6+, used honestly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is written in disciplined ES5-style syntax — </a:t>
            </a:r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var, function, IIFE modules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it runs directly in the browser with no build step or transpiler. The modern features it uses are platform &amp; library features, not syntax sugar.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spc="150" kern="0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SYNORA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Promises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Promise for confirm dialogs, consumed with .then()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18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ES6 array methods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find / findIndex to locate tasks by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String.padStart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zero-padded local dates (ES2017)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315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Platform APIs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CustomEvent, matchMedia, localStorage, classList, dataset, Intl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200" b="1" spc="1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USED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28232" y="2697480"/>
            <a:ext cx="4983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functions, let / const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Destructuring, spread / rest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 (import / export) — no bundler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await, fetch — no backend to call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viva point:  </a:t>
            </a:r>
            <a:pPr algn="ctr" indent="0" marL="0">
              <a:buNone/>
            </a:pPr>
            <a:r>
              <a:rPr lang="en-US" sz="1150" i="1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are a deliberate choice, not a gap — the project targets the fundamentals cleanly.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DOM &amp; EVENTS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72200" cy="3703320"/>
          </a:xfrm>
          <a:prstGeom prst="roundRect">
            <a:avLst>
              <a:gd name="adj" fmla="val 2222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tasks.js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17220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041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toggleComplete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"not-started"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"completed"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Synora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streak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recordCompletion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"tasks"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persist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Synora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re-render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6172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listener on the surviving container serves every task row — so re-rendering the list never loses its handlers.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1627632"/>
            <a:ext cx="46451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4032" y="17282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13" name="Image 0" descr="/Users/manan/Coding Data/College/Sem_3_FEE_II/Synora/presentation/assets/icons/eye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036" y="1807220"/>
            <a:ext cx="171176" cy="1711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62088" y="1627632"/>
            <a:ext cx="3959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 </a:t>
            </a:r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task's check button</a:t>
            </a:r>
            <a:endParaRPr lang="en-US" sz="1200" dirty="0"/>
          </a:p>
        </p:txBody>
      </p:sp>
      <p:pic>
        <p:nvPicPr>
          <p:cNvPr id="15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2167128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995160" y="2286000"/>
            <a:ext cx="46451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14032" y="23865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8" name="Image 2" descr="/Users/manan/Coding Data/College/Sem_3_FEE_II/Synora/presentation/assets/icons/target-tau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036" y="246558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62088" y="2286000"/>
            <a:ext cx="3959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  </a:t>
            </a:r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on the list</a:t>
            </a:r>
            <a:endParaRPr lang="en-US" sz="1200" dirty="0"/>
          </a:p>
        </p:txBody>
      </p:sp>
      <p:pic>
        <p:nvPicPr>
          <p:cNvPr id="20" name="Image 3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2825496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995160" y="2944368"/>
            <a:ext cx="46451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14032" y="30449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3" name="Image 4" descr="/Users/manan/Coding Data/College/Sem_3_FEE_II/Synora/presentation/assets/icons/code-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036" y="3123956"/>
            <a:ext cx="171176" cy="171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62088" y="2944368"/>
            <a:ext cx="3959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  </a:t>
            </a:r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toggleComplete(id)</a:t>
            </a:r>
            <a:endParaRPr lang="en-US" sz="1200" dirty="0"/>
          </a:p>
        </p:txBody>
      </p:sp>
      <p:pic>
        <p:nvPicPr>
          <p:cNvPr id="25" name="Image 5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3483864"/>
            <a:ext cx="164592" cy="16459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995160" y="3602736"/>
            <a:ext cx="46451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114032" y="37033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8" name="Image 6" descr="/Users/manan/Coding Data/College/Sem_3_FEE_II/Synora/presentation/assets/icons/database-tau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3036" y="3782324"/>
            <a:ext cx="171176" cy="17117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62088" y="3602736"/>
            <a:ext cx="3959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 </a:t>
            </a:r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streak saved</a:t>
            </a:r>
            <a:endParaRPr lang="en-US" sz="1200" dirty="0"/>
          </a:p>
        </p:txBody>
      </p:sp>
      <p:pic>
        <p:nvPicPr>
          <p:cNvPr id="30" name="Image 7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0336" y="4142232"/>
            <a:ext cx="164592" cy="164592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995160" y="4261104"/>
            <a:ext cx="46451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7114032" y="43616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33" name="Image 8" descr="/Users/manan/Coding Data/College/Sem_3_FEE_II/Synora/presentation/assets/icons/refresh-cw-sa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3036" y="4440692"/>
            <a:ext cx="171176" cy="17117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562088" y="4261104"/>
            <a:ext cx="3959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   </a:t>
            </a:r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dashboard update</a:t>
            </a:r>
            <a:endParaRPr lang="en-US" sz="1200" dirty="0"/>
          </a:p>
        </p:txBody>
      </p:sp>
      <p:pic>
        <p:nvPicPr>
          <p:cNvPr id="35" name="Image 9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0336" y="4800600"/>
            <a:ext cx="164592" cy="164592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995160" y="4919472"/>
            <a:ext cx="46451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7114032" y="50200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38" name="Image 10" descr="/Users/manan/Coding Data/College/Sem_3_FEE_II/Synora/presentation/assets/icons/check-circle-taup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3036" y="5099060"/>
            <a:ext cx="171176" cy="17117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7562088" y="4919472"/>
            <a:ext cx="3959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  </a:t>
            </a:r>
            <a:pPr indent="0" marL="0"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toast confirms it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41" name="Text 28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DATA IN THE BROWSER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Storage · 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72200" cy="3246120"/>
          </a:xfrm>
          <a:prstGeom prst="roundRect">
            <a:avLst>
              <a:gd name="adj" fmla="val 2535"/>
            </a:avLst>
          </a:prstGeom>
          <a:solidFill>
            <a:srgbClr val="1A1D22"/>
          </a:solidFill>
          <a:ln w="12700">
            <a:solidFill>
              <a:srgbClr val="31373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691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6C63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E1B45A"/>
                </a:solidFill>
              </a:rPr>
              <a:t>● </a:t>
            </a:r>
            <a:pPr indent="0" marL="0">
              <a:buNone/>
            </a:pPr>
            <a:r>
              <a:rPr lang="en-US" sz="800" dirty="0">
                <a:solidFill>
                  <a:srgbClr val="6E9070"/>
                </a:solidFill>
              </a:rPr>
              <a:t>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storage.js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617220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12264"/>
            <a:ext cx="29260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algn="r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1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112264"/>
            <a:ext cx="54041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writeJSON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stringify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readJSON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getItem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A6BD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i="1" dirty="0">
                <a:solidFill>
                  <a:srgbClr val="728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synora:&lt;user&gt;:&lt;collection&gt;</a:t>
            </a:r>
            <a:endParaRPr lang="en-US" sz="110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3B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"synora:"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":"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E7EA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98A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95160" y="1627632"/>
            <a:ext cx="4645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 object</a:t>
            </a:r>
            <a:endParaRPr lang="en-US" sz="1100" dirty="0"/>
          </a:p>
        </p:txBody>
      </p:sp>
      <p:pic>
        <p:nvPicPr>
          <p:cNvPr id="12" name="Image 0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016252"/>
            <a:ext cx="146304" cy="1463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995160" y="2103120"/>
            <a:ext cx="4645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2103120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JSON.stringify()</a:t>
            </a:r>
            <a:endParaRPr lang="en-US" sz="1100" dirty="0"/>
          </a:p>
        </p:txBody>
      </p:sp>
      <p:pic>
        <p:nvPicPr>
          <p:cNvPr id="15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491740"/>
            <a:ext cx="146304" cy="146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995160" y="2578608"/>
            <a:ext cx="4645152" cy="384048"/>
          </a:xfrm>
          <a:prstGeom prst="roundRect">
            <a:avLst>
              <a:gd name="adj" fmla="val 23810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95160" y="257860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100" dirty="0"/>
          </a:p>
        </p:txBody>
      </p:sp>
      <p:pic>
        <p:nvPicPr>
          <p:cNvPr id="18" name="Image 2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2967228"/>
            <a:ext cx="146304" cy="146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95160" y="3054096"/>
            <a:ext cx="4645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95160" y="305409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JSON.parse()</a:t>
            </a:r>
            <a:endParaRPr lang="en-US" sz="1100" dirty="0"/>
          </a:p>
        </p:txBody>
      </p:sp>
      <p:pic>
        <p:nvPicPr>
          <p:cNvPr id="21" name="Image 3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3442716"/>
            <a:ext cx="146304" cy="146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95160" y="3529584"/>
            <a:ext cx="4645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995160" y="352958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 object</a:t>
            </a:r>
            <a:endParaRPr lang="en-US" sz="1100" dirty="0"/>
          </a:p>
        </p:txBody>
      </p:sp>
      <p:pic>
        <p:nvPicPr>
          <p:cNvPr id="24" name="Image 4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3918204"/>
            <a:ext cx="146304" cy="14630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995160" y="4005072"/>
            <a:ext cx="4645152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995160" y="400507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5029200"/>
            <a:ext cx="6172200" cy="960120"/>
          </a:xfrm>
          <a:prstGeom prst="roundRect">
            <a:avLst>
              <a:gd name="adj" fmla="val 9524"/>
            </a:avLst>
          </a:prstGeom>
          <a:solidFill>
            <a:srgbClr val="F3F1EE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77240" y="5029200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43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· sign-in · personalization · subjects · tasks · contact — all validated inline in JavaScript, no browser bubbles.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995160" y="4526280"/>
            <a:ext cx="4645152" cy="1463040"/>
          </a:xfrm>
          <a:prstGeom prst="roundRect">
            <a:avLst>
              <a:gd name="adj" fmla="val 6250"/>
            </a:avLst>
          </a:prstGeom>
          <a:solidFill>
            <a:srgbClr val="F4EDE8"/>
          </a:solidFill>
          <a:ln w="12700">
            <a:solidFill>
              <a:srgbClr val="E4D6C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223760" y="46634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storage gives persistence, but it is not a secure backend — anyone with the browser can read it. Passwords are hashed as a courtesy, not as security.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PRODUCT ENGINEERING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syllabus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6" name="Image 0" descr="/Users/manan/Coding Data/College/Sem_3_FEE_II/Synora/presentation/assets/icons/percent-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04679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0195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engine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72768" y="2267712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22252B"/>
          </a:solidFill>
          <a:ln/>
        </p:spPr>
      </p:sp>
      <p:sp>
        <p:nvSpPr>
          <p:cNvPr id="9" name="Text 6"/>
          <p:cNvSpPr/>
          <p:nvPr/>
        </p:nvSpPr>
        <p:spPr>
          <a:xfrm>
            <a:off x="1682496" y="2267712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= attended / held × 100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798064"/>
            <a:ext cx="4919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real question: how many classes can I miss — or must I attend — to hit my target? The divide is guarded so 0 classes never shows NaN.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72200" y="1627632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90195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13" name="Image 1" descr="/Users/manan/Coding Data/College/Sem_3_FEE_II/Synora/presentation/assets/icons/bar-chart-2-tau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61" y="2046793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6328" y="190195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engine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96328" y="2267712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22252B"/>
          </a:solidFill>
          <a:ln/>
        </p:spPr>
      </p:sp>
      <p:sp>
        <p:nvSpPr>
          <p:cNvPr id="16" name="Text 12"/>
          <p:cNvSpPr/>
          <p:nvPr/>
        </p:nvSpPr>
        <p:spPr>
          <a:xfrm>
            <a:off x="7306056" y="2267712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Σ(credits × grade point) / Σ credits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46520" y="2798064"/>
            <a:ext cx="4919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10-point scale (O–B, plus E1/E2/E3). A failure scores 0 points but still carries its credits — so a backlog visibly drags the average down.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59352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336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7EDE9"/>
          </a:solidFill>
          <a:ln/>
        </p:spPr>
      </p:sp>
      <p:pic>
        <p:nvPicPr>
          <p:cNvPr id="20" name="Image 2" descr="/Users/manan/Coding Data/College/Sem_3_FEE_II/Synora/presentation/assets/icons/database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4378513"/>
            <a:ext cx="313822" cy="31382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72768" y="423367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as source of truth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572768" y="4599432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22252B"/>
          </a:solidFill>
          <a:ln/>
        </p:spPr>
      </p:sp>
      <p:sp>
        <p:nvSpPr>
          <p:cNvPr id="23" name="Text 18"/>
          <p:cNvSpPr/>
          <p:nvPr/>
        </p:nvSpPr>
        <p:spPr>
          <a:xfrm>
            <a:off x="1682496" y="4599432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list, referenced by id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22960" y="5129784"/>
            <a:ext cx="4919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CGPA and the timetable never store a subject name. Rename once and it changes everywhere; delete once and it cascades.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72200" y="3959352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22252B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42336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4EDE8"/>
          </a:solidFill>
          <a:ln/>
        </p:spPr>
      </p:sp>
      <p:pic>
        <p:nvPicPr>
          <p:cNvPr id="27" name="Image 3" descr="/Users/manan/Coding Data/College/Sem_3_FEE_II/Synora/presentation/assets/icons/layers-ta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61" y="4378513"/>
            <a:ext cx="313822" cy="31382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96328" y="4233672"/>
            <a:ext cx="4279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User-specific workspace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196328" y="4599432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22252B"/>
          </a:solidFill>
          <a:ln/>
        </p:spPr>
      </p:sp>
      <p:sp>
        <p:nvSpPr>
          <p:cNvPr id="30" name="Text 24"/>
          <p:cNvSpPr/>
          <p:nvPr/>
        </p:nvSpPr>
        <p:spPr>
          <a:xfrm>
            <a:off x="7306056" y="4599432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B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synora:&lt;user&gt;:&lt;collection&gt;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446520" y="5129784"/>
            <a:ext cx="4919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 is namespaced, so two students on one browser never see each other's data. Percentages, CGPA and streaks are derived, never stored.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9C8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 in action</a:t>
            </a:r>
            <a:endParaRPr lang="en-US" sz="3000" dirty="0"/>
          </a:p>
        </p:txBody>
      </p:sp>
      <p:pic>
        <p:nvPicPr>
          <p:cNvPr id="4" name="Image 0" descr="/Users/manan/Coding Data/College/Sem_3_FEE_II/Synora/presentation/screenshots/framed/card_dashboard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3566160" cy="2228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2905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pic>
        <p:nvPicPr>
          <p:cNvPr id="6" name="Image 1" descr="/Users/manan/Coding Data/College/Sem_3_FEE_II/Synora/presentation/screenshots/framed/card_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572768"/>
            <a:ext cx="3566160" cy="2228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2544" y="382905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pic>
        <p:nvPicPr>
          <p:cNvPr id="8" name="Image 2" descr="/Users/manan/Coding Data/College/Sem_3_FEE_II/Synora/presentation/screenshots/framed/card_attend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572768"/>
            <a:ext cx="3566160" cy="22288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56448" y="382905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pic>
        <p:nvPicPr>
          <p:cNvPr id="10" name="Image 3" descr="/Users/manan/Coding Data/College/Sem_3_FEE_II/Synora/presentation/screenshots/framed/card_cgp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22826"/>
            <a:ext cx="3566160" cy="22288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65791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150" dirty="0"/>
          </a:p>
        </p:txBody>
      </p:sp>
      <p:pic>
        <p:nvPicPr>
          <p:cNvPr id="12" name="Image 4" descr="/Users/manan/Coding Data/College/Sem_3_FEE_II/Synora/presentation/screenshots/framed/card_time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4322826"/>
            <a:ext cx="3566160" cy="22288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52544" y="65791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150" dirty="0"/>
          </a:p>
        </p:txBody>
      </p:sp>
      <p:pic>
        <p:nvPicPr>
          <p:cNvPr id="14" name="Image 5" descr="/Users/manan/Coding Data/College/Sem_3_FEE_II/Synora/presentation/screenshots/framed/card_settin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4322826"/>
            <a:ext cx="3566160" cy="22288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156448" y="65791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150" dirty="0"/>
          </a:p>
        </p:txBody>
      </p:sp>
      <p:sp>
        <p:nvSpPr>
          <p:cNvPr id="16" name="Text 8"/>
          <p:cNvSpPr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SYNORA</a:t>
            </a:r>
            <a:endParaRPr lang="en-US" sz="850" dirty="0"/>
          </a:p>
        </p:txBody>
      </p:sp>
      <p:sp>
        <p:nvSpPr>
          <p:cNvPr id="17" name="Text 9"/>
          <p:cNvSpPr/>
          <p:nvPr/>
        </p:nvSpPr>
        <p:spPr>
          <a:xfrm>
            <a:off x="10881360" y="65105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3AE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852160" cy="5852160"/>
          </a:xfrm>
          <a:prstGeom prst="oval">
            <a:avLst/>
          </a:prstGeom>
          <a:solidFill>
            <a:srgbClr val="53655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852160" cy="5852160"/>
          </a:xfrm>
          <a:prstGeom prst="oval">
            <a:avLst/>
          </a:prstGeom>
          <a:solidFill>
            <a:srgbClr val="B09F9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WHAT’S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Synora goes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9293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8" name="Image 0" descr="/Users/manan/Coding Data/College/Sem_3_FEE_II/Synora/presentation/assets/icons/check-circle-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61058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198424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2651760"/>
            <a:ext cx="22219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workspace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data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persistence</a:t>
            </a:r>
            <a:endParaRPr lang="en-US" sz="1050" dirty="0"/>
          </a:p>
        </p:txBody>
      </p:sp>
      <p:pic>
        <p:nvPicPr>
          <p:cNvPr id="11" name="Image 1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273405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47288" y="169164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85032" y="19293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14" name="Image 2" descr="/Users/manan/Coding Data/College/Sem_3_FEE_II/Synora/presentation/assets/icons/server-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706" y="2061058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198424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Cloud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721608" y="2651760"/>
            <a:ext cx="22219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real auth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contact endpoint</a:t>
            </a:r>
            <a:endParaRPr lang="en-US" sz="1050" dirty="0"/>
          </a:p>
        </p:txBody>
      </p:sp>
      <p:pic>
        <p:nvPicPr>
          <p:cNvPr id="17" name="Image 3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273405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45936" y="169164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583680" y="19293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20" name="Image 4" descr="/Users/manan/Coding Data/College/Sem_3_FEE_II/Synora/presentation/assets/icons/cpu-tau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4" y="2061058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42048" y="198424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620256" y="2651760"/>
            <a:ext cx="22219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planner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prioritization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trends</a:t>
            </a:r>
            <a:endParaRPr lang="en-US" sz="1050" dirty="0"/>
          </a:p>
        </p:txBody>
      </p:sp>
      <p:pic>
        <p:nvPicPr>
          <p:cNvPr id="23" name="Image 5" descr="/Users/manan/Coding Data/College/Sem_3_FEE_II/Synora/presentation/assets/icons/chevron-right-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6276" y="2734056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244584" y="169164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2C3037"/>
          </a:solidFill>
          <a:ln w="12700">
            <a:solidFill>
              <a:srgbClr val="3A414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482328" y="192938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3B43"/>
          </a:solidFill>
          <a:ln/>
        </p:spPr>
      </p:sp>
      <p:pic>
        <p:nvPicPr>
          <p:cNvPr id="26" name="Image 6" descr="/Users/manan/Coding Data/College/Sem_3_FEE_II/Synora/presentation/assets/icons/smartphone-s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4002" y="2061058"/>
            <a:ext cx="285293" cy="28529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140696" y="198424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9518904" y="2651760"/>
            <a:ext cx="22219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ecosystem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548640" y="41605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 </a:t>
            </a:r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build is frontend-only — localStorage rather than a database, client-side auth, per-device, and a contact form that validates but doesn’t send. A production version moves persistence &amp; auth to a secure backend.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023360" y="5029200"/>
            <a:ext cx="4142232" cy="0"/>
          </a:xfrm>
          <a:prstGeom prst="line">
            <a:avLst/>
          </a:prstGeom>
          <a:noFill/>
          <a:ln w="12700">
            <a:solidFill>
              <a:srgbClr val="3A414A"/>
            </a:solidFill>
            <a:prstDash val="solid"/>
          </a:ln>
        </p:spPr>
      </p:sp>
      <p:pic>
        <p:nvPicPr>
          <p:cNvPr id="31" name="Image 7" descr="/Users/manan/Coding Data/College/Sem_3_FEE_II/Synora/presentation/assets/logo-lockup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5212080"/>
            <a:ext cx="2286000" cy="58521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D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home for everything you’re studying.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914400" y="6236208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9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Synora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Synora — Project Presentation</dc:title>
  <dc:subject>PptxGenJS Presentation</dc:subject>
  <dc:creator>Synora</dc:creator>
  <cp:lastModifiedBy>Synora</cp:lastModifiedBy>
  <cp:revision>1</cp:revision>
  <dcterms:created xsi:type="dcterms:W3CDTF">2026-08-18T10:16:29Z</dcterms:created>
  <dcterms:modified xsi:type="dcterms:W3CDTF">2026-08-18T10:16:29Z</dcterms:modified>
</cp:coreProperties>
</file>