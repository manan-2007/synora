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7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595"/>
  </p:normalViewPr>
  <p:slideViewPr>
    <p:cSldViewPr snapToGrid="0" snapToObjects="1">
      <p:cViewPr varScale="1">
        <p:scale>
          <a:sx n="115" d="100"/>
          <a:sy n="115" d="100"/>
        </p:scale>
        <p:origin x="103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78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Synora</a:t>
            </a:r>
            <a:r>
              <a:rPr dirty="0"/>
              <a:t> is a real, working student-productivity web app built only with HTML5, CSS3 and vanilla JavaScript. This deck tells the whole story — problem, product, how it's built, which syllabus concepts it uses, and what we added beyond them. Submitted by Manan Kochhar, Arshpreet Kaur and Atharv Bains.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problem is fragmentation. Six disconnected tools, none sharing data — deadlines slip, attendance is done by hand, grades live in fragile spreadsheets. The scattered cards and red warning badges make the pain visible; the red band drives it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relief beat: the eight scattered tools converge into one calm, personalized workspace. Same </a:t>
            </a:r>
            <a:r>
              <a:rPr dirty="0" err="1"/>
              <a:t>colour</a:t>
            </a:r>
            <a:r>
              <a:rPr dirty="0"/>
              <a:t> language as the app (sage), ordered and quiet — deliberately the opposite of the previous slide. The dashboard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Four feature families: Productivity (tasks/calendar/notes), Academic (timetable/attendance/CGPA), Progress (achievements/notifications), Personalization (profile/subjects/avatar/theme). Everything is per-user and saved on-device.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Deliberately minimal stack: HTML5, CSS3, vanilla JS, </a:t>
            </a:r>
            <a:r>
              <a:rPr dirty="0" err="1"/>
              <a:t>localStorage</a:t>
            </a:r>
            <a:r>
              <a:rPr dirty="0"/>
              <a:t> for persistence, Git/GitHub for version control. No React, no bundler — the syllabus building blocks are the whole toolkit. </a:t>
            </a:r>
            <a:r>
              <a:rPr dirty="0" err="1"/>
              <a:t>localStorage</a:t>
            </a:r>
            <a:r>
              <a:rPr dirty="0"/>
              <a:t> is genuinely used (16 call-sites).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Real project tree with headline counts: 14 HTML pages (index + 13 app pages), 7 stylesheets, 18 JS modules, and ZERO frameworks. One page + one module per feature, no build step — the browser opens the files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Data flows from sign-in through personalization into a per-user profile and subject list. Subjects are the single source of truth — attendance, CGPA and timetable all reference a subject by id, so renaming it once renames it everywhere. Everything rolls up to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Semantic tags carry meaning: header/nav/main/section/aside/footer, with aria-labelledby tying a heading to its region. Viva: why semantic HTML? Accessibility, SEO, and a structure our JS can target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flow: landing → sign up → personalize → dashboard. Emphasise that HTML provides the page structure and navigation that stitches the journey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landing page is built from labelled &lt;section&gt; blocks with anchor navigation. Notably the FAQ accordion and mobile menu are pure CSS (a hidden checkbox) — no JS. Contact is a real validated form. Viva: which parts need no JavaScript? The menu and 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Sign up collects first/last name, username, email, password + confirm. Each field uses the correct input type (email/password), which sets the keyboard and gives the browser's native validation. Then confirmation → personalization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Onboarding is a wizard of HTML form controls — radio-style avatar picker, selects for program/semester, repeatable subject rows with a checkbox for attendance tracking, a number input for the target, and a theme choice. This is where each user's workspace is shaped.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Productivity trio: Tasks (priorities + filters), Calendar (deadline timeline), Quick Notes (subject-tagged cards). Each is structured HTML — lists, cards, forms — before any styling or scripting.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Academic trio: Timetable (weekly grid), Attendance (how many classes you can skip and stay above target), CGPA (live 10-point calculator). Note the labelled cards and the chart containers that JS later fills.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Progress + account trio: Achievements (gamified milestones), Notifications (reconciled deadline/attendance alerts), Settings (edit profile/subjects/theme). Structured lists and controls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 framing: accessibility BASICS, not certified WCAG. Genuinely present: 16 labels, 91 aria-*, correct input types, 18 alt attributes, a skip-link and a visually-hidden utility. Viva: what makes a form accessible? Programmatic label-to-input association and correct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CSS built a design SYSTEM, not per-page styling. tokens.css holds 120+ token definitions (85 unique names); light/dark themes swap the same tokens. Viva: why CSS variables? Single source of truth — change a token, the whole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tokens.css is the single source of truth. Everything — colour, type, spacing, radii, shadows, motion — is a CSS custom property in one :root block, grouped by category so it stays organised. Components read the tokens instead of hard-coding values, and dark mode simply re-declares the same names with new values, which is why one theme attribute flips the whole app. Viva: why :root? It's the top-level scope, so every element inherits the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card is a box. .stat-card sets padding (space inside), a 1px border, rounded corners and a soft shadow — all via tokens. Viva: name the four box-model layers inside out — content, padding, border,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Flexbox handles one-dimensional rows: the sticky top bar, toolbars, button groups (116 rules). Properties actually used: display:flex, align-items, gap, flex-wrap. Viva: flex vs grid? Flex = one axis, grid =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Grid handles two-dimensional structure (51 rules): the 7-column calendar, the dashboard's auto-fit stat cards, the notes masonry. Viva: why Grid for the calendar? It's a genuine rows × columns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Mandatory responsive proof — the SAME landing page at 1440/768/390. The grid hero collapses to one column, buttons go full-width, the navbar becomes a hamburger. Strategy is desktop-first: 23 media-query blocks adapting DOWN. The menu is pure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Theming = one attribute. theme.js reads matchMedia for the system preference, lets the saved choice win, sets data-theme on &lt;html&gt;, and the CSS custom properties do the rest. It runs in &lt;head&gt; before first paint so dark-mode users never see a white flash. Persisted in localStorage.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splash is a real UX feature. Three states — splash, handover, landing. Honest mechanism: the animation is pure CSS @keyframes; JavaScript only controls timing (shows ≥ 2000ms, then removes the node); prefers-reduced-motion is honoured.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clear message: without JS the page is frozen; JavaScript makes it respond. The loop is always the same — you act, an event fires, a handler runs, the DOM updates, you see it change. Three concrete examples: completing a task, recomputing attendance, flipping the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engineering pay-off, shown as the actual formulas we coded. Attendance % = attended/held×100. CGPA = Σ(credits×gradePoint)/Σ(credits), fails score 0 but keep their credits. 'Can miss' and 'catch up' are derived from the target inequality. Nothing is stored — it's all computed live from the subject list, per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pay-off slide. The syllabus gave five building blocks; on top we engineered authentication, personalized onboarding, an avatar system, task/calendar/notes, timetable, attendance and CGPA logic, achievements, notifications, theming, and a per-user data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polished showcase — the dashboard plus the core academic screens. This is the visual proof that Synora is a complete, working product, not a demo of isolated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big — 'Thank you' is the hero. Restate the thesis: we used the web-development syllabus as the foundation and built Synora into a complete, responsive, personalized student-productivity platform. The QR links to the live deployment (sample URL — replace before final).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9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12" Type="http://schemas.openxmlformats.org/officeDocument/2006/relationships/image" Target="../media/image18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6.png"/><Relationship Id="rId5" Type="http://schemas.openxmlformats.org/officeDocument/2006/relationships/image" Target="../media/image13.png"/><Relationship Id="rId15" Type="http://schemas.openxmlformats.org/officeDocument/2006/relationships/image" Target="../media/image28.png"/><Relationship Id="rId10" Type="http://schemas.openxmlformats.org/officeDocument/2006/relationships/image" Target="../media/image25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38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7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2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59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67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67.png"/><Relationship Id="rId4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7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74.png"/><Relationship Id="rId4" Type="http://schemas.openxmlformats.org/officeDocument/2006/relationships/image" Target="../media/image76.png"/><Relationship Id="rId9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6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7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79.png"/><Relationship Id="rId10" Type="http://schemas.openxmlformats.org/officeDocument/2006/relationships/image" Target="../media/image16.png"/><Relationship Id="rId4" Type="http://schemas.openxmlformats.org/officeDocument/2006/relationships/image" Target="../media/image78.png"/><Relationship Id="rId9" Type="http://schemas.openxmlformats.org/officeDocument/2006/relationships/image" Target="../media/image15.png"/><Relationship Id="rId1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4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-lockup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8640"/>
            <a:ext cx="1920240" cy="492984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40080" y="1965960"/>
            <a:ext cx="5943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One </a:t>
            </a:r>
            <a:r>
              <a:rPr sz="4300" b="1">
                <a:solidFill>
                  <a:srgbClr val="9FB6A6"/>
                </a:solidFill>
                <a:latin typeface="Arial"/>
              </a:rPr>
              <a:t>calm</a:t>
            </a:r>
            <a:r>
              <a:rPr sz="4300" b="1">
                <a:solidFill>
                  <a:srgbClr val="F3F1EC"/>
                </a:solidFill>
                <a:latin typeface="Arial"/>
              </a:rPr>
              <a:t> home</a:t>
            </a:r>
          </a:p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for everything</a:t>
            </a:r>
          </a:p>
          <a:p>
            <a:pPr algn="l">
              <a:lnSpc>
                <a:spcPct val="102000"/>
              </a:lnSpc>
            </a:pPr>
            <a:r>
              <a:rPr sz="4300" b="1">
                <a:solidFill>
                  <a:srgbClr val="F3F1EC"/>
                </a:solidFill>
                <a:latin typeface="Arial"/>
              </a:rPr>
              <a:t>you're studying.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9AA2AC"/>
                </a:solidFill>
                <a:latin typeface="Arial"/>
              </a:rPr>
              <a:t>Student Productivity &amp; Academic Management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651052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HTML5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9148" y="4754880"/>
            <a:ext cx="583021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CSS3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30186" y="4754880"/>
            <a:ext cx="991209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9411" y="4754880"/>
            <a:ext cx="514990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DOM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92417" y="4754880"/>
            <a:ext cx="719084" cy="365760"/>
          </a:xfrm>
          <a:prstGeom prst="roundRect">
            <a:avLst>
              <a:gd name="adj" fmla="val 50000"/>
            </a:avLst>
          </a:prstGeom>
          <a:solidFill>
            <a:srgbClr val="2B2F37"/>
          </a:solidFill>
          <a:ln w="12700">
            <a:solidFill>
              <a:srgbClr val="536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3F1EC"/>
                </a:solidFill>
                <a:latin typeface="Arial"/>
              </a:rPr>
              <a:t>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2356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80">
                <a:solidFill>
                  <a:srgbClr val="C9B9AE"/>
                </a:solidFill>
                <a:latin typeface="Arial"/>
              </a:rPr>
              <a:t>SUBMITTED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0702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3F1EC"/>
                </a:solidFill>
                <a:latin typeface="Arial"/>
              </a:rPr>
              <a:t>Manan Kochhar    ·    Arshpreet Kaur    ·    Atharv Bains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828800"/>
            <a:ext cx="4846320" cy="30289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ashboard_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828800"/>
            <a:ext cx="4846320" cy="3028949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6766560" y="51206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AA2AC"/>
                </a:solidFill>
                <a:latin typeface="Arial"/>
              </a:rPr>
              <a:t>The Synora dashboard — a live, working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98932"/>
            <a:ext cx="123444" cy="123444"/>
          </a:xfrm>
          <a:prstGeom prst="ellipse">
            <a:avLst/>
          </a:prstGeom>
          <a:solidFill>
            <a:srgbClr val="C6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67A6C"/>
                </a:solidFill>
                <a:latin typeface="Arial"/>
              </a:rPr>
              <a:t>01 ·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6868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A student's semester is scattered across apps that never talk.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46888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9848" y="269748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-square-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965" y="2811597"/>
            <a:ext cx="247253" cy="24725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691640" y="246888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To-do app</a:t>
            </a:r>
          </a:p>
        </p:txBody>
      </p:sp>
      <p:pic>
        <p:nvPicPr>
          <p:cNvPr id="20" name="Picture 19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2615184"/>
            <a:ext cx="274320" cy="274320"/>
          </a:xfrm>
          <a:prstGeom prst="rect">
            <a:avLst/>
          </a:prstGeom>
          <a:effectLst/>
        </p:spPr>
      </p:pic>
      <p:sp>
        <p:nvSpPr>
          <p:cNvPr id="21" name="Rounded Rectangle 20"/>
          <p:cNvSpPr/>
          <p:nvPr/>
        </p:nvSpPr>
        <p:spPr>
          <a:xfrm>
            <a:off x="4297680" y="224028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98848" y="246888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file-text-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965" y="2582997"/>
            <a:ext cx="247253" cy="247253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5120640" y="224028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Sticky notes</a:t>
            </a:r>
          </a:p>
        </p:txBody>
      </p:sp>
      <p:pic>
        <p:nvPicPr>
          <p:cNvPr id="25" name="Picture 24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386584"/>
            <a:ext cx="274320" cy="274320"/>
          </a:xfrm>
          <a:prstGeom prst="rect">
            <a:avLst/>
          </a:prstGeom>
          <a:effectLst/>
        </p:spPr>
      </p:pic>
      <p:sp>
        <p:nvSpPr>
          <p:cNvPr id="26" name="Rounded Rectangle 25"/>
          <p:cNvSpPr/>
          <p:nvPr/>
        </p:nvSpPr>
        <p:spPr>
          <a:xfrm>
            <a:off x="7726679" y="260604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27848" y="283464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percent-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965" y="2948757"/>
            <a:ext cx="247253" cy="247253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8549640" y="260604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Attendance sheet</a:t>
            </a:r>
          </a:p>
        </p:txBody>
      </p:sp>
      <p:pic>
        <p:nvPicPr>
          <p:cNvPr id="30" name="Picture 29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5" y="2752344"/>
            <a:ext cx="274320" cy="274320"/>
          </a:xfrm>
          <a:prstGeom prst="rect">
            <a:avLst/>
          </a:prstGeom>
          <a:effectLst/>
        </p:spPr>
      </p:pic>
      <p:sp>
        <p:nvSpPr>
          <p:cNvPr id="31" name="Rounded Rectangle 30"/>
          <p:cNvSpPr/>
          <p:nvPr/>
        </p:nvSpPr>
        <p:spPr>
          <a:xfrm>
            <a:off x="1325880" y="393192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527048" y="416052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alendar-s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1165" y="4274637"/>
            <a:ext cx="247253" cy="24725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2148840" y="393192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Wall calendar</a:t>
            </a:r>
          </a:p>
        </p:txBody>
      </p:sp>
      <p:pic>
        <p:nvPicPr>
          <p:cNvPr id="35" name="Picture 34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4078224"/>
            <a:ext cx="274320" cy="274320"/>
          </a:xfrm>
          <a:prstGeom prst="rect">
            <a:avLst/>
          </a:prstGeom>
          <a:effectLst/>
        </p:spPr>
      </p:pic>
      <p:sp>
        <p:nvSpPr>
          <p:cNvPr id="36" name="Rounded Rectangle 35"/>
          <p:cNvSpPr/>
          <p:nvPr/>
        </p:nvSpPr>
        <p:spPr>
          <a:xfrm>
            <a:off x="4754880" y="420624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56048" y="443484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bell-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165" y="4548957"/>
            <a:ext cx="247253" cy="247253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5577840" y="420624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Reminders</a:t>
            </a:r>
          </a:p>
        </p:txBody>
      </p:sp>
      <p:pic>
        <p:nvPicPr>
          <p:cNvPr id="40" name="Picture 39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352544"/>
            <a:ext cx="274320" cy="274320"/>
          </a:xfrm>
          <a:prstGeom prst="rect">
            <a:avLst/>
          </a:prstGeom>
          <a:effectLst/>
        </p:spPr>
      </p:pic>
      <p:sp>
        <p:nvSpPr>
          <p:cNvPr id="41" name="Rounded Rectangle 40"/>
          <p:cNvSpPr/>
          <p:nvPr/>
        </p:nvSpPr>
        <p:spPr>
          <a:xfrm>
            <a:off x="8229600" y="3886200"/>
            <a:ext cx="2514600" cy="9326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651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30768" y="4114800"/>
            <a:ext cx="475488" cy="475488"/>
          </a:xfrm>
          <a:prstGeom prst="ellipse">
            <a:avLst/>
          </a:prstGeom>
          <a:solidFill>
            <a:srgbClr val="F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bar-chart-2-sl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4885" y="4228917"/>
            <a:ext cx="247253" cy="247253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9052560" y="3886200"/>
            <a:ext cx="14173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Grades sheet</a:t>
            </a:r>
          </a:p>
        </p:txBody>
      </p:sp>
      <p:pic>
        <p:nvPicPr>
          <p:cNvPr id="45" name="Picture 44" descr="alert-triangle-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4032504"/>
            <a:ext cx="274320" cy="274320"/>
          </a:xfrm>
          <a:prstGeom prst="rect">
            <a:avLst/>
          </a:prstGeom>
          <a:effectLst/>
        </p:spPr>
      </p:pic>
      <p:sp>
        <p:nvSpPr>
          <p:cNvPr id="46" name="Rounded Rectangle 45"/>
          <p:cNvSpPr/>
          <p:nvPr/>
        </p:nvSpPr>
        <p:spPr>
          <a:xfrm>
            <a:off x="640080" y="5596128"/>
            <a:ext cx="10911535" cy="713232"/>
          </a:xfrm>
          <a:prstGeom prst="roundRect">
            <a:avLst>
              <a:gd name="adj" fmla="val 12000"/>
            </a:avLst>
          </a:prstGeom>
          <a:solidFill>
            <a:srgbClr val="FBEEE9"/>
          </a:solidFill>
          <a:ln w="16510">
            <a:solidFill>
              <a:srgbClr val="E8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14400" y="5724144"/>
            <a:ext cx="457200" cy="457200"/>
          </a:xfrm>
          <a:prstGeom prst="ellipse">
            <a:avLst/>
          </a:prstGeom>
          <a:solidFill>
            <a:srgbClr val="C6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alert-triangle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8" y="5833872"/>
            <a:ext cx="237744" cy="237744"/>
          </a:xfrm>
          <a:prstGeom prst="rect">
            <a:avLst/>
          </a:prstGeom>
          <a:effectLst/>
        </p:spPr>
      </p:pic>
      <p:sp>
        <p:nvSpPr>
          <p:cNvPr id="49" name="TextBox 48"/>
          <p:cNvSpPr txBox="1"/>
          <p:nvPr/>
        </p:nvSpPr>
        <p:spPr>
          <a:xfrm>
            <a:off x="1572768" y="5596128"/>
            <a:ext cx="9631375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C67A6C"/>
                </a:solidFill>
                <a:latin typeface="Arial"/>
              </a:rPr>
              <a:t>Six apps.  </a:t>
            </a:r>
            <a:r>
              <a:rPr sz="1350" b="0">
                <a:solidFill>
                  <a:srgbClr val="22252B"/>
                </a:solidFill>
                <a:latin typeface="Arial"/>
              </a:rPr>
              <a:t>Zero that talk to each other — so deadlines slip through the gaps and nothing sees the whole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98932"/>
            <a:ext cx="123444" cy="123444"/>
          </a:xfrm>
          <a:prstGeom prst="ellipse">
            <a:avLst/>
          </a:prstGeom>
          <a:solidFill>
            <a:srgbClr val="45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455A50"/>
                </a:solidFill>
                <a:latin typeface="Arial"/>
              </a:rPr>
              <a:t>01 ·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6868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Eight tools, gathered into one calm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28800"/>
            <a:ext cx="306324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21031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-squar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820" y="2175540"/>
            <a:ext cx="184343" cy="18434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371600" y="21031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25603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alendar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820" y="2632740"/>
            <a:ext cx="184343" cy="18434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371600" y="25603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0175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feather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820" y="3089940"/>
            <a:ext cx="184343" cy="184343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371600" y="30175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Notes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34747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grid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820" y="3547140"/>
            <a:ext cx="184343" cy="184343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1371600" y="34747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39319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percent-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20" y="4004340"/>
            <a:ext cx="184343" cy="184343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371600" y="39319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43891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trending-up-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20" y="4461540"/>
            <a:ext cx="184343" cy="18434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371600" y="43891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48463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award-s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820" y="4918740"/>
            <a:ext cx="184343" cy="184343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1371600" y="48463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303520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bell-s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820" y="5375940"/>
            <a:ext cx="184343" cy="184343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371600" y="530352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3840480" y="3749039"/>
            <a:ext cx="457200" cy="274320"/>
          </a:xfrm>
          <a:prstGeom prst="rightArrow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434840" y="3063240"/>
            <a:ext cx="1645920" cy="1645920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logo-mark-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401568"/>
            <a:ext cx="457200" cy="420813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4434840" y="3977639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Synora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263640" y="3749039"/>
            <a:ext cx="457200" cy="274320"/>
          </a:xfrm>
          <a:prstGeom prst="rightArrow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12280" y="2148840"/>
            <a:ext cx="4754880" cy="2971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dashboard_deskt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280" y="2148840"/>
            <a:ext cx="4754880" cy="2971800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6812280" y="51206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One dashboard for the whole semester.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Arial"/>
              </a:rPr>
              <a:t>One account.  </a:t>
            </a:r>
            <a:r>
              <a:rPr sz="1250" b="0">
                <a:solidFill>
                  <a:srgbClr val="606772"/>
                </a:solidFill>
                <a:latin typeface="Arial"/>
              </a:rPr>
              <a:t>One quiet home — personal to each student, on every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01 ·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What is Synora?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A personalized student productivity workspace — academic planning, task management and performance tracking in one interface. Its features fall into four groups: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2560320"/>
            <a:ext cx="566928" cy="56692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heck-squar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4" y="2696382"/>
            <a:ext cx="294802" cy="294802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572768" y="2560320"/>
            <a:ext cx="160934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Productivity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40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heck-square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" y="3646627"/>
            <a:ext cx="204825" cy="204825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1389888" y="356616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alendar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" y="4213555"/>
            <a:ext cx="204825" cy="204825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1389888" y="4133087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eather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" y="4780483"/>
            <a:ext cx="204825" cy="204825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1389888" y="4700016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553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661562" y="2560320"/>
            <a:ext cx="566928" cy="566928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book-open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625" y="2696382"/>
            <a:ext cx="294802" cy="294802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4338218" y="2560320"/>
            <a:ext cx="160934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Academic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6156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67985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grid-tau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0317" y="3646627"/>
            <a:ext cx="204825" cy="204825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4155338" y="356616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39" name="Oval 38"/>
          <p:cNvSpPr/>
          <p:nvPr/>
        </p:nvSpPr>
        <p:spPr>
          <a:xfrm>
            <a:off x="367985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percent-taup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0317" y="4213555"/>
            <a:ext cx="204825" cy="204825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155338" y="4133087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42" name="Oval 41"/>
          <p:cNvSpPr/>
          <p:nvPr/>
        </p:nvSpPr>
        <p:spPr>
          <a:xfrm>
            <a:off x="3679850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trending-up-taup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0317" y="4780483"/>
            <a:ext cx="204825" cy="204825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4155338" y="4700016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0980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427012" y="2560320"/>
            <a:ext cx="566928" cy="56692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award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3075" y="2696382"/>
            <a:ext cx="294802" cy="294802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7103668" y="2560320"/>
            <a:ext cx="160934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Progress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27012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445300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award-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5768" y="3646627"/>
            <a:ext cx="204825" cy="204825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6920788" y="356616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53" name="Oval 52"/>
          <p:cNvSpPr/>
          <p:nvPr/>
        </p:nvSpPr>
        <p:spPr>
          <a:xfrm>
            <a:off x="6445300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bell-s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5768" y="4213555"/>
            <a:ext cx="204825" cy="204825"/>
          </a:xfrm>
          <a:prstGeom prst="rect">
            <a:avLst/>
          </a:prstGeom>
          <a:effectLst/>
        </p:spPr>
      </p:pic>
      <p:sp>
        <p:nvSpPr>
          <p:cNvPr id="55" name="TextBox 54"/>
          <p:cNvSpPr txBox="1"/>
          <p:nvPr/>
        </p:nvSpPr>
        <p:spPr>
          <a:xfrm>
            <a:off x="6920788" y="4133087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36431" y="2286000"/>
            <a:ext cx="2615184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92463" y="2560320"/>
            <a:ext cx="566928" cy="566928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user-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8525" y="2696382"/>
            <a:ext cx="294802" cy="294802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9869119" y="2560320"/>
            <a:ext cx="1609343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2252B"/>
                </a:solidFill>
                <a:latin typeface="Arial"/>
              </a:rPr>
              <a:t>Personalization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92463" y="3346704"/>
            <a:ext cx="2103120" cy="0"/>
          </a:xfrm>
          <a:prstGeom prst="line">
            <a:avLst/>
          </a:prstGeom>
          <a:ln w="1270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9210751" y="3566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user-taup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1218" y="3646627"/>
            <a:ext cx="204825" cy="204825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9686239" y="3566160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Profile</a:t>
            </a:r>
          </a:p>
        </p:txBody>
      </p:sp>
      <p:sp>
        <p:nvSpPr>
          <p:cNvPr id="64" name="Oval 63"/>
          <p:cNvSpPr/>
          <p:nvPr/>
        </p:nvSpPr>
        <p:spPr>
          <a:xfrm>
            <a:off x="9210751" y="4133087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ayers-taup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1218" y="4213555"/>
            <a:ext cx="204825" cy="204825"/>
          </a:xfrm>
          <a:prstGeom prst="rect">
            <a:avLst/>
          </a:prstGeom>
          <a:effectLst/>
        </p:spPr>
      </p:pic>
      <p:sp>
        <p:nvSpPr>
          <p:cNvPr id="66" name="TextBox 65"/>
          <p:cNvSpPr txBox="1"/>
          <p:nvPr/>
        </p:nvSpPr>
        <p:spPr>
          <a:xfrm>
            <a:off x="9686239" y="4133087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Subjects</a:t>
            </a:r>
          </a:p>
        </p:txBody>
      </p:sp>
      <p:sp>
        <p:nvSpPr>
          <p:cNvPr id="67" name="Oval 66"/>
          <p:cNvSpPr/>
          <p:nvPr/>
        </p:nvSpPr>
        <p:spPr>
          <a:xfrm>
            <a:off x="9210751" y="4700016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eye-taup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1218" y="4780483"/>
            <a:ext cx="204825" cy="204825"/>
          </a:xfrm>
          <a:prstGeom prst="rect">
            <a:avLst/>
          </a:prstGeom>
          <a:effectLst/>
        </p:spPr>
      </p:pic>
      <p:sp>
        <p:nvSpPr>
          <p:cNvPr id="69" name="TextBox 68"/>
          <p:cNvSpPr txBox="1"/>
          <p:nvPr/>
        </p:nvSpPr>
        <p:spPr>
          <a:xfrm>
            <a:off x="9686239" y="4700016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2252B"/>
                </a:solidFill>
                <a:latin typeface="Arial"/>
              </a:rPr>
              <a:t>Avatar &amp;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01 · 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06772"/>
                </a:solidFill>
                <a:latin typeface="Arial"/>
              </a:rPr>
              <a:t>Core web technologies only — no frameworks, no build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48840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86384" y="224028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od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33" y="2341229"/>
            <a:ext cx="218724" cy="218724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17319" y="2148840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HTML5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14884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Structure &amp; semantics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62072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6384" y="2953512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ayers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33" y="3054461"/>
            <a:ext cx="218724" cy="21872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417319" y="2862072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CSS3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2862072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Design system + responsive layout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75304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6384" y="3666744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pu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33" y="3767693"/>
            <a:ext cx="218724" cy="21872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1417319" y="3575304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575304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Logic, state &amp; interactivity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88536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86384" y="4379975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git-bra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333" y="4480925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417319" y="428853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DOM 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28853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A live, dynamic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01768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86384" y="5093208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databas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333" y="5194157"/>
            <a:ext cx="218724" cy="218724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1417319" y="500176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localStorage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001768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Per-user persistence in the browser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715000"/>
            <a:ext cx="7315200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86384" y="5806440"/>
            <a:ext cx="420624" cy="420624"/>
          </a:xfrm>
          <a:prstGeom prst="ellipse">
            <a:avLst/>
          </a:prstGeom>
          <a:solidFill>
            <a:srgbClr val="A3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github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333" y="5907389"/>
            <a:ext cx="218724" cy="218724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1417319" y="5715000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252B"/>
                </a:solidFill>
                <a:latin typeface="Arial"/>
              </a:rPr>
              <a:t>Git &amp;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715000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Version control</a:t>
            </a:r>
          </a:p>
        </p:txBody>
      </p:sp>
      <p:pic>
        <p:nvPicPr>
          <p:cNvPr id="47" name="Picture 46" descr="illo_sta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2148840"/>
            <a:ext cx="3291840" cy="2852928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8138160" y="49560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Courier New"/>
              </a:rPr>
              <a:t>HTML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CSS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JS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455A50"/>
                </a:solidFill>
                <a:latin typeface="Courier New"/>
              </a:rPr>
              <a:t>DOM</a:t>
            </a:r>
            <a:r>
              <a:rPr sz="1100" b="0">
                <a:solidFill>
                  <a:srgbClr val="A3AEB1"/>
                </a:solidFill>
                <a:latin typeface="Arial"/>
              </a:rPr>
              <a:t> → </a:t>
            </a:r>
            <a:r>
              <a:rPr sz="1100" b="1">
                <a:solidFill>
                  <a:srgbClr val="B09F95"/>
                </a:solidFill>
                <a:latin typeface="Courier New"/>
              </a:rPr>
              <a:t>Events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02 ·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How the project is structured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630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No framework, no build step — files a browser opens directly. One page and one module per feature.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993392"/>
            <a:ext cx="67208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2212848"/>
            <a:ext cx="6309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050" b="1">
                <a:solidFill>
                  <a:srgbClr val="22252B"/>
                </a:solidFill>
                <a:latin typeface="Courier New"/>
              </a:rPr>
              <a:t>Synora/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index.html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Landing page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notes.html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Project &amp; viva doc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README.md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Documentation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app/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   the signed-in workspace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dashboard.html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Home overview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tasks.html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Task manager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cgpa.html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CGPA calculator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10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timetable, attendance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scripts/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18 vanilla-JS modules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app.js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Shared core + helpers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storage.js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localStorage layer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16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auth, theme, tasks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├──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styles/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7 stylesheets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├──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tokens.css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Design tokens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│   └── </a:t>
            </a:r>
            <a:r>
              <a:rPr sz="1050" b="0">
                <a:solidFill>
                  <a:srgbClr val="22252B"/>
                </a:solidFill>
                <a:latin typeface="Courier New"/>
              </a:rPr>
              <a:t>… 6 more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base, components …</a:t>
            </a:r>
          </a:p>
          <a:p>
            <a:pPr>
              <a:lnSpc>
                <a:spcPct val="136000"/>
              </a:lnSpc>
            </a:pPr>
            <a:r>
              <a:rPr sz="1050" b="0">
                <a:solidFill>
                  <a:srgbClr val="AEB6BC"/>
                </a:solidFill>
                <a:latin typeface="Courier New"/>
              </a:rPr>
              <a:t>└── </a:t>
            </a:r>
            <a:r>
              <a:rPr sz="1050" b="1">
                <a:solidFill>
                  <a:srgbClr val="455A50"/>
                </a:solidFill>
                <a:latin typeface="Courier New"/>
              </a:rPr>
              <a:t>assets/</a:t>
            </a:r>
            <a:r>
              <a:rPr sz="1050" b="0">
                <a:solidFill>
                  <a:srgbClr val="A3AEB1"/>
                </a:solidFill>
                <a:latin typeface="Courier New"/>
              </a:rPr>
              <a:t>             logos · avatars · icons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993392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0" y="1993392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53655C"/>
                </a:solidFill>
                <a:latin typeface="Arial"/>
              </a:rPr>
              <a:t>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2212848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0" y="1993392"/>
            <a:ext cx="18745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HTML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063240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3063240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B09F95"/>
                </a:solidFill>
                <a:latin typeface="Arial"/>
              </a:rPr>
              <a:t>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3282696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0" y="3063240"/>
            <a:ext cx="18745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CSS files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133087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0" y="4133087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53655C"/>
                </a:solidFill>
                <a:latin typeface="Arial"/>
              </a:rPr>
              <a:t>18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4352544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0" y="4133087"/>
            <a:ext cx="18745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JS modules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202936"/>
            <a:ext cx="379476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0" y="5202936"/>
            <a:ext cx="137160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B09F95"/>
                </a:solidFill>
                <a:latin typeface="Arial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5422392"/>
            <a:ext cx="0" cy="493776"/>
          </a:xfrm>
          <a:prstGeom prst="line">
            <a:avLst/>
          </a:prstGeom>
          <a:ln w="1778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601200" y="5202936"/>
            <a:ext cx="187452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252B"/>
                </a:solidFill>
                <a:latin typeface="Arial"/>
              </a:rPr>
              <a:t>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02 ·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Data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3" y="2112264"/>
            <a:ext cx="10253167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 rot="5400000">
            <a:off x="2608021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 rot="5400000">
            <a:off x="5995263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9382506" y="2057400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080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3" y="1963033"/>
            <a:ext cx="389900" cy="389900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-36576" y="2651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User</a:t>
            </a:r>
          </a:p>
        </p:txBody>
      </p:sp>
      <p:sp>
        <p:nvSpPr>
          <p:cNvPr id="23" name="Oval 22"/>
          <p:cNvSpPr/>
          <p:nvPr/>
        </p:nvSpPr>
        <p:spPr>
          <a:xfrm>
            <a:off x="4027322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276" y="1963033"/>
            <a:ext cx="389900" cy="38990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3350666" y="2651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Sign in</a:t>
            </a:r>
          </a:p>
        </p:txBody>
      </p:sp>
      <p:sp>
        <p:nvSpPr>
          <p:cNvPr id="26" name="Oval 25"/>
          <p:cNvSpPr/>
          <p:nvPr/>
        </p:nvSpPr>
        <p:spPr>
          <a:xfrm>
            <a:off x="7414564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lider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518" y="1963033"/>
            <a:ext cx="389900" cy="389900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6737908" y="2651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Personalize</a:t>
            </a:r>
          </a:p>
        </p:txBody>
      </p:sp>
      <p:sp>
        <p:nvSpPr>
          <p:cNvPr id="29" name="Oval 28"/>
          <p:cNvSpPr/>
          <p:nvPr/>
        </p:nvSpPr>
        <p:spPr>
          <a:xfrm>
            <a:off x="10801807" y="1783080"/>
            <a:ext cx="749808" cy="749808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lay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761" y="1963033"/>
            <a:ext cx="389900" cy="38990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0125151" y="26517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Profile + Subjects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976975" y="2971800"/>
            <a:ext cx="237744" cy="347472"/>
          </a:xfrm>
          <a:prstGeom prst="downArrow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0" y="3401568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40">
                <a:solidFill>
                  <a:srgbClr val="B09F95"/>
                </a:solidFill>
                <a:latin typeface="Arial"/>
              </a:rPr>
              <a:t>SUBJECTS ARE THE SOURCE OF TRUTH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3694176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6772"/>
                </a:solidFill>
                <a:latin typeface="Arial"/>
              </a:rPr>
              <a:t>every academic feature references a subject by its 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5167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72387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check-squar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115" y="4361688"/>
            <a:ext cx="237744" cy="23774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655167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93111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110331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feather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0059" y="4361688"/>
            <a:ext cx="237744" cy="237744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2493111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Notes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31055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948275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grid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8003" y="4361688"/>
            <a:ext cx="237744" cy="237744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4331055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8999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786219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percent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5947" y="4361688"/>
            <a:ext cx="237744" cy="237744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6168999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6943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624163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trending-up-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3891" y="4361688"/>
            <a:ext cx="237744" cy="237744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8006943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44887" y="4114800"/>
            <a:ext cx="1691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462107" y="4251960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award-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71835" y="4361688"/>
            <a:ext cx="237744" cy="237744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9844887" y="4690872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5976975" y="5120640"/>
            <a:ext cx="237744" cy="310896"/>
          </a:xfrm>
          <a:prstGeom prst="downArrow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657600" y="5541264"/>
            <a:ext cx="4876495" cy="768096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0" y="5541264"/>
            <a:ext cx="4876495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3F1EC"/>
                </a:solidFill>
                <a:latin typeface="Arial"/>
              </a:rPr>
              <a:t>Dashboard</a:t>
            </a:r>
            <a:r>
              <a:rPr sz="1300" b="0">
                <a:solidFill>
                  <a:srgbClr val="9AA2AC"/>
                </a:solidFill>
                <a:latin typeface="Arial"/>
              </a:rPr>
              <a:t>   —  one live view of everything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structure behind Synora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517904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Every page is written with semantic HTML5 — elements that describe what each region means, not just how it looks. The browser, assistive tech and our own JavaScript all read that same structure.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3163092"/>
            <a:ext cx="184343" cy="184343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1097280" y="3108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&lt;header&gt;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site header + nav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5478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3620292"/>
            <a:ext cx="184343" cy="18434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1097280" y="3566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&lt;main&gt;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×14 primary content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0050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4077492"/>
            <a:ext cx="184343" cy="184343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1097280" y="4023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&lt;section&gt;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×11 labelled regions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622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4534692"/>
            <a:ext cx="184343" cy="184343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1097280" y="44805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&lt;aside&gt;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×12 sidebar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9194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4991892"/>
            <a:ext cx="184343" cy="184343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1097280" y="4937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&lt;footer&gt;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landing footer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5376672"/>
            <a:ext cx="329184" cy="329184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ode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5449092"/>
            <a:ext cx="184343" cy="184343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097280" y="5394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Courier New"/>
              </a:rPr>
              <a:t>&lt;figure&gt;</a:t>
            </a:r>
            <a:r>
              <a:rPr sz="1100" b="0">
                <a:solidFill>
                  <a:srgbClr val="A3AEB1"/>
                </a:solidFill>
                <a:latin typeface="Arial"/>
              </a:rPr>
              <a:t>   ×3 media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9320" y="1481328"/>
            <a:ext cx="5596128" cy="3164799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227064" y="1636776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91655" y="1636776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56248" y="1636776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93992" y="1572768"/>
            <a:ext cx="45537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index.html — landing 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27064" y="1996135"/>
            <a:ext cx="5120640" cy="2529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&lt;header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"site-header"</a:t>
            </a:r>
            <a:r>
              <a:rPr sz="1250">
                <a:solidFill>
                  <a:srgbClr val="D6C6B8"/>
                </a:solidFill>
                <a:latin typeface="Courier New"/>
              </a:rPr>
              <a:t>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&lt;nav </a:t>
            </a:r>
            <a:r>
              <a:rPr sz="1250">
                <a:solidFill>
                  <a:srgbClr val="A9C3B0"/>
                </a:solidFill>
                <a:latin typeface="Courier New"/>
              </a:rPr>
              <a:t>aria-label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"Primary"</a:t>
            </a:r>
            <a:r>
              <a:rPr sz="1250">
                <a:solidFill>
                  <a:srgbClr val="D6C6B8"/>
                </a:solidFill>
                <a:latin typeface="Courier New"/>
              </a:rPr>
              <a:t>&gt; … &lt;/nav&gt;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&lt;/header&gt;</a:t>
            </a:r>
          </a:p>
          <a:p>
            <a:pPr>
              <a:lnSpc>
                <a:spcPct val="128000"/>
              </a:lnSpc>
            </a:pPr>
            <a:endParaRPr sz="1250">
              <a:solidFill>
                <a:srgbClr val="D6C6B8"/>
              </a:solidFill>
              <a:latin typeface="Courier New"/>
            </a:endParaRP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&lt;main </a:t>
            </a:r>
            <a:r>
              <a:rPr sz="1250">
                <a:solidFill>
                  <a:srgbClr val="A9C3B0"/>
                </a:solidFill>
                <a:latin typeface="Courier New"/>
              </a:rPr>
              <a:t>id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"main"</a:t>
            </a:r>
            <a:r>
              <a:rPr sz="1250">
                <a:solidFill>
                  <a:srgbClr val="D6C6B8"/>
                </a:solidFill>
                <a:latin typeface="Courier New"/>
              </a:rPr>
              <a:t>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&lt;section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"hero"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&gt;…&lt;/section&gt;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&lt;section </a:t>
            </a:r>
            <a:r>
              <a:rPr sz="1250">
                <a:solidFill>
                  <a:srgbClr val="A9C3B0"/>
                </a:solidFill>
                <a:latin typeface="Courier New"/>
              </a:rPr>
              <a:t>aria-labelledby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"features"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  &lt;/section&gt;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&lt;/main&gt;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&lt;footer </a:t>
            </a:r>
            <a:r>
              <a:rPr sz="1250">
                <a:solidFill>
                  <a:srgbClr val="A9C3B0"/>
                </a:solidFill>
                <a:latin typeface="Courier New"/>
              </a:rPr>
              <a:t>class</a:t>
            </a:r>
            <a:r>
              <a:rPr sz="1250">
                <a:solidFill>
                  <a:srgbClr val="E7EAEE"/>
                </a:solidFill>
                <a:latin typeface="Courier New"/>
              </a:rPr>
              <a:t>=</a:t>
            </a:r>
            <a:r>
              <a:rPr sz="1250">
                <a:solidFill>
                  <a:srgbClr val="CBB69F"/>
                </a:solidFill>
                <a:latin typeface="Courier New"/>
              </a:rPr>
              <a:t>"site-footer"</a:t>
            </a:r>
            <a:r>
              <a:rPr sz="1250">
                <a:solidFill>
                  <a:srgbClr val="D6C6B8"/>
                </a:solidFill>
                <a:latin typeface="Courier New"/>
              </a:rPr>
              <a:t>&gt;…&lt;/footer&gt;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6035040"/>
            <a:ext cx="55961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3AEB1"/>
                </a:solidFill>
                <a:latin typeface="Arial"/>
              </a:rPr>
              <a:t>Real markup from index.html — trimmed.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User journey: landing to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Five HTML pages, one continuous flow — structure and links carry the user through.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anding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2542032" cy="1588769"/>
          </a:xfrm>
          <a:prstGeom prst="rect">
            <a:avLst/>
          </a:prstGeom>
          <a:effectLst/>
        </p:spPr>
      </p:pic>
      <p:sp>
        <p:nvSpPr>
          <p:cNvPr id="19" name="Rounded Rectangle 18"/>
          <p:cNvSpPr/>
          <p:nvPr/>
        </p:nvSpPr>
        <p:spPr>
          <a:xfrm>
            <a:off x="777240" y="2231136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index.html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765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Landing</a:t>
            </a:r>
          </a:p>
        </p:txBody>
      </p:sp>
      <p:sp>
        <p:nvSpPr>
          <p:cNvPr id="21" name="Chevron 20"/>
          <p:cNvSpPr/>
          <p:nvPr/>
        </p:nvSpPr>
        <p:spPr>
          <a:xfrm>
            <a:off x="3214573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429914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ig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914" y="2377440"/>
            <a:ext cx="2542032" cy="1588769"/>
          </a:xfrm>
          <a:prstGeom prst="rect">
            <a:avLst/>
          </a:prstGeom>
          <a:effectLst/>
        </p:spPr>
      </p:pic>
      <p:sp>
        <p:nvSpPr>
          <p:cNvPr id="24" name="Rounded Rectangle 23"/>
          <p:cNvSpPr/>
          <p:nvPr/>
        </p:nvSpPr>
        <p:spPr>
          <a:xfrm>
            <a:off x="3567074" y="2231136"/>
            <a:ext cx="1035100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signup.html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914" y="405765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Sign up</a:t>
            </a:r>
          </a:p>
        </p:txBody>
      </p:sp>
      <p:sp>
        <p:nvSpPr>
          <p:cNvPr id="26" name="Chevron 25"/>
          <p:cNvSpPr/>
          <p:nvPr/>
        </p:nvSpPr>
        <p:spPr>
          <a:xfrm>
            <a:off x="6004407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9748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onboar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748" y="2377440"/>
            <a:ext cx="2542032" cy="1588769"/>
          </a:xfrm>
          <a:prstGeom prst="rect">
            <a:avLst/>
          </a:prstGeom>
          <a:effectLst/>
        </p:spPr>
      </p:pic>
      <p:sp>
        <p:nvSpPr>
          <p:cNvPr id="29" name="Rounded Rectangle 28"/>
          <p:cNvSpPr/>
          <p:nvPr/>
        </p:nvSpPr>
        <p:spPr>
          <a:xfrm>
            <a:off x="6356908" y="223113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onboarding.html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9748" y="405765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Personalize</a:t>
            </a:r>
          </a:p>
        </p:txBody>
      </p:sp>
      <p:sp>
        <p:nvSpPr>
          <p:cNvPr id="31" name="Chevron 30"/>
          <p:cNvSpPr/>
          <p:nvPr/>
        </p:nvSpPr>
        <p:spPr>
          <a:xfrm>
            <a:off x="8794242" y="3062097"/>
            <a:ext cx="241401" cy="219456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09583" y="2377440"/>
            <a:ext cx="2542032" cy="158876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dashboard_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583" y="2377440"/>
            <a:ext cx="2542032" cy="1588769"/>
          </a:xfrm>
          <a:prstGeom prst="rect">
            <a:avLst/>
          </a:prstGeom>
          <a:effectLst/>
        </p:spPr>
      </p:pic>
      <p:sp>
        <p:nvSpPr>
          <p:cNvPr id="34" name="Rounded Rectangle 33"/>
          <p:cNvSpPr/>
          <p:nvPr/>
        </p:nvSpPr>
        <p:spPr>
          <a:xfrm>
            <a:off x="9146743" y="2231136"/>
            <a:ext cx="1232611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urier New"/>
              </a:rPr>
              <a:t>dashboard.html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9583" y="405765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1208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606772"/>
                </a:solidFill>
                <a:latin typeface="Arial"/>
              </a:rPr>
              <a:t>Each page is a self-contained HTML document; anchors and links move between them, and the same navigation structure repeats so the product feels like one continuous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landing page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72768"/>
            <a:ext cx="6995160" cy="43719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anding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72768"/>
            <a:ext cx="6995160" cy="4371975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42646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17895"/>
            <a:ext cx="6995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Hero, navigation and marketing sections.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151790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layou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1627631"/>
            <a:ext cx="237744" cy="237744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385048" y="14813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Hero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177393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headline + product preview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2304288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enu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2414016"/>
            <a:ext cx="237744" cy="237744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385048" y="226771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5603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centred links + theme + auth</a:t>
            </a:r>
          </a:p>
        </p:txBody>
      </p:sp>
      <p:sp>
        <p:nvSpPr>
          <p:cNvPr id="28" name="Oval 27"/>
          <p:cNvSpPr/>
          <p:nvPr/>
        </p:nvSpPr>
        <p:spPr>
          <a:xfrm>
            <a:off x="7818120" y="3090672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gri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48" y="3200400"/>
            <a:ext cx="237744" cy="23774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385048" y="305409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Features / 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3467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semantic sections with IDs</a:t>
            </a:r>
          </a:p>
        </p:txBody>
      </p:sp>
      <p:sp>
        <p:nvSpPr>
          <p:cNvPr id="32" name="Oval 31"/>
          <p:cNvSpPr/>
          <p:nvPr/>
        </p:nvSpPr>
        <p:spPr>
          <a:xfrm>
            <a:off x="7818120" y="3877056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ash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8" y="3986784"/>
            <a:ext cx="237744" cy="23774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8385048" y="38404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FAQ (CSS-only)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413308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accordion, no JavaScript</a:t>
            </a:r>
          </a:p>
        </p:txBody>
      </p:sp>
      <p:sp>
        <p:nvSpPr>
          <p:cNvPr id="36" name="Oval 35"/>
          <p:cNvSpPr/>
          <p:nvPr/>
        </p:nvSpPr>
        <p:spPr>
          <a:xfrm>
            <a:off x="7818120" y="4663440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edit-3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848" y="4773168"/>
            <a:ext cx="237744" cy="23774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8385048" y="46268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91947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a real, validated form</a:t>
            </a:r>
          </a:p>
        </p:txBody>
      </p:sp>
      <p:sp>
        <p:nvSpPr>
          <p:cNvPr id="40" name="Oval 39"/>
          <p:cNvSpPr/>
          <p:nvPr/>
        </p:nvSpPr>
        <p:spPr>
          <a:xfrm>
            <a:off x="7818120" y="544982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chevron-righ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5559552"/>
            <a:ext cx="237744" cy="237744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8385048" y="541324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Footer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8" y="570585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links + sitemap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account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6035040" cy="37718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6035040" cy="3771899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335024"/>
            <a:ext cx="1035100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signup.html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26379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One form, the right input type per field.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1572768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vron-righ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673352"/>
            <a:ext cx="201168" cy="201168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315200" y="153619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1.  Sign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865376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first &amp; last name, username, email, 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011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2468880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hevron-righ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2569464"/>
            <a:ext cx="201168" cy="201168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315200" y="2432304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2.  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761488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account created, stored on this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29077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30" name="Oval 29"/>
          <p:cNvSpPr/>
          <p:nvPr/>
        </p:nvSpPr>
        <p:spPr>
          <a:xfrm>
            <a:off x="6812280" y="3364991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hevron-righ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3465575"/>
            <a:ext cx="201168" cy="201168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7315200" y="3328415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3.  Personalize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657599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onboarding wizard sets up the 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6872" y="380390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5E8EB"/>
                </a:solidFill>
                <a:latin typeface="Arial"/>
              </a:rPr>
              <a:t>│</a:t>
            </a:r>
          </a:p>
        </p:txBody>
      </p:sp>
      <p:sp>
        <p:nvSpPr>
          <p:cNvPr id="35" name="Oval 34"/>
          <p:cNvSpPr/>
          <p:nvPr/>
        </p:nvSpPr>
        <p:spPr>
          <a:xfrm>
            <a:off x="6812280" y="4261104"/>
            <a:ext cx="402336" cy="402336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chevron-right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4361688"/>
            <a:ext cx="201168" cy="201168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315200" y="422452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4. 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553712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populated product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440680"/>
            <a:ext cx="4709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Input types — text, email, password — give the right keyboard and the browser's first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Personalization: building the 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5943600" cy="37147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5943600" cy="371475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0749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app/onboarding.html — a six-step wizard of HTML form controls.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151790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user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627631"/>
            <a:ext cx="237744" cy="23774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315200" y="148132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7922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avatar illustration or initials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34086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ook-open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2450592"/>
            <a:ext cx="237744" cy="237744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7315200" y="230428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Academic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151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program + semester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16382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layers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273552"/>
            <a:ext cx="237744" cy="237744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7315200" y="312724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Subjects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381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name, credits, track attendance?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98678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percen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4096512"/>
            <a:ext cx="237744" cy="237744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7315200" y="395020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2611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target percentage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80974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eye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8" y="4919472"/>
            <a:ext cx="237744" cy="237744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315200" y="477316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Appearance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08406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light or dark theme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Productivity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3566160" cy="222885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66420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tasks.html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heck-squar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49" y="4250039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97864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Create, prioritise, complete — filtered by today / upcoming / overdue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1810512"/>
            <a:ext cx="3566160" cy="235267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767" y="1810512"/>
            <a:ext cx="3566160" cy="2352675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495647" y="1664208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calendar.html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358487" y="4272915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alendar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37" y="4373864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70551" y="4245483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767" y="471182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Every deadline on one timeline; click a day to see what's due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5455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no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5455" y="1810512"/>
            <a:ext cx="3566160" cy="2228850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168335" y="1664208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notes.html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031175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eather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124" y="4250039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543239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Jot lecture notes as cards, tagged by subject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Structured HTML — lists, cards, forms and controls — gives each feature its shape.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Academic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ime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3566160" cy="222885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664208"/>
            <a:ext cx="1232611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timetable.html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gri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49" y="4250039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97864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Your week of classes as an editable grid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attend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767" y="1810512"/>
            <a:ext cx="3566160" cy="2228850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495647" y="1664208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attendance.html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358487" y="4149090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percen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37" y="4250039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70551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767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How many classes you can still miss, per subject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5455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gp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5455" y="1810512"/>
            <a:ext cx="3566160" cy="2228850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168335" y="1664208"/>
            <a:ext cx="903427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cgpa.html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031175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trending-up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124" y="4250039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543239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Live 10-point GPA as you enter credits and grades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Cards, labels, form controls and chart containers structure the academic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Feature walkthrough — Progress &amp;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achiev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0512"/>
            <a:ext cx="3566160" cy="222885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664208"/>
            <a:ext cx="1430121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achievements.html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war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49" y="4250039"/>
            <a:ext cx="218724" cy="218724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1197864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Small wins unlock as you actually use Synora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notific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767" y="1810512"/>
            <a:ext cx="3566160" cy="2228850"/>
          </a:xfrm>
          <a:prstGeom prst="rect">
            <a:avLst/>
          </a:prstGeom>
          <a:effectLst/>
        </p:spPr>
      </p:pic>
      <p:sp>
        <p:nvSpPr>
          <p:cNvPr id="25" name="Rounded Rectangle 24"/>
          <p:cNvSpPr/>
          <p:nvPr/>
        </p:nvSpPr>
        <p:spPr>
          <a:xfrm>
            <a:off x="4495647" y="1664208"/>
            <a:ext cx="1495958" cy="292608"/>
          </a:xfrm>
          <a:prstGeom prst="roundRect">
            <a:avLst>
              <a:gd name="adj" fmla="val 50000"/>
            </a:avLst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notifications.html</a:t>
            </a:r>
          </a:p>
        </p:txBody>
      </p:sp>
      <p:sp>
        <p:nvSpPr>
          <p:cNvPr id="26" name="Oval 25"/>
          <p:cNvSpPr/>
          <p:nvPr/>
        </p:nvSpPr>
        <p:spPr>
          <a:xfrm>
            <a:off x="4358487" y="4149090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bel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37" y="4250039"/>
            <a:ext cx="218724" cy="218724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870551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767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Deadlines, attendance warnings and unlocks in one place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5455" y="1810512"/>
            <a:ext cx="3566160" cy="22288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ett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5455" y="1810512"/>
            <a:ext cx="3566160" cy="2228850"/>
          </a:xfrm>
          <a:prstGeom prst="rect">
            <a:avLst/>
          </a:prstGeom>
          <a:effectLst/>
        </p:spPr>
      </p:pic>
      <p:sp>
        <p:nvSpPr>
          <p:cNvPr id="32" name="Rounded Rectangle 31"/>
          <p:cNvSpPr/>
          <p:nvPr/>
        </p:nvSpPr>
        <p:spPr>
          <a:xfrm>
            <a:off x="8168335" y="1664208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settings.html</a:t>
            </a:r>
          </a:p>
        </p:txBody>
      </p:sp>
      <p:sp>
        <p:nvSpPr>
          <p:cNvPr id="33" name="Oval 32"/>
          <p:cNvSpPr/>
          <p:nvPr/>
        </p:nvSpPr>
        <p:spPr>
          <a:xfrm>
            <a:off x="8031175" y="414909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settings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2124" y="4250039"/>
            <a:ext cx="218724" cy="218724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8543239" y="412165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Settings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5455" y="458800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Profile, subjects, appearance and account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A3AEB1"/>
                </a:solidFill>
                <a:latin typeface="Arial"/>
              </a:rPr>
              <a:t>Status indicators, controls and structured lists — all built from semantic HTML.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03 · HTML5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Forms &amp; accessibility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481328"/>
            <a:ext cx="6126480" cy="382905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6126480" cy="3829050"/>
          </a:xfrm>
          <a:prstGeom prst="rect">
            <a:avLst/>
          </a:prstGeom>
          <a:effectLst/>
        </p:spPr>
      </p:pic>
      <p:sp>
        <p:nvSpPr>
          <p:cNvPr id="18" name="Rounded Rectangle 17"/>
          <p:cNvSpPr/>
          <p:nvPr/>
        </p:nvSpPr>
        <p:spPr>
          <a:xfrm>
            <a:off x="822959" y="1335024"/>
            <a:ext cx="1166774" cy="292608"/>
          </a:xfrm>
          <a:prstGeom prst="roundRect">
            <a:avLst>
              <a:gd name="adj" fmla="val 50000"/>
            </a:avLst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settings.html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8353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Every field has a real &lt;label&gt; and the right input type.</a:t>
            </a:r>
          </a:p>
        </p:txBody>
      </p:sp>
      <p:sp>
        <p:nvSpPr>
          <p:cNvPr id="20" name="Oval 19"/>
          <p:cNvSpPr/>
          <p:nvPr/>
        </p:nvSpPr>
        <p:spPr>
          <a:xfrm>
            <a:off x="6995160" y="1554480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edit-3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1664207"/>
            <a:ext cx="237744" cy="237744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571231" y="153619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Labelled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18288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16 &lt;label&gt; elements — a label focuses its field</a:t>
            </a:r>
          </a:p>
        </p:txBody>
      </p:sp>
      <p:sp>
        <p:nvSpPr>
          <p:cNvPr id="24" name="Oval 23"/>
          <p:cNvSpPr/>
          <p:nvPr/>
        </p:nvSpPr>
        <p:spPr>
          <a:xfrm>
            <a:off x="6995160" y="2395728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ey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505456"/>
            <a:ext cx="237744" cy="237744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571231" y="23774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ARIA where it helps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267004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91 aria-* attributes — labels, live regions</a:t>
            </a:r>
          </a:p>
        </p:txBody>
      </p:sp>
      <p:sp>
        <p:nvSpPr>
          <p:cNvPr id="28" name="Oval 27"/>
          <p:cNvSpPr/>
          <p:nvPr/>
        </p:nvSpPr>
        <p:spPr>
          <a:xfrm>
            <a:off x="6995160" y="3236976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heck-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346704"/>
            <a:ext cx="237744" cy="23774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571231" y="321868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Right input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51129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email, number, date, password</a:t>
            </a:r>
          </a:p>
        </p:txBody>
      </p:sp>
      <p:sp>
        <p:nvSpPr>
          <p:cNvPr id="32" name="Oval 31"/>
          <p:cNvSpPr/>
          <p:nvPr/>
        </p:nvSpPr>
        <p:spPr>
          <a:xfrm>
            <a:off x="6995160" y="407822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layout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4187952"/>
            <a:ext cx="237744" cy="23774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7571231" y="405993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Alt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435254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18 alt attributes; decorative art hidden</a:t>
            </a:r>
          </a:p>
        </p:txBody>
      </p:sp>
      <p:sp>
        <p:nvSpPr>
          <p:cNvPr id="36" name="Oval 35"/>
          <p:cNvSpPr/>
          <p:nvPr/>
        </p:nvSpPr>
        <p:spPr>
          <a:xfrm>
            <a:off x="6995160" y="4919472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move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5029200"/>
            <a:ext cx="237744" cy="23774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7571231" y="4901184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Keyboard-friendly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519379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606772"/>
                </a:solidFill>
                <a:latin typeface="Arial"/>
              </a:rPr>
              <a:t>a skip-link + a .visually-hidden pattern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One design system, not many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300" b="0">
                <a:solidFill>
                  <a:srgbClr val="606772"/>
                </a:solidFill>
                <a:latin typeface="Arial"/>
              </a:rPr>
              <a:t>CSS custom properties define the visual language once — 120+ design tokens (85 unique) for colour, type, spacing, radius and shadow, reused across every page so the product feels like one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039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#22252B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6272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53655C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76272" y="38039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405079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#53655C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12463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A3AEB1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2463" y="38039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Slate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405079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#A3AEB1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48656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E5E8EB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656" y="38039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Mist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405079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#E5E8EB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84848" y="2788920"/>
            <a:ext cx="1371600" cy="932688"/>
          </a:xfrm>
          <a:prstGeom prst="roundRect">
            <a:avLst>
              <a:gd name="adj" fmla="val 10000"/>
            </a:avLst>
          </a:prstGeom>
          <a:solidFill>
            <a:srgbClr val="B09F95"/>
          </a:solidFill>
          <a:ln w="1270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84848" y="38039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Taupe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050791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A3AEB1"/>
                </a:solidFill>
                <a:latin typeface="Courier New"/>
              </a:rPr>
              <a:t>#B09F95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617720"/>
            <a:ext cx="40233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77316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09F95"/>
                </a:solidFill>
                <a:latin typeface="Arial"/>
              </a:rPr>
              <a:t>TYPOGRAPHY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8406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22252B"/>
                </a:solidFill>
                <a:latin typeface="Arial"/>
              </a:rPr>
              <a:t>Manrope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6772"/>
                </a:solidFill>
                <a:latin typeface="Arial"/>
              </a:rPr>
              <a:t>headings  ·  Inter for body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617720"/>
            <a:ext cx="4023360" cy="1371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80" y="477316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09F95"/>
                </a:solidFill>
                <a:latin typeface="Arial"/>
              </a:rPr>
              <a:t>REUSED COMPONENTS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10235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55A50"/>
                </a:solidFill>
                <a:latin typeface="Courier New"/>
              </a:rPr>
              <a:t>.btn  .card  .field  .chip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4864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06772"/>
                </a:solidFill>
                <a:latin typeface="Arial"/>
              </a:rPr>
              <a:t>defined once, used everywhere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One file defines everything — tokens.css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606772"/>
                </a:solidFill>
                <a:latin typeface="Arial"/>
              </a:rPr>
              <a:t>Every colour, font, space, radius and shadow is a CSS custom property in a single :root block — the one source of truth the whole app reads from.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331720"/>
            <a:ext cx="6172200" cy="4003608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7824" y="248716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42415" y="248716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07007" y="248716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44752" y="2423160"/>
            <a:ext cx="51297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styles/tokens.css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846527"/>
            <a:ext cx="5696712" cy="33686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>
                <a:solidFill>
                  <a:srgbClr val="D6C6B8"/>
                </a:solidFill>
                <a:latin typeface="Courier New"/>
              </a:rPr>
              <a:t>:root</a:t>
            </a:r>
            <a:r>
              <a:rPr sz="1200">
                <a:solidFill>
                  <a:srgbClr val="E7EAEE"/>
                </a:solidFill>
                <a:latin typeface="Courier New"/>
              </a:rPr>
              <a:t> {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--color-</a:t>
            </a:r>
            <a:r>
              <a:rPr sz="1200" dirty="0" err="1">
                <a:solidFill>
                  <a:srgbClr val="A9C3B0"/>
                </a:solidFill>
                <a:latin typeface="Courier New"/>
              </a:rPr>
              <a:t>bg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 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#FAF9F7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--color-brand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#53655C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  <a:r>
              <a:rPr sz="1200" dirty="0">
                <a:solidFill>
                  <a:srgbClr val="7C8590"/>
                </a:solidFill>
                <a:latin typeface="Courier New"/>
              </a:rPr>
              <a:t>   /* sage */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--color-text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#22252B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--font-heading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"Manrope", …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--space-16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  </a:t>
            </a:r>
            <a:r>
              <a:rPr sz="1200" dirty="0">
                <a:solidFill>
                  <a:srgbClr val="B9C7CD"/>
                </a:solidFill>
                <a:latin typeface="Courier New"/>
              </a:rPr>
              <a:t>16px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--radius-lg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 </a:t>
            </a:r>
            <a:r>
              <a:rPr sz="1200" dirty="0">
                <a:solidFill>
                  <a:srgbClr val="B9C7CD"/>
                </a:solidFill>
                <a:latin typeface="Courier New"/>
              </a:rPr>
              <a:t>16px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--shadow-</a:t>
            </a:r>
            <a:r>
              <a:rPr sz="1200" dirty="0" err="1">
                <a:solidFill>
                  <a:srgbClr val="A9C3B0"/>
                </a:solidFill>
                <a:latin typeface="Courier New"/>
              </a:rPr>
              <a:t>sm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 </a:t>
            </a:r>
            <a:r>
              <a:rPr sz="1200" dirty="0">
                <a:solidFill>
                  <a:srgbClr val="B9C7CD"/>
                </a:solidFill>
                <a:latin typeface="Courier New"/>
              </a:rPr>
              <a:t>0 1px 3px …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E7EAEE"/>
                </a:solidFill>
                <a:latin typeface="Courier New"/>
              </a:rPr>
              <a:t>}</a:t>
            </a:r>
          </a:p>
          <a:p>
            <a:pPr>
              <a:lnSpc>
                <a:spcPct val="128000"/>
              </a:lnSpc>
            </a:pPr>
            <a:endParaRPr sz="1200" dirty="0">
              <a:solidFill>
                <a:srgbClr val="E7EAEE"/>
              </a:solidFill>
              <a:latin typeface="Courier New"/>
            </a:endParaRP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D6C6B8"/>
                </a:solidFill>
                <a:latin typeface="Courier New"/>
              </a:rPr>
              <a:t>[data-theme=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"dark"</a:t>
            </a:r>
            <a:r>
              <a:rPr sz="1200" dirty="0">
                <a:solidFill>
                  <a:srgbClr val="D6C6B8"/>
                </a:solidFill>
                <a:latin typeface="Courier New"/>
              </a:rPr>
              <a:t>]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 {</a:t>
            </a:r>
            <a:r>
              <a:rPr sz="1200" dirty="0">
                <a:solidFill>
                  <a:srgbClr val="7C8590"/>
                </a:solidFill>
                <a:latin typeface="Courier New"/>
              </a:rPr>
              <a:t>        /* same names,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--color-</a:t>
            </a:r>
            <a:r>
              <a:rPr sz="1200" dirty="0" err="1">
                <a:solidFill>
                  <a:srgbClr val="A9C3B0"/>
                </a:solidFill>
                <a:latin typeface="Courier New"/>
              </a:rPr>
              <a:t>bg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  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#16181C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A9C3B0"/>
                </a:solidFill>
                <a:latin typeface="Courier New"/>
              </a:rPr>
              <a:t>  --color-brand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: </a:t>
            </a:r>
            <a:r>
              <a:rPr sz="1200" dirty="0">
                <a:solidFill>
                  <a:srgbClr val="CBB69F"/>
                </a:solidFill>
                <a:latin typeface="Courier New"/>
              </a:rPr>
              <a:t>#8FA697</a:t>
            </a:r>
            <a:r>
              <a:rPr sz="1200" dirty="0">
                <a:solidFill>
                  <a:srgbClr val="E7EAEE"/>
                </a:solidFill>
                <a:latin typeface="Courier New"/>
              </a:rPr>
              <a:t>;</a:t>
            </a:r>
            <a:r>
              <a:rPr sz="1200" dirty="0">
                <a:solidFill>
                  <a:srgbClr val="7C8590"/>
                </a:solidFill>
                <a:latin typeface="Courier New"/>
              </a:rPr>
              <a:t>      new values */</a:t>
            </a:r>
          </a:p>
          <a:p>
            <a:pPr>
              <a:lnSpc>
                <a:spcPct val="128000"/>
              </a:lnSpc>
            </a:pPr>
            <a:r>
              <a:rPr sz="1200" dirty="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57276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40">
                <a:solidFill>
                  <a:srgbClr val="B09F95"/>
                </a:solidFill>
                <a:latin typeface="Arial"/>
              </a:rPr>
              <a:t>WHAT IT ORGANISES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1965960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ey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549" y="2066909"/>
            <a:ext cx="218724" cy="218724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653527" y="193852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Colour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194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surfaces · text · brand ·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7086600" y="2532888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ash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549" y="2633837"/>
            <a:ext cx="218724" cy="218724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653527" y="250545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Typography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53527" y="27614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Manrope + Inter, a type scale</a:t>
            </a:r>
          </a:p>
        </p:txBody>
      </p:sp>
      <p:sp>
        <p:nvSpPr>
          <p:cNvPr id="32" name="Oval 31"/>
          <p:cNvSpPr/>
          <p:nvPr/>
        </p:nvSpPr>
        <p:spPr>
          <a:xfrm>
            <a:off x="7086600" y="3099816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mov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549" y="3200765"/>
            <a:ext cx="218724" cy="21872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7653527" y="307238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Spacing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7" y="332841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4px base — space-4 … space-128</a:t>
            </a:r>
          </a:p>
        </p:txBody>
      </p:sp>
      <p:sp>
        <p:nvSpPr>
          <p:cNvPr id="36" name="Oval 35"/>
          <p:cNvSpPr/>
          <p:nvPr/>
        </p:nvSpPr>
        <p:spPr>
          <a:xfrm>
            <a:off x="7086600" y="3666744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layou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549" y="3767693"/>
            <a:ext cx="218724" cy="218724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7653527" y="36393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Radii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3527" y="389534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sm · md · lg · xl · pill</a:t>
            </a:r>
          </a:p>
        </p:txBody>
      </p:sp>
      <p:sp>
        <p:nvSpPr>
          <p:cNvPr id="40" name="Oval 39"/>
          <p:cNvSpPr/>
          <p:nvPr/>
        </p:nvSpPr>
        <p:spPr>
          <a:xfrm>
            <a:off x="7086600" y="4233672"/>
            <a:ext cx="420624" cy="420624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layers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549" y="4334621"/>
            <a:ext cx="218724" cy="218724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7653527" y="4206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Elevation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7" y="44622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shadow-sm … shadow-xl</a:t>
            </a:r>
          </a:p>
        </p:txBody>
      </p:sp>
      <p:sp>
        <p:nvSpPr>
          <p:cNvPr id="44" name="Oval 43"/>
          <p:cNvSpPr/>
          <p:nvPr/>
        </p:nvSpPr>
        <p:spPr>
          <a:xfrm>
            <a:off x="7086600" y="4800600"/>
            <a:ext cx="420624" cy="42062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refresh-cw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549" y="4901549"/>
            <a:ext cx="218724" cy="218724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653527" y="47731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Motion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53527" y="50292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Courier New"/>
              </a:rPr>
              <a:t>easing curves + durations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5504688"/>
            <a:ext cx="4480560" cy="749808"/>
          </a:xfrm>
          <a:prstGeom prst="roundRect">
            <a:avLst>
              <a:gd name="adj" fmla="val 9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60920" y="5504688"/>
            <a:ext cx="3977639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F3F1EC"/>
                </a:solidFill>
                <a:latin typeface="Arial"/>
              </a:rPr>
              <a:t>Components never hard-code a value — they read a token. One :root, ~85 tokens; dark mode just re-declares the same names.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box model behind the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27632"/>
            <a:ext cx="4114800" cy="2697480"/>
          </a:xfrm>
          <a:prstGeom prst="roundRect">
            <a:avLst>
              <a:gd name="adj" fmla="val 3000"/>
            </a:avLst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1691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09F95"/>
                </a:solidFill>
                <a:latin typeface="Arial"/>
              </a:rPr>
              <a:t>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1993392"/>
            <a:ext cx="3200400" cy="1965960"/>
          </a:xfrm>
          <a:prstGeom prst="roundRect">
            <a:avLst>
              <a:gd name="adj" fmla="val 3000"/>
            </a:avLst>
          </a:prstGeom>
          <a:solidFill>
            <a:srgbClr val="DC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07007" y="204825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55A50"/>
                </a:solidFill>
                <a:latin typeface="Arial"/>
              </a:rPr>
              <a:t>border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2340864"/>
            <a:ext cx="2377440" cy="1271016"/>
          </a:xfrm>
          <a:prstGeom prst="roundRect">
            <a:avLst>
              <a:gd name="adj" fmla="val 3000"/>
            </a:avLst>
          </a:prstGeom>
          <a:solidFill>
            <a:srgbClr val="E9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18488" y="23957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3AEB1"/>
                </a:solidFill>
                <a:latin typeface="Arial"/>
              </a:rPr>
              <a:t>padding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2688336"/>
            <a:ext cx="137160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2688336"/>
            <a:ext cx="1371600" cy="576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6772"/>
                </a:solidFill>
                <a:latin typeface="Arial"/>
              </a:rPr>
              <a:t>content → padding → border → margin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1627632"/>
            <a:ext cx="6172200" cy="2433279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32704" y="1783080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97296" y="1783080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61888" y="1783080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1719072"/>
            <a:ext cx="51297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styles/app.css — a dashboard stat card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2142439"/>
            <a:ext cx="5696712" cy="1798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50">
                <a:solidFill>
                  <a:srgbClr val="D6C6B8"/>
                </a:solidFill>
                <a:latin typeface="Courier New"/>
              </a:rPr>
              <a:t>.stat-card</a:t>
            </a:r>
            <a:r>
              <a:rPr sz="1250">
                <a:solidFill>
                  <a:srgbClr val="E7EAEE"/>
                </a:solidFill>
                <a:latin typeface="Courier New"/>
              </a:rPr>
              <a:t> {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padding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B9C7CD"/>
                </a:solidFill>
                <a:latin typeface="Courier New"/>
              </a:rPr>
              <a:t>20px 24px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  <a:r>
              <a:rPr sz="1250">
                <a:solidFill>
                  <a:srgbClr val="7C8590"/>
                </a:solidFill>
                <a:latin typeface="Courier New"/>
              </a:rPr>
              <a:t>      /* space inside */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background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var(--color-surface)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border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B9C7CD"/>
                </a:solidFill>
                <a:latin typeface="Courier New"/>
              </a:rPr>
              <a:t>1px solid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var(--color-border)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border-radius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var(--radius-lg)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A9C3B0"/>
                </a:solidFill>
                <a:latin typeface="Courier New"/>
              </a:rPr>
              <a:t>  box-shadow</a:t>
            </a:r>
            <a:r>
              <a:rPr sz="1250">
                <a:solidFill>
                  <a:srgbClr val="E7EAEE"/>
                </a:solidFill>
                <a:latin typeface="Courier New"/>
              </a:rPr>
              <a:t>: </a:t>
            </a:r>
            <a:r>
              <a:rPr sz="1250">
                <a:solidFill>
                  <a:srgbClr val="CBB69F"/>
                </a:solidFill>
                <a:latin typeface="Courier New"/>
              </a:rPr>
              <a:t>var(--shadow-sm)</a:t>
            </a:r>
            <a:r>
              <a:rPr sz="125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25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7316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2252B"/>
                </a:solidFill>
                <a:latin typeface="Arial"/>
              </a:rPr>
              <a:t>Those same tokens build every card — here, the CGPA summary row: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81047" y="5102352"/>
            <a:ext cx="8229600" cy="130628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gpa_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7" y="5102352"/>
            <a:ext cx="8229600" cy="130628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Flexbox — alignment &amp;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5760720" cy="360044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760720" cy="3600449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2578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Tasks toolbar — search, sort and view controls in a flex 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55A50"/>
                </a:solidFill>
                <a:latin typeface="Arial"/>
              </a:rPr>
              <a:t>One-dimensional layout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103120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ove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90" y="2189530"/>
            <a:ext cx="211226" cy="21122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086600" y="2084831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display: flex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377439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lay children out in a row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852927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ove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90" y="2939338"/>
            <a:ext cx="211226" cy="211226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086600" y="2834639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align-items: center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127247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vertically centre them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602735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move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90" y="3689146"/>
            <a:ext cx="211226" cy="211226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086600" y="3584447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877055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even spacing without margins</a:t>
            </a:r>
          </a:p>
        </p:txBody>
      </p:sp>
      <p:sp>
        <p:nvSpPr>
          <p:cNvPr id="32" name="Oval 31"/>
          <p:cNvSpPr/>
          <p:nvPr/>
        </p:nvSpPr>
        <p:spPr>
          <a:xfrm>
            <a:off x="6583680" y="4352544"/>
            <a:ext cx="384048" cy="384048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move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90" y="4438954"/>
            <a:ext cx="211226" cy="211226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7086600" y="4334256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55A50"/>
                </a:solidFill>
                <a:latin typeface="Courier New"/>
              </a:rPr>
              <a:t>flex-wrap: wrap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626864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06772"/>
                </a:solidFill>
                <a:latin typeface="Arial"/>
              </a:rPr>
              <a:t>fold onto the next line when tight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57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B1"/>
                </a:solidFill>
                <a:latin typeface="Arial"/>
              </a:rPr>
              <a:t>Used in ~116 rules — top bar, toolbars, button groups, list rows.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Grid — structuring the layouts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54480"/>
            <a:ext cx="6675120" cy="4403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675120" cy="4403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138928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calendar — a true two-dimensional grid of seven columns.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554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09F95"/>
                </a:solidFill>
                <a:latin typeface="Arial"/>
              </a:rPr>
              <a:t>Two-dimensional layout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2103120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grid-tau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90" y="2189530"/>
            <a:ext cx="211226" cy="211226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8001000" y="2084831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Rows &amp; columns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37743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calendar is 7 columns × N weeks</a:t>
            </a:r>
          </a:p>
        </p:txBody>
      </p:sp>
      <p:sp>
        <p:nvSpPr>
          <p:cNvPr id="24" name="Oval 23"/>
          <p:cNvSpPr/>
          <p:nvPr/>
        </p:nvSpPr>
        <p:spPr>
          <a:xfrm>
            <a:off x="7498079" y="2852927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grid-tau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90" y="2939338"/>
            <a:ext cx="211226" cy="211226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001000" y="2834639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Dashboard cards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127247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auto-fitting stat grid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3602735"/>
            <a:ext cx="384048" cy="384048"/>
          </a:xfrm>
          <a:prstGeom prst="ellipse">
            <a:avLst/>
          </a:prstGeom>
          <a:solidFill>
            <a:srgbClr val="ED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grid-tau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490" y="3689146"/>
            <a:ext cx="211226" cy="211226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001000" y="3584447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Notes masonry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877055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cards flow into a responsive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526280"/>
            <a:ext cx="4069080" cy="1799295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735823" y="4681728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00415" y="4681728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65007" y="4681728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2751" y="4617720"/>
            <a:ext cx="30266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styles/app.css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3" y="5041087"/>
            <a:ext cx="3593592" cy="1164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D6C6B8"/>
                </a:solidFill>
                <a:latin typeface="Courier New"/>
              </a:rPr>
              <a:t>.cal-grid</a:t>
            </a:r>
            <a:r>
              <a:rPr sz="1100">
                <a:solidFill>
                  <a:srgbClr val="E7EAEE"/>
                </a:solidFill>
                <a:latin typeface="Courier New"/>
              </a:rPr>
              <a:t> {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  display</a:t>
            </a:r>
            <a:r>
              <a:rPr sz="1100">
                <a:solidFill>
                  <a:srgbClr val="E7EAEE"/>
                </a:solidFill>
                <a:latin typeface="Courier New"/>
              </a:rPr>
              <a:t>: </a:t>
            </a:r>
            <a:r>
              <a:rPr sz="1100">
                <a:solidFill>
                  <a:srgbClr val="B9C7CD"/>
                </a:solidFill>
                <a:latin typeface="Courier New"/>
              </a:rPr>
              <a:t>grid</a:t>
            </a:r>
            <a:r>
              <a:rPr sz="1100">
                <a:solidFill>
                  <a:srgbClr val="E7EAEE"/>
                </a:solidFill>
                <a:latin typeface="Courier New"/>
              </a:rPr>
              <a:t>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  grid-template-columns</a:t>
            </a:r>
            <a:r>
              <a:rPr sz="1100">
                <a:solidFill>
                  <a:srgbClr val="E7EAEE"/>
                </a:solidFill>
                <a:latin typeface="Courier New"/>
              </a:rPr>
              <a:t>: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CBB69F"/>
                </a:solidFill>
                <a:latin typeface="Courier New"/>
              </a:rPr>
              <a:t>    repeat(7, </a:t>
            </a:r>
            <a:r>
              <a:rPr sz="1100">
                <a:solidFill>
                  <a:srgbClr val="D6C6B8"/>
                </a:solidFill>
                <a:latin typeface="Courier New"/>
              </a:rPr>
              <a:t>minmax</a:t>
            </a:r>
            <a:r>
              <a:rPr sz="1100">
                <a:solidFill>
                  <a:srgbClr val="CBB69F"/>
                </a:solidFill>
                <a:latin typeface="Courier New"/>
              </a:rPr>
              <a:t>(0,1fr));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B1"/>
                </a:solidFill>
                <a:latin typeface="Arial"/>
              </a:rPr>
              <a:t>Used in ~51 rules for every structured, two-dimensional layout.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 · RESPONSIVE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One Synora, every screen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880235"/>
            <a:ext cx="5623560" cy="3514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ark_resp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80235"/>
            <a:ext cx="5623560" cy="3514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522976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1440px  ·  Desktop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529840"/>
            <a:ext cx="2148840" cy="2865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ark_resp_tab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529840"/>
            <a:ext cx="2148840" cy="286512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040880" y="5522976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768px  ·  Tablet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228791"/>
            <a:ext cx="1463040" cy="3166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ark_resp_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2228791"/>
            <a:ext cx="1463040" cy="3166168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9098280" y="552297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5A50"/>
                </a:solidFill>
                <a:latin typeface="Arial"/>
              </a:rPr>
              <a:t>390px  ·  Mobile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89788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55A50"/>
                </a:solidFill>
                <a:latin typeface="Arial"/>
              </a:rPr>
              <a:t>Same landing page  </a:t>
            </a:r>
            <a:r>
              <a:rPr sz="1250" b="0">
                <a:solidFill>
                  <a:srgbClr val="606772"/>
                </a:solidFill>
                <a:latin typeface="Arial"/>
              </a:rPr>
              <a:t>— Flexbox + Grid reflow, </a:t>
            </a:r>
            <a:r>
              <a:rPr sz="1250" b="1">
                <a:solidFill>
                  <a:srgbClr val="455A50"/>
                </a:solidFill>
                <a:latin typeface="Courier New"/>
              </a:rPr>
              <a:t>23 media-query blocks</a:t>
            </a:r>
            <a:r>
              <a:rPr sz="1250" b="0">
                <a:solidFill>
                  <a:srgbClr val="606772"/>
                </a:solidFill>
                <a:latin typeface="Arial"/>
              </a:rPr>
              <a:t> adapt down, and the nav collapses to a CSS-only menu.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Dark mode &amp; theming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536192"/>
            <a:ext cx="5230368" cy="326897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ashboard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6192"/>
            <a:ext cx="5230368" cy="3268979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4841748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3AEB1"/>
                </a:solidFill>
                <a:latin typeface="Arial"/>
              </a:rPr>
              <a:t>Light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536192"/>
            <a:ext cx="5230368" cy="326897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ark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536192"/>
            <a:ext cx="5230368" cy="3268979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6135624" y="4841748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3AEB1"/>
                </a:solidFill>
                <a:latin typeface="Arial"/>
              </a:rPr>
              <a:t>Dark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30368"/>
            <a:ext cx="5669280" cy="1155557"/>
          </a:xfrm>
          <a:prstGeom prst="roundRect">
            <a:avLst>
              <a:gd name="adj" fmla="val 3500"/>
            </a:avLst>
          </a:prstGeom>
          <a:solidFill>
            <a:srgbClr val="1C2026"/>
          </a:solidFill>
          <a:ln>
            <a:noFill/>
          </a:ln>
          <a:effectLst>
            <a:outerShdw blurRad="91440" dist="50292" dir="5400000" rotWithShape="0">
              <a:srgbClr val="22252B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5385816"/>
            <a:ext cx="91440" cy="91440"/>
          </a:xfrm>
          <a:prstGeom prst="ellipse">
            <a:avLst/>
          </a:prstGeom>
          <a:solidFill>
            <a:srgbClr val="E06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42415" y="5385816"/>
            <a:ext cx="91440" cy="91440"/>
          </a:xfrm>
          <a:prstGeom prst="ellipse">
            <a:avLst/>
          </a:prstGeom>
          <a:solidFill>
            <a:srgbClr val="E0B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07007" y="5385816"/>
            <a:ext cx="91440" cy="91440"/>
          </a:xfrm>
          <a:prstGeom prst="ellipse">
            <a:avLst/>
          </a:prstGeom>
          <a:solidFill>
            <a:srgbClr val="8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44752" y="5321807"/>
            <a:ext cx="462686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29C"/>
                </a:solidFill>
                <a:latin typeface="Courier New"/>
              </a:rPr>
              <a:t>scripts/theme.js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745175"/>
            <a:ext cx="5193792" cy="5205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100">
                <a:solidFill>
                  <a:srgbClr val="A9C3B0"/>
                </a:solidFill>
                <a:latin typeface="Courier New"/>
              </a:rPr>
              <a:t>var</a:t>
            </a:r>
            <a:r>
              <a:rPr sz="1100">
                <a:solidFill>
                  <a:srgbClr val="E7EAEE"/>
                </a:solidFill>
                <a:latin typeface="Courier New"/>
              </a:rPr>
              <a:t> saved = localStorage.</a:t>
            </a:r>
            <a:r>
              <a:rPr sz="1100">
                <a:solidFill>
                  <a:srgbClr val="D6C6B8"/>
                </a:solidFill>
                <a:latin typeface="Courier New"/>
              </a:rPr>
              <a:t>getItem</a:t>
            </a:r>
            <a:r>
              <a:rPr sz="1100">
                <a:solidFill>
                  <a:srgbClr val="E7EAEE"/>
                </a:solidFill>
                <a:latin typeface="Courier New"/>
              </a:rPr>
              <a:t>(</a:t>
            </a:r>
            <a:r>
              <a:rPr sz="1100">
                <a:solidFill>
                  <a:srgbClr val="CBB69F"/>
                </a:solidFill>
                <a:latin typeface="Courier New"/>
              </a:rPr>
              <a:t>"synora-theme"</a:t>
            </a:r>
            <a:r>
              <a:rPr sz="1100">
                <a:solidFill>
                  <a:srgbClr val="E7EAEE"/>
                </a:solidFill>
                <a:latin typeface="Courier New"/>
              </a:rPr>
              <a:t>);</a:t>
            </a:r>
          </a:p>
          <a:p>
            <a:pPr>
              <a:lnSpc>
                <a:spcPct val="128000"/>
              </a:lnSpc>
            </a:pPr>
            <a:r>
              <a:rPr sz="1100">
                <a:solidFill>
                  <a:srgbClr val="E7EAEE"/>
                </a:solidFill>
                <a:latin typeface="Courier New"/>
              </a:rPr>
              <a:t>root.</a:t>
            </a:r>
            <a:r>
              <a:rPr sz="1100">
                <a:solidFill>
                  <a:srgbClr val="D6C6B8"/>
                </a:solidFill>
                <a:latin typeface="Courier New"/>
              </a:rPr>
              <a:t>setAttribute</a:t>
            </a:r>
            <a:r>
              <a:rPr sz="1100">
                <a:solidFill>
                  <a:srgbClr val="E7EAEE"/>
                </a:solidFill>
                <a:latin typeface="Courier New"/>
              </a:rPr>
              <a:t>(</a:t>
            </a:r>
            <a:r>
              <a:rPr sz="1100">
                <a:solidFill>
                  <a:srgbClr val="CBB69F"/>
                </a:solidFill>
                <a:latin typeface="Courier New"/>
              </a:rPr>
              <a:t>"data-theme"</a:t>
            </a:r>
            <a:r>
              <a:rPr sz="1100">
                <a:solidFill>
                  <a:srgbClr val="E7EAEE"/>
                </a:solidFill>
                <a:latin typeface="Courier New"/>
              </a:rPr>
              <a:t>, theme);</a:t>
            </a:r>
            <a:r>
              <a:rPr sz="1100">
                <a:solidFill>
                  <a:srgbClr val="7C8590"/>
                </a:solidFill>
                <a:latin typeface="Courier New"/>
              </a:rPr>
              <a:t>  // CSS reacts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93792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252B"/>
                </a:solidFill>
                <a:latin typeface="Arial"/>
              </a:rPr>
              <a:t>Same tokens, two themes.  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data-theme</a:t>
            </a:r>
            <a:r>
              <a:rPr sz="1150" b="0">
                <a:solidFill>
                  <a:srgbClr val="606772"/>
                </a:solidFill>
                <a:latin typeface="Arial"/>
              </a:rPr>
              <a:t> on </a:t>
            </a:r>
            <a:r>
              <a:rPr sz="1150" b="1">
                <a:solidFill>
                  <a:srgbClr val="455A50"/>
                </a:solidFill>
                <a:latin typeface="Courier New"/>
              </a:rPr>
              <a:t>&lt;html&gt;</a:t>
            </a:r>
            <a:r>
              <a:rPr sz="1150" b="0">
                <a:solidFill>
                  <a:srgbClr val="606772"/>
                </a:solidFill>
                <a:latin typeface="Arial"/>
              </a:rPr>
              <a:t> swaps every token; the choice is saved to localStorage and applied before first paint — no flash.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04 · CSS3 ·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Before Synora appears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83080"/>
            <a:ext cx="5623560" cy="35147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o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623560" cy="351472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389245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A3AEB1"/>
                </a:solidFill>
                <a:latin typeface="Arial"/>
              </a:rPr>
              <a:t>The Synora splash — logo, ring and wordmark.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810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B09F95"/>
                </a:solidFill>
                <a:latin typeface="Arial"/>
              </a:rPr>
              <a:t>THE FLOW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2148840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zap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117" y="2262957"/>
            <a:ext cx="247253" cy="247253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479792" y="213055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Splash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43230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logo, ring &amp; wordmark animate in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0" y="2825496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ov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117" y="2939613"/>
            <a:ext cx="247253" cy="247253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7479792" y="280720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Handover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310896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splash fades and lifts away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502152"/>
            <a:ext cx="475488" cy="475488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ayou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117" y="3616269"/>
            <a:ext cx="247253" cy="247253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7479792" y="34838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2252B"/>
                </a:solidFill>
                <a:latin typeface="Arial"/>
              </a:rPr>
              <a:t>Landing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785615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the hero arrives underneath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0" y="4407408"/>
            <a:ext cx="4663440" cy="0"/>
          </a:xfrm>
          <a:prstGeom prst="line">
            <a:avLst/>
          </a:prstGeom>
          <a:ln w="15240">
            <a:solidFill>
              <a:srgbClr val="E5E8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B09F95"/>
                </a:solidFill>
                <a:latin typeface="Arial"/>
              </a:rP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01184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CSS @keyframes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pure-CSS animation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03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JavaScript timing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shows ≥ 2000ms, then loader.remove()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705856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455A50"/>
                </a:solidFill>
                <a:latin typeface="Courier New"/>
              </a:rPr>
              <a:t>Reduced motion  —  </a:t>
            </a:r>
            <a:r>
              <a:rPr sz="1100" b="0">
                <a:solidFill>
                  <a:srgbClr val="606772"/>
                </a:solidFill>
                <a:latin typeface="Arial"/>
              </a:rPr>
              <a:t>honoured — 600ms, no animation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Making Synora 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>
                <a:solidFill>
                  <a:srgbClr val="606772"/>
                </a:solidFill>
                <a:latin typeface="Arial"/>
              </a:rPr>
              <a:t>HTML and CSS render the page — JavaScript is what makes it respond. Every click, keystroke and toggle runs code that updates the screen: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7" y="2670048"/>
            <a:ext cx="10234879" cy="91440"/>
          </a:xfrm>
          <a:prstGeom prst="roundRect">
            <a:avLst>
              <a:gd name="adj" fmla="val 50000"/>
            </a:avLst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sosceles Triangle 17"/>
          <p:cNvSpPr/>
          <p:nvPr/>
        </p:nvSpPr>
        <p:spPr>
          <a:xfrm rot="5400000">
            <a:off x="2191473" y="2615184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 rot="5400000">
            <a:off x="4727333" y="2615184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63193" y="2615184"/>
            <a:ext cx="201168" cy="201168"/>
          </a:xfrm>
          <a:prstGeom prst="triangl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 rot="5400000">
            <a:off x="9799053" y="2615184"/>
            <a:ext cx="201168" cy="201168"/>
          </a:xfrm>
          <a:prstGeom prst="triangl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mov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23" y="2516063"/>
            <a:ext cx="399409" cy="399409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-27432" y="321868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You act</a:t>
            </a:r>
          </a:p>
        </p:txBody>
      </p:sp>
      <p:sp>
        <p:nvSpPr>
          <p:cNvPr id="25" name="Oval 24"/>
          <p:cNvSpPr/>
          <p:nvPr/>
        </p:nvSpPr>
        <p:spPr>
          <a:xfrm>
            <a:off x="3175939" y="2331720"/>
            <a:ext cx="768096" cy="768096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zap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282" y="2516063"/>
            <a:ext cx="399409" cy="399409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2508427" y="321868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Event fires</a:t>
            </a:r>
          </a:p>
        </p:txBody>
      </p:sp>
      <p:sp>
        <p:nvSpPr>
          <p:cNvPr id="28" name="Oval 27"/>
          <p:cNvSpPr/>
          <p:nvPr/>
        </p:nvSpPr>
        <p:spPr>
          <a:xfrm>
            <a:off x="5711799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pu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142" y="2516063"/>
            <a:ext cx="399409" cy="399409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5044287" y="321868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JS runs</a:t>
            </a:r>
          </a:p>
        </p:txBody>
      </p:sp>
      <p:sp>
        <p:nvSpPr>
          <p:cNvPr id="31" name="Oval 30"/>
          <p:cNvSpPr/>
          <p:nvPr/>
        </p:nvSpPr>
        <p:spPr>
          <a:xfrm>
            <a:off x="8247659" y="2331720"/>
            <a:ext cx="768096" cy="768096"/>
          </a:xfrm>
          <a:prstGeom prst="ellipse">
            <a:avLst/>
          </a:prstGeom>
          <a:solidFill>
            <a:srgbClr val="B09F95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git-branc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002" y="2516063"/>
            <a:ext cx="399409" cy="399409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7580147" y="321868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DOM updates</a:t>
            </a:r>
          </a:p>
        </p:txBody>
      </p:sp>
      <p:sp>
        <p:nvSpPr>
          <p:cNvPr id="34" name="Oval 33"/>
          <p:cNvSpPr/>
          <p:nvPr/>
        </p:nvSpPr>
        <p:spPr>
          <a:xfrm>
            <a:off x="10783519" y="2331720"/>
            <a:ext cx="768096" cy="768096"/>
          </a:xfrm>
          <a:prstGeom prst="ellipse">
            <a:avLst/>
          </a:prstGeom>
          <a:solidFill>
            <a:srgbClr val="53655C"/>
          </a:solidFill>
          <a:ln>
            <a:noFill/>
          </a:ln>
          <a:effectLst>
            <a:outerShdw blurRad="91440" dist="50292" dir="5400000" rotWithShape="0">
              <a:srgbClr val="22252B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ey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7862" y="2516063"/>
            <a:ext cx="399409" cy="399409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10116007" y="3218687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22252B"/>
                </a:solidFill>
                <a:latin typeface="Arial"/>
              </a:rPr>
              <a:t>You see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tas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794760"/>
            <a:ext cx="3401568" cy="2125980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640080" y="5993892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Tick a task → it completes and the counts drop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95063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attend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063" y="3794760"/>
            <a:ext cx="3401568" cy="2125980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4395063" y="5993892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Tap +/− → every percentage recomputes live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50047" y="3794760"/>
            <a:ext cx="3401568" cy="21259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dark_dash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0047" y="3794760"/>
            <a:ext cx="3401568" cy="2125980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8150047" y="5993892"/>
            <a:ext cx="3401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Toggle the theme → the whole app repaints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05 · 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The logic we 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481328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06772"/>
                </a:solidFill>
                <a:latin typeface="Arial"/>
              </a:rPr>
              <a:t>The academic numbers aren't stored — JavaScript computes them live from your subjects. The real formulas behind the screens: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874519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96112" y="2093976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ercen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03704"/>
            <a:ext cx="237744" cy="237744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1481328" y="2075688"/>
            <a:ext cx="43068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Attendance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2624327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2624327"/>
            <a:ext cx="4626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attended / held 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20954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how much of each subject you've attended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3231" y="1874519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49263" y="2093976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trending-up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2203704"/>
            <a:ext cx="237744" cy="237744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034479" y="2075688"/>
            <a:ext cx="43068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CGPA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9263" y="2624327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8991" y="2624327"/>
            <a:ext cx="4626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Σ(credits × grade point) / Σ(credits)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9263" y="320954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weighted by each subject's credits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721608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96112" y="3941064"/>
            <a:ext cx="457200" cy="457200"/>
          </a:xfrm>
          <a:prstGeom prst="ellipse">
            <a:avLst/>
          </a:prstGeom>
          <a:solidFill>
            <a:srgbClr val="53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heck-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50792"/>
            <a:ext cx="237744" cy="237744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1481328" y="3922776"/>
            <a:ext cx="43068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Classes you can safely miss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4471416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471416"/>
            <a:ext cx="4626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floor(attended × 100 / target) − held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0566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when you're already above target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3231" y="3721608"/>
            <a:ext cx="535838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49263" y="3941064"/>
            <a:ext cx="457200" cy="457200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alert-triang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4050792"/>
            <a:ext cx="237744" cy="237744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7034479" y="3922776"/>
            <a:ext cx="43068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252B"/>
                </a:solidFill>
                <a:latin typeface="Arial"/>
              </a:rPr>
              <a:t>Classes to attend in a row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9263" y="4471416"/>
            <a:ext cx="4846320" cy="512064"/>
          </a:xfrm>
          <a:prstGeom prst="roundRect">
            <a:avLst>
              <a:gd name="adj" fmla="val 6000"/>
            </a:avLst>
          </a:prstGeom>
          <a:solidFill>
            <a:srgbClr val="1C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58991" y="4471416"/>
            <a:ext cx="46268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9C3B0"/>
                </a:solidFill>
                <a:latin typeface="Courier New"/>
              </a:rPr>
              <a:t>ceil((target × held − 100 × attended) / (100 − target))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9263" y="50566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06772"/>
                </a:solidFill>
                <a:latin typeface="Arial"/>
              </a:rPr>
              <a:t>to climb back above target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568696"/>
            <a:ext cx="10911535" cy="658368"/>
          </a:xfrm>
          <a:prstGeom prst="roundRect">
            <a:avLst>
              <a:gd name="adj" fmla="val 10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2688" y="5568696"/>
            <a:ext cx="10362895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B9AE"/>
                </a:solidFill>
                <a:latin typeface="Arial"/>
              </a:rPr>
              <a:t>Subjects are the source of truth  —  </a:t>
            </a:r>
            <a:r>
              <a:rPr sz="1250" b="0">
                <a:solidFill>
                  <a:srgbClr val="F3F1EC"/>
                </a:solidFill>
                <a:latin typeface="Arial"/>
              </a:rPr>
              <a:t>attendance, CGPA, timetable and tasks all reference a subject by id, in each user's own workspace.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D3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EBE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E3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DCC9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80644"/>
            <a:ext cx="123444" cy="123444"/>
          </a:xfrm>
          <a:prstGeom prst="ellipse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B09F95"/>
                </a:solidFill>
                <a:latin typeface="Arial"/>
              </a:rPr>
              <a:t>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822959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252B"/>
                </a:solidFill>
                <a:latin typeface="Arial"/>
              </a:rPr>
              <a:t>What we built beyond the syllabus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00200"/>
            <a:ext cx="2880360" cy="4114800"/>
          </a:xfrm>
          <a:prstGeom prst="roundRect">
            <a:avLst>
              <a:gd name="adj" fmla="val 6000"/>
            </a:avLst>
          </a:prstGeom>
          <a:solidFill>
            <a:srgbClr val="22252B"/>
          </a:solidFill>
          <a:ln>
            <a:noFill/>
          </a:ln>
          <a:effectLst>
            <a:outerShdw blurRad="91440" dist="50292" dir="5400000" rotWithShape="0">
              <a:srgbClr val="22252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184708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spc="160">
                <a:solidFill>
                  <a:srgbClr val="C9B9AE"/>
                </a:solidFill>
                <a:latin typeface="Arial"/>
              </a:rPr>
              <a:t>SYLLABUS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HTML5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CSS3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F1EC"/>
                </a:solidFill>
                <a:latin typeface="Arial"/>
              </a:rPr>
              <a:t>Events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3703320" y="3474720"/>
            <a:ext cx="402336" cy="365760"/>
          </a:xfrm>
          <a:prstGeom prst="chevron">
            <a:avLst/>
          </a:prstGeom>
          <a:solidFill>
            <a:srgbClr val="B09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434840" y="1627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44568" y="1737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lock-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35" y="1817827"/>
            <a:ext cx="204825" cy="204825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5020055" y="16276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Authentication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3227" y="1627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02955" y="1737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liders-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422" y="1817827"/>
            <a:ext cx="204825" cy="204825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8578443" y="16276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Personalized onboarding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23134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44568" y="2423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user-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035" y="2503627"/>
            <a:ext cx="204825" cy="204825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5020055" y="23134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Avatar system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3227" y="23134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102955" y="24231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heck-square-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422" y="2503627"/>
            <a:ext cx="204825" cy="2048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578443" y="23134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Task management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29992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44568" y="31089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calendar-s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5035" y="3189427"/>
            <a:ext cx="204825" cy="20482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5020055" y="29992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Calendar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3227" y="29992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02955" y="31089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feather-s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422" y="3189427"/>
            <a:ext cx="204825" cy="204825"/>
          </a:xfrm>
          <a:prstGeom prst="rect">
            <a:avLst/>
          </a:prstGeom>
          <a:effectLst/>
        </p:spPr>
      </p:pic>
      <p:sp>
        <p:nvSpPr>
          <p:cNvPr id="47" name="TextBox 46"/>
          <p:cNvSpPr txBox="1"/>
          <p:nvPr/>
        </p:nvSpPr>
        <p:spPr>
          <a:xfrm>
            <a:off x="8578443" y="29992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Quick Notes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34840" y="36850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544568" y="37947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grid-s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5035" y="3875227"/>
            <a:ext cx="204825" cy="204825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5020055" y="36850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Timetable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93227" y="36850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02955" y="37947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" name="Picture 53" descr="percent-s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422" y="3875227"/>
            <a:ext cx="204825" cy="204825"/>
          </a:xfrm>
          <a:prstGeom prst="rect">
            <a:avLst/>
          </a:prstGeom>
          <a:effectLst/>
        </p:spPr>
      </p:pic>
      <p:sp>
        <p:nvSpPr>
          <p:cNvPr id="55" name="TextBox 54"/>
          <p:cNvSpPr txBox="1"/>
          <p:nvPr/>
        </p:nvSpPr>
        <p:spPr>
          <a:xfrm>
            <a:off x="8578443" y="36850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Attendance logic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34840" y="43708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544568" y="44805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8" name="Picture 57" descr="trending-up-s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5035" y="4561027"/>
            <a:ext cx="204825" cy="204825"/>
          </a:xfrm>
          <a:prstGeom prst="rect">
            <a:avLst/>
          </a:prstGeom>
          <a:effectLst/>
        </p:spPr>
      </p:pic>
      <p:sp>
        <p:nvSpPr>
          <p:cNvPr id="59" name="TextBox 58"/>
          <p:cNvSpPr txBox="1"/>
          <p:nvPr/>
        </p:nvSpPr>
        <p:spPr>
          <a:xfrm>
            <a:off x="5020055" y="43708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CGPA logic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93227" y="43708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8102955" y="44805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2" name="Picture 61" descr="award-s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3422" y="4561027"/>
            <a:ext cx="204825" cy="204825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8578443" y="43708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Achievements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34840" y="5056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4544568" y="5166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bell-s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5035" y="5246827"/>
            <a:ext cx="204825" cy="204825"/>
          </a:xfrm>
          <a:prstGeom prst="rect">
            <a:avLst/>
          </a:prstGeom>
          <a:effectLst/>
        </p:spPr>
      </p:pic>
      <p:sp>
        <p:nvSpPr>
          <p:cNvPr id="67" name="TextBox 66"/>
          <p:cNvSpPr txBox="1"/>
          <p:nvPr/>
        </p:nvSpPr>
        <p:spPr>
          <a:xfrm>
            <a:off x="5020055" y="50566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Notifications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93227" y="5056632"/>
            <a:ext cx="3401568" cy="585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E5E8EB"/>
            </a:solidFill>
          </a:ln>
          <a:effectLst>
            <a:outerShdw blurRad="91440" dist="50292" dir="5400000" rotWithShape="0">
              <a:srgbClr val="22252B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102955" y="5166360"/>
            <a:ext cx="365760" cy="365760"/>
          </a:xfrm>
          <a:prstGeom prst="ellipse">
            <a:avLst/>
          </a:prstGeom>
          <a:solidFill>
            <a:srgbClr val="E7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eye-s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3422" y="5246827"/>
            <a:ext cx="204825" cy="204825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8578443" y="5056632"/>
            <a:ext cx="2761488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2252B"/>
                </a:solidFill>
                <a:latin typeface="Arial"/>
              </a:rPr>
              <a:t>Light / dark mode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" y="534924"/>
            <a:ext cx="123444" cy="123444"/>
          </a:xfrm>
          <a:prstGeom prst="ellipse">
            <a:avLst/>
          </a:prstGeom>
          <a:solidFill>
            <a:srgbClr val="C9B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80">
                <a:solidFill>
                  <a:srgbClr val="C9B9AE"/>
                </a:solidFill>
                <a:latin typeface="Arial"/>
              </a:rPr>
              <a:t>THE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7724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3F1EC"/>
                </a:solidFill>
                <a:latin typeface="Arial"/>
              </a:rPr>
              <a:t>Synora in one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691640"/>
            <a:ext cx="6766560" cy="42291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anding_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6766560" cy="4229100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40080" y="594360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9AA2AC"/>
                </a:solidFill>
                <a:latin typeface="Arial"/>
              </a:rPr>
              <a:t>Landing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69164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tas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691640"/>
            <a:ext cx="1883664" cy="1177289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7635240" y="2914650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Tasks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8" y="169164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ime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1691640"/>
            <a:ext cx="1883664" cy="1177289"/>
          </a:xfrm>
          <a:prstGeom prst="rect">
            <a:avLst/>
          </a:prstGeom>
          <a:effectLst/>
        </p:spPr>
      </p:pic>
      <p:sp>
        <p:nvSpPr>
          <p:cNvPr id="24" name="TextBox 23"/>
          <p:cNvSpPr txBox="1"/>
          <p:nvPr/>
        </p:nvSpPr>
        <p:spPr>
          <a:xfrm>
            <a:off x="9665208" y="2914650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Timetable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84048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ttend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3840480"/>
            <a:ext cx="1883664" cy="1177289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7635240" y="5063490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Attendance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3840480"/>
            <a:ext cx="1883664" cy="117728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gp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208" y="3840480"/>
            <a:ext cx="1883664" cy="1177289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9665208" y="5063490"/>
            <a:ext cx="18836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9AA2AC"/>
                </a:solidFill>
                <a:latin typeface="Arial"/>
              </a:rPr>
              <a:t>CGPA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ur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effectLst/>
        </p:spPr>
      </p:pic>
      <p:sp>
        <p:nvSpPr>
          <p:cNvPr id="3" name="Oval 2"/>
          <p:cNvSpPr/>
          <p:nvPr/>
        </p:nvSpPr>
        <p:spPr>
          <a:xfrm>
            <a:off x="11246831" y="68580"/>
            <a:ext cx="548640" cy="548640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74407" y="857249"/>
            <a:ext cx="274320" cy="274320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04606" y="1117854"/>
            <a:ext cx="164592" cy="164592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37974" y="313182"/>
            <a:ext cx="128016" cy="128016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0882" y="5934456"/>
            <a:ext cx="475488" cy="475488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92316" y="5376672"/>
            <a:ext cx="219456" cy="219456"/>
          </a:xfrm>
          <a:prstGeom prst="ellipse">
            <a:avLst/>
          </a:prstGeom>
          <a:solidFill>
            <a:srgbClr val="3D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0681" y="5070348"/>
            <a:ext cx="146304" cy="146304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50568" y="116586"/>
            <a:ext cx="109728" cy="109728"/>
          </a:xfrm>
          <a:prstGeom prst="ellipse">
            <a:avLst/>
          </a:prstGeom>
          <a:solidFill>
            <a:srgbClr val="3A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36969" y="4946904"/>
            <a:ext cx="256032" cy="256032"/>
          </a:xfrm>
          <a:prstGeom prst="ellipse">
            <a:avLst/>
          </a:prstGeom>
          <a:solidFill>
            <a:srgbClr val="2E3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75212" y="6535674"/>
            <a:ext cx="164592" cy="164592"/>
          </a:xfrm>
          <a:prstGeom prst="ellipse">
            <a:avLst/>
          </a:prstGeom>
          <a:solidFill>
            <a:srgbClr val="4C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-mar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777240" cy="715383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1554480" y="6217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3F1EC"/>
                </a:solidFill>
                <a:latin typeface="Arial"/>
              </a:rPr>
              <a:t>Synora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82" y="2295040"/>
            <a:ext cx="7863840" cy="1472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0400" b="1" dirty="0">
                <a:solidFill>
                  <a:srgbClr val="F3F1EC"/>
                </a:solidFill>
                <a:latin typeface="Arial"/>
              </a:rPr>
              <a:t>Thank</a:t>
            </a:r>
            <a:r>
              <a:rPr lang="en-US" sz="10400" b="1" dirty="0">
                <a:solidFill>
                  <a:srgbClr val="F3F1EC"/>
                </a:solidFill>
                <a:latin typeface="Arial"/>
              </a:rPr>
              <a:t> </a:t>
            </a:r>
            <a:r>
              <a:rPr sz="10400" b="1" dirty="0">
                <a:solidFill>
                  <a:srgbClr val="F3F1EC"/>
                </a:solidFill>
                <a:latin typeface="Arial"/>
              </a:rPr>
              <a:t>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FB6A6"/>
                </a:solidFill>
                <a:latin typeface="Arial"/>
              </a:rPr>
              <a:t>Synora — one calm home for everything you're studying.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32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C9B9AE"/>
                </a:solidFill>
                <a:latin typeface="Arial"/>
              </a:rPr>
              <a:t>SUBMITTED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3387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3F1EC"/>
                </a:solidFill>
                <a:latin typeface="Arial"/>
              </a:rPr>
              <a:t>Manan Kochhar    ·    Arshpreet Kaur    ·    Atharv Bains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148840"/>
            <a:ext cx="23317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91440" dist="50292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8552" y="2404872"/>
            <a:ext cx="1819655" cy="1819655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8458200" y="4645152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3F1EC"/>
                </a:solidFill>
                <a:latin typeface="Arial"/>
              </a:rPr>
              <a:t>Scan for the live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9377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6A6"/>
                </a:solidFill>
                <a:latin typeface="Courier New"/>
              </a:rPr>
              <a:t>synora.vercel.app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3518</Words>
  <Application>Microsoft Macintosh PowerPoint</Application>
  <PresentationFormat>Widescreen</PresentationFormat>
  <Paragraphs>455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Manan Kochhar</cp:lastModifiedBy>
  <cp:revision>4</cp:revision>
  <dcterms:created xsi:type="dcterms:W3CDTF">2013-01-27T09:14:16Z</dcterms:created>
  <dcterms:modified xsi:type="dcterms:W3CDTF">2026-08-23T06:46:54Z</dcterms:modified>
  <cp:category/>
</cp:coreProperties>
</file>