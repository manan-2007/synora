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7" r:id="rId27"/>
    <p:sldId id="288" r:id="rId28"/>
    <p:sldId id="289" r:id="rId29"/>
    <p:sldId id="290" r:id="rId3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66"/>
  </p:normalViewPr>
  <p:slideViewPr>
    <p:cSldViewPr snapToGrid="0" snapToObjects="1">
      <p:cViewPr varScale="1">
        <p:scale>
          <a:sx n="115" d="100"/>
          <a:sy n="115" d="100"/>
        </p:scale>
        <p:origin x="664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7819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Synora is a real, working student-productivity web app built only with HTML5, CSS3 and vanilla JavaScript. This deck tells the whole story — problem, product, how it's built, which syllabus concepts it uses, and what we added beyond them. Submitted by Manan Kochhar, Arshpreet Kaur and Atharv Bains.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problem is fragmentation. Six disconnected tools, none sharing data — deadlines slip, attendance is done by hand, grades live in fragile spreadsheets. The scattered cards and red warning badges make the pain visible; the red band drives it home.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reveal. After the scattered problem, this is the answer — Synora. Eight tools gathered into one calm, personalized workspace, shown by the dashboard. Land the brand name first, then the one-line promise. Same sage colour language as the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Four feature families: Productivity (tasks/calendar/notes), Academic (timetable/attendance/CGPA), Progress (achievements/notifications), Personalization (profile/subjects/avatar/theme). Everything is per-user and saved on-device.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Deliberately minimal stack: HTML5, CSS3, vanilla JS, localStorage for persistence, Git/GitHub for version control. No React, no bundler — the syllabus building blocks are the whole toolkit. localStorage is genuinely used (16 call-sites).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Real project tree with headline counts: 14 HTML pages (index + 13 app pages), 7 stylesheets, 18 JS modules, and ZERO frameworks. One page + one module per feature, no build step — the browser opens the files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Data flows from sign-in through personalization into a per-user profile and subject list. Subjects are the single source of truth — attendance, CGPA and timetable all reference a subject by id, so renaming it once renames it everywhere. Everything rolls up to the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Semantic tags carry meaning: header/nav/main/section/aside/footer, with aria-labelledby tying a heading to its region. Viva: why semantic HTML? Accessibility, SEO, and a structure our JS can target reliably.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the flow: landing → sign up → personalize → dashboard. Emphasise that HTML provides the page structure and navigation that stitches the journey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landing page is built from labelled &lt;section&gt; blocks with anchor navigation. Notably the FAQ accordion and mobile menu are pure CSS (a hidden checkbox) — no JS. Contact is a real validated form. Viva: which parts need no JavaScript? The menu and FAQ.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Sign up collects first/last name, username, email, password + confirm. Each field uses the correct input type (email/password), which sets the keyboard and gives the browser's native validation. Then confirmation → personalization →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Onboarding is a wizard of HTML form controls — radio-style avatar picker, selects for program/semester, repeatable subject rows with a checkbox for attendance tracking, a number input for the target, and a theme choice. This is where each user's workspace is shaped.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Productivity trio: Tasks (priorities + filters), Calendar (deadline timeline), Quick Notes (subject-tagged cards). Each is structured HTML — lists, cards, forms — before any styling or scripting.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Academic trio: Timetable (weekly grid), Attendance (how many classes you can skip and stay above target), CGPA (live 10-point calculator). Note the labelled cards and the chart containers that JS later fills.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Progress + account trio: Achievements (gamified milestones), Notifications (reconciled deadline/attendance alerts), Settings (edit profile/subjects/theme). Structured lists and controls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Honest framing: accessibility BASICS, not certified WCAG. Genuinely present: 16 labels, 91 aria-*, correct input types, 18 alt attributes, a skip-link and a visually-hidden utility. Viva: what makes a form accessible? Programmatic label-to-input association and correct types.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CSS built a design SYSTEM, not per-page styling. tokens.css holds 120+ token definitions (85 unique names); light/dark themes swap the same tokens. Viva: why CSS variables? Single source of truth — change a token, the whole app updates.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tokens.css is the single source of truth. Everything — colour, type, spacing, radii, shadows, motion — is a CSS custom property in one :root block, grouped by category so it stays organised. Components read the tokens instead of hard-coding values, and dark mode simply re-declares the same names with new values, which is why one theme attribute flips the whole app. Viva: why :root? It's the top-level scope, so every element inherits the variables.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Every card is a box. .stat-card sets padding (space inside), a 1px border, rounded corners and a soft shadow — all via tokens. Viva: name the four box-model layers inside out — content, padding, border,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Flexbox handles one-dimensional rows: the sticky top bar, toolbars, button groups (116 rules). Properties actually used: display:flex, align-items, gap, flex-wrap. Viva: flex vs grid? Flex = one axis, grid =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Grid handles two-dimensional structure (51 rules): the 7-column calendar, the dashboard's auto-fit stat cards, the notes masonry. Viva: why Grid for the calendar? It's a genuine rows × columns arrangement.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Mandatory responsive proof — the SAME landing page at 1440/768/390. The grid hero collapses to one column, buttons go full-width, the navbar becomes a hamburger. Strategy is desktop-first: 23 media-query blocks adapting DOWN. The menu is pure CSS.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Theming = one attribute. theme.js reads matchMedia for the system preference, lets the saved choice win, sets data-theme on &lt;html&gt;, and the CSS custom properties do the rest. It runs in &lt;head&gt; before first paint so dark-mode users never see a white flash. Persisted in localStorage.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splash is a real UX feature. Three states — splash, handover, landing. Honest mechanism: the animation is pure CSS @keyframes; JavaScript only controls timing (shows ≥ 2000ms, then removes the node); prefers-reduced-motion is honoured.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clear message: without JS the page is frozen; JavaScript makes it respond. The loop is always the same — you act, an event fires, a handler runs, the DOM updates, you see it change. Three concrete examples: completing a task, recomputing attendance, flipping the theme.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engineering pay-off, shown as the actual formulas we coded. Attendance % = attended/held×100. CGPA = Σ(credits×gradePoint)/Σ(credits), fails score 0 but keep their credits. 'Can miss' and 'catch up' are derived from the target inequality. Nothing is stored — it's all computed live from the subject list, per 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pay-off slide. The syllabus gave five building blocks; on top we engineered authentication, personalized onboarding, an avatar system, task/calendar/notes, timetable, attendance and CGPA logic, achievements, notifications, theming, and a per-user data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polished showcase — the dashboard plus the core academic screens. This is the visual proof that Synora is a complete, working product, not a demo of isolated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calmly and confidently. Restate the thesis: we used the web-development syllabus as the foundation and built Synora into a complete, responsive, personalized student-productivity platform. The QR links to the live deployment at synora-v1.vercel.app.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23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17" Type="http://schemas.openxmlformats.org/officeDocument/2006/relationships/image" Target="../media/image27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5" Type="http://schemas.openxmlformats.org/officeDocument/2006/relationships/image" Target="../media/image2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Relationship Id="rId14" Type="http://schemas.openxmlformats.org/officeDocument/2006/relationships/image" Target="../media/image2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24.png"/><Relationship Id="rId7" Type="http://schemas.openxmlformats.org/officeDocument/2006/relationships/image" Target="../media/image13.png"/><Relationship Id="rId12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11" Type="http://schemas.openxmlformats.org/officeDocument/2006/relationships/image" Target="../media/image40.png"/><Relationship Id="rId5" Type="http://schemas.openxmlformats.org/officeDocument/2006/relationships/image" Target="../media/image36.png"/><Relationship Id="rId10" Type="http://schemas.openxmlformats.org/officeDocument/2006/relationships/image" Target="../media/image39.png"/><Relationship Id="rId4" Type="http://schemas.openxmlformats.org/officeDocument/2006/relationships/image" Target="../media/image35.png"/><Relationship Id="rId9" Type="http://schemas.openxmlformats.org/officeDocument/2006/relationships/image" Target="../media/image3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42.png"/><Relationship Id="rId7" Type="http://schemas.openxmlformats.org/officeDocument/2006/relationships/image" Target="../media/image4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Relationship Id="rId9" Type="http://schemas.openxmlformats.org/officeDocument/2006/relationships/image" Target="../media/image4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9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44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5" Type="http://schemas.openxmlformats.org/officeDocument/2006/relationships/image" Target="../media/image17.png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51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55.png"/><Relationship Id="rId7" Type="http://schemas.openxmlformats.org/officeDocument/2006/relationships/image" Target="../media/image5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png"/><Relationship Id="rId5" Type="http://schemas.openxmlformats.org/officeDocument/2006/relationships/image" Target="../media/image56.png"/><Relationship Id="rId4" Type="http://schemas.openxmlformats.org/officeDocument/2006/relationships/image" Target="../media/image3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image" Target="../media/image58.pn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61.pn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3.png"/><Relationship Id="rId5" Type="http://schemas.openxmlformats.org/officeDocument/2006/relationships/image" Target="../media/image50.png"/><Relationship Id="rId4" Type="http://schemas.openxmlformats.org/officeDocument/2006/relationships/image" Target="../media/image4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image" Target="../media/image50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5.png"/><Relationship Id="rId5" Type="http://schemas.openxmlformats.org/officeDocument/2006/relationships/image" Target="../media/image64.png"/><Relationship Id="rId4" Type="http://schemas.openxmlformats.org/officeDocument/2006/relationships/image" Target="../media/image4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0.png"/><Relationship Id="rId4" Type="http://schemas.openxmlformats.org/officeDocument/2006/relationships/image" Target="../media/image6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5.png"/><Relationship Id="rId5" Type="http://schemas.openxmlformats.org/officeDocument/2006/relationships/image" Target="../media/image64.png"/><Relationship Id="rId4" Type="http://schemas.openxmlformats.org/officeDocument/2006/relationships/image" Target="../media/image73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64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10" Type="http://schemas.openxmlformats.org/officeDocument/2006/relationships/image" Target="../media/image71.png"/><Relationship Id="rId4" Type="http://schemas.openxmlformats.org/officeDocument/2006/relationships/image" Target="../media/image73.png"/><Relationship Id="rId9" Type="http://schemas.openxmlformats.org/officeDocument/2006/relationships/image" Target="../media/image5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63.png"/><Relationship Id="rId4" Type="http://schemas.openxmlformats.org/officeDocument/2006/relationships/image" Target="../media/image40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3.png"/><Relationship Id="rId3" Type="http://schemas.openxmlformats.org/officeDocument/2006/relationships/image" Target="../media/image74.png"/><Relationship Id="rId7" Type="http://schemas.openxmlformats.org/officeDocument/2006/relationships/image" Target="../media/image15.png"/><Relationship Id="rId12" Type="http://schemas.openxmlformats.org/officeDocument/2006/relationships/image" Target="../media/image2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11" Type="http://schemas.openxmlformats.org/officeDocument/2006/relationships/image" Target="../media/image79.png"/><Relationship Id="rId5" Type="http://schemas.openxmlformats.org/officeDocument/2006/relationships/image" Target="../media/image76.png"/><Relationship Id="rId10" Type="http://schemas.openxmlformats.org/officeDocument/2006/relationships/image" Target="../media/image78.png"/><Relationship Id="rId4" Type="http://schemas.openxmlformats.org/officeDocument/2006/relationships/image" Target="../media/image75.png"/><Relationship Id="rId9" Type="http://schemas.openxmlformats.org/officeDocument/2006/relationships/image" Target="../media/image77.png"/><Relationship Id="rId14" Type="http://schemas.openxmlformats.org/officeDocument/2006/relationships/image" Target="../media/image80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1.png"/><Relationship Id="rId7" Type="http://schemas.openxmlformats.org/officeDocument/2006/relationships/image" Target="../media/image5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5.png"/><Relationship Id="rId5" Type="http://schemas.openxmlformats.org/officeDocument/2006/relationships/image" Target="../media/image51.png"/><Relationship Id="rId4" Type="http://schemas.openxmlformats.org/officeDocument/2006/relationships/image" Target="../media/image4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exture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  <a:effectLst/>
        </p:spPr>
      </p:pic>
      <p:sp>
        <p:nvSpPr>
          <p:cNvPr id="3" name="Oval 2"/>
          <p:cNvSpPr/>
          <p:nvPr/>
        </p:nvSpPr>
        <p:spPr>
          <a:xfrm>
            <a:off x="11246831" y="68580"/>
            <a:ext cx="548640" cy="548640"/>
          </a:xfrm>
          <a:prstGeom prst="ellipse">
            <a:avLst/>
          </a:prstGeom>
          <a:solidFill>
            <a:srgbClr val="3D4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774407" y="857249"/>
            <a:ext cx="274320" cy="274320"/>
          </a:xfrm>
          <a:prstGeom prst="ellipse">
            <a:avLst/>
          </a:prstGeom>
          <a:solidFill>
            <a:srgbClr val="2E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804606" y="1117854"/>
            <a:ext cx="164592" cy="164592"/>
          </a:xfrm>
          <a:prstGeom prst="ellipse">
            <a:avLst/>
          </a:prstGeom>
          <a:solidFill>
            <a:srgbClr val="3A3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37974" y="313182"/>
            <a:ext cx="128016" cy="128016"/>
          </a:xfrm>
          <a:prstGeom prst="ellipse">
            <a:avLst/>
          </a:prstGeom>
          <a:solidFill>
            <a:srgbClr val="4C4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10882" y="5934456"/>
            <a:ext cx="475488" cy="475488"/>
          </a:xfrm>
          <a:prstGeom prst="ellipse">
            <a:avLst/>
          </a:prstGeom>
          <a:solidFill>
            <a:srgbClr val="2E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292316" y="5376672"/>
            <a:ext cx="219456" cy="219456"/>
          </a:xfrm>
          <a:prstGeom prst="ellipse">
            <a:avLst/>
          </a:prstGeom>
          <a:solidFill>
            <a:srgbClr val="3D4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70681" y="5070348"/>
            <a:ext cx="146304" cy="146304"/>
          </a:xfrm>
          <a:prstGeom prst="ellipse">
            <a:avLst/>
          </a:prstGeom>
          <a:solidFill>
            <a:srgbClr val="3A3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50568" y="116586"/>
            <a:ext cx="109728" cy="109728"/>
          </a:xfrm>
          <a:prstGeom prst="ellipse">
            <a:avLst/>
          </a:prstGeom>
          <a:solidFill>
            <a:srgbClr val="3A3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1636969" y="4946904"/>
            <a:ext cx="256032" cy="256032"/>
          </a:xfrm>
          <a:prstGeom prst="ellipse">
            <a:avLst/>
          </a:prstGeom>
          <a:solidFill>
            <a:srgbClr val="2E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575212" y="6535674"/>
            <a:ext cx="164592" cy="164592"/>
          </a:xfrm>
          <a:prstGeom prst="ellipse">
            <a:avLst/>
          </a:prstGeom>
          <a:solidFill>
            <a:srgbClr val="4C4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logo-lockup-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48640"/>
            <a:ext cx="1920240" cy="492984"/>
          </a:xfrm>
          <a:prstGeom prst="rect">
            <a:avLst/>
          </a:prstGeom>
          <a:effectLst/>
        </p:spPr>
      </p:pic>
      <p:sp>
        <p:nvSpPr>
          <p:cNvPr id="14" name="TextBox 13"/>
          <p:cNvSpPr txBox="1"/>
          <p:nvPr/>
        </p:nvSpPr>
        <p:spPr>
          <a:xfrm>
            <a:off x="640080" y="1965960"/>
            <a:ext cx="594360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300" b="1">
                <a:solidFill>
                  <a:srgbClr val="F3F1EC"/>
                </a:solidFill>
                <a:latin typeface="Arial"/>
              </a:rPr>
              <a:t>One </a:t>
            </a:r>
            <a:r>
              <a:rPr sz="4300" b="1">
                <a:solidFill>
                  <a:srgbClr val="9FB6A6"/>
                </a:solidFill>
                <a:latin typeface="Arial"/>
              </a:rPr>
              <a:t>calm</a:t>
            </a:r>
            <a:r>
              <a:rPr sz="4300" b="1">
                <a:solidFill>
                  <a:srgbClr val="F3F1EC"/>
                </a:solidFill>
                <a:latin typeface="Arial"/>
              </a:rPr>
              <a:t> home</a:t>
            </a:r>
          </a:p>
          <a:p>
            <a:pPr algn="l">
              <a:lnSpc>
                <a:spcPct val="102000"/>
              </a:lnSpc>
            </a:pPr>
            <a:r>
              <a:rPr sz="4300" b="1">
                <a:solidFill>
                  <a:srgbClr val="F3F1EC"/>
                </a:solidFill>
                <a:latin typeface="Arial"/>
              </a:rPr>
              <a:t>for everything</a:t>
            </a:r>
          </a:p>
          <a:p>
            <a:pPr algn="l">
              <a:lnSpc>
                <a:spcPct val="102000"/>
              </a:lnSpc>
            </a:pPr>
            <a:r>
              <a:rPr sz="4300" b="1">
                <a:solidFill>
                  <a:srgbClr val="F3F1EC"/>
                </a:solidFill>
                <a:latin typeface="Arial"/>
              </a:rPr>
              <a:t>you're studying.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06240"/>
            <a:ext cx="5669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9AA2AC"/>
                </a:solidFill>
                <a:latin typeface="Arial"/>
              </a:rPr>
              <a:t>Student Productivity &amp; Academic Management Workspace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54880"/>
            <a:ext cx="651052" cy="365760"/>
          </a:xfrm>
          <a:prstGeom prst="roundRect">
            <a:avLst>
              <a:gd name="adj" fmla="val 50000"/>
            </a:avLst>
          </a:prstGeom>
          <a:solidFill>
            <a:srgbClr val="2B2F37"/>
          </a:solidFill>
          <a:ln w="12700">
            <a:solidFill>
              <a:srgbClr val="5365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F3F1EC"/>
                </a:solidFill>
                <a:latin typeface="Arial"/>
              </a:rPr>
              <a:t>HTML5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19148" y="4754880"/>
            <a:ext cx="583021" cy="365760"/>
          </a:xfrm>
          <a:prstGeom prst="roundRect">
            <a:avLst>
              <a:gd name="adj" fmla="val 50000"/>
            </a:avLst>
          </a:prstGeom>
          <a:solidFill>
            <a:srgbClr val="2B2F37"/>
          </a:solidFill>
          <a:ln w="12700">
            <a:solidFill>
              <a:srgbClr val="5365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F3F1EC"/>
                </a:solidFill>
                <a:latin typeface="Arial"/>
              </a:rPr>
              <a:t>CSS3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30186" y="4754880"/>
            <a:ext cx="991209" cy="365760"/>
          </a:xfrm>
          <a:prstGeom prst="roundRect">
            <a:avLst>
              <a:gd name="adj" fmla="val 50000"/>
            </a:avLst>
          </a:prstGeom>
          <a:solidFill>
            <a:srgbClr val="2B2F37"/>
          </a:solidFill>
          <a:ln w="12700">
            <a:solidFill>
              <a:srgbClr val="5365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F3F1EC"/>
                </a:solidFill>
                <a:latin typeface="Arial"/>
              </a:rPr>
              <a:t>JavaScript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49411" y="4754880"/>
            <a:ext cx="514990" cy="365760"/>
          </a:xfrm>
          <a:prstGeom prst="roundRect">
            <a:avLst>
              <a:gd name="adj" fmla="val 50000"/>
            </a:avLst>
          </a:prstGeom>
          <a:solidFill>
            <a:srgbClr val="2B2F37"/>
          </a:solidFill>
          <a:ln w="12700">
            <a:solidFill>
              <a:srgbClr val="5365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F3F1EC"/>
                </a:solidFill>
                <a:latin typeface="Arial"/>
              </a:rPr>
              <a:t>DOM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92417" y="4754880"/>
            <a:ext cx="719084" cy="365760"/>
          </a:xfrm>
          <a:prstGeom prst="roundRect">
            <a:avLst>
              <a:gd name="adj" fmla="val 50000"/>
            </a:avLst>
          </a:prstGeom>
          <a:solidFill>
            <a:srgbClr val="2B2F37"/>
          </a:solidFill>
          <a:ln w="12700">
            <a:solidFill>
              <a:srgbClr val="5365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F3F1EC"/>
                </a:solidFill>
                <a:latin typeface="Arial"/>
              </a:rPr>
              <a:t>Events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623560"/>
            <a:ext cx="5669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180">
                <a:solidFill>
                  <a:srgbClr val="C9B9AE"/>
                </a:solidFill>
                <a:latin typeface="Arial"/>
              </a:rPr>
              <a:t>SUBMITTED BY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907024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3F1EC"/>
                </a:solidFill>
                <a:latin typeface="Arial"/>
              </a:rPr>
              <a:t>Manan Kochhar    ·    Arshpreet Kaur    ·    Atharv Bains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66560" y="1828800"/>
            <a:ext cx="4846320" cy="302894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91440" dist="50292" dir="5400000" rotWithShape="0">
              <a:srgbClr val="000000">
                <a:alpha val="3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dashboard_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0" y="1828800"/>
            <a:ext cx="4846320" cy="3028949"/>
          </a:xfrm>
          <a:prstGeom prst="rect">
            <a:avLst/>
          </a:prstGeom>
          <a:effectLst/>
        </p:spPr>
      </p:pic>
      <p:sp>
        <p:nvSpPr>
          <p:cNvPr id="25" name="TextBox 24"/>
          <p:cNvSpPr txBox="1"/>
          <p:nvPr/>
        </p:nvSpPr>
        <p:spPr>
          <a:xfrm>
            <a:off x="6766560" y="512064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9AA2AC"/>
                </a:solidFill>
                <a:latin typeface="Arial"/>
              </a:rPr>
              <a:t>The Synora dashboard — a live, working product.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246831" y="68580"/>
            <a:ext cx="548640" cy="548640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774407" y="857249"/>
            <a:ext cx="274320" cy="274320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804606" y="1117854"/>
            <a:ext cx="164592" cy="164592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37974" y="313182"/>
            <a:ext cx="128016" cy="128016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10882" y="5934456"/>
            <a:ext cx="475488" cy="475488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292316" y="5376672"/>
            <a:ext cx="219456" cy="219456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70681" y="5070348"/>
            <a:ext cx="146304" cy="146304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50568" y="116586"/>
            <a:ext cx="109728" cy="109728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1636969" y="4946904"/>
            <a:ext cx="256032" cy="256032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575212" y="6535674"/>
            <a:ext cx="164592" cy="164592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0080" y="598932"/>
            <a:ext cx="123444" cy="123444"/>
          </a:xfrm>
          <a:prstGeom prst="ellipse">
            <a:avLst/>
          </a:prstGeom>
          <a:solidFill>
            <a:srgbClr val="C67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" y="5669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80">
                <a:solidFill>
                  <a:srgbClr val="C67A6C"/>
                </a:solidFill>
                <a:latin typeface="Arial"/>
              </a:rPr>
              <a:t>01 · THE PROBLEM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868680"/>
            <a:ext cx="96012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900" b="1">
                <a:solidFill>
                  <a:srgbClr val="22252B"/>
                </a:solidFill>
                <a:latin typeface="Arial"/>
              </a:rPr>
              <a:t>A student's semester is scattered across apps that never talk.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2468880"/>
            <a:ext cx="2514600" cy="93268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651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069848" y="2697480"/>
            <a:ext cx="475488" cy="475488"/>
          </a:xfrm>
          <a:prstGeom prst="ellipse">
            <a:avLst/>
          </a:prstGeom>
          <a:solidFill>
            <a:srgbClr val="F0EE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check-square-sl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3965" y="2811597"/>
            <a:ext cx="247253" cy="247253"/>
          </a:xfrm>
          <a:prstGeom prst="rect">
            <a:avLst/>
          </a:prstGeom>
          <a:effectLst/>
        </p:spPr>
      </p:pic>
      <p:sp>
        <p:nvSpPr>
          <p:cNvPr id="19" name="TextBox 18"/>
          <p:cNvSpPr txBox="1"/>
          <p:nvPr/>
        </p:nvSpPr>
        <p:spPr>
          <a:xfrm>
            <a:off x="1691640" y="2468880"/>
            <a:ext cx="1417320" cy="9326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06772"/>
                </a:solidFill>
                <a:latin typeface="Arial"/>
              </a:rPr>
              <a:t>To-do app</a:t>
            </a:r>
          </a:p>
        </p:txBody>
      </p:sp>
      <p:pic>
        <p:nvPicPr>
          <p:cNvPr id="20" name="Picture 19" descr="alert-triangle-hig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2656" y="2615184"/>
            <a:ext cx="274320" cy="274320"/>
          </a:xfrm>
          <a:prstGeom prst="rect">
            <a:avLst/>
          </a:prstGeom>
          <a:effectLst/>
        </p:spPr>
      </p:pic>
      <p:sp>
        <p:nvSpPr>
          <p:cNvPr id="21" name="Rounded Rectangle 20"/>
          <p:cNvSpPr/>
          <p:nvPr/>
        </p:nvSpPr>
        <p:spPr>
          <a:xfrm>
            <a:off x="4297680" y="2240280"/>
            <a:ext cx="2514600" cy="93268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651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498848" y="2468880"/>
            <a:ext cx="475488" cy="475488"/>
          </a:xfrm>
          <a:prstGeom prst="ellipse">
            <a:avLst/>
          </a:prstGeom>
          <a:solidFill>
            <a:srgbClr val="F0EE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file-text-sl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965" y="2582997"/>
            <a:ext cx="247253" cy="247253"/>
          </a:xfrm>
          <a:prstGeom prst="rect">
            <a:avLst/>
          </a:prstGeom>
          <a:effectLst/>
        </p:spPr>
      </p:pic>
      <p:sp>
        <p:nvSpPr>
          <p:cNvPr id="24" name="TextBox 23"/>
          <p:cNvSpPr txBox="1"/>
          <p:nvPr/>
        </p:nvSpPr>
        <p:spPr>
          <a:xfrm>
            <a:off x="5120640" y="2240280"/>
            <a:ext cx="1417320" cy="9326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06772"/>
                </a:solidFill>
                <a:latin typeface="Arial"/>
              </a:rPr>
              <a:t>Sticky notes</a:t>
            </a:r>
          </a:p>
        </p:txBody>
      </p:sp>
      <p:pic>
        <p:nvPicPr>
          <p:cNvPr id="25" name="Picture 24" descr="alert-triangle-hig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1656" y="2386584"/>
            <a:ext cx="274320" cy="274320"/>
          </a:xfrm>
          <a:prstGeom prst="rect">
            <a:avLst/>
          </a:prstGeom>
          <a:effectLst/>
        </p:spPr>
      </p:pic>
      <p:sp>
        <p:nvSpPr>
          <p:cNvPr id="26" name="Rounded Rectangle 25"/>
          <p:cNvSpPr/>
          <p:nvPr/>
        </p:nvSpPr>
        <p:spPr>
          <a:xfrm>
            <a:off x="7726679" y="2606040"/>
            <a:ext cx="2514600" cy="93268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651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7927848" y="2834640"/>
            <a:ext cx="475488" cy="475488"/>
          </a:xfrm>
          <a:prstGeom prst="ellipse">
            <a:avLst/>
          </a:prstGeom>
          <a:solidFill>
            <a:srgbClr val="F0EE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percent-sl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1965" y="2948757"/>
            <a:ext cx="247253" cy="247253"/>
          </a:xfrm>
          <a:prstGeom prst="rect">
            <a:avLst/>
          </a:prstGeom>
          <a:effectLst/>
        </p:spPr>
      </p:pic>
      <p:sp>
        <p:nvSpPr>
          <p:cNvPr id="29" name="TextBox 28"/>
          <p:cNvSpPr txBox="1"/>
          <p:nvPr/>
        </p:nvSpPr>
        <p:spPr>
          <a:xfrm>
            <a:off x="8549640" y="2606040"/>
            <a:ext cx="1417320" cy="9326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06772"/>
                </a:solidFill>
                <a:latin typeface="Arial"/>
              </a:rPr>
              <a:t>Attendance sheet</a:t>
            </a:r>
          </a:p>
        </p:txBody>
      </p:sp>
      <p:pic>
        <p:nvPicPr>
          <p:cNvPr id="30" name="Picture 29" descr="alert-triangle-hig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0655" y="2752344"/>
            <a:ext cx="274320" cy="274320"/>
          </a:xfrm>
          <a:prstGeom prst="rect">
            <a:avLst/>
          </a:prstGeom>
          <a:effectLst/>
        </p:spPr>
      </p:pic>
      <p:sp>
        <p:nvSpPr>
          <p:cNvPr id="31" name="Rounded Rectangle 30"/>
          <p:cNvSpPr/>
          <p:nvPr/>
        </p:nvSpPr>
        <p:spPr>
          <a:xfrm>
            <a:off x="1325880" y="3931920"/>
            <a:ext cx="2514600" cy="93268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651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1527048" y="4160520"/>
            <a:ext cx="475488" cy="475488"/>
          </a:xfrm>
          <a:prstGeom prst="ellipse">
            <a:avLst/>
          </a:prstGeom>
          <a:solidFill>
            <a:srgbClr val="F0EE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calendar-sla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1165" y="4274637"/>
            <a:ext cx="247253" cy="247253"/>
          </a:xfrm>
          <a:prstGeom prst="rect">
            <a:avLst/>
          </a:prstGeom>
          <a:effectLst/>
        </p:spPr>
      </p:pic>
      <p:sp>
        <p:nvSpPr>
          <p:cNvPr id="34" name="TextBox 33"/>
          <p:cNvSpPr txBox="1"/>
          <p:nvPr/>
        </p:nvSpPr>
        <p:spPr>
          <a:xfrm>
            <a:off x="2148840" y="3931920"/>
            <a:ext cx="1417320" cy="9326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06772"/>
                </a:solidFill>
                <a:latin typeface="Arial"/>
              </a:rPr>
              <a:t>Wall calendar</a:t>
            </a:r>
          </a:p>
        </p:txBody>
      </p:sp>
      <p:pic>
        <p:nvPicPr>
          <p:cNvPr id="35" name="Picture 34" descr="alert-triangle-hig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9856" y="4078224"/>
            <a:ext cx="274320" cy="274320"/>
          </a:xfrm>
          <a:prstGeom prst="rect">
            <a:avLst/>
          </a:prstGeom>
          <a:effectLst/>
        </p:spPr>
      </p:pic>
      <p:sp>
        <p:nvSpPr>
          <p:cNvPr id="36" name="Rounded Rectangle 35"/>
          <p:cNvSpPr/>
          <p:nvPr/>
        </p:nvSpPr>
        <p:spPr>
          <a:xfrm>
            <a:off x="4754880" y="4206240"/>
            <a:ext cx="2514600" cy="93268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651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4956048" y="4434840"/>
            <a:ext cx="475488" cy="475488"/>
          </a:xfrm>
          <a:prstGeom prst="ellipse">
            <a:avLst/>
          </a:prstGeom>
          <a:solidFill>
            <a:srgbClr val="F0EE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Picture 37" descr="bell-sla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70165" y="4548957"/>
            <a:ext cx="247253" cy="247253"/>
          </a:xfrm>
          <a:prstGeom prst="rect">
            <a:avLst/>
          </a:prstGeom>
          <a:effectLst/>
        </p:spPr>
      </p:pic>
      <p:sp>
        <p:nvSpPr>
          <p:cNvPr id="39" name="TextBox 38"/>
          <p:cNvSpPr txBox="1"/>
          <p:nvPr/>
        </p:nvSpPr>
        <p:spPr>
          <a:xfrm>
            <a:off x="5577840" y="4206240"/>
            <a:ext cx="1417320" cy="9326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06772"/>
                </a:solidFill>
                <a:latin typeface="Arial"/>
              </a:rPr>
              <a:t>Reminders</a:t>
            </a:r>
          </a:p>
        </p:txBody>
      </p:sp>
      <p:pic>
        <p:nvPicPr>
          <p:cNvPr id="40" name="Picture 39" descr="alert-triangle-hig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8856" y="4352544"/>
            <a:ext cx="274320" cy="274320"/>
          </a:xfrm>
          <a:prstGeom prst="rect">
            <a:avLst/>
          </a:prstGeom>
          <a:effectLst/>
        </p:spPr>
      </p:pic>
      <p:sp>
        <p:nvSpPr>
          <p:cNvPr id="41" name="Rounded Rectangle 40"/>
          <p:cNvSpPr/>
          <p:nvPr/>
        </p:nvSpPr>
        <p:spPr>
          <a:xfrm>
            <a:off x="8229600" y="3886200"/>
            <a:ext cx="2514600" cy="93268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651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8430768" y="4114800"/>
            <a:ext cx="475488" cy="475488"/>
          </a:xfrm>
          <a:prstGeom prst="ellipse">
            <a:avLst/>
          </a:prstGeom>
          <a:solidFill>
            <a:srgbClr val="F0EE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Picture 42" descr="bar-chart-2-sla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44885" y="4228917"/>
            <a:ext cx="247253" cy="247253"/>
          </a:xfrm>
          <a:prstGeom prst="rect">
            <a:avLst/>
          </a:prstGeom>
          <a:effectLst/>
        </p:spPr>
      </p:pic>
      <p:sp>
        <p:nvSpPr>
          <p:cNvPr id="44" name="TextBox 43"/>
          <p:cNvSpPr txBox="1"/>
          <p:nvPr/>
        </p:nvSpPr>
        <p:spPr>
          <a:xfrm>
            <a:off x="9052560" y="3886200"/>
            <a:ext cx="1417320" cy="9326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06772"/>
                </a:solidFill>
                <a:latin typeface="Arial"/>
              </a:rPr>
              <a:t>Grades sheet</a:t>
            </a:r>
          </a:p>
        </p:txBody>
      </p:sp>
      <p:pic>
        <p:nvPicPr>
          <p:cNvPr id="45" name="Picture 44" descr="alert-triangle-hig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23576" y="4032504"/>
            <a:ext cx="274320" cy="274320"/>
          </a:xfrm>
          <a:prstGeom prst="rect">
            <a:avLst/>
          </a:prstGeom>
          <a:effectLst/>
        </p:spPr>
      </p:pic>
      <p:sp>
        <p:nvSpPr>
          <p:cNvPr id="46" name="Rounded Rectangle 45"/>
          <p:cNvSpPr/>
          <p:nvPr/>
        </p:nvSpPr>
        <p:spPr>
          <a:xfrm>
            <a:off x="640080" y="5596128"/>
            <a:ext cx="10911535" cy="713232"/>
          </a:xfrm>
          <a:prstGeom prst="roundRect">
            <a:avLst>
              <a:gd name="adj" fmla="val 12000"/>
            </a:avLst>
          </a:prstGeom>
          <a:solidFill>
            <a:srgbClr val="FBEEE9"/>
          </a:solidFill>
          <a:ln w="16510">
            <a:solidFill>
              <a:srgbClr val="E8C6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914400" y="5724144"/>
            <a:ext cx="457200" cy="457200"/>
          </a:xfrm>
          <a:prstGeom prst="ellipse">
            <a:avLst/>
          </a:prstGeom>
          <a:solidFill>
            <a:srgbClr val="C67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alert-triangle-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4128" y="5833872"/>
            <a:ext cx="237744" cy="237744"/>
          </a:xfrm>
          <a:prstGeom prst="rect">
            <a:avLst/>
          </a:prstGeom>
          <a:effectLst/>
        </p:spPr>
      </p:pic>
      <p:sp>
        <p:nvSpPr>
          <p:cNvPr id="49" name="TextBox 48"/>
          <p:cNvSpPr txBox="1"/>
          <p:nvPr/>
        </p:nvSpPr>
        <p:spPr>
          <a:xfrm>
            <a:off x="1572768" y="5596128"/>
            <a:ext cx="9631375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C67A6C"/>
                </a:solidFill>
                <a:latin typeface="Arial"/>
              </a:rPr>
              <a:t>Six apps.  </a:t>
            </a:r>
            <a:r>
              <a:rPr sz="1350" b="0">
                <a:solidFill>
                  <a:srgbClr val="22252B"/>
                </a:solidFill>
                <a:latin typeface="Arial"/>
              </a:rPr>
              <a:t>Zero that talk to each other — so deadlines slip through the gaps and nothing sees the whole week.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246831" y="68580"/>
            <a:ext cx="548640" cy="548640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774407" y="857249"/>
            <a:ext cx="274320" cy="274320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804606" y="1117854"/>
            <a:ext cx="164592" cy="164592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37974" y="313182"/>
            <a:ext cx="128016" cy="128016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10882" y="5934456"/>
            <a:ext cx="475488" cy="475488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292316" y="5376672"/>
            <a:ext cx="219456" cy="219456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70681" y="5070348"/>
            <a:ext cx="146304" cy="146304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50568" y="116586"/>
            <a:ext cx="109728" cy="109728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1636969" y="4946904"/>
            <a:ext cx="256032" cy="256032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575212" y="6535674"/>
            <a:ext cx="164592" cy="164592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0080" y="598932"/>
            <a:ext cx="123444" cy="123444"/>
          </a:xfrm>
          <a:prstGeom prst="ellipse">
            <a:avLst/>
          </a:prstGeom>
          <a:solidFill>
            <a:srgbClr val="455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" y="5669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80">
                <a:solidFill>
                  <a:srgbClr val="455A50"/>
                </a:solidFill>
                <a:latin typeface="Arial"/>
              </a:rPr>
              <a:t>01 · THE SOLUTION</a:t>
            </a:r>
          </a:p>
        </p:txBody>
      </p:sp>
      <p:pic>
        <p:nvPicPr>
          <p:cNvPr id="15" name="Picture 14" descr="logo-mark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051560"/>
            <a:ext cx="749808" cy="690134"/>
          </a:xfrm>
          <a:prstGeom prst="rect">
            <a:avLst/>
          </a:prstGeom>
          <a:effectLst/>
        </p:spPr>
      </p:pic>
      <p:sp>
        <p:nvSpPr>
          <p:cNvPr id="16" name="TextBox 15"/>
          <p:cNvSpPr txBox="1"/>
          <p:nvPr/>
        </p:nvSpPr>
        <p:spPr>
          <a:xfrm>
            <a:off x="1609344" y="1005840"/>
            <a:ext cx="512064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5500" b="1">
                <a:solidFill>
                  <a:srgbClr val="22252B"/>
                </a:solidFill>
                <a:latin typeface="Arial"/>
              </a:rPr>
              <a:t>Synora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212848"/>
            <a:ext cx="52120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6000"/>
              </a:lnSpc>
            </a:pPr>
            <a:r>
              <a:rPr sz="1500" b="0">
                <a:solidFill>
                  <a:srgbClr val="606772"/>
                </a:solidFill>
                <a:latin typeface="Arial"/>
              </a:rPr>
              <a:t>Eight tools, gathered into one calm workspace — tasks, calendar, notes, timetable, attendance and grades, in one personalized home for each student.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840480"/>
            <a:ext cx="62270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5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22252B"/>
                </a:solidFill>
                <a:latin typeface="Arial"/>
              </a:rPr>
              <a:t>Tasks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81658" y="3840480"/>
            <a:ext cx="80979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5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22252B"/>
                </a:solidFill>
                <a:latin typeface="Arial"/>
              </a:rPr>
              <a:t>Calendar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10323" y="3840480"/>
            <a:ext cx="62270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5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22252B"/>
                </a:solidFill>
                <a:latin typeface="Arial"/>
              </a:rPr>
              <a:t>Notes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051901" y="3840480"/>
            <a:ext cx="87215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5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22252B"/>
                </a:solidFill>
                <a:latin typeface="Arial"/>
              </a:rPr>
              <a:t>Timetable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370832"/>
            <a:ext cx="93451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5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22252B"/>
                </a:solidFill>
                <a:latin typeface="Arial"/>
              </a:rPr>
              <a:t>Attendance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3468" y="4370832"/>
            <a:ext cx="56034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5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22252B"/>
                </a:solidFill>
                <a:latin typeface="Arial"/>
              </a:rPr>
              <a:t>CGPA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372685" y="4370832"/>
            <a:ext cx="10592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5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22252B"/>
                </a:solidFill>
                <a:latin typeface="Arial"/>
              </a:rPr>
              <a:t>Achievements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50798" y="4370832"/>
            <a:ext cx="1121603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5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22252B"/>
                </a:solidFill>
                <a:latin typeface="Arial"/>
              </a:rPr>
              <a:t>Notifications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230368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55A50"/>
                </a:solidFill>
                <a:latin typeface="Arial"/>
              </a:rPr>
              <a:t>One account.  </a:t>
            </a:r>
            <a:r>
              <a:rPr sz="1250" b="0">
                <a:solidFill>
                  <a:srgbClr val="606772"/>
                </a:solidFill>
                <a:latin typeface="Arial"/>
              </a:rPr>
              <a:t>One quiet home for the whole semester.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1371600"/>
            <a:ext cx="5394960" cy="337185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91440" dist="50292" dir="5400000" rotWithShape="0">
              <a:srgbClr val="22252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dashboard_deskt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371600"/>
            <a:ext cx="5394960" cy="3371850"/>
          </a:xfrm>
          <a:prstGeom prst="rect">
            <a:avLst/>
          </a:prstGeom>
          <a:effectLst/>
        </p:spPr>
      </p:pic>
      <p:sp>
        <p:nvSpPr>
          <p:cNvPr id="29" name="TextBox 28"/>
          <p:cNvSpPr txBox="1"/>
          <p:nvPr/>
        </p:nvSpPr>
        <p:spPr>
          <a:xfrm>
            <a:off x="6172200" y="4816602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1">
                <a:solidFill>
                  <a:srgbClr val="A3AEB1"/>
                </a:solidFill>
                <a:latin typeface="Arial"/>
              </a:rPr>
              <a:t>The dashboard — everything a student juggles, in one view.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246831" y="68580"/>
            <a:ext cx="548640" cy="548640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774407" y="857249"/>
            <a:ext cx="274320" cy="274320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804606" y="1117854"/>
            <a:ext cx="164592" cy="164592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37974" y="313182"/>
            <a:ext cx="128016" cy="128016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10882" y="5934456"/>
            <a:ext cx="475488" cy="475488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292316" y="5376672"/>
            <a:ext cx="219456" cy="219456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70681" y="5070348"/>
            <a:ext cx="146304" cy="146304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50568" y="116586"/>
            <a:ext cx="109728" cy="109728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1636969" y="4946904"/>
            <a:ext cx="256032" cy="256032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575212" y="6535674"/>
            <a:ext cx="164592" cy="164592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0080" y="580644"/>
            <a:ext cx="123444" cy="123444"/>
          </a:xfrm>
          <a:prstGeom prst="ellips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" y="5486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80">
                <a:solidFill>
                  <a:srgbClr val="B09F95"/>
                </a:solidFill>
                <a:latin typeface="Arial"/>
              </a:rPr>
              <a:t>01 · THE PRODUCT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822959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22252B"/>
                </a:solidFill>
                <a:latin typeface="Arial"/>
              </a:rPr>
              <a:t>What is Synora?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1481328"/>
            <a:ext cx="1091153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606772"/>
                </a:solidFill>
                <a:latin typeface="Arial"/>
              </a:rPr>
              <a:t>A personalized student productivity workspace — academic planning, task management and performance tracking in one interface. Its features fall into four groups: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286000"/>
            <a:ext cx="2615184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96112" y="2560320"/>
            <a:ext cx="566928" cy="566928"/>
          </a:xfrm>
          <a:prstGeom prst="ellipse">
            <a:avLst/>
          </a:prstGeom>
          <a:solidFill>
            <a:srgbClr val="536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check-square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174" y="2696382"/>
            <a:ext cx="294802" cy="294802"/>
          </a:xfrm>
          <a:prstGeom prst="rect">
            <a:avLst/>
          </a:prstGeom>
          <a:effectLst/>
        </p:spPr>
      </p:pic>
      <p:sp>
        <p:nvSpPr>
          <p:cNvPr id="20" name="TextBox 19"/>
          <p:cNvSpPr txBox="1"/>
          <p:nvPr/>
        </p:nvSpPr>
        <p:spPr>
          <a:xfrm>
            <a:off x="1572768" y="2560320"/>
            <a:ext cx="1609343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22252B"/>
                </a:solidFill>
                <a:latin typeface="Arial"/>
              </a:rPr>
              <a:t>Productivity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96112" y="3346704"/>
            <a:ext cx="2103120" cy="0"/>
          </a:xfrm>
          <a:prstGeom prst="line">
            <a:avLst/>
          </a:prstGeom>
          <a:ln w="12700">
            <a:solidFill>
              <a:srgbClr val="E5E8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914400" y="3566160"/>
            <a:ext cx="365760" cy="365760"/>
          </a:xfrm>
          <a:prstGeom prst="ellipse">
            <a:avLst/>
          </a:prstGeom>
          <a:solidFill>
            <a:srgbClr val="E7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check-square-s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867" y="3646627"/>
            <a:ext cx="204825" cy="204825"/>
          </a:xfrm>
          <a:prstGeom prst="rect">
            <a:avLst/>
          </a:prstGeom>
          <a:effectLst/>
        </p:spPr>
      </p:pic>
      <p:sp>
        <p:nvSpPr>
          <p:cNvPr id="24" name="TextBox 23"/>
          <p:cNvSpPr txBox="1"/>
          <p:nvPr/>
        </p:nvSpPr>
        <p:spPr>
          <a:xfrm>
            <a:off x="1389888" y="3566160"/>
            <a:ext cx="179222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2252B"/>
                </a:solidFill>
                <a:latin typeface="Arial"/>
              </a:rPr>
              <a:t>Tasks</a:t>
            </a:r>
          </a:p>
        </p:txBody>
      </p:sp>
      <p:sp>
        <p:nvSpPr>
          <p:cNvPr id="25" name="Oval 24"/>
          <p:cNvSpPr/>
          <p:nvPr/>
        </p:nvSpPr>
        <p:spPr>
          <a:xfrm>
            <a:off x="914400" y="4133087"/>
            <a:ext cx="365760" cy="365760"/>
          </a:xfrm>
          <a:prstGeom prst="ellipse">
            <a:avLst/>
          </a:prstGeom>
          <a:solidFill>
            <a:srgbClr val="E7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calendar-s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867" y="4213555"/>
            <a:ext cx="204825" cy="204825"/>
          </a:xfrm>
          <a:prstGeom prst="rect">
            <a:avLst/>
          </a:prstGeom>
          <a:effectLst/>
        </p:spPr>
      </p:pic>
      <p:sp>
        <p:nvSpPr>
          <p:cNvPr id="27" name="TextBox 26"/>
          <p:cNvSpPr txBox="1"/>
          <p:nvPr/>
        </p:nvSpPr>
        <p:spPr>
          <a:xfrm>
            <a:off x="1389888" y="4133087"/>
            <a:ext cx="179222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2252B"/>
                </a:solidFill>
                <a:latin typeface="Arial"/>
              </a:rPr>
              <a:t>Calendar</a:t>
            </a:r>
          </a:p>
        </p:txBody>
      </p:sp>
      <p:sp>
        <p:nvSpPr>
          <p:cNvPr id="28" name="Oval 27"/>
          <p:cNvSpPr/>
          <p:nvPr/>
        </p:nvSpPr>
        <p:spPr>
          <a:xfrm>
            <a:off x="914400" y="4700016"/>
            <a:ext cx="365760" cy="365760"/>
          </a:xfrm>
          <a:prstGeom prst="ellipse">
            <a:avLst/>
          </a:prstGeom>
          <a:solidFill>
            <a:srgbClr val="E7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feather-s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4867" y="4780483"/>
            <a:ext cx="204825" cy="204825"/>
          </a:xfrm>
          <a:prstGeom prst="rect">
            <a:avLst/>
          </a:prstGeom>
          <a:effectLst/>
        </p:spPr>
      </p:pic>
      <p:sp>
        <p:nvSpPr>
          <p:cNvPr id="30" name="TextBox 29"/>
          <p:cNvSpPr txBox="1"/>
          <p:nvPr/>
        </p:nvSpPr>
        <p:spPr>
          <a:xfrm>
            <a:off x="1389888" y="4700016"/>
            <a:ext cx="179222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2252B"/>
                </a:solidFill>
                <a:latin typeface="Arial"/>
              </a:rPr>
              <a:t>Quick Notes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05530" y="2286000"/>
            <a:ext cx="2615184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3661562" y="2560320"/>
            <a:ext cx="566928" cy="566928"/>
          </a:xfrm>
          <a:prstGeom prst="ellips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book-open-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97625" y="2696382"/>
            <a:ext cx="294802" cy="294802"/>
          </a:xfrm>
          <a:prstGeom prst="rect">
            <a:avLst/>
          </a:prstGeom>
          <a:effectLst/>
        </p:spPr>
      </p:pic>
      <p:sp>
        <p:nvSpPr>
          <p:cNvPr id="34" name="TextBox 33"/>
          <p:cNvSpPr txBox="1"/>
          <p:nvPr/>
        </p:nvSpPr>
        <p:spPr>
          <a:xfrm>
            <a:off x="4338218" y="2560320"/>
            <a:ext cx="1609343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22252B"/>
                </a:solidFill>
                <a:latin typeface="Arial"/>
              </a:rPr>
              <a:t>Academic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661562" y="3346704"/>
            <a:ext cx="2103120" cy="0"/>
          </a:xfrm>
          <a:prstGeom prst="line">
            <a:avLst/>
          </a:prstGeom>
          <a:ln w="12700">
            <a:solidFill>
              <a:srgbClr val="E5E8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3679850" y="3566160"/>
            <a:ext cx="365760" cy="365760"/>
          </a:xfrm>
          <a:prstGeom prst="ellipse">
            <a:avLst/>
          </a:prstGeom>
          <a:solidFill>
            <a:srgbClr val="E7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grid-taup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60317" y="3646627"/>
            <a:ext cx="204825" cy="204825"/>
          </a:xfrm>
          <a:prstGeom prst="rect">
            <a:avLst/>
          </a:prstGeom>
          <a:effectLst/>
        </p:spPr>
      </p:pic>
      <p:sp>
        <p:nvSpPr>
          <p:cNvPr id="38" name="TextBox 37"/>
          <p:cNvSpPr txBox="1"/>
          <p:nvPr/>
        </p:nvSpPr>
        <p:spPr>
          <a:xfrm>
            <a:off x="4155338" y="3566160"/>
            <a:ext cx="179222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2252B"/>
                </a:solidFill>
                <a:latin typeface="Arial"/>
              </a:rPr>
              <a:t>Timetable</a:t>
            </a:r>
          </a:p>
        </p:txBody>
      </p:sp>
      <p:sp>
        <p:nvSpPr>
          <p:cNvPr id="39" name="Oval 38"/>
          <p:cNvSpPr/>
          <p:nvPr/>
        </p:nvSpPr>
        <p:spPr>
          <a:xfrm>
            <a:off x="3679850" y="4133087"/>
            <a:ext cx="365760" cy="365760"/>
          </a:xfrm>
          <a:prstGeom prst="ellipse">
            <a:avLst/>
          </a:prstGeom>
          <a:solidFill>
            <a:srgbClr val="E7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percent-taup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0317" y="4213555"/>
            <a:ext cx="204825" cy="204825"/>
          </a:xfrm>
          <a:prstGeom prst="rect">
            <a:avLst/>
          </a:prstGeom>
          <a:effectLst/>
        </p:spPr>
      </p:pic>
      <p:sp>
        <p:nvSpPr>
          <p:cNvPr id="41" name="TextBox 40"/>
          <p:cNvSpPr txBox="1"/>
          <p:nvPr/>
        </p:nvSpPr>
        <p:spPr>
          <a:xfrm>
            <a:off x="4155338" y="4133087"/>
            <a:ext cx="179222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2252B"/>
                </a:solidFill>
                <a:latin typeface="Arial"/>
              </a:rPr>
              <a:t>Attendance</a:t>
            </a:r>
          </a:p>
        </p:txBody>
      </p:sp>
      <p:sp>
        <p:nvSpPr>
          <p:cNvPr id="42" name="Oval 41"/>
          <p:cNvSpPr/>
          <p:nvPr/>
        </p:nvSpPr>
        <p:spPr>
          <a:xfrm>
            <a:off x="3679850" y="4700016"/>
            <a:ext cx="365760" cy="365760"/>
          </a:xfrm>
          <a:prstGeom prst="ellipse">
            <a:avLst/>
          </a:prstGeom>
          <a:solidFill>
            <a:srgbClr val="E7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Picture 42" descr="trending-up-taup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60317" y="4780483"/>
            <a:ext cx="204825" cy="204825"/>
          </a:xfrm>
          <a:prstGeom prst="rect">
            <a:avLst/>
          </a:prstGeom>
          <a:effectLst/>
        </p:spPr>
      </p:pic>
      <p:sp>
        <p:nvSpPr>
          <p:cNvPr id="44" name="TextBox 43"/>
          <p:cNvSpPr txBox="1"/>
          <p:nvPr/>
        </p:nvSpPr>
        <p:spPr>
          <a:xfrm>
            <a:off x="4155338" y="4700016"/>
            <a:ext cx="179222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2252B"/>
                </a:solidFill>
                <a:latin typeface="Arial"/>
              </a:rPr>
              <a:t>CGPA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170980" y="2286000"/>
            <a:ext cx="2615184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6427012" y="2560320"/>
            <a:ext cx="566928" cy="566928"/>
          </a:xfrm>
          <a:prstGeom prst="ellipse">
            <a:avLst/>
          </a:prstGeom>
          <a:solidFill>
            <a:srgbClr val="536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Picture 46" descr="award-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63075" y="2696382"/>
            <a:ext cx="294802" cy="294802"/>
          </a:xfrm>
          <a:prstGeom prst="rect">
            <a:avLst/>
          </a:prstGeom>
          <a:effectLst/>
        </p:spPr>
      </p:pic>
      <p:sp>
        <p:nvSpPr>
          <p:cNvPr id="48" name="TextBox 47"/>
          <p:cNvSpPr txBox="1"/>
          <p:nvPr/>
        </p:nvSpPr>
        <p:spPr>
          <a:xfrm>
            <a:off x="7103668" y="2560320"/>
            <a:ext cx="1609343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22252B"/>
                </a:solidFill>
                <a:latin typeface="Arial"/>
              </a:rPr>
              <a:t>Progress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427012" y="3346704"/>
            <a:ext cx="2103120" cy="0"/>
          </a:xfrm>
          <a:prstGeom prst="line">
            <a:avLst/>
          </a:prstGeom>
          <a:ln w="12700">
            <a:solidFill>
              <a:srgbClr val="E5E8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6445300" y="3566160"/>
            <a:ext cx="365760" cy="365760"/>
          </a:xfrm>
          <a:prstGeom prst="ellipse">
            <a:avLst/>
          </a:prstGeom>
          <a:solidFill>
            <a:srgbClr val="E7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1" name="Picture 50" descr="award-s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25768" y="3646627"/>
            <a:ext cx="204825" cy="204825"/>
          </a:xfrm>
          <a:prstGeom prst="rect">
            <a:avLst/>
          </a:prstGeom>
          <a:effectLst/>
        </p:spPr>
      </p:pic>
      <p:sp>
        <p:nvSpPr>
          <p:cNvPr id="52" name="TextBox 51"/>
          <p:cNvSpPr txBox="1"/>
          <p:nvPr/>
        </p:nvSpPr>
        <p:spPr>
          <a:xfrm>
            <a:off x="6920788" y="3566160"/>
            <a:ext cx="179222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2252B"/>
                </a:solidFill>
                <a:latin typeface="Arial"/>
              </a:rPr>
              <a:t>Achievements</a:t>
            </a:r>
          </a:p>
        </p:txBody>
      </p:sp>
      <p:sp>
        <p:nvSpPr>
          <p:cNvPr id="53" name="Oval 52"/>
          <p:cNvSpPr/>
          <p:nvPr/>
        </p:nvSpPr>
        <p:spPr>
          <a:xfrm>
            <a:off x="6445300" y="4133087"/>
            <a:ext cx="365760" cy="365760"/>
          </a:xfrm>
          <a:prstGeom prst="ellipse">
            <a:avLst/>
          </a:prstGeom>
          <a:solidFill>
            <a:srgbClr val="E7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Picture 53" descr="bell-s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25768" y="4213555"/>
            <a:ext cx="204825" cy="204825"/>
          </a:xfrm>
          <a:prstGeom prst="rect">
            <a:avLst/>
          </a:prstGeom>
          <a:effectLst/>
        </p:spPr>
      </p:pic>
      <p:sp>
        <p:nvSpPr>
          <p:cNvPr id="55" name="TextBox 54"/>
          <p:cNvSpPr txBox="1"/>
          <p:nvPr/>
        </p:nvSpPr>
        <p:spPr>
          <a:xfrm>
            <a:off x="6920788" y="4133087"/>
            <a:ext cx="179222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2252B"/>
                </a:solidFill>
                <a:latin typeface="Arial"/>
              </a:rPr>
              <a:t>Notifications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936431" y="2286000"/>
            <a:ext cx="2615184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9192463" y="2560320"/>
            <a:ext cx="566928" cy="566928"/>
          </a:xfrm>
          <a:prstGeom prst="ellips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8" name="Picture 57" descr="user-whit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328525" y="2696382"/>
            <a:ext cx="294802" cy="294802"/>
          </a:xfrm>
          <a:prstGeom prst="rect">
            <a:avLst/>
          </a:prstGeom>
          <a:effectLst/>
        </p:spPr>
      </p:pic>
      <p:sp>
        <p:nvSpPr>
          <p:cNvPr id="59" name="TextBox 58"/>
          <p:cNvSpPr txBox="1"/>
          <p:nvPr/>
        </p:nvSpPr>
        <p:spPr>
          <a:xfrm>
            <a:off x="9869119" y="2560320"/>
            <a:ext cx="1609343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22252B"/>
                </a:solidFill>
                <a:latin typeface="Arial"/>
              </a:rPr>
              <a:t>Personalization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9192463" y="3346704"/>
            <a:ext cx="2103120" cy="0"/>
          </a:xfrm>
          <a:prstGeom prst="line">
            <a:avLst/>
          </a:prstGeom>
          <a:ln w="12700">
            <a:solidFill>
              <a:srgbClr val="E5E8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9210751" y="3566160"/>
            <a:ext cx="365760" cy="365760"/>
          </a:xfrm>
          <a:prstGeom prst="ellipse">
            <a:avLst/>
          </a:prstGeom>
          <a:solidFill>
            <a:srgbClr val="E7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Picture 61" descr="user-taup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291218" y="3646627"/>
            <a:ext cx="204825" cy="204825"/>
          </a:xfrm>
          <a:prstGeom prst="rect">
            <a:avLst/>
          </a:prstGeom>
          <a:effectLst/>
        </p:spPr>
      </p:pic>
      <p:sp>
        <p:nvSpPr>
          <p:cNvPr id="63" name="TextBox 62"/>
          <p:cNvSpPr txBox="1"/>
          <p:nvPr/>
        </p:nvSpPr>
        <p:spPr>
          <a:xfrm>
            <a:off x="9686239" y="3566160"/>
            <a:ext cx="179222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2252B"/>
                </a:solidFill>
                <a:latin typeface="Arial"/>
              </a:rPr>
              <a:t>Profile</a:t>
            </a:r>
          </a:p>
        </p:txBody>
      </p:sp>
      <p:sp>
        <p:nvSpPr>
          <p:cNvPr id="64" name="Oval 63"/>
          <p:cNvSpPr/>
          <p:nvPr/>
        </p:nvSpPr>
        <p:spPr>
          <a:xfrm>
            <a:off x="9210751" y="4133087"/>
            <a:ext cx="365760" cy="365760"/>
          </a:xfrm>
          <a:prstGeom prst="ellipse">
            <a:avLst/>
          </a:prstGeom>
          <a:solidFill>
            <a:srgbClr val="E7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5" name="Picture 64" descr="layers-taup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291218" y="4213555"/>
            <a:ext cx="204825" cy="204825"/>
          </a:xfrm>
          <a:prstGeom prst="rect">
            <a:avLst/>
          </a:prstGeom>
          <a:effectLst/>
        </p:spPr>
      </p:pic>
      <p:sp>
        <p:nvSpPr>
          <p:cNvPr id="66" name="TextBox 65"/>
          <p:cNvSpPr txBox="1"/>
          <p:nvPr/>
        </p:nvSpPr>
        <p:spPr>
          <a:xfrm>
            <a:off x="9686239" y="4133087"/>
            <a:ext cx="179222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2252B"/>
                </a:solidFill>
                <a:latin typeface="Arial"/>
              </a:rPr>
              <a:t>Subjects</a:t>
            </a:r>
          </a:p>
        </p:txBody>
      </p:sp>
      <p:sp>
        <p:nvSpPr>
          <p:cNvPr id="67" name="Oval 66"/>
          <p:cNvSpPr/>
          <p:nvPr/>
        </p:nvSpPr>
        <p:spPr>
          <a:xfrm>
            <a:off x="9210751" y="4700016"/>
            <a:ext cx="365760" cy="365760"/>
          </a:xfrm>
          <a:prstGeom prst="ellipse">
            <a:avLst/>
          </a:prstGeom>
          <a:solidFill>
            <a:srgbClr val="E7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eye-taup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291218" y="4780483"/>
            <a:ext cx="204825" cy="204825"/>
          </a:xfrm>
          <a:prstGeom prst="rect">
            <a:avLst/>
          </a:prstGeom>
          <a:effectLst/>
        </p:spPr>
      </p:pic>
      <p:sp>
        <p:nvSpPr>
          <p:cNvPr id="69" name="TextBox 68"/>
          <p:cNvSpPr txBox="1"/>
          <p:nvPr/>
        </p:nvSpPr>
        <p:spPr>
          <a:xfrm>
            <a:off x="9686239" y="4700016"/>
            <a:ext cx="179222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2252B"/>
                </a:solidFill>
                <a:latin typeface="Arial"/>
              </a:rPr>
              <a:t>Avatar &amp; Theme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246831" y="68580"/>
            <a:ext cx="548640" cy="548640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774407" y="857249"/>
            <a:ext cx="274320" cy="274320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804606" y="1117854"/>
            <a:ext cx="164592" cy="164592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37974" y="313182"/>
            <a:ext cx="128016" cy="128016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10882" y="5934456"/>
            <a:ext cx="475488" cy="475488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292316" y="5376672"/>
            <a:ext cx="219456" cy="219456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70681" y="5070348"/>
            <a:ext cx="146304" cy="146304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50568" y="116586"/>
            <a:ext cx="109728" cy="109728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1636969" y="4946904"/>
            <a:ext cx="256032" cy="256032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575212" y="6535674"/>
            <a:ext cx="164592" cy="164592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0080" y="580644"/>
            <a:ext cx="123444" cy="123444"/>
          </a:xfrm>
          <a:prstGeom prst="ellips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" y="5486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80">
                <a:solidFill>
                  <a:srgbClr val="B09F95"/>
                </a:solidFill>
                <a:latin typeface="Arial"/>
              </a:rPr>
              <a:t>01 · THE PRODUCT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822959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22252B"/>
                </a:solidFill>
                <a:latin typeface="Arial"/>
              </a:rPr>
              <a:t>Technology stack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1481328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06772"/>
                </a:solidFill>
                <a:latin typeface="Arial"/>
              </a:rPr>
              <a:t>Core web technologies only — no frameworks, no build step.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148840"/>
            <a:ext cx="7315200" cy="60350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24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86384" y="2240280"/>
            <a:ext cx="420624" cy="420624"/>
          </a:xfrm>
          <a:prstGeom prst="ellipse">
            <a:avLst/>
          </a:prstGeom>
          <a:solidFill>
            <a:srgbClr val="536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code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333" y="2341229"/>
            <a:ext cx="218724" cy="218724"/>
          </a:xfrm>
          <a:prstGeom prst="rect">
            <a:avLst/>
          </a:prstGeom>
          <a:effectLst/>
        </p:spPr>
      </p:pic>
      <p:sp>
        <p:nvSpPr>
          <p:cNvPr id="20" name="TextBox 19"/>
          <p:cNvSpPr txBox="1"/>
          <p:nvPr/>
        </p:nvSpPr>
        <p:spPr>
          <a:xfrm>
            <a:off x="1417319" y="2148840"/>
            <a:ext cx="23774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2252B"/>
                </a:solidFill>
                <a:latin typeface="Arial"/>
              </a:rPr>
              <a:t>HTML5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2148840"/>
            <a:ext cx="39319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06772"/>
                </a:solidFill>
                <a:latin typeface="Arial"/>
              </a:rPr>
              <a:t>Structure &amp; semantics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2862072"/>
            <a:ext cx="7315200" cy="60350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24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786384" y="2953512"/>
            <a:ext cx="420624" cy="420624"/>
          </a:xfrm>
          <a:prstGeom prst="ellips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layers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7333" y="3054461"/>
            <a:ext cx="218724" cy="218724"/>
          </a:xfrm>
          <a:prstGeom prst="rect">
            <a:avLst/>
          </a:prstGeom>
          <a:effectLst/>
        </p:spPr>
      </p:pic>
      <p:sp>
        <p:nvSpPr>
          <p:cNvPr id="25" name="TextBox 24"/>
          <p:cNvSpPr txBox="1"/>
          <p:nvPr/>
        </p:nvSpPr>
        <p:spPr>
          <a:xfrm>
            <a:off x="1417319" y="2862072"/>
            <a:ext cx="23774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2252B"/>
                </a:solidFill>
                <a:latin typeface="Arial"/>
              </a:rPr>
              <a:t>CSS3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2862072"/>
            <a:ext cx="39319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06772"/>
                </a:solidFill>
                <a:latin typeface="Arial"/>
              </a:rPr>
              <a:t>Design system + responsive layout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3575304"/>
            <a:ext cx="7315200" cy="60350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24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786384" y="3666744"/>
            <a:ext cx="420624" cy="420624"/>
          </a:xfrm>
          <a:prstGeom prst="ellipse">
            <a:avLst/>
          </a:prstGeom>
          <a:solidFill>
            <a:srgbClr val="536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cpu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7333" y="3767693"/>
            <a:ext cx="218724" cy="218724"/>
          </a:xfrm>
          <a:prstGeom prst="rect">
            <a:avLst/>
          </a:prstGeom>
          <a:effectLst/>
        </p:spPr>
      </p:pic>
      <p:sp>
        <p:nvSpPr>
          <p:cNvPr id="30" name="TextBox 29"/>
          <p:cNvSpPr txBox="1"/>
          <p:nvPr/>
        </p:nvSpPr>
        <p:spPr>
          <a:xfrm>
            <a:off x="1417319" y="3575304"/>
            <a:ext cx="23774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2252B"/>
                </a:solidFill>
                <a:latin typeface="Arial"/>
              </a:rPr>
              <a:t>JavaScript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3575304"/>
            <a:ext cx="39319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06772"/>
                </a:solidFill>
                <a:latin typeface="Arial"/>
              </a:rPr>
              <a:t>Logic, state &amp; interactivity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4288536"/>
            <a:ext cx="7315200" cy="60350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24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786384" y="4379975"/>
            <a:ext cx="420624" cy="420624"/>
          </a:xfrm>
          <a:prstGeom prst="ellips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git-branch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7333" y="4480925"/>
            <a:ext cx="218724" cy="218724"/>
          </a:xfrm>
          <a:prstGeom prst="rect">
            <a:avLst/>
          </a:prstGeom>
          <a:effectLst/>
        </p:spPr>
      </p:pic>
      <p:sp>
        <p:nvSpPr>
          <p:cNvPr id="35" name="TextBox 34"/>
          <p:cNvSpPr txBox="1"/>
          <p:nvPr/>
        </p:nvSpPr>
        <p:spPr>
          <a:xfrm>
            <a:off x="1417319" y="4288536"/>
            <a:ext cx="23774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2252B"/>
                </a:solidFill>
                <a:latin typeface="Arial"/>
              </a:rPr>
              <a:t>DOM APIs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31920" y="4288536"/>
            <a:ext cx="39319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06772"/>
                </a:solidFill>
                <a:latin typeface="Arial"/>
              </a:rPr>
              <a:t>A live, dynamic interface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5001768"/>
            <a:ext cx="7315200" cy="60350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24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786384" y="5093208"/>
            <a:ext cx="420624" cy="420624"/>
          </a:xfrm>
          <a:prstGeom prst="ellipse">
            <a:avLst/>
          </a:prstGeom>
          <a:solidFill>
            <a:srgbClr val="536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database-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7333" y="5194157"/>
            <a:ext cx="218724" cy="218724"/>
          </a:xfrm>
          <a:prstGeom prst="rect">
            <a:avLst/>
          </a:prstGeom>
          <a:effectLst/>
        </p:spPr>
      </p:pic>
      <p:sp>
        <p:nvSpPr>
          <p:cNvPr id="40" name="TextBox 39"/>
          <p:cNvSpPr txBox="1"/>
          <p:nvPr/>
        </p:nvSpPr>
        <p:spPr>
          <a:xfrm>
            <a:off x="1417319" y="5001768"/>
            <a:ext cx="23774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2252B"/>
                </a:solidFill>
                <a:latin typeface="Arial"/>
              </a:rPr>
              <a:t>localStorage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31920" y="5001768"/>
            <a:ext cx="39319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06772"/>
                </a:solidFill>
                <a:latin typeface="Arial"/>
              </a:rPr>
              <a:t>Per-user persistence in the browser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5715000"/>
            <a:ext cx="7315200" cy="60350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24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786384" y="5806440"/>
            <a:ext cx="420624" cy="420624"/>
          </a:xfrm>
          <a:prstGeom prst="ellipse">
            <a:avLst/>
          </a:prstGeom>
          <a:solidFill>
            <a:srgbClr val="A3A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github-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7333" y="5907389"/>
            <a:ext cx="218724" cy="218724"/>
          </a:xfrm>
          <a:prstGeom prst="rect">
            <a:avLst/>
          </a:prstGeom>
          <a:effectLst/>
        </p:spPr>
      </p:pic>
      <p:sp>
        <p:nvSpPr>
          <p:cNvPr id="45" name="TextBox 44"/>
          <p:cNvSpPr txBox="1"/>
          <p:nvPr/>
        </p:nvSpPr>
        <p:spPr>
          <a:xfrm>
            <a:off x="1417319" y="5715000"/>
            <a:ext cx="23774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2252B"/>
                </a:solidFill>
                <a:latin typeface="Arial"/>
              </a:rPr>
              <a:t>Git &amp; GitHub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31920" y="5715000"/>
            <a:ext cx="39319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06772"/>
                </a:solidFill>
                <a:latin typeface="Arial"/>
              </a:rPr>
              <a:t>Version control</a:t>
            </a:r>
          </a:p>
        </p:txBody>
      </p:sp>
      <p:pic>
        <p:nvPicPr>
          <p:cNvPr id="47" name="Picture 46" descr="illo_stac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32520" y="2148840"/>
            <a:ext cx="3291840" cy="2852928"/>
          </a:xfrm>
          <a:prstGeom prst="rect">
            <a:avLst/>
          </a:prstGeom>
          <a:effectLst/>
        </p:spPr>
      </p:pic>
      <p:sp>
        <p:nvSpPr>
          <p:cNvPr id="48" name="TextBox 47"/>
          <p:cNvSpPr txBox="1"/>
          <p:nvPr/>
        </p:nvSpPr>
        <p:spPr>
          <a:xfrm>
            <a:off x="8138160" y="495604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52B"/>
                </a:solidFill>
                <a:latin typeface="Courier New"/>
              </a:rPr>
              <a:t>HTML</a:t>
            </a:r>
            <a:r>
              <a:rPr sz="1100" b="0">
                <a:solidFill>
                  <a:srgbClr val="A3AEB1"/>
                </a:solidFill>
                <a:latin typeface="Arial"/>
              </a:rPr>
              <a:t> → </a:t>
            </a:r>
            <a:r>
              <a:rPr sz="1100" b="1">
                <a:solidFill>
                  <a:srgbClr val="455A50"/>
                </a:solidFill>
                <a:latin typeface="Courier New"/>
              </a:rPr>
              <a:t>CSS</a:t>
            </a:r>
            <a:r>
              <a:rPr sz="1100" b="0">
                <a:solidFill>
                  <a:srgbClr val="A3AEB1"/>
                </a:solidFill>
                <a:latin typeface="Arial"/>
              </a:rPr>
              <a:t> → </a:t>
            </a:r>
            <a:r>
              <a:rPr sz="1100" b="1">
                <a:solidFill>
                  <a:srgbClr val="455A50"/>
                </a:solidFill>
                <a:latin typeface="Courier New"/>
              </a:rPr>
              <a:t>JS</a:t>
            </a:r>
            <a:r>
              <a:rPr sz="1100" b="0">
                <a:solidFill>
                  <a:srgbClr val="A3AEB1"/>
                </a:solidFill>
                <a:latin typeface="Arial"/>
              </a:rPr>
              <a:t> → </a:t>
            </a:r>
            <a:r>
              <a:rPr sz="1100" b="1">
                <a:solidFill>
                  <a:srgbClr val="455A50"/>
                </a:solidFill>
                <a:latin typeface="Courier New"/>
              </a:rPr>
              <a:t>DOM</a:t>
            </a:r>
            <a:r>
              <a:rPr sz="1100" b="0">
                <a:solidFill>
                  <a:srgbClr val="A3AEB1"/>
                </a:solidFill>
                <a:latin typeface="Arial"/>
              </a:rPr>
              <a:t> → </a:t>
            </a:r>
            <a:r>
              <a:rPr sz="1100" b="1">
                <a:solidFill>
                  <a:srgbClr val="B09F95"/>
                </a:solidFill>
                <a:latin typeface="Courier New"/>
              </a:rPr>
              <a:t>Events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246831" y="68580"/>
            <a:ext cx="548640" cy="548640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774407" y="857249"/>
            <a:ext cx="274320" cy="274320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804606" y="1117854"/>
            <a:ext cx="164592" cy="164592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37974" y="313182"/>
            <a:ext cx="128016" cy="128016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10882" y="5934456"/>
            <a:ext cx="475488" cy="475488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292316" y="5376672"/>
            <a:ext cx="219456" cy="219456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70681" y="5070348"/>
            <a:ext cx="146304" cy="146304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50568" y="116586"/>
            <a:ext cx="109728" cy="109728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1636969" y="4946904"/>
            <a:ext cx="256032" cy="256032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575212" y="6535674"/>
            <a:ext cx="164592" cy="164592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0080" y="580644"/>
            <a:ext cx="123444" cy="123444"/>
          </a:xfrm>
          <a:prstGeom prst="ellips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" y="5486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80">
                <a:solidFill>
                  <a:srgbClr val="B09F95"/>
                </a:solidFill>
                <a:latin typeface="Arial"/>
              </a:rPr>
              <a:t>02 · ARCHITECTURE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822959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22252B"/>
                </a:solidFill>
                <a:latin typeface="Arial"/>
              </a:rPr>
              <a:t>How the project is structured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1463040"/>
            <a:ext cx="6766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06772"/>
                </a:solidFill>
                <a:latin typeface="Arial"/>
              </a:rPr>
              <a:t>No framework, no build step — files a browser opens directly. One page and one module per feature.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1993392"/>
            <a:ext cx="672084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97280" y="2212848"/>
            <a:ext cx="63093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050" b="1">
                <a:solidFill>
                  <a:srgbClr val="22252B"/>
                </a:solidFill>
                <a:latin typeface="Courier New"/>
              </a:rPr>
              <a:t>Synora/</a:t>
            </a:r>
          </a:p>
          <a:p>
            <a:pPr>
              <a:lnSpc>
                <a:spcPct val="136000"/>
              </a:lnSpc>
            </a:pPr>
            <a:r>
              <a:rPr sz="1050" b="0">
                <a:solidFill>
                  <a:srgbClr val="AEB6BC"/>
                </a:solidFill>
                <a:latin typeface="Courier New"/>
              </a:rPr>
              <a:t>├── </a:t>
            </a:r>
            <a:r>
              <a:rPr sz="1050" b="0">
                <a:solidFill>
                  <a:srgbClr val="22252B"/>
                </a:solidFill>
                <a:latin typeface="Courier New"/>
              </a:rPr>
              <a:t>index.html</a:t>
            </a:r>
            <a:r>
              <a:rPr sz="1050" b="0">
                <a:solidFill>
                  <a:srgbClr val="A3AEB1"/>
                </a:solidFill>
                <a:latin typeface="Courier New"/>
              </a:rPr>
              <a:t>          Landing page</a:t>
            </a:r>
          </a:p>
          <a:p>
            <a:pPr>
              <a:lnSpc>
                <a:spcPct val="136000"/>
              </a:lnSpc>
            </a:pPr>
            <a:r>
              <a:rPr sz="1050" b="0">
                <a:solidFill>
                  <a:srgbClr val="AEB6BC"/>
                </a:solidFill>
                <a:latin typeface="Courier New"/>
              </a:rPr>
              <a:t>├── </a:t>
            </a:r>
            <a:r>
              <a:rPr sz="1050" b="0">
                <a:solidFill>
                  <a:srgbClr val="22252B"/>
                </a:solidFill>
                <a:latin typeface="Courier New"/>
              </a:rPr>
              <a:t>notes.html</a:t>
            </a:r>
            <a:r>
              <a:rPr sz="1050" b="0">
                <a:solidFill>
                  <a:srgbClr val="A3AEB1"/>
                </a:solidFill>
                <a:latin typeface="Courier New"/>
              </a:rPr>
              <a:t>          Project &amp; viva doc</a:t>
            </a:r>
          </a:p>
          <a:p>
            <a:pPr>
              <a:lnSpc>
                <a:spcPct val="136000"/>
              </a:lnSpc>
            </a:pPr>
            <a:r>
              <a:rPr sz="1050" b="0">
                <a:solidFill>
                  <a:srgbClr val="AEB6BC"/>
                </a:solidFill>
                <a:latin typeface="Courier New"/>
              </a:rPr>
              <a:t>├── </a:t>
            </a:r>
            <a:r>
              <a:rPr sz="1050" b="0">
                <a:solidFill>
                  <a:srgbClr val="22252B"/>
                </a:solidFill>
                <a:latin typeface="Courier New"/>
              </a:rPr>
              <a:t>README.md</a:t>
            </a:r>
            <a:r>
              <a:rPr sz="1050" b="0">
                <a:solidFill>
                  <a:srgbClr val="A3AEB1"/>
                </a:solidFill>
                <a:latin typeface="Courier New"/>
              </a:rPr>
              <a:t>           Documentation</a:t>
            </a:r>
          </a:p>
          <a:p>
            <a:pPr>
              <a:lnSpc>
                <a:spcPct val="136000"/>
              </a:lnSpc>
            </a:pPr>
            <a:r>
              <a:rPr sz="1050" b="0">
                <a:solidFill>
                  <a:srgbClr val="AEB6BC"/>
                </a:solidFill>
                <a:latin typeface="Courier New"/>
              </a:rPr>
              <a:t>├── </a:t>
            </a:r>
            <a:r>
              <a:rPr sz="1050" b="1">
                <a:solidFill>
                  <a:srgbClr val="455A50"/>
                </a:solidFill>
                <a:latin typeface="Courier New"/>
              </a:rPr>
              <a:t>app/</a:t>
            </a:r>
            <a:r>
              <a:rPr sz="1050" b="0">
                <a:solidFill>
                  <a:srgbClr val="A3AEB1"/>
                </a:solidFill>
                <a:latin typeface="Courier New"/>
              </a:rPr>
              <a:t>                the signed-in workspace</a:t>
            </a:r>
          </a:p>
          <a:p>
            <a:pPr>
              <a:lnSpc>
                <a:spcPct val="136000"/>
              </a:lnSpc>
            </a:pPr>
            <a:r>
              <a:rPr sz="1050" b="0">
                <a:solidFill>
                  <a:srgbClr val="AEB6BC"/>
                </a:solidFill>
                <a:latin typeface="Courier New"/>
              </a:rPr>
              <a:t>│   ├── </a:t>
            </a:r>
            <a:r>
              <a:rPr sz="1050" b="0">
                <a:solidFill>
                  <a:srgbClr val="22252B"/>
                </a:solidFill>
                <a:latin typeface="Courier New"/>
              </a:rPr>
              <a:t>dashboard.html</a:t>
            </a:r>
            <a:r>
              <a:rPr sz="1050" b="0">
                <a:solidFill>
                  <a:srgbClr val="A3AEB1"/>
                </a:solidFill>
                <a:latin typeface="Courier New"/>
              </a:rPr>
              <a:t>  Home overview</a:t>
            </a:r>
          </a:p>
          <a:p>
            <a:pPr>
              <a:lnSpc>
                <a:spcPct val="136000"/>
              </a:lnSpc>
            </a:pPr>
            <a:r>
              <a:rPr sz="1050" b="0">
                <a:solidFill>
                  <a:srgbClr val="AEB6BC"/>
                </a:solidFill>
                <a:latin typeface="Courier New"/>
              </a:rPr>
              <a:t>│   ├── </a:t>
            </a:r>
            <a:r>
              <a:rPr sz="1050" b="0">
                <a:solidFill>
                  <a:srgbClr val="22252B"/>
                </a:solidFill>
                <a:latin typeface="Courier New"/>
              </a:rPr>
              <a:t>tasks.html</a:t>
            </a:r>
            <a:r>
              <a:rPr sz="1050" b="0">
                <a:solidFill>
                  <a:srgbClr val="A3AEB1"/>
                </a:solidFill>
                <a:latin typeface="Courier New"/>
              </a:rPr>
              <a:t>      Task manager</a:t>
            </a:r>
          </a:p>
          <a:p>
            <a:pPr>
              <a:lnSpc>
                <a:spcPct val="136000"/>
              </a:lnSpc>
            </a:pPr>
            <a:r>
              <a:rPr sz="1050" b="0">
                <a:solidFill>
                  <a:srgbClr val="AEB6BC"/>
                </a:solidFill>
                <a:latin typeface="Courier New"/>
              </a:rPr>
              <a:t>│   ├── </a:t>
            </a:r>
            <a:r>
              <a:rPr sz="1050" b="0">
                <a:solidFill>
                  <a:srgbClr val="22252B"/>
                </a:solidFill>
                <a:latin typeface="Courier New"/>
              </a:rPr>
              <a:t>cgpa.html</a:t>
            </a:r>
            <a:r>
              <a:rPr sz="1050" b="0">
                <a:solidFill>
                  <a:srgbClr val="A3AEB1"/>
                </a:solidFill>
                <a:latin typeface="Courier New"/>
              </a:rPr>
              <a:t>       CGPA calculator</a:t>
            </a:r>
          </a:p>
          <a:p>
            <a:pPr>
              <a:lnSpc>
                <a:spcPct val="136000"/>
              </a:lnSpc>
            </a:pPr>
            <a:r>
              <a:rPr sz="1050" b="0">
                <a:solidFill>
                  <a:srgbClr val="AEB6BC"/>
                </a:solidFill>
                <a:latin typeface="Courier New"/>
              </a:rPr>
              <a:t>│   └── </a:t>
            </a:r>
            <a:r>
              <a:rPr sz="1050" b="0">
                <a:solidFill>
                  <a:srgbClr val="22252B"/>
                </a:solidFill>
                <a:latin typeface="Courier New"/>
              </a:rPr>
              <a:t>… 10 more</a:t>
            </a:r>
            <a:r>
              <a:rPr sz="1050" b="0">
                <a:solidFill>
                  <a:srgbClr val="A3AEB1"/>
                </a:solidFill>
                <a:latin typeface="Courier New"/>
              </a:rPr>
              <a:t>       timetable, attendance …</a:t>
            </a:r>
          </a:p>
          <a:p>
            <a:pPr>
              <a:lnSpc>
                <a:spcPct val="136000"/>
              </a:lnSpc>
            </a:pPr>
            <a:r>
              <a:rPr sz="1050" b="0">
                <a:solidFill>
                  <a:srgbClr val="AEB6BC"/>
                </a:solidFill>
                <a:latin typeface="Courier New"/>
              </a:rPr>
              <a:t>├── </a:t>
            </a:r>
            <a:r>
              <a:rPr sz="1050" b="1">
                <a:solidFill>
                  <a:srgbClr val="455A50"/>
                </a:solidFill>
                <a:latin typeface="Courier New"/>
              </a:rPr>
              <a:t>scripts/</a:t>
            </a:r>
            <a:r>
              <a:rPr sz="1050" b="0">
                <a:solidFill>
                  <a:srgbClr val="A3AEB1"/>
                </a:solidFill>
                <a:latin typeface="Courier New"/>
              </a:rPr>
              <a:t>            18 vanilla-JS modules</a:t>
            </a:r>
          </a:p>
          <a:p>
            <a:pPr>
              <a:lnSpc>
                <a:spcPct val="136000"/>
              </a:lnSpc>
            </a:pPr>
            <a:r>
              <a:rPr sz="1050" b="0">
                <a:solidFill>
                  <a:srgbClr val="AEB6BC"/>
                </a:solidFill>
                <a:latin typeface="Courier New"/>
              </a:rPr>
              <a:t>│   ├── </a:t>
            </a:r>
            <a:r>
              <a:rPr sz="1050" b="0">
                <a:solidFill>
                  <a:srgbClr val="22252B"/>
                </a:solidFill>
                <a:latin typeface="Courier New"/>
              </a:rPr>
              <a:t>app.js</a:t>
            </a:r>
            <a:r>
              <a:rPr sz="1050" b="0">
                <a:solidFill>
                  <a:srgbClr val="A3AEB1"/>
                </a:solidFill>
                <a:latin typeface="Courier New"/>
              </a:rPr>
              <a:t>          Shared core + helpers</a:t>
            </a:r>
          </a:p>
          <a:p>
            <a:pPr>
              <a:lnSpc>
                <a:spcPct val="136000"/>
              </a:lnSpc>
            </a:pPr>
            <a:r>
              <a:rPr sz="1050" b="0">
                <a:solidFill>
                  <a:srgbClr val="AEB6BC"/>
                </a:solidFill>
                <a:latin typeface="Courier New"/>
              </a:rPr>
              <a:t>│   ├── </a:t>
            </a:r>
            <a:r>
              <a:rPr sz="1050" b="0">
                <a:solidFill>
                  <a:srgbClr val="22252B"/>
                </a:solidFill>
                <a:latin typeface="Courier New"/>
              </a:rPr>
              <a:t>storage.js</a:t>
            </a:r>
            <a:r>
              <a:rPr sz="1050" b="0">
                <a:solidFill>
                  <a:srgbClr val="A3AEB1"/>
                </a:solidFill>
                <a:latin typeface="Courier New"/>
              </a:rPr>
              <a:t>      localStorage layer</a:t>
            </a:r>
          </a:p>
          <a:p>
            <a:pPr>
              <a:lnSpc>
                <a:spcPct val="136000"/>
              </a:lnSpc>
            </a:pPr>
            <a:r>
              <a:rPr sz="1050" b="0">
                <a:solidFill>
                  <a:srgbClr val="AEB6BC"/>
                </a:solidFill>
                <a:latin typeface="Courier New"/>
              </a:rPr>
              <a:t>│   └── </a:t>
            </a:r>
            <a:r>
              <a:rPr sz="1050" b="0">
                <a:solidFill>
                  <a:srgbClr val="22252B"/>
                </a:solidFill>
                <a:latin typeface="Courier New"/>
              </a:rPr>
              <a:t>… 16 more</a:t>
            </a:r>
            <a:r>
              <a:rPr sz="1050" b="0">
                <a:solidFill>
                  <a:srgbClr val="A3AEB1"/>
                </a:solidFill>
                <a:latin typeface="Courier New"/>
              </a:rPr>
              <a:t>       auth, theme, tasks …</a:t>
            </a:r>
          </a:p>
          <a:p>
            <a:pPr>
              <a:lnSpc>
                <a:spcPct val="136000"/>
              </a:lnSpc>
            </a:pPr>
            <a:r>
              <a:rPr sz="1050" b="0">
                <a:solidFill>
                  <a:srgbClr val="AEB6BC"/>
                </a:solidFill>
                <a:latin typeface="Courier New"/>
              </a:rPr>
              <a:t>├── </a:t>
            </a:r>
            <a:r>
              <a:rPr sz="1050" b="1">
                <a:solidFill>
                  <a:srgbClr val="455A50"/>
                </a:solidFill>
                <a:latin typeface="Courier New"/>
              </a:rPr>
              <a:t>styles/</a:t>
            </a:r>
            <a:r>
              <a:rPr sz="1050" b="0">
                <a:solidFill>
                  <a:srgbClr val="A3AEB1"/>
                </a:solidFill>
                <a:latin typeface="Courier New"/>
              </a:rPr>
              <a:t>             7 stylesheets</a:t>
            </a:r>
          </a:p>
          <a:p>
            <a:pPr>
              <a:lnSpc>
                <a:spcPct val="136000"/>
              </a:lnSpc>
            </a:pPr>
            <a:r>
              <a:rPr sz="1050" b="0">
                <a:solidFill>
                  <a:srgbClr val="AEB6BC"/>
                </a:solidFill>
                <a:latin typeface="Courier New"/>
              </a:rPr>
              <a:t>│   ├── </a:t>
            </a:r>
            <a:r>
              <a:rPr sz="1050" b="0">
                <a:solidFill>
                  <a:srgbClr val="22252B"/>
                </a:solidFill>
                <a:latin typeface="Courier New"/>
              </a:rPr>
              <a:t>tokens.css</a:t>
            </a:r>
            <a:r>
              <a:rPr sz="1050" b="0">
                <a:solidFill>
                  <a:srgbClr val="A3AEB1"/>
                </a:solidFill>
                <a:latin typeface="Courier New"/>
              </a:rPr>
              <a:t>      Design tokens</a:t>
            </a:r>
          </a:p>
          <a:p>
            <a:pPr>
              <a:lnSpc>
                <a:spcPct val="136000"/>
              </a:lnSpc>
            </a:pPr>
            <a:r>
              <a:rPr sz="1050" b="0">
                <a:solidFill>
                  <a:srgbClr val="AEB6BC"/>
                </a:solidFill>
                <a:latin typeface="Courier New"/>
              </a:rPr>
              <a:t>│   └── </a:t>
            </a:r>
            <a:r>
              <a:rPr sz="1050" b="0">
                <a:solidFill>
                  <a:srgbClr val="22252B"/>
                </a:solidFill>
                <a:latin typeface="Courier New"/>
              </a:rPr>
              <a:t>… 6 more</a:t>
            </a:r>
            <a:r>
              <a:rPr sz="1050" b="0">
                <a:solidFill>
                  <a:srgbClr val="A3AEB1"/>
                </a:solidFill>
                <a:latin typeface="Courier New"/>
              </a:rPr>
              <a:t>        base, components …</a:t>
            </a:r>
          </a:p>
          <a:p>
            <a:pPr>
              <a:lnSpc>
                <a:spcPct val="136000"/>
              </a:lnSpc>
            </a:pPr>
            <a:r>
              <a:rPr sz="1050" b="0">
                <a:solidFill>
                  <a:srgbClr val="AEB6BC"/>
                </a:solidFill>
                <a:latin typeface="Courier New"/>
              </a:rPr>
              <a:t>└── </a:t>
            </a:r>
            <a:r>
              <a:rPr sz="1050" b="1">
                <a:solidFill>
                  <a:srgbClr val="455A50"/>
                </a:solidFill>
                <a:latin typeface="Courier New"/>
              </a:rPr>
              <a:t>assets/</a:t>
            </a:r>
            <a:r>
              <a:rPr sz="1050" b="0">
                <a:solidFill>
                  <a:srgbClr val="A3AEB1"/>
                </a:solidFill>
                <a:latin typeface="Courier New"/>
              </a:rPr>
              <a:t>             logos · avatars · icons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1993392"/>
            <a:ext cx="3794760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046720" y="1993392"/>
            <a:ext cx="1371600" cy="9326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53655C"/>
                </a:solidFill>
                <a:latin typeface="Arial"/>
              </a:rPr>
              <a:t>14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372600" y="2212848"/>
            <a:ext cx="0" cy="493776"/>
          </a:xfrm>
          <a:prstGeom prst="line">
            <a:avLst/>
          </a:prstGeom>
          <a:ln w="17780">
            <a:solidFill>
              <a:srgbClr val="E5E8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601200" y="1993392"/>
            <a:ext cx="1874520" cy="9326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2252B"/>
                </a:solidFill>
                <a:latin typeface="Arial"/>
              </a:rPr>
              <a:t>HTML pages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0" y="3063240"/>
            <a:ext cx="3794760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46720" y="3063240"/>
            <a:ext cx="1371600" cy="9326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B09F95"/>
                </a:solidFill>
                <a:latin typeface="Arial"/>
              </a:rPr>
              <a:t>7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3282696"/>
            <a:ext cx="0" cy="493776"/>
          </a:xfrm>
          <a:prstGeom prst="line">
            <a:avLst/>
          </a:prstGeom>
          <a:ln w="17780">
            <a:solidFill>
              <a:srgbClr val="E5E8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601200" y="3063240"/>
            <a:ext cx="1874520" cy="9326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2252B"/>
                </a:solidFill>
                <a:latin typeface="Arial"/>
              </a:rPr>
              <a:t>CSS files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0" y="4133087"/>
            <a:ext cx="3794760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046720" y="4133087"/>
            <a:ext cx="1371600" cy="9326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53655C"/>
                </a:solidFill>
                <a:latin typeface="Arial"/>
              </a:rPr>
              <a:t>18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372600" y="4352544"/>
            <a:ext cx="0" cy="493776"/>
          </a:xfrm>
          <a:prstGeom prst="line">
            <a:avLst/>
          </a:prstGeom>
          <a:ln w="17780">
            <a:solidFill>
              <a:srgbClr val="E5E8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9601200" y="4133087"/>
            <a:ext cx="1874520" cy="9326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2252B"/>
                </a:solidFill>
                <a:latin typeface="Arial"/>
              </a:rPr>
              <a:t>JS modules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0" y="5202936"/>
            <a:ext cx="3794760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046720" y="5202936"/>
            <a:ext cx="1371600" cy="9326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B09F95"/>
                </a:solidFill>
                <a:latin typeface="Arial"/>
              </a:rPr>
              <a:t>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72600" y="5422392"/>
            <a:ext cx="0" cy="493776"/>
          </a:xfrm>
          <a:prstGeom prst="line">
            <a:avLst/>
          </a:prstGeom>
          <a:ln w="17780">
            <a:solidFill>
              <a:srgbClr val="E5E8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9601200" y="5202936"/>
            <a:ext cx="1874520" cy="9326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2252B"/>
                </a:solidFill>
                <a:latin typeface="Arial"/>
              </a:rPr>
              <a:t>frameworks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246831" y="68580"/>
            <a:ext cx="548640" cy="548640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774407" y="857249"/>
            <a:ext cx="274320" cy="274320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804606" y="1117854"/>
            <a:ext cx="164592" cy="164592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37974" y="313182"/>
            <a:ext cx="128016" cy="128016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10882" y="5934456"/>
            <a:ext cx="475488" cy="475488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292316" y="5376672"/>
            <a:ext cx="219456" cy="219456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70681" y="5070348"/>
            <a:ext cx="146304" cy="146304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50568" y="116586"/>
            <a:ext cx="109728" cy="109728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1636969" y="4946904"/>
            <a:ext cx="256032" cy="256032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575212" y="6535674"/>
            <a:ext cx="164592" cy="164592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0080" y="580644"/>
            <a:ext cx="123444" cy="123444"/>
          </a:xfrm>
          <a:prstGeom prst="ellips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" y="5486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80">
                <a:solidFill>
                  <a:srgbClr val="B09F95"/>
                </a:solidFill>
                <a:latin typeface="Arial"/>
              </a:rPr>
              <a:t>02 · ARCHITECTURE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822959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22252B"/>
                </a:solidFill>
                <a:latin typeface="Arial"/>
              </a:rPr>
              <a:t>Data flow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9263" y="2112264"/>
            <a:ext cx="10253167" cy="91440"/>
          </a:xfrm>
          <a:prstGeom prst="roundRect">
            <a:avLst>
              <a:gd name="adj" fmla="val 50000"/>
            </a:avLst>
          </a:prstGeom>
          <a:solidFill>
            <a:srgbClr val="E7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Isosceles Triangle 16"/>
          <p:cNvSpPr/>
          <p:nvPr/>
        </p:nvSpPr>
        <p:spPr>
          <a:xfrm rot="5400000">
            <a:off x="2608021" y="2057400"/>
            <a:ext cx="201168" cy="201168"/>
          </a:xfrm>
          <a:prstGeom prst="triangle">
            <a:avLst/>
          </a:prstGeom>
          <a:solidFill>
            <a:srgbClr val="536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Isosceles Triangle 17"/>
          <p:cNvSpPr/>
          <p:nvPr/>
        </p:nvSpPr>
        <p:spPr>
          <a:xfrm rot="5400000">
            <a:off x="5995263" y="2057400"/>
            <a:ext cx="201168" cy="201168"/>
          </a:xfrm>
          <a:prstGeom prst="triangle">
            <a:avLst/>
          </a:prstGeom>
          <a:solidFill>
            <a:srgbClr val="536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Isosceles Triangle 18"/>
          <p:cNvSpPr/>
          <p:nvPr/>
        </p:nvSpPr>
        <p:spPr>
          <a:xfrm rot="5400000">
            <a:off x="9382506" y="2057400"/>
            <a:ext cx="201168" cy="201168"/>
          </a:xfrm>
          <a:prstGeom prst="triangle">
            <a:avLst/>
          </a:prstGeom>
          <a:solidFill>
            <a:srgbClr val="536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40080" y="1783080"/>
            <a:ext cx="749808" cy="749808"/>
          </a:xfrm>
          <a:prstGeom prst="ellipse">
            <a:avLst/>
          </a:prstGeom>
          <a:solidFill>
            <a:srgbClr val="53655C"/>
          </a:solidFill>
          <a:ln>
            <a:noFill/>
          </a:ln>
          <a:effectLst>
            <a:outerShdw blurRad="91440" dist="50292" dir="5400000" rotWithShape="0">
              <a:srgbClr val="22252B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user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033" y="1963033"/>
            <a:ext cx="389900" cy="389900"/>
          </a:xfrm>
          <a:prstGeom prst="rect">
            <a:avLst/>
          </a:prstGeom>
          <a:effectLst/>
        </p:spPr>
      </p:pic>
      <p:sp>
        <p:nvSpPr>
          <p:cNvPr id="22" name="TextBox 21"/>
          <p:cNvSpPr txBox="1"/>
          <p:nvPr/>
        </p:nvSpPr>
        <p:spPr>
          <a:xfrm>
            <a:off x="-36576" y="265176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22252B"/>
                </a:solidFill>
                <a:latin typeface="Arial"/>
              </a:rPr>
              <a:t>User</a:t>
            </a:r>
          </a:p>
        </p:txBody>
      </p:sp>
      <p:sp>
        <p:nvSpPr>
          <p:cNvPr id="23" name="Oval 22"/>
          <p:cNvSpPr/>
          <p:nvPr/>
        </p:nvSpPr>
        <p:spPr>
          <a:xfrm>
            <a:off x="4027322" y="1783080"/>
            <a:ext cx="749808" cy="749808"/>
          </a:xfrm>
          <a:prstGeom prst="ellipse">
            <a:avLst/>
          </a:prstGeom>
          <a:solidFill>
            <a:srgbClr val="53655C"/>
          </a:solidFill>
          <a:ln>
            <a:noFill/>
          </a:ln>
          <a:effectLst>
            <a:outerShdw blurRad="91440" dist="50292" dir="5400000" rotWithShape="0">
              <a:srgbClr val="22252B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lock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7276" y="1963033"/>
            <a:ext cx="389900" cy="389900"/>
          </a:xfrm>
          <a:prstGeom prst="rect">
            <a:avLst/>
          </a:prstGeom>
          <a:effectLst/>
        </p:spPr>
      </p:pic>
      <p:sp>
        <p:nvSpPr>
          <p:cNvPr id="25" name="TextBox 24"/>
          <p:cNvSpPr txBox="1"/>
          <p:nvPr/>
        </p:nvSpPr>
        <p:spPr>
          <a:xfrm>
            <a:off x="3350666" y="265176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22252B"/>
                </a:solidFill>
                <a:latin typeface="Arial"/>
              </a:rPr>
              <a:t>Sign in</a:t>
            </a:r>
          </a:p>
        </p:txBody>
      </p:sp>
      <p:sp>
        <p:nvSpPr>
          <p:cNvPr id="26" name="Oval 25"/>
          <p:cNvSpPr/>
          <p:nvPr/>
        </p:nvSpPr>
        <p:spPr>
          <a:xfrm>
            <a:off x="7414564" y="1783080"/>
            <a:ext cx="749808" cy="749808"/>
          </a:xfrm>
          <a:prstGeom prst="ellipse">
            <a:avLst/>
          </a:prstGeom>
          <a:solidFill>
            <a:srgbClr val="53655C"/>
          </a:solidFill>
          <a:ln>
            <a:noFill/>
          </a:ln>
          <a:effectLst>
            <a:outerShdw blurRad="91440" dist="50292" dir="5400000" rotWithShape="0">
              <a:srgbClr val="22252B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sliders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4518" y="1963033"/>
            <a:ext cx="389900" cy="389900"/>
          </a:xfrm>
          <a:prstGeom prst="rect">
            <a:avLst/>
          </a:prstGeom>
          <a:effectLst/>
        </p:spPr>
      </p:pic>
      <p:sp>
        <p:nvSpPr>
          <p:cNvPr id="28" name="TextBox 27"/>
          <p:cNvSpPr txBox="1"/>
          <p:nvPr/>
        </p:nvSpPr>
        <p:spPr>
          <a:xfrm>
            <a:off x="6737908" y="265176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22252B"/>
                </a:solidFill>
                <a:latin typeface="Arial"/>
              </a:rPr>
              <a:t>Personalize</a:t>
            </a:r>
          </a:p>
        </p:txBody>
      </p:sp>
      <p:sp>
        <p:nvSpPr>
          <p:cNvPr id="29" name="Oval 28"/>
          <p:cNvSpPr/>
          <p:nvPr/>
        </p:nvSpPr>
        <p:spPr>
          <a:xfrm>
            <a:off x="10801807" y="1783080"/>
            <a:ext cx="749808" cy="749808"/>
          </a:xfrm>
          <a:prstGeom prst="ellipse">
            <a:avLst/>
          </a:prstGeom>
          <a:solidFill>
            <a:srgbClr val="53655C"/>
          </a:solidFill>
          <a:ln>
            <a:noFill/>
          </a:ln>
          <a:effectLst>
            <a:outerShdw blurRad="91440" dist="50292" dir="5400000" rotWithShape="0">
              <a:srgbClr val="22252B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Picture 29" descr="layers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81761" y="1963033"/>
            <a:ext cx="389900" cy="389900"/>
          </a:xfrm>
          <a:prstGeom prst="rect">
            <a:avLst/>
          </a:prstGeom>
          <a:effectLst/>
        </p:spPr>
      </p:pic>
      <p:sp>
        <p:nvSpPr>
          <p:cNvPr id="31" name="TextBox 30"/>
          <p:cNvSpPr txBox="1"/>
          <p:nvPr/>
        </p:nvSpPr>
        <p:spPr>
          <a:xfrm>
            <a:off x="10125151" y="265176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22252B"/>
                </a:solidFill>
                <a:latin typeface="Arial"/>
              </a:rPr>
              <a:t>Profile + Subjects</a:t>
            </a:r>
          </a:p>
        </p:txBody>
      </p:sp>
      <p:sp>
        <p:nvSpPr>
          <p:cNvPr id="32" name="Down Arrow 31"/>
          <p:cNvSpPr/>
          <p:nvPr/>
        </p:nvSpPr>
        <p:spPr>
          <a:xfrm>
            <a:off x="5976975" y="2971800"/>
            <a:ext cx="237744" cy="347472"/>
          </a:xfrm>
          <a:prstGeom prst="downArrow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0" y="3401568"/>
            <a:ext cx="121916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spc="140">
                <a:solidFill>
                  <a:srgbClr val="B09F95"/>
                </a:solidFill>
                <a:latin typeface="Arial"/>
              </a:rPr>
              <a:t>SUBJECTS ARE THE SOURCE OF TRUTH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0" y="3694176"/>
            <a:ext cx="121916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606772"/>
                </a:solidFill>
                <a:latin typeface="Arial"/>
              </a:rPr>
              <a:t>every academic feature references a subject by its id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5167" y="4114800"/>
            <a:ext cx="169164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1272387" y="4251960"/>
            <a:ext cx="457200" cy="457200"/>
          </a:xfrm>
          <a:prstGeom prst="ellips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check-square-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2115" y="4361688"/>
            <a:ext cx="237744" cy="237744"/>
          </a:xfrm>
          <a:prstGeom prst="rect">
            <a:avLst/>
          </a:prstGeom>
          <a:effectLst/>
        </p:spPr>
      </p:pic>
      <p:sp>
        <p:nvSpPr>
          <p:cNvPr id="38" name="TextBox 37"/>
          <p:cNvSpPr txBox="1"/>
          <p:nvPr/>
        </p:nvSpPr>
        <p:spPr>
          <a:xfrm>
            <a:off x="655167" y="4690872"/>
            <a:ext cx="1691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52B"/>
                </a:solidFill>
                <a:latin typeface="Arial"/>
              </a:rPr>
              <a:t>Tasks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493111" y="4114800"/>
            <a:ext cx="169164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3110331" y="4251960"/>
            <a:ext cx="457200" cy="457200"/>
          </a:xfrm>
          <a:prstGeom prst="ellips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Picture 40" descr="feather-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20059" y="4361688"/>
            <a:ext cx="237744" cy="237744"/>
          </a:xfrm>
          <a:prstGeom prst="rect">
            <a:avLst/>
          </a:prstGeom>
          <a:effectLst/>
        </p:spPr>
      </p:pic>
      <p:sp>
        <p:nvSpPr>
          <p:cNvPr id="42" name="TextBox 41"/>
          <p:cNvSpPr txBox="1"/>
          <p:nvPr/>
        </p:nvSpPr>
        <p:spPr>
          <a:xfrm>
            <a:off x="2493111" y="4690872"/>
            <a:ext cx="1691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52B"/>
                </a:solidFill>
                <a:latin typeface="Arial"/>
              </a:rPr>
              <a:t>Notes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331055" y="4114800"/>
            <a:ext cx="169164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948275" y="4251960"/>
            <a:ext cx="457200" cy="457200"/>
          </a:xfrm>
          <a:prstGeom prst="ellips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5" name="Picture 44" descr="grid-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58003" y="4361688"/>
            <a:ext cx="237744" cy="237744"/>
          </a:xfrm>
          <a:prstGeom prst="rect">
            <a:avLst/>
          </a:prstGeom>
          <a:effectLst/>
        </p:spPr>
      </p:pic>
      <p:sp>
        <p:nvSpPr>
          <p:cNvPr id="46" name="TextBox 45"/>
          <p:cNvSpPr txBox="1"/>
          <p:nvPr/>
        </p:nvSpPr>
        <p:spPr>
          <a:xfrm>
            <a:off x="4331055" y="4690872"/>
            <a:ext cx="1691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52B"/>
                </a:solidFill>
                <a:latin typeface="Arial"/>
              </a:rPr>
              <a:t>Timetable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68999" y="4114800"/>
            <a:ext cx="169164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6786219" y="4251960"/>
            <a:ext cx="457200" cy="457200"/>
          </a:xfrm>
          <a:prstGeom prst="ellips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Picture 48" descr="percent-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95947" y="4361688"/>
            <a:ext cx="237744" cy="237744"/>
          </a:xfrm>
          <a:prstGeom prst="rect">
            <a:avLst/>
          </a:prstGeom>
          <a:effectLst/>
        </p:spPr>
      </p:pic>
      <p:sp>
        <p:nvSpPr>
          <p:cNvPr id="50" name="TextBox 49"/>
          <p:cNvSpPr txBox="1"/>
          <p:nvPr/>
        </p:nvSpPr>
        <p:spPr>
          <a:xfrm>
            <a:off x="6168999" y="4690872"/>
            <a:ext cx="1691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52B"/>
                </a:solidFill>
                <a:latin typeface="Arial"/>
              </a:rPr>
              <a:t>Attendance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006943" y="4114800"/>
            <a:ext cx="169164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8624163" y="4251960"/>
            <a:ext cx="457200" cy="457200"/>
          </a:xfrm>
          <a:prstGeom prst="ellips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3" name="Picture 52" descr="trending-up-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33891" y="4361688"/>
            <a:ext cx="237744" cy="237744"/>
          </a:xfrm>
          <a:prstGeom prst="rect">
            <a:avLst/>
          </a:prstGeom>
          <a:effectLst/>
        </p:spPr>
      </p:pic>
      <p:sp>
        <p:nvSpPr>
          <p:cNvPr id="54" name="TextBox 53"/>
          <p:cNvSpPr txBox="1"/>
          <p:nvPr/>
        </p:nvSpPr>
        <p:spPr>
          <a:xfrm>
            <a:off x="8006943" y="4690872"/>
            <a:ext cx="1691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52B"/>
                </a:solidFill>
                <a:latin typeface="Arial"/>
              </a:rPr>
              <a:t>CGPA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844887" y="4114800"/>
            <a:ext cx="169164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10462107" y="4251960"/>
            <a:ext cx="457200" cy="457200"/>
          </a:xfrm>
          <a:prstGeom prst="ellips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7" name="Picture 56" descr="award-whit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571835" y="4361688"/>
            <a:ext cx="237744" cy="237744"/>
          </a:xfrm>
          <a:prstGeom prst="rect">
            <a:avLst/>
          </a:prstGeom>
          <a:effectLst/>
        </p:spPr>
      </p:pic>
      <p:sp>
        <p:nvSpPr>
          <p:cNvPr id="58" name="TextBox 57"/>
          <p:cNvSpPr txBox="1"/>
          <p:nvPr/>
        </p:nvSpPr>
        <p:spPr>
          <a:xfrm>
            <a:off x="9844887" y="4690872"/>
            <a:ext cx="1691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52B"/>
                </a:solidFill>
                <a:latin typeface="Arial"/>
              </a:rPr>
              <a:t>Achievements</a:t>
            </a:r>
          </a:p>
        </p:txBody>
      </p:sp>
      <p:sp>
        <p:nvSpPr>
          <p:cNvPr id="59" name="Down Arrow 58"/>
          <p:cNvSpPr/>
          <p:nvPr/>
        </p:nvSpPr>
        <p:spPr>
          <a:xfrm>
            <a:off x="5976975" y="5120640"/>
            <a:ext cx="237744" cy="310896"/>
          </a:xfrm>
          <a:prstGeom prst="downArrow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3657600" y="5541264"/>
            <a:ext cx="4876495" cy="768096"/>
          </a:xfrm>
          <a:prstGeom prst="roundRect">
            <a:avLst>
              <a:gd name="adj" fmla="val 10000"/>
            </a:avLst>
          </a:prstGeom>
          <a:solidFill>
            <a:srgbClr val="22252B"/>
          </a:solidFill>
          <a:ln>
            <a:noFill/>
          </a:ln>
          <a:effectLst>
            <a:outerShdw blurRad="91440" dist="50292" dir="5400000" rotWithShape="0">
              <a:srgbClr val="22252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3657600" y="5541264"/>
            <a:ext cx="4876495" cy="7680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3F1EC"/>
                </a:solidFill>
                <a:latin typeface="Arial"/>
              </a:rPr>
              <a:t>Dashboard</a:t>
            </a:r>
            <a:r>
              <a:rPr sz="1300" b="0">
                <a:solidFill>
                  <a:srgbClr val="9AA2AC"/>
                </a:solidFill>
                <a:latin typeface="Arial"/>
              </a:rPr>
              <a:t>   —  one live view of everything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246831" y="68580"/>
            <a:ext cx="548640" cy="548640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774407" y="857249"/>
            <a:ext cx="274320" cy="274320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804606" y="1117854"/>
            <a:ext cx="164592" cy="164592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37974" y="313182"/>
            <a:ext cx="128016" cy="128016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10882" y="5934456"/>
            <a:ext cx="475488" cy="475488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292316" y="5376672"/>
            <a:ext cx="219456" cy="219456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70681" y="5070348"/>
            <a:ext cx="146304" cy="146304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50568" y="116586"/>
            <a:ext cx="109728" cy="109728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1636969" y="4946904"/>
            <a:ext cx="256032" cy="256032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575212" y="6535674"/>
            <a:ext cx="164592" cy="164592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0080" y="580644"/>
            <a:ext cx="123444" cy="123444"/>
          </a:xfrm>
          <a:prstGeom prst="ellips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" y="5486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80">
                <a:solidFill>
                  <a:srgbClr val="B09F95"/>
                </a:solidFill>
                <a:latin typeface="Arial"/>
              </a:rPr>
              <a:t>03 · HTML5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822959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22252B"/>
                </a:solidFill>
                <a:latin typeface="Arial"/>
              </a:rPr>
              <a:t>The structure behind Synora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1517904"/>
            <a:ext cx="50292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606772"/>
                </a:solidFill>
                <a:latin typeface="Arial"/>
              </a:rPr>
              <a:t>Every page is written with semantic HTML5 — elements that describe what each region means, not just how it looks. The browser, assistive tech and our own JavaScript all read that same structure.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3090672"/>
            <a:ext cx="329184" cy="329184"/>
          </a:xfrm>
          <a:prstGeom prst="ellipse">
            <a:avLst/>
          </a:prstGeom>
          <a:solidFill>
            <a:srgbClr val="E7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code-s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500" y="3163092"/>
            <a:ext cx="184343" cy="184343"/>
          </a:xfrm>
          <a:prstGeom prst="rect">
            <a:avLst/>
          </a:prstGeom>
          <a:effectLst/>
        </p:spPr>
      </p:pic>
      <p:sp>
        <p:nvSpPr>
          <p:cNvPr id="19" name="TextBox 18"/>
          <p:cNvSpPr txBox="1"/>
          <p:nvPr/>
        </p:nvSpPr>
        <p:spPr>
          <a:xfrm>
            <a:off x="1097280" y="310896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55A50"/>
                </a:solidFill>
                <a:latin typeface="Courier New"/>
              </a:rPr>
              <a:t>&lt;header&gt;</a:t>
            </a:r>
            <a:r>
              <a:rPr sz="1100" b="0">
                <a:solidFill>
                  <a:srgbClr val="A3AEB1"/>
                </a:solidFill>
                <a:latin typeface="Arial"/>
              </a:rPr>
              <a:t>   site header + nav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3547872"/>
            <a:ext cx="329184" cy="329184"/>
          </a:xfrm>
          <a:prstGeom prst="ellipse">
            <a:avLst/>
          </a:prstGeom>
          <a:solidFill>
            <a:srgbClr val="E7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code-s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500" y="3620292"/>
            <a:ext cx="184343" cy="184343"/>
          </a:xfrm>
          <a:prstGeom prst="rect">
            <a:avLst/>
          </a:prstGeom>
          <a:effectLst/>
        </p:spPr>
      </p:pic>
      <p:sp>
        <p:nvSpPr>
          <p:cNvPr id="22" name="TextBox 21"/>
          <p:cNvSpPr txBox="1"/>
          <p:nvPr/>
        </p:nvSpPr>
        <p:spPr>
          <a:xfrm>
            <a:off x="1097280" y="356616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55A50"/>
                </a:solidFill>
                <a:latin typeface="Courier New"/>
              </a:rPr>
              <a:t>&lt;main&gt;</a:t>
            </a:r>
            <a:r>
              <a:rPr sz="1100" b="0">
                <a:solidFill>
                  <a:srgbClr val="A3AEB1"/>
                </a:solidFill>
                <a:latin typeface="Arial"/>
              </a:rPr>
              <a:t>   ×14 primary content</a:t>
            </a:r>
          </a:p>
        </p:txBody>
      </p:sp>
      <p:sp>
        <p:nvSpPr>
          <p:cNvPr id="23" name="Oval 22"/>
          <p:cNvSpPr/>
          <p:nvPr/>
        </p:nvSpPr>
        <p:spPr>
          <a:xfrm>
            <a:off x="640080" y="4005072"/>
            <a:ext cx="329184" cy="329184"/>
          </a:xfrm>
          <a:prstGeom prst="ellipse">
            <a:avLst/>
          </a:prstGeom>
          <a:solidFill>
            <a:srgbClr val="E7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code-s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500" y="4077492"/>
            <a:ext cx="184343" cy="184343"/>
          </a:xfrm>
          <a:prstGeom prst="rect">
            <a:avLst/>
          </a:prstGeom>
          <a:effectLst/>
        </p:spPr>
      </p:pic>
      <p:sp>
        <p:nvSpPr>
          <p:cNvPr id="25" name="TextBox 24"/>
          <p:cNvSpPr txBox="1"/>
          <p:nvPr/>
        </p:nvSpPr>
        <p:spPr>
          <a:xfrm>
            <a:off x="1097280" y="402336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55A50"/>
                </a:solidFill>
                <a:latin typeface="Courier New"/>
              </a:rPr>
              <a:t>&lt;section&gt;</a:t>
            </a:r>
            <a:r>
              <a:rPr sz="1100" b="0">
                <a:solidFill>
                  <a:srgbClr val="A3AEB1"/>
                </a:solidFill>
                <a:latin typeface="Arial"/>
              </a:rPr>
              <a:t>   ×11 labelled regions</a:t>
            </a:r>
          </a:p>
        </p:txBody>
      </p:sp>
      <p:sp>
        <p:nvSpPr>
          <p:cNvPr id="26" name="Oval 25"/>
          <p:cNvSpPr/>
          <p:nvPr/>
        </p:nvSpPr>
        <p:spPr>
          <a:xfrm>
            <a:off x="640080" y="4462272"/>
            <a:ext cx="329184" cy="329184"/>
          </a:xfrm>
          <a:prstGeom prst="ellipse">
            <a:avLst/>
          </a:prstGeom>
          <a:solidFill>
            <a:srgbClr val="E7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code-s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500" y="4534692"/>
            <a:ext cx="184343" cy="184343"/>
          </a:xfrm>
          <a:prstGeom prst="rect">
            <a:avLst/>
          </a:prstGeom>
          <a:effectLst/>
        </p:spPr>
      </p:pic>
      <p:sp>
        <p:nvSpPr>
          <p:cNvPr id="28" name="TextBox 27"/>
          <p:cNvSpPr txBox="1"/>
          <p:nvPr/>
        </p:nvSpPr>
        <p:spPr>
          <a:xfrm>
            <a:off x="1097280" y="448056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55A50"/>
                </a:solidFill>
                <a:latin typeface="Courier New"/>
              </a:rPr>
              <a:t>&lt;aside&gt;</a:t>
            </a:r>
            <a:r>
              <a:rPr sz="1100" b="0">
                <a:solidFill>
                  <a:srgbClr val="A3AEB1"/>
                </a:solidFill>
                <a:latin typeface="Arial"/>
              </a:rPr>
              <a:t>   ×12 sidebar</a:t>
            </a:r>
          </a:p>
        </p:txBody>
      </p:sp>
      <p:sp>
        <p:nvSpPr>
          <p:cNvPr id="29" name="Oval 28"/>
          <p:cNvSpPr/>
          <p:nvPr/>
        </p:nvSpPr>
        <p:spPr>
          <a:xfrm>
            <a:off x="640080" y="4919472"/>
            <a:ext cx="329184" cy="329184"/>
          </a:xfrm>
          <a:prstGeom prst="ellipse">
            <a:avLst/>
          </a:prstGeom>
          <a:solidFill>
            <a:srgbClr val="E7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Picture 29" descr="code-s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500" y="4991892"/>
            <a:ext cx="184343" cy="184343"/>
          </a:xfrm>
          <a:prstGeom prst="rect">
            <a:avLst/>
          </a:prstGeom>
          <a:effectLst/>
        </p:spPr>
      </p:pic>
      <p:sp>
        <p:nvSpPr>
          <p:cNvPr id="31" name="TextBox 30"/>
          <p:cNvSpPr txBox="1"/>
          <p:nvPr/>
        </p:nvSpPr>
        <p:spPr>
          <a:xfrm>
            <a:off x="1097280" y="493776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55A50"/>
                </a:solidFill>
                <a:latin typeface="Courier New"/>
              </a:rPr>
              <a:t>&lt;footer&gt;</a:t>
            </a:r>
            <a:r>
              <a:rPr sz="1100" b="0">
                <a:solidFill>
                  <a:srgbClr val="A3AEB1"/>
                </a:solidFill>
                <a:latin typeface="Arial"/>
              </a:rPr>
              <a:t>   landing footer</a:t>
            </a:r>
          </a:p>
        </p:txBody>
      </p:sp>
      <p:sp>
        <p:nvSpPr>
          <p:cNvPr id="32" name="Oval 31"/>
          <p:cNvSpPr/>
          <p:nvPr/>
        </p:nvSpPr>
        <p:spPr>
          <a:xfrm>
            <a:off x="640080" y="5376672"/>
            <a:ext cx="329184" cy="329184"/>
          </a:xfrm>
          <a:prstGeom prst="ellipse">
            <a:avLst/>
          </a:prstGeom>
          <a:solidFill>
            <a:srgbClr val="E7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code-s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500" y="5449092"/>
            <a:ext cx="184343" cy="184343"/>
          </a:xfrm>
          <a:prstGeom prst="rect">
            <a:avLst/>
          </a:prstGeom>
          <a:effectLst/>
        </p:spPr>
      </p:pic>
      <p:sp>
        <p:nvSpPr>
          <p:cNvPr id="34" name="TextBox 33"/>
          <p:cNvSpPr txBox="1"/>
          <p:nvPr/>
        </p:nvSpPr>
        <p:spPr>
          <a:xfrm>
            <a:off x="1097280" y="539496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55A50"/>
                </a:solidFill>
                <a:latin typeface="Courier New"/>
              </a:rPr>
              <a:t>&lt;figure&gt;</a:t>
            </a:r>
            <a:r>
              <a:rPr sz="1100" b="0">
                <a:solidFill>
                  <a:srgbClr val="A3AEB1"/>
                </a:solidFill>
                <a:latin typeface="Arial"/>
              </a:rPr>
              <a:t>   ×3 media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89320" y="1481328"/>
            <a:ext cx="5596128" cy="3164799"/>
          </a:xfrm>
          <a:prstGeom prst="roundRect">
            <a:avLst>
              <a:gd name="adj" fmla="val 3500"/>
            </a:avLst>
          </a:prstGeom>
          <a:solidFill>
            <a:srgbClr val="1C2026"/>
          </a:solidFill>
          <a:ln>
            <a:noFill/>
          </a:ln>
          <a:effectLst>
            <a:outerShdw blurRad="91440" dist="50292" dir="5400000" rotWithShape="0">
              <a:srgbClr val="22252B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6227064" y="1636776"/>
            <a:ext cx="91440" cy="91440"/>
          </a:xfrm>
          <a:prstGeom prst="ellipse">
            <a:avLst/>
          </a:prstGeom>
          <a:solidFill>
            <a:srgbClr val="E06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6391655" y="1636776"/>
            <a:ext cx="91440" cy="91440"/>
          </a:xfrm>
          <a:prstGeom prst="ellipse">
            <a:avLst/>
          </a:prstGeom>
          <a:solidFill>
            <a:srgbClr val="E0B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6556248" y="1636776"/>
            <a:ext cx="91440" cy="91440"/>
          </a:xfrm>
          <a:prstGeom prst="ellipse">
            <a:avLst/>
          </a:prstGeom>
          <a:solidFill>
            <a:srgbClr val="8FB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793992" y="1572768"/>
            <a:ext cx="455371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A929C"/>
                </a:solidFill>
                <a:latin typeface="Courier New"/>
              </a:rPr>
              <a:t>index.html — landing structure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27064" y="1996135"/>
            <a:ext cx="5120640" cy="25298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250">
                <a:solidFill>
                  <a:srgbClr val="D6C6B8"/>
                </a:solidFill>
                <a:latin typeface="Courier New"/>
              </a:rPr>
              <a:t>&lt;header </a:t>
            </a:r>
            <a:r>
              <a:rPr sz="1250">
                <a:solidFill>
                  <a:srgbClr val="A9C3B0"/>
                </a:solidFill>
                <a:latin typeface="Courier New"/>
              </a:rPr>
              <a:t>class</a:t>
            </a:r>
            <a:r>
              <a:rPr sz="1250">
                <a:solidFill>
                  <a:srgbClr val="E7EAEE"/>
                </a:solidFill>
                <a:latin typeface="Courier New"/>
              </a:rPr>
              <a:t>=</a:t>
            </a:r>
            <a:r>
              <a:rPr sz="1250">
                <a:solidFill>
                  <a:srgbClr val="CBB69F"/>
                </a:solidFill>
                <a:latin typeface="Courier New"/>
              </a:rPr>
              <a:t>"site-header"</a:t>
            </a:r>
            <a:r>
              <a:rPr sz="1250">
                <a:solidFill>
                  <a:srgbClr val="D6C6B8"/>
                </a:solidFill>
                <a:latin typeface="Courier New"/>
              </a:rPr>
              <a:t>&gt;</a:t>
            </a:r>
          </a:p>
          <a:p>
            <a:pPr>
              <a:lnSpc>
                <a:spcPct val="128000"/>
              </a:lnSpc>
            </a:pPr>
            <a:r>
              <a:rPr sz="1250">
                <a:solidFill>
                  <a:srgbClr val="D6C6B8"/>
                </a:solidFill>
                <a:latin typeface="Courier New"/>
              </a:rPr>
              <a:t>  &lt;nav </a:t>
            </a:r>
            <a:r>
              <a:rPr sz="1250">
                <a:solidFill>
                  <a:srgbClr val="A9C3B0"/>
                </a:solidFill>
                <a:latin typeface="Courier New"/>
              </a:rPr>
              <a:t>aria-label</a:t>
            </a:r>
            <a:r>
              <a:rPr sz="1250">
                <a:solidFill>
                  <a:srgbClr val="E7EAEE"/>
                </a:solidFill>
                <a:latin typeface="Courier New"/>
              </a:rPr>
              <a:t>=</a:t>
            </a:r>
            <a:r>
              <a:rPr sz="1250">
                <a:solidFill>
                  <a:srgbClr val="CBB69F"/>
                </a:solidFill>
                <a:latin typeface="Courier New"/>
              </a:rPr>
              <a:t>"Primary"</a:t>
            </a:r>
            <a:r>
              <a:rPr sz="1250">
                <a:solidFill>
                  <a:srgbClr val="D6C6B8"/>
                </a:solidFill>
                <a:latin typeface="Courier New"/>
              </a:rPr>
              <a:t>&gt; … &lt;/nav&gt;</a:t>
            </a:r>
          </a:p>
          <a:p>
            <a:pPr>
              <a:lnSpc>
                <a:spcPct val="128000"/>
              </a:lnSpc>
            </a:pPr>
            <a:r>
              <a:rPr sz="1250">
                <a:solidFill>
                  <a:srgbClr val="D6C6B8"/>
                </a:solidFill>
                <a:latin typeface="Courier New"/>
              </a:rPr>
              <a:t>&lt;/header&gt;</a:t>
            </a:r>
          </a:p>
          <a:p>
            <a:pPr>
              <a:lnSpc>
                <a:spcPct val="128000"/>
              </a:lnSpc>
            </a:pPr>
            <a:endParaRPr sz="1250">
              <a:solidFill>
                <a:srgbClr val="D6C6B8"/>
              </a:solidFill>
              <a:latin typeface="Courier New"/>
            </a:endParaRPr>
          </a:p>
          <a:p>
            <a:pPr>
              <a:lnSpc>
                <a:spcPct val="128000"/>
              </a:lnSpc>
            </a:pPr>
            <a:r>
              <a:rPr sz="1250">
                <a:solidFill>
                  <a:srgbClr val="D6C6B8"/>
                </a:solidFill>
                <a:latin typeface="Courier New"/>
              </a:rPr>
              <a:t>&lt;main </a:t>
            </a:r>
            <a:r>
              <a:rPr sz="1250">
                <a:solidFill>
                  <a:srgbClr val="A9C3B0"/>
                </a:solidFill>
                <a:latin typeface="Courier New"/>
              </a:rPr>
              <a:t>id</a:t>
            </a:r>
            <a:r>
              <a:rPr sz="1250">
                <a:solidFill>
                  <a:srgbClr val="E7EAEE"/>
                </a:solidFill>
                <a:latin typeface="Courier New"/>
              </a:rPr>
              <a:t>=</a:t>
            </a:r>
            <a:r>
              <a:rPr sz="1250">
                <a:solidFill>
                  <a:srgbClr val="CBB69F"/>
                </a:solidFill>
                <a:latin typeface="Courier New"/>
              </a:rPr>
              <a:t>"main"</a:t>
            </a:r>
            <a:r>
              <a:rPr sz="1250">
                <a:solidFill>
                  <a:srgbClr val="D6C6B8"/>
                </a:solidFill>
                <a:latin typeface="Courier New"/>
              </a:rPr>
              <a:t>&gt;</a:t>
            </a:r>
          </a:p>
          <a:p>
            <a:pPr>
              <a:lnSpc>
                <a:spcPct val="128000"/>
              </a:lnSpc>
            </a:pPr>
            <a:r>
              <a:rPr sz="1250">
                <a:solidFill>
                  <a:srgbClr val="D6C6B8"/>
                </a:solidFill>
                <a:latin typeface="Courier New"/>
              </a:rPr>
              <a:t>  &lt;section </a:t>
            </a:r>
            <a:r>
              <a:rPr sz="1250">
                <a:solidFill>
                  <a:srgbClr val="A9C3B0"/>
                </a:solidFill>
                <a:latin typeface="Courier New"/>
              </a:rPr>
              <a:t>class</a:t>
            </a:r>
            <a:r>
              <a:rPr sz="1250">
                <a:solidFill>
                  <a:srgbClr val="E7EAEE"/>
                </a:solidFill>
                <a:latin typeface="Courier New"/>
              </a:rPr>
              <a:t>=</a:t>
            </a:r>
            <a:r>
              <a:rPr sz="1250">
                <a:solidFill>
                  <a:srgbClr val="CBB69F"/>
                </a:solidFill>
                <a:latin typeface="Courier New"/>
              </a:rPr>
              <a:t>"hero"</a:t>
            </a:r>
            <a:r>
              <a:rPr sz="1250">
                <a:solidFill>
                  <a:srgbClr val="D6C6B8"/>
                </a:solidFill>
                <a:latin typeface="Courier New"/>
              </a:rPr>
              <a:t>&gt;…&lt;/section&gt;</a:t>
            </a:r>
          </a:p>
          <a:p>
            <a:pPr>
              <a:lnSpc>
                <a:spcPct val="128000"/>
              </a:lnSpc>
            </a:pPr>
            <a:r>
              <a:rPr sz="1250">
                <a:solidFill>
                  <a:srgbClr val="D6C6B8"/>
                </a:solidFill>
                <a:latin typeface="Courier New"/>
              </a:rPr>
              <a:t>  &lt;section </a:t>
            </a:r>
            <a:r>
              <a:rPr sz="1250">
                <a:solidFill>
                  <a:srgbClr val="A9C3B0"/>
                </a:solidFill>
                <a:latin typeface="Courier New"/>
              </a:rPr>
              <a:t>aria-labelledby</a:t>
            </a:r>
            <a:r>
              <a:rPr sz="1250">
                <a:solidFill>
                  <a:srgbClr val="E7EAEE"/>
                </a:solidFill>
                <a:latin typeface="Courier New"/>
              </a:rPr>
              <a:t>=</a:t>
            </a:r>
            <a:r>
              <a:rPr sz="1250">
                <a:solidFill>
                  <a:srgbClr val="CBB69F"/>
                </a:solidFill>
                <a:latin typeface="Courier New"/>
              </a:rPr>
              <a:t>"features"</a:t>
            </a:r>
            <a:r>
              <a:rPr sz="1250">
                <a:solidFill>
                  <a:srgbClr val="D6C6B8"/>
                </a:solidFill>
                <a:latin typeface="Courier New"/>
              </a:rPr>
              <a:t>&gt;…</a:t>
            </a:r>
          </a:p>
          <a:p>
            <a:pPr>
              <a:lnSpc>
                <a:spcPct val="128000"/>
              </a:lnSpc>
            </a:pPr>
            <a:r>
              <a:rPr sz="1250">
                <a:solidFill>
                  <a:srgbClr val="D6C6B8"/>
                </a:solidFill>
                <a:latin typeface="Courier New"/>
              </a:rPr>
              <a:t>  &lt;/section&gt;</a:t>
            </a:r>
          </a:p>
          <a:p>
            <a:pPr>
              <a:lnSpc>
                <a:spcPct val="128000"/>
              </a:lnSpc>
            </a:pPr>
            <a:r>
              <a:rPr sz="1250">
                <a:solidFill>
                  <a:srgbClr val="D6C6B8"/>
                </a:solidFill>
                <a:latin typeface="Courier New"/>
              </a:rPr>
              <a:t>&lt;/main&gt;</a:t>
            </a:r>
          </a:p>
          <a:p>
            <a:pPr>
              <a:lnSpc>
                <a:spcPct val="128000"/>
              </a:lnSpc>
            </a:pPr>
            <a:r>
              <a:rPr sz="1250">
                <a:solidFill>
                  <a:srgbClr val="D6C6B8"/>
                </a:solidFill>
                <a:latin typeface="Courier New"/>
              </a:rPr>
              <a:t>&lt;footer </a:t>
            </a:r>
            <a:r>
              <a:rPr sz="1250">
                <a:solidFill>
                  <a:srgbClr val="A9C3B0"/>
                </a:solidFill>
                <a:latin typeface="Courier New"/>
              </a:rPr>
              <a:t>class</a:t>
            </a:r>
            <a:r>
              <a:rPr sz="1250">
                <a:solidFill>
                  <a:srgbClr val="E7EAEE"/>
                </a:solidFill>
                <a:latin typeface="Courier New"/>
              </a:rPr>
              <a:t>=</a:t>
            </a:r>
            <a:r>
              <a:rPr sz="1250">
                <a:solidFill>
                  <a:srgbClr val="CBB69F"/>
                </a:solidFill>
                <a:latin typeface="Courier New"/>
              </a:rPr>
              <a:t>"site-footer"</a:t>
            </a:r>
            <a:r>
              <a:rPr sz="1250">
                <a:solidFill>
                  <a:srgbClr val="D6C6B8"/>
                </a:solidFill>
                <a:latin typeface="Courier New"/>
              </a:rPr>
              <a:t>&gt;…&lt;/footer&gt;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89320" y="6035040"/>
            <a:ext cx="55961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A3AEB1"/>
                </a:solidFill>
                <a:latin typeface="Arial"/>
              </a:rPr>
              <a:t>Real markup from index.html — trimmed.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246831" y="68580"/>
            <a:ext cx="548640" cy="548640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774407" y="857249"/>
            <a:ext cx="274320" cy="274320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804606" y="1117854"/>
            <a:ext cx="164592" cy="164592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37974" y="313182"/>
            <a:ext cx="128016" cy="128016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10882" y="5934456"/>
            <a:ext cx="475488" cy="475488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292316" y="5376672"/>
            <a:ext cx="219456" cy="219456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70681" y="5070348"/>
            <a:ext cx="146304" cy="146304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50568" y="116586"/>
            <a:ext cx="109728" cy="109728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1636969" y="4946904"/>
            <a:ext cx="256032" cy="256032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575212" y="6535674"/>
            <a:ext cx="164592" cy="164592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0080" y="580644"/>
            <a:ext cx="123444" cy="123444"/>
          </a:xfrm>
          <a:prstGeom prst="ellips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" y="5486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80">
                <a:solidFill>
                  <a:srgbClr val="B09F95"/>
                </a:solidFill>
                <a:latin typeface="Arial"/>
              </a:rPr>
              <a:t>03 · HTML5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822959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22252B"/>
                </a:solidFill>
                <a:latin typeface="Arial"/>
              </a:rPr>
              <a:t>User journey: landing to workspace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1481328"/>
            <a:ext cx="1091153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06772"/>
                </a:solidFill>
                <a:latin typeface="Arial"/>
              </a:rPr>
              <a:t>Five HTML pages, one continuous flow — structure and links carry the user through.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487168"/>
            <a:ext cx="2615184" cy="163448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91440" dist="50292" dir="5400000" rotWithShape="0">
              <a:srgbClr val="22252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landing_desk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487168"/>
            <a:ext cx="2615184" cy="1634489"/>
          </a:xfrm>
          <a:prstGeom prst="rect">
            <a:avLst/>
          </a:prstGeom>
          <a:effectLst/>
        </p:spPr>
      </p:pic>
      <p:sp>
        <p:nvSpPr>
          <p:cNvPr id="19" name="Rounded Rectangle 18"/>
          <p:cNvSpPr/>
          <p:nvPr/>
        </p:nvSpPr>
        <p:spPr>
          <a:xfrm>
            <a:off x="777240" y="234086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53655C"/>
          </a:solidFill>
          <a:ln>
            <a:noFill/>
          </a:ln>
          <a:effectLst>
            <a:outerShdw blurRad="91440" dist="50292" dir="5400000" rotWithShape="0">
              <a:srgbClr val="22252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ourier New"/>
              </a:rPr>
              <a:t>index.html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231386"/>
            <a:ext cx="261518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22252B"/>
                </a:solidFill>
                <a:latin typeface="Arial"/>
              </a:rPr>
              <a:t>Landing</a:t>
            </a:r>
          </a:p>
        </p:txBody>
      </p:sp>
      <p:sp>
        <p:nvSpPr>
          <p:cNvPr id="21" name="Chevron 20"/>
          <p:cNvSpPr/>
          <p:nvPr/>
        </p:nvSpPr>
        <p:spPr>
          <a:xfrm>
            <a:off x="3248101" y="3217545"/>
            <a:ext cx="191109" cy="173736"/>
          </a:xfrm>
          <a:prstGeom prst="chevron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3405530" y="2487168"/>
            <a:ext cx="2615184" cy="163448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91440" dist="50292" dir="5400000" rotWithShape="0">
              <a:srgbClr val="22252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sign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5530" y="2487168"/>
            <a:ext cx="2615184" cy="1634489"/>
          </a:xfrm>
          <a:prstGeom prst="rect">
            <a:avLst/>
          </a:prstGeom>
          <a:effectLst/>
        </p:spPr>
      </p:pic>
      <p:sp>
        <p:nvSpPr>
          <p:cNvPr id="24" name="Rounded Rectangle 23"/>
          <p:cNvSpPr/>
          <p:nvPr/>
        </p:nvSpPr>
        <p:spPr>
          <a:xfrm>
            <a:off x="3542690" y="2340864"/>
            <a:ext cx="1035100" cy="292608"/>
          </a:xfrm>
          <a:prstGeom prst="roundRect">
            <a:avLst>
              <a:gd name="adj" fmla="val 50000"/>
            </a:avLst>
          </a:prstGeom>
          <a:solidFill>
            <a:srgbClr val="B09F95"/>
          </a:solidFill>
          <a:ln>
            <a:noFill/>
          </a:ln>
          <a:effectLst>
            <a:outerShdw blurRad="91440" dist="50292" dir="5400000" rotWithShape="0">
              <a:srgbClr val="22252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ourier New"/>
              </a:rPr>
              <a:t>signup.html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05530" y="4231386"/>
            <a:ext cx="261518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22252B"/>
                </a:solidFill>
                <a:latin typeface="Arial"/>
              </a:rPr>
              <a:t>Sign up</a:t>
            </a:r>
          </a:p>
        </p:txBody>
      </p:sp>
      <p:sp>
        <p:nvSpPr>
          <p:cNvPr id="26" name="Chevron 25"/>
          <p:cNvSpPr/>
          <p:nvPr/>
        </p:nvSpPr>
        <p:spPr>
          <a:xfrm>
            <a:off x="6013551" y="3217545"/>
            <a:ext cx="191109" cy="173736"/>
          </a:xfrm>
          <a:prstGeom prst="chevron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170980" y="2487168"/>
            <a:ext cx="2615184" cy="163448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91440" dist="50292" dir="5400000" rotWithShape="0">
              <a:srgbClr val="22252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onboard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0980" y="2487168"/>
            <a:ext cx="2615184" cy="1634489"/>
          </a:xfrm>
          <a:prstGeom prst="rect">
            <a:avLst/>
          </a:prstGeom>
          <a:effectLst/>
        </p:spPr>
      </p:pic>
      <p:sp>
        <p:nvSpPr>
          <p:cNvPr id="29" name="Rounded Rectangle 28"/>
          <p:cNvSpPr/>
          <p:nvPr/>
        </p:nvSpPr>
        <p:spPr>
          <a:xfrm>
            <a:off x="6308140" y="2340864"/>
            <a:ext cx="1298448" cy="292608"/>
          </a:xfrm>
          <a:prstGeom prst="roundRect">
            <a:avLst>
              <a:gd name="adj" fmla="val 50000"/>
            </a:avLst>
          </a:prstGeom>
          <a:solidFill>
            <a:srgbClr val="53655C"/>
          </a:solidFill>
          <a:ln>
            <a:noFill/>
          </a:ln>
          <a:effectLst>
            <a:outerShdw blurRad="91440" dist="50292" dir="5400000" rotWithShape="0">
              <a:srgbClr val="22252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ourier New"/>
              </a:rPr>
              <a:t>onboarding.html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0980" y="4231386"/>
            <a:ext cx="261518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22252B"/>
                </a:solidFill>
                <a:latin typeface="Arial"/>
              </a:rPr>
              <a:t>Personalize</a:t>
            </a:r>
          </a:p>
        </p:txBody>
      </p:sp>
      <p:sp>
        <p:nvSpPr>
          <p:cNvPr id="31" name="Chevron 30"/>
          <p:cNvSpPr/>
          <p:nvPr/>
        </p:nvSpPr>
        <p:spPr>
          <a:xfrm>
            <a:off x="8779002" y="3217545"/>
            <a:ext cx="191109" cy="173736"/>
          </a:xfrm>
          <a:prstGeom prst="chevron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8936431" y="2487168"/>
            <a:ext cx="2615184" cy="163448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91440" dist="50292" dir="5400000" rotWithShape="0">
              <a:srgbClr val="22252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dashboard_deskt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36431" y="2487168"/>
            <a:ext cx="2615184" cy="1634489"/>
          </a:xfrm>
          <a:prstGeom prst="rect">
            <a:avLst/>
          </a:prstGeom>
          <a:effectLst/>
        </p:spPr>
      </p:pic>
      <p:sp>
        <p:nvSpPr>
          <p:cNvPr id="34" name="Rounded Rectangle 33"/>
          <p:cNvSpPr/>
          <p:nvPr/>
        </p:nvSpPr>
        <p:spPr>
          <a:xfrm>
            <a:off x="9073591" y="2340864"/>
            <a:ext cx="1232611" cy="292608"/>
          </a:xfrm>
          <a:prstGeom prst="roundRect">
            <a:avLst>
              <a:gd name="adj" fmla="val 50000"/>
            </a:avLst>
          </a:prstGeom>
          <a:solidFill>
            <a:srgbClr val="B09F95"/>
          </a:solidFill>
          <a:ln>
            <a:noFill/>
          </a:ln>
          <a:effectLst>
            <a:outerShdw blurRad="91440" dist="50292" dir="5400000" rotWithShape="0">
              <a:srgbClr val="22252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ourier New"/>
              </a:rPr>
              <a:t>dashboard.html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36431" y="4231386"/>
            <a:ext cx="261518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22252B"/>
                </a:solidFill>
                <a:latin typeface="Arial"/>
              </a:rPr>
              <a:t>Dashboard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029200"/>
            <a:ext cx="1091153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606772"/>
                </a:solidFill>
                <a:latin typeface="Arial"/>
              </a:rPr>
              <a:t>Each page is a self-contained HTML document; anchors and links move between them, and the same navigation structure repeats so the product feels like one continuous space.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246831" y="68580"/>
            <a:ext cx="548640" cy="548640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774407" y="857249"/>
            <a:ext cx="274320" cy="274320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804606" y="1117854"/>
            <a:ext cx="164592" cy="164592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37974" y="313182"/>
            <a:ext cx="128016" cy="128016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10882" y="5934456"/>
            <a:ext cx="475488" cy="475488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292316" y="5376672"/>
            <a:ext cx="219456" cy="219456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70681" y="5070348"/>
            <a:ext cx="146304" cy="146304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50568" y="116586"/>
            <a:ext cx="109728" cy="109728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1636969" y="4946904"/>
            <a:ext cx="256032" cy="256032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575212" y="6535674"/>
            <a:ext cx="164592" cy="164592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0080" y="580644"/>
            <a:ext cx="123444" cy="123444"/>
          </a:xfrm>
          <a:prstGeom prst="ellips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" y="5486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80">
                <a:solidFill>
                  <a:srgbClr val="B09F95"/>
                </a:solidFill>
                <a:latin typeface="Arial"/>
              </a:rPr>
              <a:t>03 · HTML5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822959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22252B"/>
                </a:solidFill>
                <a:latin typeface="Arial"/>
              </a:rPr>
              <a:t>The landing page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1572768"/>
            <a:ext cx="6995160" cy="43719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91440" dist="50292" dir="5400000" rotWithShape="0">
              <a:srgbClr val="22252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landing_desk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72768"/>
            <a:ext cx="6995160" cy="4371975"/>
          </a:xfrm>
          <a:prstGeom prst="rect">
            <a:avLst/>
          </a:prstGeom>
          <a:effectLst/>
        </p:spPr>
      </p:pic>
      <p:sp>
        <p:nvSpPr>
          <p:cNvPr id="18" name="Rounded Rectangle 17"/>
          <p:cNvSpPr/>
          <p:nvPr/>
        </p:nvSpPr>
        <p:spPr>
          <a:xfrm>
            <a:off x="822959" y="142646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53655C"/>
          </a:solidFill>
          <a:ln>
            <a:noFill/>
          </a:ln>
          <a:effectLst>
            <a:outerShdw blurRad="91440" dist="50292" dir="5400000" rotWithShape="0">
              <a:srgbClr val="22252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ourier New"/>
              </a:rPr>
              <a:t>index.html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017895"/>
            <a:ext cx="6995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A3AEB1"/>
                </a:solidFill>
                <a:latin typeface="Arial"/>
              </a:rPr>
              <a:t>Hero, navigation and marketing sections.</a:t>
            </a:r>
          </a:p>
        </p:txBody>
      </p:sp>
      <p:sp>
        <p:nvSpPr>
          <p:cNvPr id="20" name="Oval 19"/>
          <p:cNvSpPr/>
          <p:nvPr/>
        </p:nvSpPr>
        <p:spPr>
          <a:xfrm>
            <a:off x="7818120" y="1517904"/>
            <a:ext cx="457200" cy="457200"/>
          </a:xfrm>
          <a:prstGeom prst="ellipse">
            <a:avLst/>
          </a:prstGeom>
          <a:solidFill>
            <a:srgbClr val="536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layout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7848" y="1627631"/>
            <a:ext cx="237744" cy="237744"/>
          </a:xfrm>
          <a:prstGeom prst="rect">
            <a:avLst/>
          </a:prstGeom>
          <a:effectLst/>
        </p:spPr>
      </p:pic>
      <p:sp>
        <p:nvSpPr>
          <p:cNvPr id="22" name="TextBox 21"/>
          <p:cNvSpPr txBox="1"/>
          <p:nvPr/>
        </p:nvSpPr>
        <p:spPr>
          <a:xfrm>
            <a:off x="8385048" y="1481328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252B"/>
                </a:solidFill>
                <a:latin typeface="Arial"/>
              </a:rPr>
              <a:t>Hero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5048" y="1773936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06772"/>
                </a:solidFill>
                <a:latin typeface="Arial"/>
              </a:rPr>
              <a:t>headline + product preview</a:t>
            </a:r>
          </a:p>
        </p:txBody>
      </p:sp>
      <p:sp>
        <p:nvSpPr>
          <p:cNvPr id="24" name="Oval 23"/>
          <p:cNvSpPr/>
          <p:nvPr/>
        </p:nvSpPr>
        <p:spPr>
          <a:xfrm>
            <a:off x="7818120" y="2304288"/>
            <a:ext cx="457200" cy="457200"/>
          </a:xfrm>
          <a:prstGeom prst="ellips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menu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7848" y="2414016"/>
            <a:ext cx="237744" cy="237744"/>
          </a:xfrm>
          <a:prstGeom prst="rect">
            <a:avLst/>
          </a:prstGeom>
          <a:effectLst/>
        </p:spPr>
      </p:pic>
      <p:sp>
        <p:nvSpPr>
          <p:cNvPr id="26" name="TextBox 25"/>
          <p:cNvSpPr txBox="1"/>
          <p:nvPr/>
        </p:nvSpPr>
        <p:spPr>
          <a:xfrm>
            <a:off x="8385048" y="226771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252B"/>
                </a:solidFill>
                <a:latin typeface="Arial"/>
              </a:rPr>
              <a:t>Navbar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5048" y="256032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06772"/>
                </a:solidFill>
                <a:latin typeface="Arial"/>
              </a:rPr>
              <a:t>centred links + theme + auth</a:t>
            </a:r>
          </a:p>
        </p:txBody>
      </p:sp>
      <p:sp>
        <p:nvSpPr>
          <p:cNvPr id="28" name="Oval 27"/>
          <p:cNvSpPr/>
          <p:nvPr/>
        </p:nvSpPr>
        <p:spPr>
          <a:xfrm>
            <a:off x="7818120" y="3090672"/>
            <a:ext cx="457200" cy="457200"/>
          </a:xfrm>
          <a:prstGeom prst="ellipse">
            <a:avLst/>
          </a:prstGeom>
          <a:solidFill>
            <a:srgbClr val="536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grid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7848" y="3200400"/>
            <a:ext cx="237744" cy="237744"/>
          </a:xfrm>
          <a:prstGeom prst="rect">
            <a:avLst/>
          </a:prstGeom>
          <a:effectLst/>
        </p:spPr>
      </p:pic>
      <p:sp>
        <p:nvSpPr>
          <p:cNvPr id="30" name="TextBox 29"/>
          <p:cNvSpPr txBox="1"/>
          <p:nvPr/>
        </p:nvSpPr>
        <p:spPr>
          <a:xfrm>
            <a:off x="8385048" y="3054096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252B"/>
                </a:solidFill>
                <a:latin typeface="Arial"/>
              </a:rPr>
              <a:t>Features / How it works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5048" y="3346704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06772"/>
                </a:solidFill>
                <a:latin typeface="Arial"/>
              </a:rPr>
              <a:t>semantic sections with IDs</a:t>
            </a:r>
          </a:p>
        </p:txBody>
      </p:sp>
      <p:sp>
        <p:nvSpPr>
          <p:cNvPr id="32" name="Oval 31"/>
          <p:cNvSpPr/>
          <p:nvPr/>
        </p:nvSpPr>
        <p:spPr>
          <a:xfrm>
            <a:off x="7818120" y="3877056"/>
            <a:ext cx="457200" cy="457200"/>
          </a:xfrm>
          <a:prstGeom prst="ellips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hash-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7848" y="3986784"/>
            <a:ext cx="237744" cy="237744"/>
          </a:xfrm>
          <a:prstGeom prst="rect">
            <a:avLst/>
          </a:prstGeom>
          <a:effectLst/>
        </p:spPr>
      </p:pic>
      <p:sp>
        <p:nvSpPr>
          <p:cNvPr id="34" name="TextBox 33"/>
          <p:cNvSpPr txBox="1"/>
          <p:nvPr/>
        </p:nvSpPr>
        <p:spPr>
          <a:xfrm>
            <a:off x="8385048" y="384048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252B"/>
                </a:solidFill>
                <a:latin typeface="Arial"/>
              </a:rPr>
              <a:t>FAQ (CSS-only)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5048" y="4133088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06772"/>
                </a:solidFill>
                <a:latin typeface="Arial"/>
              </a:rPr>
              <a:t>accordion, no JavaScript</a:t>
            </a:r>
          </a:p>
        </p:txBody>
      </p:sp>
      <p:sp>
        <p:nvSpPr>
          <p:cNvPr id="36" name="Oval 35"/>
          <p:cNvSpPr/>
          <p:nvPr/>
        </p:nvSpPr>
        <p:spPr>
          <a:xfrm>
            <a:off x="7818120" y="4663440"/>
            <a:ext cx="457200" cy="457200"/>
          </a:xfrm>
          <a:prstGeom prst="ellipse">
            <a:avLst/>
          </a:prstGeom>
          <a:solidFill>
            <a:srgbClr val="536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edit-3-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27848" y="4773168"/>
            <a:ext cx="237744" cy="237744"/>
          </a:xfrm>
          <a:prstGeom prst="rect">
            <a:avLst/>
          </a:prstGeom>
          <a:effectLst/>
        </p:spPr>
      </p:pic>
      <p:sp>
        <p:nvSpPr>
          <p:cNvPr id="38" name="TextBox 37"/>
          <p:cNvSpPr txBox="1"/>
          <p:nvPr/>
        </p:nvSpPr>
        <p:spPr>
          <a:xfrm>
            <a:off x="8385048" y="4626864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252B"/>
                </a:solidFill>
                <a:latin typeface="Arial"/>
              </a:rPr>
              <a:t>Contact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85048" y="491947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06772"/>
                </a:solidFill>
                <a:latin typeface="Arial"/>
              </a:rPr>
              <a:t>a real, validated form</a:t>
            </a:r>
          </a:p>
        </p:txBody>
      </p:sp>
      <p:sp>
        <p:nvSpPr>
          <p:cNvPr id="40" name="Oval 39"/>
          <p:cNvSpPr/>
          <p:nvPr/>
        </p:nvSpPr>
        <p:spPr>
          <a:xfrm>
            <a:off x="7818120" y="5449824"/>
            <a:ext cx="457200" cy="457200"/>
          </a:xfrm>
          <a:prstGeom prst="ellips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Picture 40" descr="chevron-right-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27848" y="5559552"/>
            <a:ext cx="237744" cy="237744"/>
          </a:xfrm>
          <a:prstGeom prst="rect">
            <a:avLst/>
          </a:prstGeom>
          <a:effectLst/>
        </p:spPr>
      </p:pic>
      <p:sp>
        <p:nvSpPr>
          <p:cNvPr id="42" name="TextBox 41"/>
          <p:cNvSpPr txBox="1"/>
          <p:nvPr/>
        </p:nvSpPr>
        <p:spPr>
          <a:xfrm>
            <a:off x="8385048" y="5413248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252B"/>
                </a:solidFill>
                <a:latin typeface="Arial"/>
              </a:rPr>
              <a:t>Footer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85048" y="5705856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06772"/>
                </a:solidFill>
                <a:latin typeface="Arial"/>
              </a:rPr>
              <a:t>links + sitemap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246831" y="68580"/>
            <a:ext cx="548640" cy="548640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774407" y="857249"/>
            <a:ext cx="274320" cy="274320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804606" y="1117854"/>
            <a:ext cx="164592" cy="164592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37974" y="313182"/>
            <a:ext cx="128016" cy="128016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10882" y="5934456"/>
            <a:ext cx="475488" cy="475488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292316" y="5376672"/>
            <a:ext cx="219456" cy="219456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70681" y="5070348"/>
            <a:ext cx="146304" cy="146304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50568" y="116586"/>
            <a:ext cx="109728" cy="109728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1636969" y="4946904"/>
            <a:ext cx="256032" cy="256032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575212" y="6535674"/>
            <a:ext cx="164592" cy="164592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0080" y="580644"/>
            <a:ext cx="123444" cy="123444"/>
          </a:xfrm>
          <a:prstGeom prst="ellips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" y="5486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80">
                <a:solidFill>
                  <a:srgbClr val="B09F95"/>
                </a:solidFill>
                <a:latin typeface="Arial"/>
              </a:rPr>
              <a:t>03 · HTML5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822959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22252B"/>
                </a:solidFill>
                <a:latin typeface="Arial"/>
              </a:rPr>
              <a:t>The account flow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1481328"/>
            <a:ext cx="6035040" cy="37718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91440" dist="50292" dir="5400000" rotWithShape="0">
              <a:srgbClr val="22252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sign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81328"/>
            <a:ext cx="6035040" cy="3771899"/>
          </a:xfrm>
          <a:prstGeom prst="rect">
            <a:avLst/>
          </a:prstGeom>
          <a:effectLst/>
        </p:spPr>
      </p:pic>
      <p:sp>
        <p:nvSpPr>
          <p:cNvPr id="18" name="Rounded Rectangle 17"/>
          <p:cNvSpPr/>
          <p:nvPr/>
        </p:nvSpPr>
        <p:spPr>
          <a:xfrm>
            <a:off x="822959" y="1335024"/>
            <a:ext cx="1035100" cy="292608"/>
          </a:xfrm>
          <a:prstGeom prst="roundRect">
            <a:avLst>
              <a:gd name="adj" fmla="val 50000"/>
            </a:avLst>
          </a:prstGeom>
          <a:solidFill>
            <a:srgbClr val="53655C"/>
          </a:solidFill>
          <a:ln>
            <a:noFill/>
          </a:ln>
          <a:effectLst>
            <a:outerShdw blurRad="91440" dist="50292" dir="5400000" rotWithShape="0">
              <a:srgbClr val="22252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ourier New"/>
              </a:rPr>
              <a:t>signup.html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326379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A3AEB1"/>
                </a:solidFill>
                <a:latin typeface="Arial"/>
              </a:rPr>
              <a:t>One form, the right input type per field.</a:t>
            </a:r>
          </a:p>
        </p:txBody>
      </p:sp>
      <p:sp>
        <p:nvSpPr>
          <p:cNvPr id="20" name="Oval 19"/>
          <p:cNvSpPr/>
          <p:nvPr/>
        </p:nvSpPr>
        <p:spPr>
          <a:xfrm>
            <a:off x="6812280" y="1572768"/>
            <a:ext cx="402336" cy="402336"/>
          </a:xfrm>
          <a:prstGeom prst="ellipse">
            <a:avLst/>
          </a:prstGeom>
          <a:solidFill>
            <a:srgbClr val="536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chevron-right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2864" y="1673352"/>
            <a:ext cx="201168" cy="201168"/>
          </a:xfrm>
          <a:prstGeom prst="rect">
            <a:avLst/>
          </a:prstGeom>
          <a:effectLst/>
        </p:spPr>
      </p:pic>
      <p:sp>
        <p:nvSpPr>
          <p:cNvPr id="22" name="TextBox 21"/>
          <p:cNvSpPr txBox="1"/>
          <p:nvPr/>
        </p:nvSpPr>
        <p:spPr>
          <a:xfrm>
            <a:off x="7315200" y="1536192"/>
            <a:ext cx="4160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2252B"/>
                </a:solidFill>
                <a:latin typeface="Arial"/>
              </a:rPr>
              <a:t>1.  Sign 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1865376"/>
            <a:ext cx="4160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06772"/>
                </a:solidFill>
                <a:latin typeface="Arial"/>
              </a:rPr>
              <a:t>first &amp; last name, username, email, password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76872" y="2011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5E8EB"/>
                </a:solidFill>
                <a:latin typeface="Arial"/>
              </a:rPr>
              <a:t>│</a:t>
            </a:r>
          </a:p>
        </p:txBody>
      </p:sp>
      <p:sp>
        <p:nvSpPr>
          <p:cNvPr id="25" name="Oval 24"/>
          <p:cNvSpPr/>
          <p:nvPr/>
        </p:nvSpPr>
        <p:spPr>
          <a:xfrm>
            <a:off x="6812280" y="2468880"/>
            <a:ext cx="402336" cy="402336"/>
          </a:xfrm>
          <a:prstGeom prst="ellipse">
            <a:avLst/>
          </a:prstGeom>
          <a:solidFill>
            <a:srgbClr val="536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chevron-right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2864" y="2569464"/>
            <a:ext cx="201168" cy="201168"/>
          </a:xfrm>
          <a:prstGeom prst="rect">
            <a:avLst/>
          </a:prstGeom>
          <a:effectLst/>
        </p:spPr>
      </p:pic>
      <p:sp>
        <p:nvSpPr>
          <p:cNvPr id="27" name="TextBox 26"/>
          <p:cNvSpPr txBox="1"/>
          <p:nvPr/>
        </p:nvSpPr>
        <p:spPr>
          <a:xfrm>
            <a:off x="7315200" y="2432304"/>
            <a:ext cx="4160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2252B"/>
                </a:solidFill>
                <a:latin typeface="Arial"/>
              </a:rPr>
              <a:t>2.  Confirmation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2761488"/>
            <a:ext cx="4160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06772"/>
                </a:solidFill>
                <a:latin typeface="Arial"/>
              </a:rPr>
              <a:t>account created, stored on this device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76872" y="2907792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5E8EB"/>
                </a:solidFill>
                <a:latin typeface="Arial"/>
              </a:rPr>
              <a:t>│</a:t>
            </a:r>
          </a:p>
        </p:txBody>
      </p:sp>
      <p:sp>
        <p:nvSpPr>
          <p:cNvPr id="30" name="Oval 29"/>
          <p:cNvSpPr/>
          <p:nvPr/>
        </p:nvSpPr>
        <p:spPr>
          <a:xfrm>
            <a:off x="6812280" y="3364991"/>
            <a:ext cx="402336" cy="402336"/>
          </a:xfrm>
          <a:prstGeom prst="ellipse">
            <a:avLst/>
          </a:prstGeom>
          <a:solidFill>
            <a:srgbClr val="536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chevron-right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2864" y="3465575"/>
            <a:ext cx="201168" cy="201168"/>
          </a:xfrm>
          <a:prstGeom prst="rect">
            <a:avLst/>
          </a:prstGeom>
          <a:effectLst/>
        </p:spPr>
      </p:pic>
      <p:sp>
        <p:nvSpPr>
          <p:cNvPr id="32" name="TextBox 31"/>
          <p:cNvSpPr txBox="1"/>
          <p:nvPr/>
        </p:nvSpPr>
        <p:spPr>
          <a:xfrm>
            <a:off x="7315200" y="3328415"/>
            <a:ext cx="4160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2252B"/>
                </a:solidFill>
                <a:latin typeface="Arial"/>
              </a:rPr>
              <a:t>3.  Personalize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3657599"/>
            <a:ext cx="4160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06772"/>
                </a:solidFill>
                <a:latin typeface="Arial"/>
              </a:rPr>
              <a:t>the onboarding wizard sets up the workspace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76872" y="3803904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5E8EB"/>
                </a:solidFill>
                <a:latin typeface="Arial"/>
              </a:rPr>
              <a:t>│</a:t>
            </a:r>
          </a:p>
        </p:txBody>
      </p:sp>
      <p:sp>
        <p:nvSpPr>
          <p:cNvPr id="35" name="Oval 34"/>
          <p:cNvSpPr/>
          <p:nvPr/>
        </p:nvSpPr>
        <p:spPr>
          <a:xfrm>
            <a:off x="6812280" y="4261104"/>
            <a:ext cx="402336" cy="402336"/>
          </a:xfrm>
          <a:prstGeom prst="ellipse">
            <a:avLst/>
          </a:prstGeom>
          <a:solidFill>
            <a:srgbClr val="536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chevron-right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2864" y="4361688"/>
            <a:ext cx="201168" cy="201168"/>
          </a:xfrm>
          <a:prstGeom prst="rect">
            <a:avLst/>
          </a:prstGeom>
          <a:effectLst/>
        </p:spPr>
      </p:pic>
      <p:sp>
        <p:nvSpPr>
          <p:cNvPr id="37" name="TextBox 36"/>
          <p:cNvSpPr txBox="1"/>
          <p:nvPr/>
        </p:nvSpPr>
        <p:spPr>
          <a:xfrm>
            <a:off x="7315200" y="4224528"/>
            <a:ext cx="4160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2252B"/>
                </a:solidFill>
                <a:latin typeface="Arial"/>
              </a:rPr>
              <a:t>4.  Dashboard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4553712"/>
            <a:ext cx="4160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06772"/>
                </a:solidFill>
                <a:latin typeface="Arial"/>
              </a:rPr>
              <a:t>the populated product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12280" y="5440680"/>
            <a:ext cx="47091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>
                <a:solidFill>
                  <a:srgbClr val="606772"/>
                </a:solidFill>
                <a:latin typeface="Arial"/>
              </a:rPr>
              <a:t>Input types — text, email, password — give the right keyboard and the browser's first check.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246831" y="68580"/>
            <a:ext cx="548640" cy="548640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774407" y="857249"/>
            <a:ext cx="274320" cy="274320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804606" y="1117854"/>
            <a:ext cx="164592" cy="164592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37974" y="313182"/>
            <a:ext cx="128016" cy="128016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10882" y="5934456"/>
            <a:ext cx="475488" cy="475488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292316" y="5376672"/>
            <a:ext cx="219456" cy="219456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70681" y="5070348"/>
            <a:ext cx="146304" cy="146304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50568" y="116586"/>
            <a:ext cx="109728" cy="109728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1636969" y="4946904"/>
            <a:ext cx="256032" cy="256032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575212" y="6535674"/>
            <a:ext cx="164592" cy="164592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0080" y="580644"/>
            <a:ext cx="123444" cy="123444"/>
          </a:xfrm>
          <a:prstGeom prst="ellips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" y="5486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80">
                <a:solidFill>
                  <a:srgbClr val="B09F95"/>
                </a:solidFill>
                <a:latin typeface="Arial"/>
              </a:rPr>
              <a:t>03 · HTML5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822959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22252B"/>
                </a:solidFill>
                <a:latin typeface="Arial"/>
              </a:rPr>
              <a:t>Personalization: building the workspace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1481328"/>
            <a:ext cx="5943600" cy="371475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91440" dist="50292" dir="5400000" rotWithShape="0">
              <a:srgbClr val="22252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onboar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81328"/>
            <a:ext cx="5943600" cy="3714750"/>
          </a:xfrm>
          <a:prstGeom prst="rect">
            <a:avLst/>
          </a:prstGeom>
          <a:effectLst/>
        </p:spPr>
      </p:pic>
      <p:sp>
        <p:nvSpPr>
          <p:cNvPr id="18" name="TextBox 17"/>
          <p:cNvSpPr txBox="1"/>
          <p:nvPr/>
        </p:nvSpPr>
        <p:spPr>
          <a:xfrm>
            <a:off x="640080" y="507492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A3AEB1"/>
                </a:solidFill>
                <a:latin typeface="Arial"/>
              </a:rPr>
              <a:t>app/onboarding.html — a six-step wizard of HTML form controls.</a:t>
            </a:r>
          </a:p>
        </p:txBody>
      </p:sp>
      <p:sp>
        <p:nvSpPr>
          <p:cNvPr id="19" name="Oval 18"/>
          <p:cNvSpPr/>
          <p:nvPr/>
        </p:nvSpPr>
        <p:spPr>
          <a:xfrm>
            <a:off x="6720840" y="1517904"/>
            <a:ext cx="457200" cy="457200"/>
          </a:xfrm>
          <a:prstGeom prst="ellipse">
            <a:avLst/>
          </a:prstGeom>
          <a:solidFill>
            <a:srgbClr val="536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user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0568" y="1627631"/>
            <a:ext cx="237744" cy="237744"/>
          </a:xfrm>
          <a:prstGeom prst="rect">
            <a:avLst/>
          </a:prstGeom>
          <a:effectLst/>
        </p:spPr>
      </p:pic>
      <p:sp>
        <p:nvSpPr>
          <p:cNvPr id="21" name="TextBox 20"/>
          <p:cNvSpPr txBox="1"/>
          <p:nvPr/>
        </p:nvSpPr>
        <p:spPr>
          <a:xfrm>
            <a:off x="7315200" y="1481328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2252B"/>
                </a:solidFill>
                <a:latin typeface="Arial"/>
              </a:rPr>
              <a:t>Profile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1792224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06772"/>
                </a:solidFill>
                <a:latin typeface="Arial"/>
              </a:rPr>
              <a:t>avatar illustration or initials</a:t>
            </a:r>
          </a:p>
        </p:txBody>
      </p:sp>
      <p:sp>
        <p:nvSpPr>
          <p:cNvPr id="23" name="Oval 22"/>
          <p:cNvSpPr/>
          <p:nvPr/>
        </p:nvSpPr>
        <p:spPr>
          <a:xfrm>
            <a:off x="6720840" y="2340864"/>
            <a:ext cx="457200" cy="457200"/>
          </a:xfrm>
          <a:prstGeom prst="ellips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book-open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0568" y="2450592"/>
            <a:ext cx="237744" cy="237744"/>
          </a:xfrm>
          <a:prstGeom prst="rect">
            <a:avLst/>
          </a:prstGeom>
          <a:effectLst/>
        </p:spPr>
      </p:pic>
      <p:sp>
        <p:nvSpPr>
          <p:cNvPr id="25" name="TextBox 24"/>
          <p:cNvSpPr txBox="1"/>
          <p:nvPr/>
        </p:nvSpPr>
        <p:spPr>
          <a:xfrm>
            <a:off x="7315200" y="2304288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2252B"/>
                </a:solidFill>
                <a:latin typeface="Arial"/>
              </a:rPr>
              <a:t>Academic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2615184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06772"/>
                </a:solidFill>
                <a:latin typeface="Arial"/>
              </a:rPr>
              <a:t>program + semester</a:t>
            </a:r>
          </a:p>
        </p:txBody>
      </p:sp>
      <p:sp>
        <p:nvSpPr>
          <p:cNvPr id="27" name="Oval 26"/>
          <p:cNvSpPr/>
          <p:nvPr/>
        </p:nvSpPr>
        <p:spPr>
          <a:xfrm>
            <a:off x="6720840" y="3163824"/>
            <a:ext cx="457200" cy="457200"/>
          </a:xfrm>
          <a:prstGeom prst="ellipse">
            <a:avLst/>
          </a:prstGeom>
          <a:solidFill>
            <a:srgbClr val="536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layers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0568" y="3273552"/>
            <a:ext cx="237744" cy="237744"/>
          </a:xfrm>
          <a:prstGeom prst="rect">
            <a:avLst/>
          </a:prstGeom>
          <a:effectLst/>
        </p:spPr>
      </p:pic>
      <p:sp>
        <p:nvSpPr>
          <p:cNvPr id="29" name="TextBox 28"/>
          <p:cNvSpPr txBox="1"/>
          <p:nvPr/>
        </p:nvSpPr>
        <p:spPr>
          <a:xfrm>
            <a:off x="7315200" y="3127248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2252B"/>
                </a:solidFill>
                <a:latin typeface="Arial"/>
              </a:rPr>
              <a:t>Subjects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3438144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06772"/>
                </a:solidFill>
                <a:latin typeface="Arial"/>
              </a:rPr>
              <a:t>name, credits, track attendance?</a:t>
            </a:r>
          </a:p>
        </p:txBody>
      </p:sp>
      <p:sp>
        <p:nvSpPr>
          <p:cNvPr id="31" name="Oval 30"/>
          <p:cNvSpPr/>
          <p:nvPr/>
        </p:nvSpPr>
        <p:spPr>
          <a:xfrm>
            <a:off x="6720840" y="3986784"/>
            <a:ext cx="457200" cy="457200"/>
          </a:xfrm>
          <a:prstGeom prst="ellips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percent-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30568" y="4096512"/>
            <a:ext cx="237744" cy="237744"/>
          </a:xfrm>
          <a:prstGeom prst="rect">
            <a:avLst/>
          </a:prstGeom>
          <a:effectLst/>
        </p:spPr>
      </p:pic>
      <p:sp>
        <p:nvSpPr>
          <p:cNvPr id="33" name="TextBox 32"/>
          <p:cNvSpPr txBox="1"/>
          <p:nvPr/>
        </p:nvSpPr>
        <p:spPr>
          <a:xfrm>
            <a:off x="7315200" y="3950208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2252B"/>
                </a:solidFill>
                <a:latin typeface="Arial"/>
              </a:rPr>
              <a:t>Attendance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4261104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06772"/>
                </a:solidFill>
                <a:latin typeface="Arial"/>
              </a:rPr>
              <a:t>target percentage</a:t>
            </a:r>
          </a:p>
        </p:txBody>
      </p:sp>
      <p:sp>
        <p:nvSpPr>
          <p:cNvPr id="35" name="Oval 34"/>
          <p:cNvSpPr/>
          <p:nvPr/>
        </p:nvSpPr>
        <p:spPr>
          <a:xfrm>
            <a:off x="6720840" y="4809744"/>
            <a:ext cx="457200" cy="457200"/>
          </a:xfrm>
          <a:prstGeom prst="ellipse">
            <a:avLst/>
          </a:prstGeom>
          <a:solidFill>
            <a:srgbClr val="536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eye-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30568" y="4919472"/>
            <a:ext cx="237744" cy="237744"/>
          </a:xfrm>
          <a:prstGeom prst="rect">
            <a:avLst/>
          </a:prstGeom>
          <a:effectLst/>
        </p:spPr>
      </p:pic>
      <p:sp>
        <p:nvSpPr>
          <p:cNvPr id="37" name="TextBox 36"/>
          <p:cNvSpPr txBox="1"/>
          <p:nvPr/>
        </p:nvSpPr>
        <p:spPr>
          <a:xfrm>
            <a:off x="7315200" y="4773168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2252B"/>
                </a:solidFill>
                <a:latin typeface="Arial"/>
              </a:rPr>
              <a:t>Appearance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5084064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06772"/>
                </a:solidFill>
                <a:latin typeface="Arial"/>
              </a:rPr>
              <a:t>light or dark theme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246831" y="68580"/>
            <a:ext cx="548640" cy="548640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774407" y="857249"/>
            <a:ext cx="274320" cy="274320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804606" y="1117854"/>
            <a:ext cx="164592" cy="164592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37974" y="313182"/>
            <a:ext cx="128016" cy="128016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10882" y="5934456"/>
            <a:ext cx="475488" cy="475488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292316" y="5376672"/>
            <a:ext cx="219456" cy="219456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70681" y="5070348"/>
            <a:ext cx="146304" cy="146304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50568" y="116586"/>
            <a:ext cx="109728" cy="109728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1636969" y="4946904"/>
            <a:ext cx="256032" cy="256032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575212" y="6535674"/>
            <a:ext cx="164592" cy="164592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0080" y="580644"/>
            <a:ext cx="123444" cy="123444"/>
          </a:xfrm>
          <a:prstGeom prst="ellips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" y="5486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80">
                <a:solidFill>
                  <a:srgbClr val="B09F95"/>
                </a:solidFill>
                <a:latin typeface="Arial"/>
              </a:rPr>
              <a:t>03 · HTML5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822959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22252B"/>
                </a:solidFill>
                <a:latin typeface="Arial"/>
              </a:rPr>
              <a:t>Feature walkthrough — Productivity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1810512"/>
            <a:ext cx="3566160" cy="222885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91440" dist="50292" dir="5400000" rotWithShape="0">
              <a:srgbClr val="22252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tas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810512"/>
            <a:ext cx="3566160" cy="2228850"/>
          </a:xfrm>
          <a:prstGeom prst="rect">
            <a:avLst/>
          </a:prstGeom>
          <a:effectLst/>
        </p:spPr>
      </p:pic>
      <p:sp>
        <p:nvSpPr>
          <p:cNvPr id="18" name="Rounded Rectangle 17"/>
          <p:cNvSpPr/>
          <p:nvPr/>
        </p:nvSpPr>
        <p:spPr>
          <a:xfrm>
            <a:off x="822959" y="1664208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53655C"/>
          </a:solidFill>
          <a:ln>
            <a:noFill/>
          </a:ln>
          <a:effectLst>
            <a:outerShdw blurRad="91440" dist="50292" dir="5400000" rotWithShape="0">
              <a:srgbClr val="22252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ourier New"/>
              </a:rPr>
              <a:t>tasks.html</a:t>
            </a:r>
          </a:p>
        </p:txBody>
      </p:sp>
      <p:sp>
        <p:nvSpPr>
          <p:cNvPr id="19" name="Oval 18"/>
          <p:cNvSpPr/>
          <p:nvPr/>
        </p:nvSpPr>
        <p:spPr>
          <a:xfrm>
            <a:off x="685800" y="4149090"/>
            <a:ext cx="420624" cy="420624"/>
          </a:xfrm>
          <a:prstGeom prst="ellipse">
            <a:avLst/>
          </a:prstGeom>
          <a:solidFill>
            <a:srgbClr val="536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check-square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749" y="4250039"/>
            <a:ext cx="218724" cy="218724"/>
          </a:xfrm>
          <a:prstGeom prst="rect">
            <a:avLst/>
          </a:prstGeom>
          <a:effectLst/>
        </p:spPr>
      </p:pic>
      <p:sp>
        <p:nvSpPr>
          <p:cNvPr id="21" name="TextBox 20"/>
          <p:cNvSpPr txBox="1"/>
          <p:nvPr/>
        </p:nvSpPr>
        <p:spPr>
          <a:xfrm>
            <a:off x="1197864" y="4121658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2252B"/>
                </a:solidFill>
                <a:latin typeface="Arial"/>
              </a:rPr>
              <a:t>Tasks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588002"/>
            <a:ext cx="3566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606772"/>
                </a:solidFill>
                <a:latin typeface="Arial"/>
              </a:rPr>
              <a:t>Create, prioritise, complete — filtered by today / upcoming / overdue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12767" y="1810512"/>
            <a:ext cx="3566160" cy="23526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91440" dist="50292" dir="5400000" rotWithShape="0">
              <a:srgbClr val="22252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calen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2767" y="1810512"/>
            <a:ext cx="3566160" cy="2352675"/>
          </a:xfrm>
          <a:prstGeom prst="rect">
            <a:avLst/>
          </a:prstGeom>
          <a:effectLst/>
        </p:spPr>
      </p:pic>
      <p:sp>
        <p:nvSpPr>
          <p:cNvPr id="25" name="Rounded Rectangle 24"/>
          <p:cNvSpPr/>
          <p:nvPr/>
        </p:nvSpPr>
        <p:spPr>
          <a:xfrm>
            <a:off x="4495647" y="1664208"/>
            <a:ext cx="1166774" cy="292608"/>
          </a:xfrm>
          <a:prstGeom prst="roundRect">
            <a:avLst>
              <a:gd name="adj" fmla="val 50000"/>
            </a:avLst>
          </a:prstGeom>
          <a:solidFill>
            <a:srgbClr val="B09F95"/>
          </a:solidFill>
          <a:ln>
            <a:noFill/>
          </a:ln>
          <a:effectLst>
            <a:outerShdw blurRad="91440" dist="50292" dir="5400000" rotWithShape="0">
              <a:srgbClr val="22252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ourier New"/>
              </a:rPr>
              <a:t>calendar.html</a:t>
            </a:r>
          </a:p>
        </p:txBody>
      </p:sp>
      <p:sp>
        <p:nvSpPr>
          <p:cNvPr id="26" name="Oval 25"/>
          <p:cNvSpPr/>
          <p:nvPr/>
        </p:nvSpPr>
        <p:spPr>
          <a:xfrm>
            <a:off x="4358487" y="4272915"/>
            <a:ext cx="420624" cy="420624"/>
          </a:xfrm>
          <a:prstGeom prst="ellips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calendar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9437" y="4373864"/>
            <a:ext cx="218724" cy="218724"/>
          </a:xfrm>
          <a:prstGeom prst="rect">
            <a:avLst/>
          </a:prstGeom>
          <a:effectLst/>
        </p:spPr>
      </p:pic>
      <p:sp>
        <p:nvSpPr>
          <p:cNvPr id="28" name="TextBox 27"/>
          <p:cNvSpPr txBox="1"/>
          <p:nvPr/>
        </p:nvSpPr>
        <p:spPr>
          <a:xfrm>
            <a:off x="4870551" y="4245483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2252B"/>
                </a:solidFill>
                <a:latin typeface="Arial"/>
              </a:rPr>
              <a:t>Calendar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12767" y="4711826"/>
            <a:ext cx="3566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606772"/>
                </a:solidFill>
                <a:latin typeface="Arial"/>
              </a:rPr>
              <a:t>Every deadline on one timeline; click a day to see what's due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85455" y="1810512"/>
            <a:ext cx="3566160" cy="222885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91440" dist="50292" dir="5400000" rotWithShape="0">
              <a:srgbClr val="22252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not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85455" y="1810512"/>
            <a:ext cx="3566160" cy="2228850"/>
          </a:xfrm>
          <a:prstGeom prst="rect">
            <a:avLst/>
          </a:prstGeom>
          <a:effectLst/>
        </p:spPr>
      </p:pic>
      <p:sp>
        <p:nvSpPr>
          <p:cNvPr id="32" name="Rounded Rectangle 31"/>
          <p:cNvSpPr/>
          <p:nvPr/>
        </p:nvSpPr>
        <p:spPr>
          <a:xfrm>
            <a:off x="8168335" y="1664208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53655C"/>
          </a:solidFill>
          <a:ln>
            <a:noFill/>
          </a:ln>
          <a:effectLst>
            <a:outerShdw blurRad="91440" dist="50292" dir="5400000" rotWithShape="0">
              <a:srgbClr val="22252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ourier New"/>
              </a:rPr>
              <a:t>notes.html</a:t>
            </a:r>
          </a:p>
        </p:txBody>
      </p:sp>
      <p:sp>
        <p:nvSpPr>
          <p:cNvPr id="33" name="Oval 32"/>
          <p:cNvSpPr/>
          <p:nvPr/>
        </p:nvSpPr>
        <p:spPr>
          <a:xfrm>
            <a:off x="8031175" y="4149090"/>
            <a:ext cx="420624" cy="420624"/>
          </a:xfrm>
          <a:prstGeom prst="ellipse">
            <a:avLst/>
          </a:prstGeom>
          <a:solidFill>
            <a:srgbClr val="536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feather-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32124" y="4250039"/>
            <a:ext cx="218724" cy="218724"/>
          </a:xfrm>
          <a:prstGeom prst="rect">
            <a:avLst/>
          </a:prstGeom>
          <a:effectLst/>
        </p:spPr>
      </p:pic>
      <p:sp>
        <p:nvSpPr>
          <p:cNvPr id="35" name="TextBox 34"/>
          <p:cNvSpPr txBox="1"/>
          <p:nvPr/>
        </p:nvSpPr>
        <p:spPr>
          <a:xfrm>
            <a:off x="8543239" y="4121658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2252B"/>
                </a:solidFill>
                <a:latin typeface="Arial"/>
              </a:rPr>
              <a:t>Quick Notes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85455" y="4588002"/>
            <a:ext cx="3566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606772"/>
                </a:solidFill>
                <a:latin typeface="Arial"/>
              </a:rPr>
              <a:t>Jot lecture notes as cards, tagged by subject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053328"/>
            <a:ext cx="1091153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1">
                <a:solidFill>
                  <a:srgbClr val="A3AEB1"/>
                </a:solidFill>
                <a:latin typeface="Arial"/>
              </a:rPr>
              <a:t>Structured HTML — lists, cards, forms and controls — gives each feature its shape.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246831" y="68580"/>
            <a:ext cx="548640" cy="548640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774407" y="857249"/>
            <a:ext cx="274320" cy="274320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804606" y="1117854"/>
            <a:ext cx="164592" cy="164592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37974" y="313182"/>
            <a:ext cx="128016" cy="128016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10882" y="5934456"/>
            <a:ext cx="475488" cy="475488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292316" y="5376672"/>
            <a:ext cx="219456" cy="219456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70681" y="5070348"/>
            <a:ext cx="146304" cy="146304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50568" y="116586"/>
            <a:ext cx="109728" cy="109728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1636969" y="4946904"/>
            <a:ext cx="256032" cy="256032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575212" y="6535674"/>
            <a:ext cx="164592" cy="164592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0080" y="580644"/>
            <a:ext cx="123444" cy="123444"/>
          </a:xfrm>
          <a:prstGeom prst="ellips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" y="5486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80">
                <a:solidFill>
                  <a:srgbClr val="B09F95"/>
                </a:solidFill>
                <a:latin typeface="Arial"/>
              </a:rPr>
              <a:t>03 · HTML5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822959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22252B"/>
                </a:solidFill>
                <a:latin typeface="Arial"/>
              </a:rPr>
              <a:t>Feature walkthrough — Academic tools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1810512"/>
            <a:ext cx="3566160" cy="222885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91440" dist="50292" dir="5400000" rotWithShape="0">
              <a:srgbClr val="22252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time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810512"/>
            <a:ext cx="3566160" cy="2228850"/>
          </a:xfrm>
          <a:prstGeom prst="rect">
            <a:avLst/>
          </a:prstGeom>
          <a:effectLst/>
        </p:spPr>
      </p:pic>
      <p:sp>
        <p:nvSpPr>
          <p:cNvPr id="18" name="Rounded Rectangle 17"/>
          <p:cNvSpPr/>
          <p:nvPr/>
        </p:nvSpPr>
        <p:spPr>
          <a:xfrm>
            <a:off x="822959" y="1664208"/>
            <a:ext cx="1232611" cy="292608"/>
          </a:xfrm>
          <a:prstGeom prst="roundRect">
            <a:avLst>
              <a:gd name="adj" fmla="val 50000"/>
            </a:avLst>
          </a:prstGeom>
          <a:solidFill>
            <a:srgbClr val="53655C"/>
          </a:solidFill>
          <a:ln>
            <a:noFill/>
          </a:ln>
          <a:effectLst>
            <a:outerShdw blurRad="91440" dist="50292" dir="5400000" rotWithShape="0">
              <a:srgbClr val="22252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ourier New"/>
              </a:rPr>
              <a:t>timetable.html</a:t>
            </a:r>
          </a:p>
        </p:txBody>
      </p:sp>
      <p:sp>
        <p:nvSpPr>
          <p:cNvPr id="19" name="Oval 18"/>
          <p:cNvSpPr/>
          <p:nvPr/>
        </p:nvSpPr>
        <p:spPr>
          <a:xfrm>
            <a:off x="685800" y="4149090"/>
            <a:ext cx="420624" cy="420624"/>
          </a:xfrm>
          <a:prstGeom prst="ellipse">
            <a:avLst/>
          </a:prstGeom>
          <a:solidFill>
            <a:srgbClr val="536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grid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749" y="4250039"/>
            <a:ext cx="218724" cy="218724"/>
          </a:xfrm>
          <a:prstGeom prst="rect">
            <a:avLst/>
          </a:prstGeom>
          <a:effectLst/>
        </p:spPr>
      </p:pic>
      <p:sp>
        <p:nvSpPr>
          <p:cNvPr id="21" name="TextBox 20"/>
          <p:cNvSpPr txBox="1"/>
          <p:nvPr/>
        </p:nvSpPr>
        <p:spPr>
          <a:xfrm>
            <a:off x="1197864" y="4121658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2252B"/>
                </a:solidFill>
                <a:latin typeface="Arial"/>
              </a:rPr>
              <a:t>Timetable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588002"/>
            <a:ext cx="3566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606772"/>
                </a:solidFill>
                <a:latin typeface="Arial"/>
              </a:rPr>
              <a:t>Your week of classes as an editable grid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12767" y="1810512"/>
            <a:ext cx="3566160" cy="222885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91440" dist="50292" dir="5400000" rotWithShape="0">
              <a:srgbClr val="22252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attenda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2767" y="1810512"/>
            <a:ext cx="3566160" cy="2228850"/>
          </a:xfrm>
          <a:prstGeom prst="rect">
            <a:avLst/>
          </a:prstGeom>
          <a:effectLst/>
        </p:spPr>
      </p:pic>
      <p:sp>
        <p:nvSpPr>
          <p:cNvPr id="25" name="Rounded Rectangle 24"/>
          <p:cNvSpPr/>
          <p:nvPr/>
        </p:nvSpPr>
        <p:spPr>
          <a:xfrm>
            <a:off x="4495647" y="1664208"/>
            <a:ext cx="1298448" cy="292608"/>
          </a:xfrm>
          <a:prstGeom prst="roundRect">
            <a:avLst>
              <a:gd name="adj" fmla="val 50000"/>
            </a:avLst>
          </a:prstGeom>
          <a:solidFill>
            <a:srgbClr val="B09F95"/>
          </a:solidFill>
          <a:ln>
            <a:noFill/>
          </a:ln>
          <a:effectLst>
            <a:outerShdw blurRad="91440" dist="50292" dir="5400000" rotWithShape="0">
              <a:srgbClr val="22252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ourier New"/>
              </a:rPr>
              <a:t>attendance.html</a:t>
            </a:r>
          </a:p>
        </p:txBody>
      </p:sp>
      <p:sp>
        <p:nvSpPr>
          <p:cNvPr id="26" name="Oval 25"/>
          <p:cNvSpPr/>
          <p:nvPr/>
        </p:nvSpPr>
        <p:spPr>
          <a:xfrm>
            <a:off x="4358487" y="4149090"/>
            <a:ext cx="420624" cy="420624"/>
          </a:xfrm>
          <a:prstGeom prst="ellips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percent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9437" y="4250039"/>
            <a:ext cx="218724" cy="218724"/>
          </a:xfrm>
          <a:prstGeom prst="rect">
            <a:avLst/>
          </a:prstGeom>
          <a:effectLst/>
        </p:spPr>
      </p:pic>
      <p:sp>
        <p:nvSpPr>
          <p:cNvPr id="28" name="TextBox 27"/>
          <p:cNvSpPr txBox="1"/>
          <p:nvPr/>
        </p:nvSpPr>
        <p:spPr>
          <a:xfrm>
            <a:off x="4870551" y="4121658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2252B"/>
                </a:solidFill>
                <a:latin typeface="Arial"/>
              </a:rPr>
              <a:t>Attendance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12767" y="4588002"/>
            <a:ext cx="3566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606772"/>
                </a:solidFill>
                <a:latin typeface="Arial"/>
              </a:rPr>
              <a:t>How many classes you can still miss, per subject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85455" y="1810512"/>
            <a:ext cx="3566160" cy="222885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91440" dist="50292" dir="5400000" rotWithShape="0">
              <a:srgbClr val="22252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cgp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85455" y="1810512"/>
            <a:ext cx="3566160" cy="2228850"/>
          </a:xfrm>
          <a:prstGeom prst="rect">
            <a:avLst/>
          </a:prstGeom>
          <a:effectLst/>
        </p:spPr>
      </p:pic>
      <p:sp>
        <p:nvSpPr>
          <p:cNvPr id="32" name="Rounded Rectangle 31"/>
          <p:cNvSpPr/>
          <p:nvPr/>
        </p:nvSpPr>
        <p:spPr>
          <a:xfrm>
            <a:off x="8168335" y="1664208"/>
            <a:ext cx="903427" cy="292608"/>
          </a:xfrm>
          <a:prstGeom prst="roundRect">
            <a:avLst>
              <a:gd name="adj" fmla="val 50000"/>
            </a:avLst>
          </a:prstGeom>
          <a:solidFill>
            <a:srgbClr val="53655C"/>
          </a:solidFill>
          <a:ln>
            <a:noFill/>
          </a:ln>
          <a:effectLst>
            <a:outerShdw blurRad="91440" dist="50292" dir="5400000" rotWithShape="0">
              <a:srgbClr val="22252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ourier New"/>
              </a:rPr>
              <a:t>cgpa.html</a:t>
            </a:r>
          </a:p>
        </p:txBody>
      </p:sp>
      <p:sp>
        <p:nvSpPr>
          <p:cNvPr id="33" name="Oval 32"/>
          <p:cNvSpPr/>
          <p:nvPr/>
        </p:nvSpPr>
        <p:spPr>
          <a:xfrm>
            <a:off x="8031175" y="4149090"/>
            <a:ext cx="420624" cy="420624"/>
          </a:xfrm>
          <a:prstGeom prst="ellipse">
            <a:avLst/>
          </a:prstGeom>
          <a:solidFill>
            <a:srgbClr val="536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trending-up-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32124" y="4250039"/>
            <a:ext cx="218724" cy="218724"/>
          </a:xfrm>
          <a:prstGeom prst="rect">
            <a:avLst/>
          </a:prstGeom>
          <a:effectLst/>
        </p:spPr>
      </p:pic>
      <p:sp>
        <p:nvSpPr>
          <p:cNvPr id="35" name="TextBox 34"/>
          <p:cNvSpPr txBox="1"/>
          <p:nvPr/>
        </p:nvSpPr>
        <p:spPr>
          <a:xfrm>
            <a:off x="8543239" y="4121658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2252B"/>
                </a:solidFill>
                <a:latin typeface="Arial"/>
              </a:rPr>
              <a:t>CGPA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85455" y="4588002"/>
            <a:ext cx="3566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606772"/>
                </a:solidFill>
                <a:latin typeface="Arial"/>
              </a:rPr>
              <a:t>Live 10-point GPA as you enter credits and grades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053328"/>
            <a:ext cx="1091153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1">
                <a:solidFill>
                  <a:srgbClr val="A3AEB1"/>
                </a:solidFill>
                <a:latin typeface="Arial"/>
              </a:rPr>
              <a:t>Cards, labels, form controls and chart containers structure the academic data.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246831" y="68580"/>
            <a:ext cx="548640" cy="548640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774407" y="857249"/>
            <a:ext cx="274320" cy="274320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804606" y="1117854"/>
            <a:ext cx="164592" cy="164592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37974" y="313182"/>
            <a:ext cx="128016" cy="128016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10882" y="5934456"/>
            <a:ext cx="475488" cy="475488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292316" y="5376672"/>
            <a:ext cx="219456" cy="219456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70681" y="5070348"/>
            <a:ext cx="146304" cy="146304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50568" y="116586"/>
            <a:ext cx="109728" cy="109728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1636969" y="4946904"/>
            <a:ext cx="256032" cy="256032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575212" y="6535674"/>
            <a:ext cx="164592" cy="164592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0080" y="580644"/>
            <a:ext cx="123444" cy="123444"/>
          </a:xfrm>
          <a:prstGeom prst="ellips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" y="5486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80">
                <a:solidFill>
                  <a:srgbClr val="B09F95"/>
                </a:solidFill>
                <a:latin typeface="Arial"/>
              </a:rPr>
              <a:t>03 · HTML5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822959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22252B"/>
                </a:solidFill>
                <a:latin typeface="Arial"/>
              </a:rPr>
              <a:t>Feature walkthrough — Progress &amp; account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1810512"/>
            <a:ext cx="3566160" cy="222885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91440" dist="50292" dir="5400000" rotWithShape="0">
              <a:srgbClr val="22252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achievem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810512"/>
            <a:ext cx="3566160" cy="2228850"/>
          </a:xfrm>
          <a:prstGeom prst="rect">
            <a:avLst/>
          </a:prstGeom>
          <a:effectLst/>
        </p:spPr>
      </p:pic>
      <p:sp>
        <p:nvSpPr>
          <p:cNvPr id="18" name="Rounded Rectangle 17"/>
          <p:cNvSpPr/>
          <p:nvPr/>
        </p:nvSpPr>
        <p:spPr>
          <a:xfrm>
            <a:off x="822959" y="1664208"/>
            <a:ext cx="1430121" cy="292608"/>
          </a:xfrm>
          <a:prstGeom prst="roundRect">
            <a:avLst>
              <a:gd name="adj" fmla="val 50000"/>
            </a:avLst>
          </a:prstGeom>
          <a:solidFill>
            <a:srgbClr val="53655C"/>
          </a:solidFill>
          <a:ln>
            <a:noFill/>
          </a:ln>
          <a:effectLst>
            <a:outerShdw blurRad="91440" dist="50292" dir="5400000" rotWithShape="0">
              <a:srgbClr val="22252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ourier New"/>
              </a:rPr>
              <a:t>achievements.html</a:t>
            </a:r>
          </a:p>
        </p:txBody>
      </p:sp>
      <p:sp>
        <p:nvSpPr>
          <p:cNvPr id="19" name="Oval 18"/>
          <p:cNvSpPr/>
          <p:nvPr/>
        </p:nvSpPr>
        <p:spPr>
          <a:xfrm>
            <a:off x="685800" y="4149090"/>
            <a:ext cx="420624" cy="420624"/>
          </a:xfrm>
          <a:prstGeom prst="ellipse">
            <a:avLst/>
          </a:prstGeom>
          <a:solidFill>
            <a:srgbClr val="536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award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749" y="4250039"/>
            <a:ext cx="218724" cy="218724"/>
          </a:xfrm>
          <a:prstGeom prst="rect">
            <a:avLst/>
          </a:prstGeom>
          <a:effectLst/>
        </p:spPr>
      </p:pic>
      <p:sp>
        <p:nvSpPr>
          <p:cNvPr id="21" name="TextBox 20"/>
          <p:cNvSpPr txBox="1"/>
          <p:nvPr/>
        </p:nvSpPr>
        <p:spPr>
          <a:xfrm>
            <a:off x="1197864" y="4121658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2252B"/>
                </a:solidFill>
                <a:latin typeface="Arial"/>
              </a:rPr>
              <a:t>Achievements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588002"/>
            <a:ext cx="3566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606772"/>
                </a:solidFill>
                <a:latin typeface="Arial"/>
              </a:rPr>
              <a:t>Small wins unlock as you actually use Synora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12767" y="1810512"/>
            <a:ext cx="3566160" cy="222885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91440" dist="50292" dir="5400000" rotWithShape="0">
              <a:srgbClr val="22252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notificati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2767" y="1810512"/>
            <a:ext cx="3566160" cy="2228850"/>
          </a:xfrm>
          <a:prstGeom prst="rect">
            <a:avLst/>
          </a:prstGeom>
          <a:effectLst/>
        </p:spPr>
      </p:pic>
      <p:sp>
        <p:nvSpPr>
          <p:cNvPr id="25" name="Rounded Rectangle 24"/>
          <p:cNvSpPr/>
          <p:nvPr/>
        </p:nvSpPr>
        <p:spPr>
          <a:xfrm>
            <a:off x="4495647" y="1664208"/>
            <a:ext cx="1495958" cy="292608"/>
          </a:xfrm>
          <a:prstGeom prst="roundRect">
            <a:avLst>
              <a:gd name="adj" fmla="val 50000"/>
            </a:avLst>
          </a:prstGeom>
          <a:solidFill>
            <a:srgbClr val="B09F95"/>
          </a:solidFill>
          <a:ln>
            <a:noFill/>
          </a:ln>
          <a:effectLst>
            <a:outerShdw blurRad="91440" dist="50292" dir="5400000" rotWithShape="0">
              <a:srgbClr val="22252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ourier New"/>
              </a:rPr>
              <a:t>notifications.html</a:t>
            </a:r>
          </a:p>
        </p:txBody>
      </p:sp>
      <p:sp>
        <p:nvSpPr>
          <p:cNvPr id="26" name="Oval 25"/>
          <p:cNvSpPr/>
          <p:nvPr/>
        </p:nvSpPr>
        <p:spPr>
          <a:xfrm>
            <a:off x="4358487" y="4149090"/>
            <a:ext cx="420624" cy="420624"/>
          </a:xfrm>
          <a:prstGeom prst="ellips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bell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9437" y="4250039"/>
            <a:ext cx="218724" cy="218724"/>
          </a:xfrm>
          <a:prstGeom prst="rect">
            <a:avLst/>
          </a:prstGeom>
          <a:effectLst/>
        </p:spPr>
      </p:pic>
      <p:sp>
        <p:nvSpPr>
          <p:cNvPr id="28" name="TextBox 27"/>
          <p:cNvSpPr txBox="1"/>
          <p:nvPr/>
        </p:nvSpPr>
        <p:spPr>
          <a:xfrm>
            <a:off x="4870551" y="4121658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2252B"/>
                </a:solidFill>
                <a:latin typeface="Arial"/>
              </a:rPr>
              <a:t>Notifications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12767" y="4588002"/>
            <a:ext cx="3566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606772"/>
                </a:solidFill>
                <a:latin typeface="Arial"/>
              </a:rPr>
              <a:t>Deadlines, attendance warnings and unlocks in one place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85455" y="1810512"/>
            <a:ext cx="3566160" cy="222885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91440" dist="50292" dir="5400000" rotWithShape="0">
              <a:srgbClr val="22252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setting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85455" y="1810512"/>
            <a:ext cx="3566160" cy="2228850"/>
          </a:xfrm>
          <a:prstGeom prst="rect">
            <a:avLst/>
          </a:prstGeom>
          <a:effectLst/>
        </p:spPr>
      </p:pic>
      <p:sp>
        <p:nvSpPr>
          <p:cNvPr id="32" name="Rounded Rectangle 31"/>
          <p:cNvSpPr/>
          <p:nvPr/>
        </p:nvSpPr>
        <p:spPr>
          <a:xfrm>
            <a:off x="8168335" y="1664208"/>
            <a:ext cx="1166774" cy="292608"/>
          </a:xfrm>
          <a:prstGeom prst="roundRect">
            <a:avLst>
              <a:gd name="adj" fmla="val 50000"/>
            </a:avLst>
          </a:prstGeom>
          <a:solidFill>
            <a:srgbClr val="53655C"/>
          </a:solidFill>
          <a:ln>
            <a:noFill/>
          </a:ln>
          <a:effectLst>
            <a:outerShdw blurRad="91440" dist="50292" dir="5400000" rotWithShape="0">
              <a:srgbClr val="22252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ourier New"/>
              </a:rPr>
              <a:t>settings.html</a:t>
            </a:r>
          </a:p>
        </p:txBody>
      </p:sp>
      <p:sp>
        <p:nvSpPr>
          <p:cNvPr id="33" name="Oval 32"/>
          <p:cNvSpPr/>
          <p:nvPr/>
        </p:nvSpPr>
        <p:spPr>
          <a:xfrm>
            <a:off x="8031175" y="4149090"/>
            <a:ext cx="420624" cy="420624"/>
          </a:xfrm>
          <a:prstGeom prst="ellipse">
            <a:avLst/>
          </a:prstGeom>
          <a:solidFill>
            <a:srgbClr val="536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settings-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32124" y="4250039"/>
            <a:ext cx="218724" cy="218724"/>
          </a:xfrm>
          <a:prstGeom prst="rect">
            <a:avLst/>
          </a:prstGeom>
          <a:effectLst/>
        </p:spPr>
      </p:pic>
      <p:sp>
        <p:nvSpPr>
          <p:cNvPr id="35" name="TextBox 34"/>
          <p:cNvSpPr txBox="1"/>
          <p:nvPr/>
        </p:nvSpPr>
        <p:spPr>
          <a:xfrm>
            <a:off x="8543239" y="4121658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2252B"/>
                </a:solidFill>
                <a:latin typeface="Arial"/>
              </a:rPr>
              <a:t>Settings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85455" y="4588002"/>
            <a:ext cx="3566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606772"/>
                </a:solidFill>
                <a:latin typeface="Arial"/>
              </a:rPr>
              <a:t>Profile, subjects, appearance and account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053328"/>
            <a:ext cx="1091153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1">
                <a:solidFill>
                  <a:srgbClr val="A3AEB1"/>
                </a:solidFill>
                <a:latin typeface="Arial"/>
              </a:rPr>
              <a:t>Status indicators, controls and structured lists — all built from semantic HTML.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246831" y="68580"/>
            <a:ext cx="548640" cy="548640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774407" y="857249"/>
            <a:ext cx="274320" cy="274320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804606" y="1117854"/>
            <a:ext cx="164592" cy="164592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37974" y="313182"/>
            <a:ext cx="128016" cy="128016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10882" y="5934456"/>
            <a:ext cx="475488" cy="475488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292316" y="5376672"/>
            <a:ext cx="219456" cy="219456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70681" y="5070348"/>
            <a:ext cx="146304" cy="146304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50568" y="116586"/>
            <a:ext cx="109728" cy="109728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1636969" y="4946904"/>
            <a:ext cx="256032" cy="256032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575212" y="6535674"/>
            <a:ext cx="164592" cy="164592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0080" y="580644"/>
            <a:ext cx="123444" cy="123444"/>
          </a:xfrm>
          <a:prstGeom prst="ellips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" y="5486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80">
                <a:solidFill>
                  <a:srgbClr val="B09F95"/>
                </a:solidFill>
                <a:latin typeface="Arial"/>
              </a:rPr>
              <a:t>03 · HTML5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822959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22252B"/>
                </a:solidFill>
                <a:latin typeface="Arial"/>
              </a:rPr>
              <a:t>Forms &amp; accessibility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1481328"/>
            <a:ext cx="6126480" cy="382905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91440" dist="50292" dir="5400000" rotWithShape="0">
              <a:srgbClr val="22252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sett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81328"/>
            <a:ext cx="6126480" cy="3829050"/>
          </a:xfrm>
          <a:prstGeom prst="rect">
            <a:avLst/>
          </a:prstGeom>
          <a:effectLst/>
        </p:spPr>
      </p:pic>
      <p:sp>
        <p:nvSpPr>
          <p:cNvPr id="18" name="Rounded Rectangle 17"/>
          <p:cNvSpPr/>
          <p:nvPr/>
        </p:nvSpPr>
        <p:spPr>
          <a:xfrm>
            <a:off x="822959" y="1335024"/>
            <a:ext cx="1166774" cy="292608"/>
          </a:xfrm>
          <a:prstGeom prst="roundRect">
            <a:avLst>
              <a:gd name="adj" fmla="val 50000"/>
            </a:avLst>
          </a:prstGeom>
          <a:solidFill>
            <a:srgbClr val="53655C"/>
          </a:solidFill>
          <a:ln>
            <a:noFill/>
          </a:ln>
          <a:effectLst>
            <a:outerShdw blurRad="91440" dist="50292" dir="5400000" rotWithShape="0">
              <a:srgbClr val="22252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ourier New"/>
              </a:rPr>
              <a:t>settings.html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383530"/>
            <a:ext cx="6126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A3AEB1"/>
                </a:solidFill>
                <a:latin typeface="Arial"/>
              </a:rPr>
              <a:t>Every field has a real &lt;label&gt; and the right input type.</a:t>
            </a:r>
          </a:p>
        </p:txBody>
      </p:sp>
      <p:sp>
        <p:nvSpPr>
          <p:cNvPr id="20" name="Oval 19"/>
          <p:cNvSpPr/>
          <p:nvPr/>
        </p:nvSpPr>
        <p:spPr>
          <a:xfrm>
            <a:off x="6995160" y="1554480"/>
            <a:ext cx="457200" cy="457200"/>
          </a:xfrm>
          <a:prstGeom prst="ellipse">
            <a:avLst/>
          </a:prstGeom>
          <a:solidFill>
            <a:srgbClr val="536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edit-3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4888" y="1664207"/>
            <a:ext cx="237744" cy="237744"/>
          </a:xfrm>
          <a:prstGeom prst="rect">
            <a:avLst/>
          </a:prstGeom>
          <a:effectLst/>
        </p:spPr>
      </p:pic>
      <p:sp>
        <p:nvSpPr>
          <p:cNvPr id="22" name="TextBox 21"/>
          <p:cNvSpPr txBox="1"/>
          <p:nvPr/>
        </p:nvSpPr>
        <p:spPr>
          <a:xfrm>
            <a:off x="7571231" y="1536192"/>
            <a:ext cx="3931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2252B"/>
                </a:solidFill>
                <a:latin typeface="Arial"/>
              </a:rPr>
              <a:t>Labelled inputs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71231" y="1828800"/>
            <a:ext cx="3931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606772"/>
                </a:solidFill>
                <a:latin typeface="Arial"/>
              </a:rPr>
              <a:t>16 &lt;label&gt; elements — a label focuses its field</a:t>
            </a:r>
          </a:p>
        </p:txBody>
      </p:sp>
      <p:sp>
        <p:nvSpPr>
          <p:cNvPr id="24" name="Oval 23"/>
          <p:cNvSpPr/>
          <p:nvPr/>
        </p:nvSpPr>
        <p:spPr>
          <a:xfrm>
            <a:off x="6995160" y="2395728"/>
            <a:ext cx="457200" cy="457200"/>
          </a:xfrm>
          <a:prstGeom prst="ellipse">
            <a:avLst/>
          </a:prstGeom>
          <a:solidFill>
            <a:srgbClr val="536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eye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2505456"/>
            <a:ext cx="237744" cy="237744"/>
          </a:xfrm>
          <a:prstGeom prst="rect">
            <a:avLst/>
          </a:prstGeom>
          <a:effectLst/>
        </p:spPr>
      </p:pic>
      <p:sp>
        <p:nvSpPr>
          <p:cNvPr id="26" name="TextBox 25"/>
          <p:cNvSpPr txBox="1"/>
          <p:nvPr/>
        </p:nvSpPr>
        <p:spPr>
          <a:xfrm>
            <a:off x="7571231" y="2377440"/>
            <a:ext cx="3931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2252B"/>
                </a:solidFill>
                <a:latin typeface="Arial"/>
              </a:rPr>
              <a:t>ARIA where it helps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71231" y="2670048"/>
            <a:ext cx="3931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606772"/>
                </a:solidFill>
                <a:latin typeface="Arial"/>
              </a:rPr>
              <a:t>91 aria-* attributes — labels, live regions</a:t>
            </a:r>
          </a:p>
        </p:txBody>
      </p:sp>
      <p:sp>
        <p:nvSpPr>
          <p:cNvPr id="28" name="Oval 27"/>
          <p:cNvSpPr/>
          <p:nvPr/>
        </p:nvSpPr>
        <p:spPr>
          <a:xfrm>
            <a:off x="6995160" y="3236976"/>
            <a:ext cx="457200" cy="457200"/>
          </a:xfrm>
          <a:prstGeom prst="ellipse">
            <a:avLst/>
          </a:prstGeom>
          <a:solidFill>
            <a:srgbClr val="536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check-circle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4888" y="3346704"/>
            <a:ext cx="237744" cy="237744"/>
          </a:xfrm>
          <a:prstGeom prst="rect">
            <a:avLst/>
          </a:prstGeom>
          <a:effectLst/>
        </p:spPr>
      </p:pic>
      <p:sp>
        <p:nvSpPr>
          <p:cNvPr id="30" name="TextBox 29"/>
          <p:cNvSpPr txBox="1"/>
          <p:nvPr/>
        </p:nvSpPr>
        <p:spPr>
          <a:xfrm>
            <a:off x="7571231" y="3218688"/>
            <a:ext cx="3931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2252B"/>
                </a:solidFill>
                <a:latin typeface="Arial"/>
              </a:rPr>
              <a:t>Right input types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71231" y="3511296"/>
            <a:ext cx="3931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606772"/>
                </a:solidFill>
                <a:latin typeface="Arial"/>
              </a:rPr>
              <a:t>email, number, date, password</a:t>
            </a:r>
          </a:p>
        </p:txBody>
      </p:sp>
      <p:sp>
        <p:nvSpPr>
          <p:cNvPr id="32" name="Oval 31"/>
          <p:cNvSpPr/>
          <p:nvPr/>
        </p:nvSpPr>
        <p:spPr>
          <a:xfrm>
            <a:off x="6995160" y="4078224"/>
            <a:ext cx="457200" cy="457200"/>
          </a:xfrm>
          <a:prstGeom prst="ellipse">
            <a:avLst/>
          </a:prstGeom>
          <a:solidFill>
            <a:srgbClr val="536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layout-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4888" y="4187952"/>
            <a:ext cx="237744" cy="237744"/>
          </a:xfrm>
          <a:prstGeom prst="rect">
            <a:avLst/>
          </a:prstGeom>
          <a:effectLst/>
        </p:spPr>
      </p:pic>
      <p:sp>
        <p:nvSpPr>
          <p:cNvPr id="34" name="TextBox 33"/>
          <p:cNvSpPr txBox="1"/>
          <p:nvPr/>
        </p:nvSpPr>
        <p:spPr>
          <a:xfrm>
            <a:off x="7571231" y="4059936"/>
            <a:ext cx="3931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2252B"/>
                </a:solidFill>
                <a:latin typeface="Arial"/>
              </a:rPr>
              <a:t>Alt text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71231" y="4352544"/>
            <a:ext cx="3931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606772"/>
                </a:solidFill>
                <a:latin typeface="Arial"/>
              </a:rPr>
              <a:t>18 alt attributes; decorative art hidden</a:t>
            </a:r>
          </a:p>
        </p:txBody>
      </p:sp>
      <p:sp>
        <p:nvSpPr>
          <p:cNvPr id="36" name="Oval 35"/>
          <p:cNvSpPr/>
          <p:nvPr/>
        </p:nvSpPr>
        <p:spPr>
          <a:xfrm>
            <a:off x="6995160" y="4919472"/>
            <a:ext cx="457200" cy="457200"/>
          </a:xfrm>
          <a:prstGeom prst="ellipse">
            <a:avLst/>
          </a:prstGeom>
          <a:solidFill>
            <a:srgbClr val="536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move-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04888" y="5029200"/>
            <a:ext cx="237744" cy="237744"/>
          </a:xfrm>
          <a:prstGeom prst="rect">
            <a:avLst/>
          </a:prstGeom>
          <a:effectLst/>
        </p:spPr>
      </p:pic>
      <p:sp>
        <p:nvSpPr>
          <p:cNvPr id="38" name="TextBox 37"/>
          <p:cNvSpPr txBox="1"/>
          <p:nvPr/>
        </p:nvSpPr>
        <p:spPr>
          <a:xfrm>
            <a:off x="7571231" y="4901184"/>
            <a:ext cx="3931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2252B"/>
                </a:solidFill>
                <a:latin typeface="Arial"/>
              </a:rPr>
              <a:t>Keyboard-friendly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71231" y="5193792"/>
            <a:ext cx="3931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606772"/>
                </a:solidFill>
                <a:latin typeface="Arial"/>
              </a:rPr>
              <a:t>a skip-link + a .visually-hidden pattern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246831" y="68580"/>
            <a:ext cx="548640" cy="548640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774407" y="857249"/>
            <a:ext cx="274320" cy="274320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804606" y="1117854"/>
            <a:ext cx="164592" cy="164592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37974" y="313182"/>
            <a:ext cx="128016" cy="128016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10882" y="5934456"/>
            <a:ext cx="475488" cy="475488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292316" y="5376672"/>
            <a:ext cx="219456" cy="219456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70681" y="5070348"/>
            <a:ext cx="146304" cy="146304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50568" y="116586"/>
            <a:ext cx="109728" cy="109728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1636969" y="4946904"/>
            <a:ext cx="256032" cy="256032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575212" y="6535674"/>
            <a:ext cx="164592" cy="164592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0080" y="580644"/>
            <a:ext cx="123444" cy="123444"/>
          </a:xfrm>
          <a:prstGeom prst="ellips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" y="5486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80">
                <a:solidFill>
                  <a:srgbClr val="B09F95"/>
                </a:solidFill>
                <a:latin typeface="Arial"/>
              </a:rPr>
              <a:t>04 · CSS3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822959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22252B"/>
                </a:solidFill>
                <a:latin typeface="Arial"/>
              </a:rPr>
              <a:t>One design system, not many pages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1481328"/>
            <a:ext cx="5486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300" b="0">
                <a:solidFill>
                  <a:srgbClr val="606772"/>
                </a:solidFill>
                <a:latin typeface="Arial"/>
              </a:rPr>
              <a:t>CSS custom properties define the visual language once — 120+ design tokens (85 unique) for colour, type, spacing, radius and shadow, reused across every page so the product feels like one system.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788920"/>
            <a:ext cx="1371600" cy="932688"/>
          </a:xfrm>
          <a:prstGeom prst="roundRect">
            <a:avLst>
              <a:gd name="adj" fmla="val 10000"/>
            </a:avLst>
          </a:prstGeom>
          <a:solidFill>
            <a:srgbClr val="22252B"/>
          </a:solidFill>
          <a:ln w="1270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380390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22252B"/>
                </a:solidFill>
                <a:latin typeface="Arial"/>
              </a:rPr>
              <a:t>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050791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A3AEB1"/>
                </a:solidFill>
                <a:latin typeface="Courier New"/>
              </a:rPr>
              <a:t>#22252B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76272" y="2788920"/>
            <a:ext cx="1371600" cy="932688"/>
          </a:xfrm>
          <a:prstGeom prst="roundRect">
            <a:avLst>
              <a:gd name="adj" fmla="val 10000"/>
            </a:avLst>
          </a:prstGeom>
          <a:solidFill>
            <a:srgbClr val="53655C"/>
          </a:solidFill>
          <a:ln w="1270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176272" y="380390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22252B"/>
                </a:solidFill>
                <a:latin typeface="Arial"/>
              </a:rPr>
              <a:t>Sage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76272" y="4050791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A3AEB1"/>
                </a:solidFill>
                <a:latin typeface="Courier New"/>
              </a:rPr>
              <a:t>#53655C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12463" y="2788920"/>
            <a:ext cx="1371600" cy="932688"/>
          </a:xfrm>
          <a:prstGeom prst="roundRect">
            <a:avLst>
              <a:gd name="adj" fmla="val 10000"/>
            </a:avLst>
          </a:prstGeom>
          <a:solidFill>
            <a:srgbClr val="A3AEB1"/>
          </a:solidFill>
          <a:ln w="1270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712463" y="380390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22252B"/>
                </a:solidFill>
                <a:latin typeface="Arial"/>
              </a:rPr>
              <a:t>Slate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12463" y="4050791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A3AEB1"/>
                </a:solidFill>
                <a:latin typeface="Courier New"/>
              </a:rPr>
              <a:t>#A3AEB1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48656" y="2788920"/>
            <a:ext cx="1371600" cy="932688"/>
          </a:xfrm>
          <a:prstGeom prst="roundRect">
            <a:avLst>
              <a:gd name="adj" fmla="val 10000"/>
            </a:avLst>
          </a:prstGeom>
          <a:solidFill>
            <a:srgbClr val="E5E8EB"/>
          </a:solidFill>
          <a:ln w="1270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248656" y="380390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22252B"/>
                </a:solidFill>
                <a:latin typeface="Arial"/>
              </a:rPr>
              <a:t>Mist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48656" y="4050791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A3AEB1"/>
                </a:solidFill>
                <a:latin typeface="Courier New"/>
              </a:rPr>
              <a:t>#E5E8EB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84848" y="2788920"/>
            <a:ext cx="1371600" cy="932688"/>
          </a:xfrm>
          <a:prstGeom prst="roundRect">
            <a:avLst>
              <a:gd name="adj" fmla="val 10000"/>
            </a:avLst>
          </a:prstGeom>
          <a:solidFill>
            <a:srgbClr val="B09F95"/>
          </a:solidFill>
          <a:ln w="1270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784848" y="380390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22252B"/>
                </a:solidFill>
                <a:latin typeface="Arial"/>
              </a:rPr>
              <a:t>Taupe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84848" y="4050791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A3AEB1"/>
                </a:solidFill>
                <a:latin typeface="Courier New"/>
              </a:rPr>
              <a:t>#B09F95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4617720"/>
            <a:ext cx="4023360" cy="1371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24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4400" y="4773168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40">
                <a:solidFill>
                  <a:srgbClr val="B09F95"/>
                </a:solidFill>
                <a:latin typeface="Arial"/>
              </a:rPr>
              <a:t>TYPOGRAPHY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084064"/>
            <a:ext cx="3566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2252B"/>
                </a:solidFill>
                <a:latin typeface="Arial"/>
              </a:rPr>
              <a:t>Manrope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5486400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06772"/>
                </a:solidFill>
                <a:latin typeface="Arial"/>
              </a:rPr>
              <a:t>headings  ·  Inter for body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937760" y="4617720"/>
            <a:ext cx="4023360" cy="1371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24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212080" y="4773168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40">
                <a:solidFill>
                  <a:srgbClr val="B09F95"/>
                </a:solidFill>
                <a:latin typeface="Arial"/>
              </a:rPr>
              <a:t>REUSED COMPONENTS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5102352"/>
            <a:ext cx="3566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55A50"/>
                </a:solidFill>
                <a:latin typeface="Courier New"/>
              </a:rPr>
              <a:t>.btn  .card  .field  .chip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5486400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06772"/>
                </a:solidFill>
                <a:latin typeface="Arial"/>
              </a:rPr>
              <a:t>defined once, used everywhere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549640" y="1828800"/>
            <a:ext cx="3063240" cy="191452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91440" dist="50292" dir="5400000" rotWithShape="0">
              <a:srgbClr val="22252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Picture 40" descr="no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1828800"/>
            <a:ext cx="3063240" cy="1914525"/>
          </a:xfrm>
          <a:prstGeom prst="rect">
            <a:avLst/>
          </a:prstGeom>
          <a:effectLst/>
        </p:spPr>
      </p:pic>
      <p:sp>
        <p:nvSpPr>
          <p:cNvPr id="42" name="TextBox 41"/>
          <p:cNvSpPr txBox="1"/>
          <p:nvPr/>
        </p:nvSpPr>
        <p:spPr>
          <a:xfrm>
            <a:off x="8549640" y="3803904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A3AEB1"/>
                </a:solidFill>
                <a:latin typeface="Arial"/>
              </a:rPr>
              <a:t>Same cards, buttons and</a:t>
            </a:r>
          </a:p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A3AEB1"/>
                </a:solidFill>
                <a:latin typeface="Arial"/>
              </a:rPr>
              <a:t>spacing tokens on every page.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246831" y="68580"/>
            <a:ext cx="548640" cy="548640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774407" y="857249"/>
            <a:ext cx="274320" cy="274320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804606" y="1117854"/>
            <a:ext cx="164592" cy="164592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37974" y="313182"/>
            <a:ext cx="128016" cy="128016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10882" y="5934456"/>
            <a:ext cx="475488" cy="475488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292316" y="5376672"/>
            <a:ext cx="219456" cy="219456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70681" y="5070348"/>
            <a:ext cx="146304" cy="146304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50568" y="116586"/>
            <a:ext cx="109728" cy="109728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1636969" y="4946904"/>
            <a:ext cx="256032" cy="256032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575212" y="6535674"/>
            <a:ext cx="164592" cy="164592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0080" y="580644"/>
            <a:ext cx="123444" cy="123444"/>
          </a:xfrm>
          <a:prstGeom prst="ellips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" y="5486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80">
                <a:solidFill>
                  <a:srgbClr val="B09F95"/>
                </a:solidFill>
                <a:latin typeface="Arial"/>
              </a:rPr>
              <a:t>04 · CSS3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822959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22252B"/>
                </a:solidFill>
                <a:latin typeface="Arial"/>
              </a:rPr>
              <a:t>One file defines everything — tokens.css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1481328"/>
            <a:ext cx="6035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606772"/>
                </a:solidFill>
                <a:latin typeface="Arial"/>
              </a:rPr>
              <a:t>Every colour, font, space, radius and shadow is a CSS custom property in a single :root block — the one source of truth the whole app reads from.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331720"/>
            <a:ext cx="6172200" cy="4003608"/>
          </a:xfrm>
          <a:prstGeom prst="roundRect">
            <a:avLst>
              <a:gd name="adj" fmla="val 3500"/>
            </a:avLst>
          </a:prstGeom>
          <a:solidFill>
            <a:srgbClr val="1C2026"/>
          </a:solidFill>
          <a:ln>
            <a:noFill/>
          </a:ln>
          <a:effectLst>
            <a:outerShdw blurRad="91440" dist="50292" dir="5400000" rotWithShape="0">
              <a:srgbClr val="22252B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77824" y="2487168"/>
            <a:ext cx="91440" cy="91440"/>
          </a:xfrm>
          <a:prstGeom prst="ellipse">
            <a:avLst/>
          </a:prstGeom>
          <a:solidFill>
            <a:srgbClr val="E06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042415" y="2487168"/>
            <a:ext cx="91440" cy="91440"/>
          </a:xfrm>
          <a:prstGeom prst="ellipse">
            <a:avLst/>
          </a:prstGeom>
          <a:solidFill>
            <a:srgbClr val="E0B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207007" y="2487168"/>
            <a:ext cx="91440" cy="91440"/>
          </a:xfrm>
          <a:prstGeom prst="ellipse">
            <a:avLst/>
          </a:prstGeom>
          <a:solidFill>
            <a:srgbClr val="8FB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444752" y="2423160"/>
            <a:ext cx="512978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A929C"/>
                </a:solidFill>
                <a:latin typeface="Courier New"/>
              </a:rPr>
              <a:t>styles/tokens.css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" y="2846527"/>
            <a:ext cx="5696712" cy="33686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200">
                <a:solidFill>
                  <a:srgbClr val="D6C6B8"/>
                </a:solidFill>
                <a:latin typeface="Courier New"/>
              </a:rPr>
              <a:t>:root</a:t>
            </a:r>
            <a:r>
              <a:rPr sz="1200">
                <a:solidFill>
                  <a:srgbClr val="E7EAEE"/>
                </a:solidFill>
                <a:latin typeface="Courier New"/>
              </a:rPr>
              <a:t> {</a:t>
            </a:r>
          </a:p>
          <a:p>
            <a:pPr>
              <a:lnSpc>
                <a:spcPct val="128000"/>
              </a:lnSpc>
            </a:pPr>
            <a:r>
              <a:rPr sz="1200">
                <a:solidFill>
                  <a:srgbClr val="A9C3B0"/>
                </a:solidFill>
                <a:latin typeface="Courier New"/>
              </a:rPr>
              <a:t>  --color-bg</a:t>
            </a:r>
            <a:r>
              <a:rPr sz="1200">
                <a:solidFill>
                  <a:srgbClr val="E7EAEE"/>
                </a:solidFill>
                <a:latin typeface="Courier New"/>
              </a:rPr>
              <a:t>:      </a:t>
            </a:r>
            <a:r>
              <a:rPr sz="1200">
                <a:solidFill>
                  <a:srgbClr val="CBB69F"/>
                </a:solidFill>
                <a:latin typeface="Courier New"/>
              </a:rPr>
              <a:t>#FAF9F7</a:t>
            </a:r>
            <a:r>
              <a:rPr sz="1200">
                <a:solidFill>
                  <a:srgbClr val="E7EAEE"/>
                </a:solidFill>
                <a:latin typeface="Courier New"/>
              </a:rPr>
              <a:t>;</a:t>
            </a:r>
          </a:p>
          <a:p>
            <a:pPr>
              <a:lnSpc>
                <a:spcPct val="128000"/>
              </a:lnSpc>
            </a:pPr>
            <a:r>
              <a:rPr sz="1200">
                <a:solidFill>
                  <a:srgbClr val="A9C3B0"/>
                </a:solidFill>
                <a:latin typeface="Courier New"/>
              </a:rPr>
              <a:t>  --color-brand</a:t>
            </a:r>
            <a:r>
              <a:rPr sz="1200">
                <a:solidFill>
                  <a:srgbClr val="E7EAEE"/>
                </a:solidFill>
                <a:latin typeface="Courier New"/>
              </a:rPr>
              <a:t>:   </a:t>
            </a:r>
            <a:r>
              <a:rPr sz="1200">
                <a:solidFill>
                  <a:srgbClr val="CBB69F"/>
                </a:solidFill>
                <a:latin typeface="Courier New"/>
              </a:rPr>
              <a:t>#53655C</a:t>
            </a:r>
            <a:r>
              <a:rPr sz="1200">
                <a:solidFill>
                  <a:srgbClr val="E7EAEE"/>
                </a:solidFill>
                <a:latin typeface="Courier New"/>
              </a:rPr>
              <a:t>;</a:t>
            </a:r>
            <a:r>
              <a:rPr sz="1200">
                <a:solidFill>
                  <a:srgbClr val="7C8590"/>
                </a:solidFill>
                <a:latin typeface="Courier New"/>
              </a:rPr>
              <a:t>   /* sage */</a:t>
            </a:r>
          </a:p>
          <a:p>
            <a:pPr>
              <a:lnSpc>
                <a:spcPct val="128000"/>
              </a:lnSpc>
            </a:pPr>
            <a:r>
              <a:rPr sz="1200">
                <a:solidFill>
                  <a:srgbClr val="A9C3B0"/>
                </a:solidFill>
                <a:latin typeface="Courier New"/>
              </a:rPr>
              <a:t>  --color-text</a:t>
            </a:r>
            <a:r>
              <a:rPr sz="1200">
                <a:solidFill>
                  <a:srgbClr val="E7EAEE"/>
                </a:solidFill>
                <a:latin typeface="Courier New"/>
              </a:rPr>
              <a:t>:    </a:t>
            </a:r>
            <a:r>
              <a:rPr sz="1200">
                <a:solidFill>
                  <a:srgbClr val="CBB69F"/>
                </a:solidFill>
                <a:latin typeface="Courier New"/>
              </a:rPr>
              <a:t>#22252B</a:t>
            </a:r>
            <a:r>
              <a:rPr sz="1200">
                <a:solidFill>
                  <a:srgbClr val="E7EAEE"/>
                </a:solidFill>
                <a:latin typeface="Courier New"/>
              </a:rPr>
              <a:t>;</a:t>
            </a:r>
          </a:p>
          <a:p>
            <a:pPr>
              <a:lnSpc>
                <a:spcPct val="128000"/>
              </a:lnSpc>
            </a:pPr>
            <a:r>
              <a:rPr sz="1200">
                <a:solidFill>
                  <a:srgbClr val="A9C3B0"/>
                </a:solidFill>
                <a:latin typeface="Courier New"/>
              </a:rPr>
              <a:t>  --font-heading</a:t>
            </a:r>
            <a:r>
              <a:rPr sz="1200">
                <a:solidFill>
                  <a:srgbClr val="E7EAEE"/>
                </a:solidFill>
                <a:latin typeface="Courier New"/>
              </a:rPr>
              <a:t>: </a:t>
            </a:r>
            <a:r>
              <a:rPr sz="1200">
                <a:solidFill>
                  <a:srgbClr val="CBB69F"/>
                </a:solidFill>
                <a:latin typeface="Courier New"/>
              </a:rPr>
              <a:t>"Manrope", …</a:t>
            </a:r>
            <a:r>
              <a:rPr sz="1200">
                <a:solidFill>
                  <a:srgbClr val="E7EAEE"/>
                </a:solidFill>
                <a:latin typeface="Courier New"/>
              </a:rPr>
              <a:t>;</a:t>
            </a:r>
          </a:p>
          <a:p>
            <a:pPr>
              <a:lnSpc>
                <a:spcPct val="128000"/>
              </a:lnSpc>
            </a:pPr>
            <a:r>
              <a:rPr sz="1200">
                <a:solidFill>
                  <a:srgbClr val="A9C3B0"/>
                </a:solidFill>
                <a:latin typeface="Courier New"/>
              </a:rPr>
              <a:t>  --space-16</a:t>
            </a:r>
            <a:r>
              <a:rPr sz="1200">
                <a:solidFill>
                  <a:srgbClr val="E7EAEE"/>
                </a:solidFill>
                <a:latin typeface="Courier New"/>
              </a:rPr>
              <a:t>:      </a:t>
            </a:r>
            <a:r>
              <a:rPr sz="1200">
                <a:solidFill>
                  <a:srgbClr val="B9C7CD"/>
                </a:solidFill>
                <a:latin typeface="Courier New"/>
              </a:rPr>
              <a:t>16px</a:t>
            </a:r>
            <a:r>
              <a:rPr sz="1200">
                <a:solidFill>
                  <a:srgbClr val="E7EAEE"/>
                </a:solidFill>
                <a:latin typeface="Courier New"/>
              </a:rPr>
              <a:t>;</a:t>
            </a:r>
          </a:p>
          <a:p>
            <a:pPr>
              <a:lnSpc>
                <a:spcPct val="128000"/>
              </a:lnSpc>
            </a:pPr>
            <a:r>
              <a:rPr sz="1200">
                <a:solidFill>
                  <a:srgbClr val="A9C3B0"/>
                </a:solidFill>
                <a:latin typeface="Courier New"/>
              </a:rPr>
              <a:t>  --radius-lg</a:t>
            </a:r>
            <a:r>
              <a:rPr sz="1200">
                <a:solidFill>
                  <a:srgbClr val="E7EAEE"/>
                </a:solidFill>
                <a:latin typeface="Courier New"/>
              </a:rPr>
              <a:t>:     </a:t>
            </a:r>
            <a:r>
              <a:rPr sz="1200">
                <a:solidFill>
                  <a:srgbClr val="B9C7CD"/>
                </a:solidFill>
                <a:latin typeface="Courier New"/>
              </a:rPr>
              <a:t>16px</a:t>
            </a:r>
            <a:r>
              <a:rPr sz="1200">
                <a:solidFill>
                  <a:srgbClr val="E7EAEE"/>
                </a:solidFill>
                <a:latin typeface="Courier New"/>
              </a:rPr>
              <a:t>;</a:t>
            </a:r>
          </a:p>
          <a:p>
            <a:pPr>
              <a:lnSpc>
                <a:spcPct val="128000"/>
              </a:lnSpc>
            </a:pPr>
            <a:r>
              <a:rPr sz="1200">
                <a:solidFill>
                  <a:srgbClr val="A9C3B0"/>
                </a:solidFill>
                <a:latin typeface="Courier New"/>
              </a:rPr>
              <a:t>  --shadow-sm</a:t>
            </a:r>
            <a:r>
              <a:rPr sz="1200">
                <a:solidFill>
                  <a:srgbClr val="E7EAEE"/>
                </a:solidFill>
                <a:latin typeface="Courier New"/>
              </a:rPr>
              <a:t>:     </a:t>
            </a:r>
            <a:r>
              <a:rPr sz="1200">
                <a:solidFill>
                  <a:srgbClr val="B9C7CD"/>
                </a:solidFill>
                <a:latin typeface="Courier New"/>
              </a:rPr>
              <a:t>0 1px 3px …</a:t>
            </a:r>
            <a:r>
              <a:rPr sz="1200">
                <a:solidFill>
                  <a:srgbClr val="E7EAEE"/>
                </a:solidFill>
                <a:latin typeface="Courier New"/>
              </a:rPr>
              <a:t>;</a:t>
            </a:r>
          </a:p>
          <a:p>
            <a:pPr>
              <a:lnSpc>
                <a:spcPct val="128000"/>
              </a:lnSpc>
            </a:pPr>
            <a:r>
              <a:rPr sz="1200">
                <a:solidFill>
                  <a:srgbClr val="E7EAEE"/>
                </a:solidFill>
                <a:latin typeface="Courier New"/>
              </a:rPr>
              <a:t>}</a:t>
            </a:r>
          </a:p>
          <a:p>
            <a:pPr>
              <a:lnSpc>
                <a:spcPct val="128000"/>
              </a:lnSpc>
            </a:pPr>
            <a:endParaRPr sz="1200">
              <a:solidFill>
                <a:srgbClr val="E7EAEE"/>
              </a:solidFill>
              <a:latin typeface="Courier New"/>
            </a:endParaRPr>
          </a:p>
          <a:p>
            <a:pPr>
              <a:lnSpc>
                <a:spcPct val="128000"/>
              </a:lnSpc>
            </a:pPr>
            <a:r>
              <a:rPr sz="1200">
                <a:solidFill>
                  <a:srgbClr val="D6C6B8"/>
                </a:solidFill>
                <a:latin typeface="Courier New"/>
              </a:rPr>
              <a:t>[data-theme=</a:t>
            </a:r>
            <a:r>
              <a:rPr sz="1200">
                <a:solidFill>
                  <a:srgbClr val="CBB69F"/>
                </a:solidFill>
                <a:latin typeface="Courier New"/>
              </a:rPr>
              <a:t>"dark"</a:t>
            </a:r>
            <a:r>
              <a:rPr sz="1200">
                <a:solidFill>
                  <a:srgbClr val="D6C6B8"/>
                </a:solidFill>
                <a:latin typeface="Courier New"/>
              </a:rPr>
              <a:t>]</a:t>
            </a:r>
            <a:r>
              <a:rPr sz="1200">
                <a:solidFill>
                  <a:srgbClr val="E7EAEE"/>
                </a:solidFill>
                <a:latin typeface="Courier New"/>
              </a:rPr>
              <a:t> {</a:t>
            </a:r>
            <a:r>
              <a:rPr sz="1200">
                <a:solidFill>
                  <a:srgbClr val="7C8590"/>
                </a:solidFill>
                <a:latin typeface="Courier New"/>
              </a:rPr>
              <a:t>        /* same names,</a:t>
            </a:r>
          </a:p>
          <a:p>
            <a:pPr>
              <a:lnSpc>
                <a:spcPct val="128000"/>
              </a:lnSpc>
            </a:pPr>
            <a:r>
              <a:rPr sz="1200">
                <a:solidFill>
                  <a:srgbClr val="A9C3B0"/>
                </a:solidFill>
                <a:latin typeface="Courier New"/>
              </a:rPr>
              <a:t>  --color-bg</a:t>
            </a:r>
            <a:r>
              <a:rPr sz="1200">
                <a:solidFill>
                  <a:srgbClr val="E7EAEE"/>
                </a:solidFill>
                <a:latin typeface="Courier New"/>
              </a:rPr>
              <a:t>:    </a:t>
            </a:r>
            <a:r>
              <a:rPr sz="1200">
                <a:solidFill>
                  <a:srgbClr val="CBB69F"/>
                </a:solidFill>
                <a:latin typeface="Courier New"/>
              </a:rPr>
              <a:t>#16181C</a:t>
            </a:r>
            <a:r>
              <a:rPr sz="1200">
                <a:solidFill>
                  <a:srgbClr val="E7EAEE"/>
                </a:solidFill>
                <a:latin typeface="Courier New"/>
              </a:rPr>
              <a:t>;</a:t>
            </a:r>
          </a:p>
          <a:p>
            <a:pPr>
              <a:lnSpc>
                <a:spcPct val="128000"/>
              </a:lnSpc>
            </a:pPr>
            <a:r>
              <a:rPr sz="1200">
                <a:solidFill>
                  <a:srgbClr val="A9C3B0"/>
                </a:solidFill>
                <a:latin typeface="Courier New"/>
              </a:rPr>
              <a:t>  --color-brand</a:t>
            </a:r>
            <a:r>
              <a:rPr sz="1200">
                <a:solidFill>
                  <a:srgbClr val="E7EAEE"/>
                </a:solidFill>
                <a:latin typeface="Courier New"/>
              </a:rPr>
              <a:t>: </a:t>
            </a:r>
            <a:r>
              <a:rPr sz="1200">
                <a:solidFill>
                  <a:srgbClr val="CBB69F"/>
                </a:solidFill>
                <a:latin typeface="Courier New"/>
              </a:rPr>
              <a:t>#8FA697</a:t>
            </a:r>
            <a:r>
              <a:rPr sz="1200">
                <a:solidFill>
                  <a:srgbClr val="E7EAEE"/>
                </a:solidFill>
                <a:latin typeface="Courier New"/>
              </a:rPr>
              <a:t>;</a:t>
            </a:r>
            <a:r>
              <a:rPr sz="1200">
                <a:solidFill>
                  <a:srgbClr val="7C8590"/>
                </a:solidFill>
                <a:latin typeface="Courier New"/>
              </a:rPr>
              <a:t>      new values */</a:t>
            </a:r>
          </a:p>
          <a:p>
            <a:pPr>
              <a:lnSpc>
                <a:spcPct val="128000"/>
              </a:lnSpc>
            </a:pPr>
            <a:r>
              <a:rPr sz="1200">
                <a:solidFill>
                  <a:srgbClr val="E7EAEE"/>
                </a:solidFill>
                <a:latin typeface="Courier New"/>
              </a:rPr>
              <a:t>}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1572768"/>
            <a:ext cx="4480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40">
                <a:solidFill>
                  <a:srgbClr val="B09F95"/>
                </a:solidFill>
                <a:latin typeface="Arial"/>
              </a:rPr>
              <a:t>WHAT IT ORGANISES</a:t>
            </a:r>
          </a:p>
        </p:txBody>
      </p:sp>
      <p:sp>
        <p:nvSpPr>
          <p:cNvPr id="24" name="Oval 23"/>
          <p:cNvSpPr/>
          <p:nvPr/>
        </p:nvSpPr>
        <p:spPr>
          <a:xfrm>
            <a:off x="7086600" y="1965960"/>
            <a:ext cx="420624" cy="420624"/>
          </a:xfrm>
          <a:prstGeom prst="ellipse">
            <a:avLst/>
          </a:prstGeom>
          <a:solidFill>
            <a:srgbClr val="536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eye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7549" y="2066909"/>
            <a:ext cx="218724" cy="218724"/>
          </a:xfrm>
          <a:prstGeom prst="rect">
            <a:avLst/>
          </a:prstGeom>
          <a:effectLst/>
        </p:spPr>
      </p:pic>
      <p:sp>
        <p:nvSpPr>
          <p:cNvPr id="26" name="TextBox 25"/>
          <p:cNvSpPr txBox="1"/>
          <p:nvPr/>
        </p:nvSpPr>
        <p:spPr>
          <a:xfrm>
            <a:off x="7653527" y="1938528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2252B"/>
                </a:solidFill>
                <a:latin typeface="Arial"/>
              </a:rPr>
              <a:t>Colour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53527" y="2194560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06772"/>
                </a:solidFill>
                <a:latin typeface="Courier New"/>
              </a:rPr>
              <a:t>surfaces · text · brand ·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7086600" y="2532888"/>
            <a:ext cx="420624" cy="420624"/>
          </a:xfrm>
          <a:prstGeom prst="ellips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hash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7549" y="2633837"/>
            <a:ext cx="218724" cy="218724"/>
          </a:xfrm>
          <a:prstGeom prst="rect">
            <a:avLst/>
          </a:prstGeom>
          <a:effectLst/>
        </p:spPr>
      </p:pic>
      <p:sp>
        <p:nvSpPr>
          <p:cNvPr id="30" name="TextBox 29"/>
          <p:cNvSpPr txBox="1"/>
          <p:nvPr/>
        </p:nvSpPr>
        <p:spPr>
          <a:xfrm>
            <a:off x="7653527" y="2505456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2252B"/>
                </a:solidFill>
                <a:latin typeface="Arial"/>
              </a:rPr>
              <a:t>Typography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53527" y="2761488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06772"/>
                </a:solidFill>
                <a:latin typeface="Courier New"/>
              </a:rPr>
              <a:t>Manrope + Inter, a type scale</a:t>
            </a:r>
          </a:p>
        </p:txBody>
      </p:sp>
      <p:sp>
        <p:nvSpPr>
          <p:cNvPr id="32" name="Oval 31"/>
          <p:cNvSpPr/>
          <p:nvPr/>
        </p:nvSpPr>
        <p:spPr>
          <a:xfrm>
            <a:off x="7086600" y="3099816"/>
            <a:ext cx="420624" cy="420624"/>
          </a:xfrm>
          <a:prstGeom prst="ellipse">
            <a:avLst/>
          </a:prstGeom>
          <a:solidFill>
            <a:srgbClr val="536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move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7549" y="3200765"/>
            <a:ext cx="218724" cy="218724"/>
          </a:xfrm>
          <a:prstGeom prst="rect">
            <a:avLst/>
          </a:prstGeom>
          <a:effectLst/>
        </p:spPr>
      </p:pic>
      <p:sp>
        <p:nvSpPr>
          <p:cNvPr id="34" name="TextBox 33"/>
          <p:cNvSpPr txBox="1"/>
          <p:nvPr/>
        </p:nvSpPr>
        <p:spPr>
          <a:xfrm>
            <a:off x="7653527" y="3072384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2252B"/>
                </a:solidFill>
                <a:latin typeface="Arial"/>
              </a:rPr>
              <a:t>Spacing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53527" y="3328416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06772"/>
                </a:solidFill>
                <a:latin typeface="Courier New"/>
              </a:rPr>
              <a:t>4px base — space-4 … space-128</a:t>
            </a:r>
          </a:p>
        </p:txBody>
      </p:sp>
      <p:sp>
        <p:nvSpPr>
          <p:cNvPr id="36" name="Oval 35"/>
          <p:cNvSpPr/>
          <p:nvPr/>
        </p:nvSpPr>
        <p:spPr>
          <a:xfrm>
            <a:off x="7086600" y="3666744"/>
            <a:ext cx="420624" cy="420624"/>
          </a:xfrm>
          <a:prstGeom prst="ellips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layout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87549" y="3767693"/>
            <a:ext cx="218724" cy="218724"/>
          </a:xfrm>
          <a:prstGeom prst="rect">
            <a:avLst/>
          </a:prstGeom>
          <a:effectLst/>
        </p:spPr>
      </p:pic>
      <p:sp>
        <p:nvSpPr>
          <p:cNvPr id="38" name="TextBox 37"/>
          <p:cNvSpPr txBox="1"/>
          <p:nvPr/>
        </p:nvSpPr>
        <p:spPr>
          <a:xfrm>
            <a:off x="7653527" y="3639312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2252B"/>
                </a:solidFill>
                <a:latin typeface="Arial"/>
              </a:rPr>
              <a:t>Radii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53527" y="3895344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06772"/>
                </a:solidFill>
                <a:latin typeface="Courier New"/>
              </a:rPr>
              <a:t>sm · md · lg · xl · pill</a:t>
            </a:r>
          </a:p>
        </p:txBody>
      </p:sp>
      <p:sp>
        <p:nvSpPr>
          <p:cNvPr id="40" name="Oval 39"/>
          <p:cNvSpPr/>
          <p:nvPr/>
        </p:nvSpPr>
        <p:spPr>
          <a:xfrm>
            <a:off x="7086600" y="4233672"/>
            <a:ext cx="420624" cy="420624"/>
          </a:xfrm>
          <a:prstGeom prst="ellipse">
            <a:avLst/>
          </a:prstGeom>
          <a:solidFill>
            <a:srgbClr val="536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Picture 40" descr="layers-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87549" y="4334621"/>
            <a:ext cx="218724" cy="218724"/>
          </a:xfrm>
          <a:prstGeom prst="rect">
            <a:avLst/>
          </a:prstGeom>
          <a:effectLst/>
        </p:spPr>
      </p:pic>
      <p:sp>
        <p:nvSpPr>
          <p:cNvPr id="42" name="TextBox 41"/>
          <p:cNvSpPr txBox="1"/>
          <p:nvPr/>
        </p:nvSpPr>
        <p:spPr>
          <a:xfrm>
            <a:off x="7653527" y="4206240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2252B"/>
                </a:solidFill>
                <a:latin typeface="Arial"/>
              </a:rPr>
              <a:t>Elevation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53527" y="4462272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06772"/>
                </a:solidFill>
                <a:latin typeface="Courier New"/>
              </a:rPr>
              <a:t>shadow-sm … shadow-xl</a:t>
            </a:r>
          </a:p>
        </p:txBody>
      </p:sp>
      <p:sp>
        <p:nvSpPr>
          <p:cNvPr id="44" name="Oval 43"/>
          <p:cNvSpPr/>
          <p:nvPr/>
        </p:nvSpPr>
        <p:spPr>
          <a:xfrm>
            <a:off x="7086600" y="4800600"/>
            <a:ext cx="420624" cy="420624"/>
          </a:xfrm>
          <a:prstGeom prst="ellips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5" name="Picture 44" descr="refresh-cw-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87549" y="4901549"/>
            <a:ext cx="218724" cy="218724"/>
          </a:xfrm>
          <a:prstGeom prst="rect">
            <a:avLst/>
          </a:prstGeom>
          <a:effectLst/>
        </p:spPr>
      </p:pic>
      <p:sp>
        <p:nvSpPr>
          <p:cNvPr id="46" name="TextBox 45"/>
          <p:cNvSpPr txBox="1"/>
          <p:nvPr/>
        </p:nvSpPr>
        <p:spPr>
          <a:xfrm>
            <a:off x="7653527" y="4773168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2252B"/>
                </a:solidFill>
                <a:latin typeface="Arial"/>
              </a:rPr>
              <a:t>Motion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53527" y="5029200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06772"/>
                </a:solidFill>
                <a:latin typeface="Courier New"/>
              </a:rPr>
              <a:t>easing curves + durations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086600" y="5504688"/>
            <a:ext cx="4480560" cy="749808"/>
          </a:xfrm>
          <a:prstGeom prst="roundRect">
            <a:avLst>
              <a:gd name="adj" fmla="val 9000"/>
            </a:avLst>
          </a:prstGeom>
          <a:solidFill>
            <a:srgbClr val="22252B"/>
          </a:solidFill>
          <a:ln>
            <a:noFill/>
          </a:ln>
          <a:effectLst>
            <a:outerShdw blurRad="91440" dist="50292" dir="5400000" rotWithShape="0">
              <a:srgbClr val="22252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360920" y="5504688"/>
            <a:ext cx="3977639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F3F1EC"/>
                </a:solidFill>
                <a:latin typeface="Arial"/>
              </a:rPr>
              <a:t>Components never hard-code a value — they read a token. One :root, ~85 tokens; dark mode just re-declares the same names.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246831" y="68580"/>
            <a:ext cx="548640" cy="548640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774407" y="857249"/>
            <a:ext cx="274320" cy="274320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804606" y="1117854"/>
            <a:ext cx="164592" cy="164592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37974" y="313182"/>
            <a:ext cx="128016" cy="128016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10882" y="5934456"/>
            <a:ext cx="475488" cy="475488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292316" y="5376672"/>
            <a:ext cx="219456" cy="219456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70681" y="5070348"/>
            <a:ext cx="146304" cy="146304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50568" y="116586"/>
            <a:ext cx="109728" cy="109728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1636969" y="4946904"/>
            <a:ext cx="256032" cy="256032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575212" y="6535674"/>
            <a:ext cx="164592" cy="164592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0080" y="580644"/>
            <a:ext cx="123444" cy="123444"/>
          </a:xfrm>
          <a:prstGeom prst="ellips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" y="5486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80">
                <a:solidFill>
                  <a:srgbClr val="B09F95"/>
                </a:solidFill>
                <a:latin typeface="Arial"/>
              </a:rPr>
              <a:t>04 · CSS3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822959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22252B"/>
                </a:solidFill>
                <a:latin typeface="Arial"/>
              </a:rPr>
              <a:t>The box model behind the interface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1627632"/>
            <a:ext cx="4114800" cy="2697480"/>
          </a:xfrm>
          <a:prstGeom prst="roundRect">
            <a:avLst>
              <a:gd name="adj" fmla="val 3000"/>
            </a:avLst>
          </a:prstGeom>
          <a:solidFill>
            <a:srgbClr val="EF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9808" y="169164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B09F95"/>
                </a:solidFill>
                <a:latin typeface="Arial"/>
              </a:rPr>
              <a:t>margin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97280" y="1993392"/>
            <a:ext cx="3200400" cy="1965960"/>
          </a:xfrm>
          <a:prstGeom prst="roundRect">
            <a:avLst>
              <a:gd name="adj" fmla="val 3000"/>
            </a:avLst>
          </a:prstGeom>
          <a:solidFill>
            <a:srgbClr val="DCE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207007" y="2048256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455A50"/>
                </a:solidFill>
                <a:latin typeface="Arial"/>
              </a:rPr>
              <a:t>border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08760" y="2340864"/>
            <a:ext cx="2377440" cy="1271016"/>
          </a:xfrm>
          <a:prstGeom prst="roundRect">
            <a:avLst>
              <a:gd name="adj" fmla="val 3000"/>
            </a:avLst>
          </a:prstGeom>
          <a:solidFill>
            <a:srgbClr val="E9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618488" y="2395728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A3AEB1"/>
                </a:solidFill>
                <a:latin typeface="Arial"/>
              </a:rPr>
              <a:t>padding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11680" y="2688336"/>
            <a:ext cx="1371600" cy="5760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011680" y="2688336"/>
            <a:ext cx="1371600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22252B"/>
                </a:solidFill>
                <a:latin typeface="Arial"/>
              </a:rPr>
              <a:t>content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43484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606772"/>
                </a:solidFill>
                <a:latin typeface="Arial"/>
              </a:rPr>
              <a:t>content → padding → border → margin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94960" y="1627632"/>
            <a:ext cx="6172200" cy="2433279"/>
          </a:xfrm>
          <a:prstGeom prst="roundRect">
            <a:avLst>
              <a:gd name="adj" fmla="val 3500"/>
            </a:avLst>
          </a:prstGeom>
          <a:solidFill>
            <a:srgbClr val="1C2026"/>
          </a:solidFill>
          <a:ln>
            <a:noFill/>
          </a:ln>
          <a:effectLst>
            <a:outerShdw blurRad="91440" dist="50292" dir="5400000" rotWithShape="0">
              <a:srgbClr val="22252B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5632704" y="1783080"/>
            <a:ext cx="91440" cy="91440"/>
          </a:xfrm>
          <a:prstGeom prst="ellipse">
            <a:avLst/>
          </a:prstGeom>
          <a:solidFill>
            <a:srgbClr val="E06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5797296" y="1783080"/>
            <a:ext cx="91440" cy="91440"/>
          </a:xfrm>
          <a:prstGeom prst="ellipse">
            <a:avLst/>
          </a:prstGeom>
          <a:solidFill>
            <a:srgbClr val="E0B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5961888" y="1783080"/>
            <a:ext cx="91440" cy="91440"/>
          </a:xfrm>
          <a:prstGeom prst="ellipse">
            <a:avLst/>
          </a:prstGeom>
          <a:solidFill>
            <a:srgbClr val="8FB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199632" y="1719072"/>
            <a:ext cx="512978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A929C"/>
                </a:solidFill>
                <a:latin typeface="Courier New"/>
              </a:rPr>
              <a:t>styles/app.css — a dashboard stat card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32704" y="2142439"/>
            <a:ext cx="5696712" cy="17983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250">
                <a:solidFill>
                  <a:srgbClr val="D6C6B8"/>
                </a:solidFill>
                <a:latin typeface="Courier New"/>
              </a:rPr>
              <a:t>.stat-card</a:t>
            </a:r>
            <a:r>
              <a:rPr sz="1250">
                <a:solidFill>
                  <a:srgbClr val="E7EAEE"/>
                </a:solidFill>
                <a:latin typeface="Courier New"/>
              </a:rPr>
              <a:t> {</a:t>
            </a:r>
          </a:p>
          <a:p>
            <a:pPr>
              <a:lnSpc>
                <a:spcPct val="128000"/>
              </a:lnSpc>
            </a:pPr>
            <a:r>
              <a:rPr sz="1250">
                <a:solidFill>
                  <a:srgbClr val="A9C3B0"/>
                </a:solidFill>
                <a:latin typeface="Courier New"/>
              </a:rPr>
              <a:t>  padding</a:t>
            </a:r>
            <a:r>
              <a:rPr sz="1250">
                <a:solidFill>
                  <a:srgbClr val="E7EAEE"/>
                </a:solidFill>
                <a:latin typeface="Courier New"/>
              </a:rPr>
              <a:t>: </a:t>
            </a:r>
            <a:r>
              <a:rPr sz="1250">
                <a:solidFill>
                  <a:srgbClr val="B9C7CD"/>
                </a:solidFill>
                <a:latin typeface="Courier New"/>
              </a:rPr>
              <a:t>20px 24px</a:t>
            </a:r>
            <a:r>
              <a:rPr sz="1250">
                <a:solidFill>
                  <a:srgbClr val="E7EAEE"/>
                </a:solidFill>
                <a:latin typeface="Courier New"/>
              </a:rPr>
              <a:t>;</a:t>
            </a:r>
            <a:r>
              <a:rPr sz="1250">
                <a:solidFill>
                  <a:srgbClr val="7C8590"/>
                </a:solidFill>
                <a:latin typeface="Courier New"/>
              </a:rPr>
              <a:t>      /* space inside */</a:t>
            </a:r>
          </a:p>
          <a:p>
            <a:pPr>
              <a:lnSpc>
                <a:spcPct val="128000"/>
              </a:lnSpc>
            </a:pPr>
            <a:r>
              <a:rPr sz="1250">
                <a:solidFill>
                  <a:srgbClr val="A9C3B0"/>
                </a:solidFill>
                <a:latin typeface="Courier New"/>
              </a:rPr>
              <a:t>  background</a:t>
            </a:r>
            <a:r>
              <a:rPr sz="1250">
                <a:solidFill>
                  <a:srgbClr val="E7EAEE"/>
                </a:solidFill>
                <a:latin typeface="Courier New"/>
              </a:rPr>
              <a:t>: </a:t>
            </a:r>
            <a:r>
              <a:rPr sz="1250">
                <a:solidFill>
                  <a:srgbClr val="CBB69F"/>
                </a:solidFill>
                <a:latin typeface="Courier New"/>
              </a:rPr>
              <a:t>var(--color-surface)</a:t>
            </a:r>
            <a:r>
              <a:rPr sz="1250">
                <a:solidFill>
                  <a:srgbClr val="E7EAEE"/>
                </a:solidFill>
                <a:latin typeface="Courier New"/>
              </a:rPr>
              <a:t>;</a:t>
            </a:r>
          </a:p>
          <a:p>
            <a:pPr>
              <a:lnSpc>
                <a:spcPct val="128000"/>
              </a:lnSpc>
            </a:pPr>
            <a:r>
              <a:rPr sz="1250">
                <a:solidFill>
                  <a:srgbClr val="A9C3B0"/>
                </a:solidFill>
                <a:latin typeface="Courier New"/>
              </a:rPr>
              <a:t>  border</a:t>
            </a:r>
            <a:r>
              <a:rPr sz="1250">
                <a:solidFill>
                  <a:srgbClr val="E7EAEE"/>
                </a:solidFill>
                <a:latin typeface="Courier New"/>
              </a:rPr>
              <a:t>: </a:t>
            </a:r>
            <a:r>
              <a:rPr sz="1250">
                <a:solidFill>
                  <a:srgbClr val="B9C7CD"/>
                </a:solidFill>
                <a:latin typeface="Courier New"/>
              </a:rPr>
              <a:t>1px solid </a:t>
            </a:r>
            <a:r>
              <a:rPr sz="1250">
                <a:solidFill>
                  <a:srgbClr val="CBB69F"/>
                </a:solidFill>
                <a:latin typeface="Courier New"/>
              </a:rPr>
              <a:t>var(--color-border)</a:t>
            </a:r>
            <a:r>
              <a:rPr sz="1250">
                <a:solidFill>
                  <a:srgbClr val="E7EAEE"/>
                </a:solidFill>
                <a:latin typeface="Courier New"/>
              </a:rPr>
              <a:t>;</a:t>
            </a:r>
          </a:p>
          <a:p>
            <a:pPr>
              <a:lnSpc>
                <a:spcPct val="128000"/>
              </a:lnSpc>
            </a:pPr>
            <a:r>
              <a:rPr sz="1250">
                <a:solidFill>
                  <a:srgbClr val="A9C3B0"/>
                </a:solidFill>
                <a:latin typeface="Courier New"/>
              </a:rPr>
              <a:t>  border-radius</a:t>
            </a:r>
            <a:r>
              <a:rPr sz="1250">
                <a:solidFill>
                  <a:srgbClr val="E7EAEE"/>
                </a:solidFill>
                <a:latin typeface="Courier New"/>
              </a:rPr>
              <a:t>: </a:t>
            </a:r>
            <a:r>
              <a:rPr sz="1250">
                <a:solidFill>
                  <a:srgbClr val="CBB69F"/>
                </a:solidFill>
                <a:latin typeface="Courier New"/>
              </a:rPr>
              <a:t>var(--radius-lg)</a:t>
            </a:r>
            <a:r>
              <a:rPr sz="1250">
                <a:solidFill>
                  <a:srgbClr val="E7EAEE"/>
                </a:solidFill>
                <a:latin typeface="Courier New"/>
              </a:rPr>
              <a:t>;</a:t>
            </a:r>
          </a:p>
          <a:p>
            <a:pPr>
              <a:lnSpc>
                <a:spcPct val="128000"/>
              </a:lnSpc>
            </a:pPr>
            <a:r>
              <a:rPr sz="1250">
                <a:solidFill>
                  <a:srgbClr val="A9C3B0"/>
                </a:solidFill>
                <a:latin typeface="Courier New"/>
              </a:rPr>
              <a:t>  box-shadow</a:t>
            </a:r>
            <a:r>
              <a:rPr sz="1250">
                <a:solidFill>
                  <a:srgbClr val="E7EAEE"/>
                </a:solidFill>
                <a:latin typeface="Courier New"/>
              </a:rPr>
              <a:t>: </a:t>
            </a:r>
            <a:r>
              <a:rPr sz="1250">
                <a:solidFill>
                  <a:srgbClr val="CBB69F"/>
                </a:solidFill>
                <a:latin typeface="Courier New"/>
              </a:rPr>
              <a:t>var(--shadow-sm)</a:t>
            </a:r>
            <a:r>
              <a:rPr sz="1250">
                <a:solidFill>
                  <a:srgbClr val="E7EAEE"/>
                </a:solidFill>
                <a:latin typeface="Courier New"/>
              </a:rPr>
              <a:t>;</a:t>
            </a:r>
          </a:p>
          <a:p>
            <a:pPr>
              <a:lnSpc>
                <a:spcPct val="128000"/>
              </a:lnSpc>
            </a:pPr>
            <a:r>
              <a:rPr sz="1250">
                <a:solidFill>
                  <a:srgbClr val="E7EAEE"/>
                </a:solidFill>
                <a:latin typeface="Courier New"/>
              </a:rPr>
              <a:t>}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773168"/>
            <a:ext cx="1091153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252B"/>
                </a:solidFill>
                <a:latin typeface="Arial"/>
              </a:rPr>
              <a:t>Those same tokens build every card — here, the CGPA summary row: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981047" y="5102352"/>
            <a:ext cx="8229600" cy="130628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91440" dist="50292" dir="5400000" rotWithShape="0">
              <a:srgbClr val="22252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cgpa_ca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1047" y="5102352"/>
            <a:ext cx="8229600" cy="1306285"/>
          </a:xfrm>
          <a:prstGeom prst="rect">
            <a:avLst/>
          </a:prstGeom>
          <a:effectLst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246831" y="68580"/>
            <a:ext cx="548640" cy="548640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774407" y="857249"/>
            <a:ext cx="274320" cy="274320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804606" y="1117854"/>
            <a:ext cx="164592" cy="164592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37974" y="313182"/>
            <a:ext cx="128016" cy="128016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10882" y="5934456"/>
            <a:ext cx="475488" cy="475488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292316" y="5376672"/>
            <a:ext cx="219456" cy="219456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70681" y="5070348"/>
            <a:ext cx="146304" cy="146304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50568" y="116586"/>
            <a:ext cx="109728" cy="109728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1636969" y="4946904"/>
            <a:ext cx="256032" cy="256032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575212" y="6535674"/>
            <a:ext cx="164592" cy="164592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0080" y="580644"/>
            <a:ext cx="123444" cy="123444"/>
          </a:xfrm>
          <a:prstGeom prst="ellips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" y="5486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80">
                <a:solidFill>
                  <a:srgbClr val="B09F95"/>
                </a:solidFill>
                <a:latin typeface="Arial"/>
              </a:rPr>
              <a:t>04 · CSS3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822959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22252B"/>
                </a:solidFill>
                <a:latin typeface="Arial"/>
              </a:rPr>
              <a:t>Flexbox — alignment &amp; flow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1554480"/>
            <a:ext cx="5760720" cy="360044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91440" dist="50292" dir="5400000" rotWithShape="0">
              <a:srgbClr val="22252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tas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0"/>
            <a:ext cx="5760720" cy="3600449"/>
          </a:xfrm>
          <a:prstGeom prst="rect">
            <a:avLst/>
          </a:prstGeom>
          <a:effectLst/>
        </p:spPr>
      </p:pic>
      <p:sp>
        <p:nvSpPr>
          <p:cNvPr id="18" name="TextBox 17"/>
          <p:cNvSpPr txBox="1"/>
          <p:nvPr/>
        </p:nvSpPr>
        <p:spPr>
          <a:xfrm>
            <a:off x="640080" y="5257800"/>
            <a:ext cx="5760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A3AEB1"/>
                </a:solidFill>
                <a:latin typeface="Arial"/>
              </a:rPr>
              <a:t>The Tasks toolbar — search, sort and view controls in a flex row.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155448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55A50"/>
                </a:solidFill>
                <a:latin typeface="Arial"/>
              </a:rPr>
              <a:t>One-dimensional layout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0" y="2103120"/>
            <a:ext cx="384048" cy="384048"/>
          </a:xfrm>
          <a:prstGeom prst="ellipse">
            <a:avLst/>
          </a:prstGeom>
          <a:solidFill>
            <a:srgbClr val="E7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move-s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0090" y="2189530"/>
            <a:ext cx="211226" cy="211226"/>
          </a:xfrm>
          <a:prstGeom prst="rect">
            <a:avLst/>
          </a:prstGeom>
          <a:effectLst/>
        </p:spPr>
      </p:pic>
      <p:sp>
        <p:nvSpPr>
          <p:cNvPr id="22" name="TextBox 21"/>
          <p:cNvSpPr txBox="1"/>
          <p:nvPr/>
        </p:nvSpPr>
        <p:spPr>
          <a:xfrm>
            <a:off x="7086600" y="2084831"/>
            <a:ext cx="4434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455A50"/>
                </a:solidFill>
                <a:latin typeface="Courier New"/>
              </a:rPr>
              <a:t>display: flex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2377439"/>
            <a:ext cx="4434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06772"/>
                </a:solidFill>
                <a:latin typeface="Arial"/>
              </a:rPr>
              <a:t>lay children out in a row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0" y="2852927"/>
            <a:ext cx="384048" cy="384048"/>
          </a:xfrm>
          <a:prstGeom prst="ellipse">
            <a:avLst/>
          </a:prstGeom>
          <a:solidFill>
            <a:srgbClr val="E7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move-s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0090" y="2939338"/>
            <a:ext cx="211226" cy="211226"/>
          </a:xfrm>
          <a:prstGeom prst="rect">
            <a:avLst/>
          </a:prstGeom>
          <a:effectLst/>
        </p:spPr>
      </p:pic>
      <p:sp>
        <p:nvSpPr>
          <p:cNvPr id="26" name="TextBox 25"/>
          <p:cNvSpPr txBox="1"/>
          <p:nvPr/>
        </p:nvSpPr>
        <p:spPr>
          <a:xfrm>
            <a:off x="7086600" y="2834639"/>
            <a:ext cx="4434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455A50"/>
                </a:solidFill>
                <a:latin typeface="Courier New"/>
              </a:rPr>
              <a:t>align-items: center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3127247"/>
            <a:ext cx="4434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06772"/>
                </a:solidFill>
                <a:latin typeface="Arial"/>
              </a:rPr>
              <a:t>vertically centre them</a:t>
            </a:r>
          </a:p>
        </p:txBody>
      </p:sp>
      <p:sp>
        <p:nvSpPr>
          <p:cNvPr id="28" name="Oval 27"/>
          <p:cNvSpPr/>
          <p:nvPr/>
        </p:nvSpPr>
        <p:spPr>
          <a:xfrm>
            <a:off x="6583680" y="3602735"/>
            <a:ext cx="384048" cy="384048"/>
          </a:xfrm>
          <a:prstGeom prst="ellipse">
            <a:avLst/>
          </a:prstGeom>
          <a:solidFill>
            <a:srgbClr val="E7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move-s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0090" y="3689146"/>
            <a:ext cx="211226" cy="211226"/>
          </a:xfrm>
          <a:prstGeom prst="rect">
            <a:avLst/>
          </a:prstGeom>
          <a:effectLst/>
        </p:spPr>
      </p:pic>
      <p:sp>
        <p:nvSpPr>
          <p:cNvPr id="30" name="TextBox 29"/>
          <p:cNvSpPr txBox="1"/>
          <p:nvPr/>
        </p:nvSpPr>
        <p:spPr>
          <a:xfrm>
            <a:off x="7086600" y="3584447"/>
            <a:ext cx="4434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455A50"/>
                </a:solidFill>
                <a:latin typeface="Courier New"/>
              </a:rPr>
              <a:t>gap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3877055"/>
            <a:ext cx="4434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06772"/>
                </a:solidFill>
                <a:latin typeface="Arial"/>
              </a:rPr>
              <a:t>even spacing without margins</a:t>
            </a:r>
          </a:p>
        </p:txBody>
      </p:sp>
      <p:sp>
        <p:nvSpPr>
          <p:cNvPr id="32" name="Oval 31"/>
          <p:cNvSpPr/>
          <p:nvPr/>
        </p:nvSpPr>
        <p:spPr>
          <a:xfrm>
            <a:off x="6583680" y="4352544"/>
            <a:ext cx="384048" cy="384048"/>
          </a:xfrm>
          <a:prstGeom prst="ellipse">
            <a:avLst/>
          </a:prstGeom>
          <a:solidFill>
            <a:srgbClr val="E7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move-s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0090" y="4438954"/>
            <a:ext cx="211226" cy="211226"/>
          </a:xfrm>
          <a:prstGeom prst="rect">
            <a:avLst/>
          </a:prstGeom>
          <a:effectLst/>
        </p:spPr>
      </p:pic>
      <p:sp>
        <p:nvSpPr>
          <p:cNvPr id="34" name="TextBox 33"/>
          <p:cNvSpPr txBox="1"/>
          <p:nvPr/>
        </p:nvSpPr>
        <p:spPr>
          <a:xfrm>
            <a:off x="7086600" y="4334256"/>
            <a:ext cx="4434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455A50"/>
                </a:solidFill>
                <a:latin typeface="Courier New"/>
              </a:rPr>
              <a:t>flex-wrap: wrap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86600" y="4626864"/>
            <a:ext cx="4434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06772"/>
                </a:solidFill>
                <a:latin typeface="Arial"/>
              </a:rPr>
              <a:t>fold onto the next line when tight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525780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A3AEB1"/>
                </a:solidFill>
                <a:latin typeface="Arial"/>
              </a:rPr>
              <a:t>Used in ~116 rules — top bar, toolbars, button groups, list rows.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246831" y="68580"/>
            <a:ext cx="548640" cy="548640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774407" y="857249"/>
            <a:ext cx="274320" cy="274320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804606" y="1117854"/>
            <a:ext cx="164592" cy="164592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37974" y="313182"/>
            <a:ext cx="128016" cy="128016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10882" y="5934456"/>
            <a:ext cx="475488" cy="475488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292316" y="5376672"/>
            <a:ext cx="219456" cy="219456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70681" y="5070348"/>
            <a:ext cx="146304" cy="146304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50568" y="116586"/>
            <a:ext cx="109728" cy="109728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1636969" y="4946904"/>
            <a:ext cx="256032" cy="256032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575212" y="6535674"/>
            <a:ext cx="164592" cy="164592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0080" y="580644"/>
            <a:ext cx="123444" cy="123444"/>
          </a:xfrm>
          <a:prstGeom prst="ellips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" y="5486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80">
                <a:solidFill>
                  <a:srgbClr val="B09F95"/>
                </a:solidFill>
                <a:latin typeface="Arial"/>
              </a:rPr>
              <a:t>04 · CSS3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822959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22252B"/>
                </a:solidFill>
                <a:latin typeface="Arial"/>
              </a:rPr>
              <a:t>Grid — structuring the layouts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1554480"/>
            <a:ext cx="6675120" cy="440372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91440" dist="50292" dir="5400000" rotWithShape="0">
              <a:srgbClr val="22252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calen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0"/>
            <a:ext cx="6675120" cy="4403725"/>
          </a:xfrm>
          <a:prstGeom prst="rect">
            <a:avLst/>
          </a:prstGeom>
          <a:effectLst/>
        </p:spPr>
      </p:pic>
      <p:sp>
        <p:nvSpPr>
          <p:cNvPr id="18" name="TextBox 17"/>
          <p:cNvSpPr txBox="1"/>
          <p:nvPr/>
        </p:nvSpPr>
        <p:spPr>
          <a:xfrm>
            <a:off x="640080" y="5138928"/>
            <a:ext cx="6675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A3AEB1"/>
                </a:solidFill>
                <a:latin typeface="Arial"/>
              </a:rPr>
              <a:t>The calendar — a true two-dimensional grid of seven columns.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1554480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B09F95"/>
                </a:solidFill>
                <a:latin typeface="Arial"/>
              </a:rPr>
              <a:t>Two-dimensional layout</a:t>
            </a:r>
          </a:p>
        </p:txBody>
      </p:sp>
      <p:sp>
        <p:nvSpPr>
          <p:cNvPr id="20" name="Oval 19"/>
          <p:cNvSpPr/>
          <p:nvPr/>
        </p:nvSpPr>
        <p:spPr>
          <a:xfrm>
            <a:off x="7498079" y="2103120"/>
            <a:ext cx="384048" cy="384048"/>
          </a:xfrm>
          <a:prstGeom prst="ellipse">
            <a:avLst/>
          </a:prstGeom>
          <a:solidFill>
            <a:srgbClr val="ED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grid-taup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4490" y="2189530"/>
            <a:ext cx="211226" cy="211226"/>
          </a:xfrm>
          <a:prstGeom prst="rect">
            <a:avLst/>
          </a:prstGeom>
          <a:effectLst/>
        </p:spPr>
      </p:pic>
      <p:sp>
        <p:nvSpPr>
          <p:cNvPr id="22" name="TextBox 21"/>
          <p:cNvSpPr txBox="1"/>
          <p:nvPr/>
        </p:nvSpPr>
        <p:spPr>
          <a:xfrm>
            <a:off x="8001000" y="2084831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2252B"/>
                </a:solidFill>
                <a:latin typeface="Arial"/>
              </a:rPr>
              <a:t>Rows &amp; columns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2377439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06772"/>
                </a:solidFill>
                <a:latin typeface="Arial"/>
              </a:rPr>
              <a:t>the calendar is 7 columns × N weeks</a:t>
            </a:r>
          </a:p>
        </p:txBody>
      </p:sp>
      <p:sp>
        <p:nvSpPr>
          <p:cNvPr id="24" name="Oval 23"/>
          <p:cNvSpPr/>
          <p:nvPr/>
        </p:nvSpPr>
        <p:spPr>
          <a:xfrm>
            <a:off x="7498079" y="2852927"/>
            <a:ext cx="384048" cy="384048"/>
          </a:xfrm>
          <a:prstGeom prst="ellipse">
            <a:avLst/>
          </a:prstGeom>
          <a:solidFill>
            <a:srgbClr val="ED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grid-taup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4490" y="2939338"/>
            <a:ext cx="211226" cy="211226"/>
          </a:xfrm>
          <a:prstGeom prst="rect">
            <a:avLst/>
          </a:prstGeom>
          <a:effectLst/>
        </p:spPr>
      </p:pic>
      <p:sp>
        <p:nvSpPr>
          <p:cNvPr id="26" name="TextBox 25"/>
          <p:cNvSpPr txBox="1"/>
          <p:nvPr/>
        </p:nvSpPr>
        <p:spPr>
          <a:xfrm>
            <a:off x="8001000" y="2834639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2252B"/>
                </a:solidFill>
                <a:latin typeface="Arial"/>
              </a:rPr>
              <a:t>Dashboard cards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3127247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06772"/>
                </a:solidFill>
                <a:latin typeface="Arial"/>
              </a:rPr>
              <a:t>auto-fitting stat grid</a:t>
            </a:r>
          </a:p>
        </p:txBody>
      </p:sp>
      <p:sp>
        <p:nvSpPr>
          <p:cNvPr id="28" name="Oval 27"/>
          <p:cNvSpPr/>
          <p:nvPr/>
        </p:nvSpPr>
        <p:spPr>
          <a:xfrm>
            <a:off x="7498079" y="3602735"/>
            <a:ext cx="384048" cy="384048"/>
          </a:xfrm>
          <a:prstGeom prst="ellipse">
            <a:avLst/>
          </a:prstGeom>
          <a:solidFill>
            <a:srgbClr val="ED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grid-taup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4490" y="3689146"/>
            <a:ext cx="211226" cy="211226"/>
          </a:xfrm>
          <a:prstGeom prst="rect">
            <a:avLst/>
          </a:prstGeom>
          <a:effectLst/>
        </p:spPr>
      </p:pic>
      <p:sp>
        <p:nvSpPr>
          <p:cNvPr id="30" name="TextBox 29"/>
          <p:cNvSpPr txBox="1"/>
          <p:nvPr/>
        </p:nvSpPr>
        <p:spPr>
          <a:xfrm>
            <a:off x="8001000" y="3584447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2252B"/>
                </a:solidFill>
                <a:latin typeface="Arial"/>
              </a:rPr>
              <a:t>Notes masonry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3877055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06772"/>
                </a:solidFill>
                <a:latin typeface="Arial"/>
              </a:rPr>
              <a:t>cards flow into a responsive grid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79" y="4526280"/>
            <a:ext cx="4069080" cy="1799295"/>
          </a:xfrm>
          <a:prstGeom prst="roundRect">
            <a:avLst>
              <a:gd name="adj" fmla="val 3500"/>
            </a:avLst>
          </a:prstGeom>
          <a:solidFill>
            <a:srgbClr val="1C2026"/>
          </a:solidFill>
          <a:ln>
            <a:noFill/>
          </a:ln>
          <a:effectLst>
            <a:outerShdw blurRad="91440" dist="50292" dir="5400000" rotWithShape="0">
              <a:srgbClr val="22252B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7735823" y="4681728"/>
            <a:ext cx="91440" cy="91440"/>
          </a:xfrm>
          <a:prstGeom prst="ellipse">
            <a:avLst/>
          </a:prstGeom>
          <a:solidFill>
            <a:srgbClr val="E06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7900415" y="4681728"/>
            <a:ext cx="91440" cy="91440"/>
          </a:xfrm>
          <a:prstGeom prst="ellipse">
            <a:avLst/>
          </a:prstGeom>
          <a:solidFill>
            <a:srgbClr val="E0B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8065007" y="4681728"/>
            <a:ext cx="91440" cy="91440"/>
          </a:xfrm>
          <a:prstGeom prst="ellipse">
            <a:avLst/>
          </a:prstGeom>
          <a:solidFill>
            <a:srgbClr val="8FB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302751" y="4617720"/>
            <a:ext cx="302666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A929C"/>
                </a:solidFill>
                <a:latin typeface="Courier New"/>
              </a:rPr>
              <a:t>styles/app.css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35823" y="5041087"/>
            <a:ext cx="3593592" cy="11643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>
                <a:solidFill>
                  <a:srgbClr val="D6C6B8"/>
                </a:solidFill>
                <a:latin typeface="Courier New"/>
              </a:rPr>
              <a:t>.cal-grid</a:t>
            </a:r>
            <a:r>
              <a:rPr sz="1100">
                <a:solidFill>
                  <a:srgbClr val="E7EAEE"/>
                </a:solidFill>
                <a:latin typeface="Courier New"/>
              </a:rPr>
              <a:t> {</a:t>
            </a:r>
          </a:p>
          <a:p>
            <a:pPr>
              <a:lnSpc>
                <a:spcPct val="128000"/>
              </a:lnSpc>
            </a:pPr>
            <a:r>
              <a:rPr sz="1100">
                <a:solidFill>
                  <a:srgbClr val="A9C3B0"/>
                </a:solidFill>
                <a:latin typeface="Courier New"/>
              </a:rPr>
              <a:t>  display</a:t>
            </a:r>
            <a:r>
              <a:rPr sz="1100">
                <a:solidFill>
                  <a:srgbClr val="E7EAEE"/>
                </a:solidFill>
                <a:latin typeface="Courier New"/>
              </a:rPr>
              <a:t>: </a:t>
            </a:r>
            <a:r>
              <a:rPr sz="1100">
                <a:solidFill>
                  <a:srgbClr val="B9C7CD"/>
                </a:solidFill>
                <a:latin typeface="Courier New"/>
              </a:rPr>
              <a:t>grid</a:t>
            </a:r>
            <a:r>
              <a:rPr sz="1100">
                <a:solidFill>
                  <a:srgbClr val="E7EAEE"/>
                </a:solidFill>
                <a:latin typeface="Courier New"/>
              </a:rPr>
              <a:t>;</a:t>
            </a:r>
          </a:p>
          <a:p>
            <a:pPr>
              <a:lnSpc>
                <a:spcPct val="128000"/>
              </a:lnSpc>
            </a:pPr>
            <a:r>
              <a:rPr sz="1100">
                <a:solidFill>
                  <a:srgbClr val="A9C3B0"/>
                </a:solidFill>
                <a:latin typeface="Courier New"/>
              </a:rPr>
              <a:t>  grid-template-columns</a:t>
            </a:r>
            <a:r>
              <a:rPr sz="1100">
                <a:solidFill>
                  <a:srgbClr val="E7EAEE"/>
                </a:solidFill>
                <a:latin typeface="Courier New"/>
              </a:rPr>
              <a:t>:</a:t>
            </a:r>
          </a:p>
          <a:p>
            <a:pPr>
              <a:lnSpc>
                <a:spcPct val="128000"/>
              </a:lnSpc>
            </a:pPr>
            <a:r>
              <a:rPr sz="1100">
                <a:solidFill>
                  <a:srgbClr val="CBB69F"/>
                </a:solidFill>
                <a:latin typeface="Courier New"/>
              </a:rPr>
              <a:t>    repeat(7, </a:t>
            </a:r>
            <a:r>
              <a:rPr sz="1100">
                <a:solidFill>
                  <a:srgbClr val="D6C6B8"/>
                </a:solidFill>
                <a:latin typeface="Courier New"/>
              </a:rPr>
              <a:t>minmax</a:t>
            </a:r>
            <a:r>
              <a:rPr sz="1100">
                <a:solidFill>
                  <a:srgbClr val="CBB69F"/>
                </a:solidFill>
                <a:latin typeface="Courier New"/>
              </a:rPr>
              <a:t>(0,1fr));</a:t>
            </a:r>
          </a:p>
          <a:p>
            <a:pPr>
              <a:lnSpc>
                <a:spcPct val="128000"/>
              </a:lnSpc>
            </a:pPr>
            <a:r>
              <a:rPr sz="1100">
                <a:solidFill>
                  <a:srgbClr val="E7EAEE"/>
                </a:solidFill>
                <a:latin typeface="Courier New"/>
              </a:rPr>
              <a:t>}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5532120"/>
            <a:ext cx="6675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A3AEB1"/>
                </a:solidFill>
                <a:latin typeface="Arial"/>
              </a:rPr>
              <a:t>Used in ~51 rules for every structured, two-dimensional layout.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246831" y="68580"/>
            <a:ext cx="548640" cy="548640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774407" y="857249"/>
            <a:ext cx="274320" cy="274320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804606" y="1117854"/>
            <a:ext cx="164592" cy="164592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37974" y="313182"/>
            <a:ext cx="128016" cy="128016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10882" y="5934456"/>
            <a:ext cx="475488" cy="475488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292316" y="5376672"/>
            <a:ext cx="219456" cy="219456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70681" y="5070348"/>
            <a:ext cx="146304" cy="146304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50568" y="116586"/>
            <a:ext cx="109728" cy="109728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1636969" y="4946904"/>
            <a:ext cx="256032" cy="256032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575212" y="6535674"/>
            <a:ext cx="164592" cy="164592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0080" y="580644"/>
            <a:ext cx="123444" cy="123444"/>
          </a:xfrm>
          <a:prstGeom prst="ellips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" y="5486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80">
                <a:solidFill>
                  <a:srgbClr val="B09F95"/>
                </a:solidFill>
                <a:latin typeface="Arial"/>
              </a:rPr>
              <a:t>04 · CSS3 · RESPONSIVE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822959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22252B"/>
                </a:solidFill>
                <a:latin typeface="Arial"/>
              </a:rPr>
              <a:t>One Synora, every screen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1880235"/>
            <a:ext cx="5623560" cy="351472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91440" dist="50292" dir="5400000" rotWithShape="0">
              <a:srgbClr val="22252B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dark_resp_desk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880235"/>
            <a:ext cx="5623560" cy="3514725"/>
          </a:xfrm>
          <a:prstGeom prst="rect">
            <a:avLst/>
          </a:prstGeom>
          <a:effectLst/>
        </p:spPr>
      </p:pic>
      <p:sp>
        <p:nvSpPr>
          <p:cNvPr id="18" name="TextBox 17"/>
          <p:cNvSpPr txBox="1"/>
          <p:nvPr/>
        </p:nvSpPr>
        <p:spPr>
          <a:xfrm>
            <a:off x="640080" y="5522976"/>
            <a:ext cx="5623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55A50"/>
                </a:solidFill>
                <a:latin typeface="Arial"/>
              </a:rPr>
              <a:t>1440px  ·  Desktop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80" y="2529840"/>
            <a:ext cx="2148840" cy="2865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91440" dist="50292" dir="5400000" rotWithShape="0">
              <a:srgbClr val="22252B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dark_resp_tabl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0" y="2529840"/>
            <a:ext cx="2148840" cy="2865120"/>
          </a:xfrm>
          <a:prstGeom prst="rect">
            <a:avLst/>
          </a:prstGeom>
          <a:effectLst/>
        </p:spPr>
      </p:pic>
      <p:sp>
        <p:nvSpPr>
          <p:cNvPr id="21" name="TextBox 20"/>
          <p:cNvSpPr txBox="1"/>
          <p:nvPr/>
        </p:nvSpPr>
        <p:spPr>
          <a:xfrm>
            <a:off x="7040880" y="5522976"/>
            <a:ext cx="2148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55A50"/>
                </a:solidFill>
                <a:latin typeface="Arial"/>
              </a:rPr>
              <a:t>768px  ·  Tablet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64040" y="2228791"/>
            <a:ext cx="1463040" cy="316616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91440" dist="50292" dir="5400000" rotWithShape="0">
              <a:srgbClr val="22252B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dark_resp_mob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4040" y="2228791"/>
            <a:ext cx="1463040" cy="3166168"/>
          </a:xfrm>
          <a:prstGeom prst="rect">
            <a:avLst/>
          </a:prstGeom>
          <a:effectLst/>
        </p:spPr>
      </p:pic>
      <p:sp>
        <p:nvSpPr>
          <p:cNvPr id="24" name="TextBox 23"/>
          <p:cNvSpPr txBox="1"/>
          <p:nvPr/>
        </p:nvSpPr>
        <p:spPr>
          <a:xfrm>
            <a:off x="9098280" y="552297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55A50"/>
                </a:solidFill>
                <a:latin typeface="Arial"/>
              </a:rPr>
              <a:t>390px  ·  Mobile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897880"/>
            <a:ext cx="10911535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32688" y="5897880"/>
            <a:ext cx="1036289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55A50"/>
                </a:solidFill>
                <a:latin typeface="Arial"/>
              </a:rPr>
              <a:t>Same landing page  </a:t>
            </a:r>
            <a:r>
              <a:rPr sz="1250" b="0">
                <a:solidFill>
                  <a:srgbClr val="606772"/>
                </a:solidFill>
                <a:latin typeface="Arial"/>
              </a:rPr>
              <a:t>— Flexbox + Grid reflow, </a:t>
            </a:r>
            <a:r>
              <a:rPr sz="1250" b="1">
                <a:solidFill>
                  <a:srgbClr val="455A50"/>
                </a:solidFill>
                <a:latin typeface="Courier New"/>
              </a:rPr>
              <a:t>23 media-query blocks</a:t>
            </a:r>
            <a:r>
              <a:rPr sz="1250" b="0">
                <a:solidFill>
                  <a:srgbClr val="606772"/>
                </a:solidFill>
                <a:latin typeface="Arial"/>
              </a:rPr>
              <a:t> adapt down, and the nav collapses to a CSS-only menu.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246831" y="68580"/>
            <a:ext cx="548640" cy="548640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774407" y="857249"/>
            <a:ext cx="274320" cy="274320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804606" y="1117854"/>
            <a:ext cx="164592" cy="164592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37974" y="313182"/>
            <a:ext cx="128016" cy="128016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10882" y="5934456"/>
            <a:ext cx="475488" cy="475488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292316" y="5376672"/>
            <a:ext cx="219456" cy="219456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70681" y="5070348"/>
            <a:ext cx="146304" cy="146304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50568" y="116586"/>
            <a:ext cx="109728" cy="109728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1636969" y="4946904"/>
            <a:ext cx="256032" cy="256032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575212" y="6535674"/>
            <a:ext cx="164592" cy="164592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0080" y="580644"/>
            <a:ext cx="123444" cy="123444"/>
          </a:xfrm>
          <a:prstGeom prst="ellips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" y="5486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80">
                <a:solidFill>
                  <a:srgbClr val="B09F95"/>
                </a:solidFill>
                <a:latin typeface="Arial"/>
              </a:rPr>
              <a:t>04 · CSS3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822959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22252B"/>
                </a:solidFill>
                <a:latin typeface="Arial"/>
              </a:rPr>
              <a:t>Dark mode &amp; theming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1536192"/>
            <a:ext cx="5230368" cy="326897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91440" dist="50292" dir="5400000" rotWithShape="0">
              <a:srgbClr val="22252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dashboard_desk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36192"/>
            <a:ext cx="5230368" cy="3268979"/>
          </a:xfrm>
          <a:prstGeom prst="rect">
            <a:avLst/>
          </a:prstGeom>
          <a:effectLst/>
        </p:spPr>
      </p:pic>
      <p:sp>
        <p:nvSpPr>
          <p:cNvPr id="18" name="TextBox 17"/>
          <p:cNvSpPr txBox="1"/>
          <p:nvPr/>
        </p:nvSpPr>
        <p:spPr>
          <a:xfrm>
            <a:off x="640080" y="4841748"/>
            <a:ext cx="52303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A3AEB1"/>
                </a:solidFill>
                <a:latin typeface="Arial"/>
              </a:rPr>
              <a:t>Light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536192"/>
            <a:ext cx="5230368" cy="326897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91440" dist="50292" dir="5400000" rotWithShape="0">
              <a:srgbClr val="22252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dark_dash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5624" y="1536192"/>
            <a:ext cx="5230368" cy="3268979"/>
          </a:xfrm>
          <a:prstGeom prst="rect">
            <a:avLst/>
          </a:prstGeom>
          <a:effectLst/>
        </p:spPr>
      </p:pic>
      <p:sp>
        <p:nvSpPr>
          <p:cNvPr id="21" name="TextBox 20"/>
          <p:cNvSpPr txBox="1"/>
          <p:nvPr/>
        </p:nvSpPr>
        <p:spPr>
          <a:xfrm>
            <a:off x="6135624" y="4841748"/>
            <a:ext cx="52303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A3AEB1"/>
                </a:solidFill>
                <a:latin typeface="Arial"/>
              </a:rPr>
              <a:t>Dark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230368"/>
            <a:ext cx="5669280" cy="1155557"/>
          </a:xfrm>
          <a:prstGeom prst="roundRect">
            <a:avLst>
              <a:gd name="adj" fmla="val 3500"/>
            </a:avLst>
          </a:prstGeom>
          <a:solidFill>
            <a:srgbClr val="1C2026"/>
          </a:solidFill>
          <a:ln>
            <a:noFill/>
          </a:ln>
          <a:effectLst>
            <a:outerShdw blurRad="91440" dist="50292" dir="5400000" rotWithShape="0">
              <a:srgbClr val="22252B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877824" y="5385816"/>
            <a:ext cx="91440" cy="91440"/>
          </a:xfrm>
          <a:prstGeom prst="ellipse">
            <a:avLst/>
          </a:prstGeom>
          <a:solidFill>
            <a:srgbClr val="E06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042415" y="5385816"/>
            <a:ext cx="91440" cy="91440"/>
          </a:xfrm>
          <a:prstGeom prst="ellipse">
            <a:avLst/>
          </a:prstGeom>
          <a:solidFill>
            <a:srgbClr val="E0B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207007" y="5385816"/>
            <a:ext cx="91440" cy="91440"/>
          </a:xfrm>
          <a:prstGeom prst="ellipse">
            <a:avLst/>
          </a:prstGeom>
          <a:solidFill>
            <a:srgbClr val="8FB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444752" y="5321807"/>
            <a:ext cx="462686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A929C"/>
                </a:solidFill>
                <a:latin typeface="Courier New"/>
              </a:rPr>
              <a:t>scripts/theme.js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5745175"/>
            <a:ext cx="5193792" cy="5205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>
                <a:solidFill>
                  <a:srgbClr val="A9C3B0"/>
                </a:solidFill>
                <a:latin typeface="Courier New"/>
              </a:rPr>
              <a:t>var</a:t>
            </a:r>
            <a:r>
              <a:rPr sz="1100">
                <a:solidFill>
                  <a:srgbClr val="E7EAEE"/>
                </a:solidFill>
                <a:latin typeface="Courier New"/>
              </a:rPr>
              <a:t> saved = localStorage.</a:t>
            </a:r>
            <a:r>
              <a:rPr sz="1100">
                <a:solidFill>
                  <a:srgbClr val="D6C6B8"/>
                </a:solidFill>
                <a:latin typeface="Courier New"/>
              </a:rPr>
              <a:t>getItem</a:t>
            </a:r>
            <a:r>
              <a:rPr sz="1100">
                <a:solidFill>
                  <a:srgbClr val="E7EAEE"/>
                </a:solidFill>
                <a:latin typeface="Courier New"/>
              </a:rPr>
              <a:t>(</a:t>
            </a:r>
            <a:r>
              <a:rPr sz="1100">
                <a:solidFill>
                  <a:srgbClr val="CBB69F"/>
                </a:solidFill>
                <a:latin typeface="Courier New"/>
              </a:rPr>
              <a:t>"synora-theme"</a:t>
            </a:r>
            <a:r>
              <a:rPr sz="1100">
                <a:solidFill>
                  <a:srgbClr val="E7EAEE"/>
                </a:solidFill>
                <a:latin typeface="Courier New"/>
              </a:rPr>
              <a:t>);</a:t>
            </a:r>
          </a:p>
          <a:p>
            <a:pPr>
              <a:lnSpc>
                <a:spcPct val="128000"/>
              </a:lnSpc>
            </a:pPr>
            <a:r>
              <a:rPr sz="1100">
                <a:solidFill>
                  <a:srgbClr val="E7EAEE"/>
                </a:solidFill>
                <a:latin typeface="Courier New"/>
              </a:rPr>
              <a:t>root.</a:t>
            </a:r>
            <a:r>
              <a:rPr sz="1100">
                <a:solidFill>
                  <a:srgbClr val="D6C6B8"/>
                </a:solidFill>
                <a:latin typeface="Courier New"/>
              </a:rPr>
              <a:t>setAttribute</a:t>
            </a:r>
            <a:r>
              <a:rPr sz="1100">
                <a:solidFill>
                  <a:srgbClr val="E7EAEE"/>
                </a:solidFill>
                <a:latin typeface="Courier New"/>
              </a:rPr>
              <a:t>(</a:t>
            </a:r>
            <a:r>
              <a:rPr sz="1100">
                <a:solidFill>
                  <a:srgbClr val="CBB69F"/>
                </a:solidFill>
                <a:latin typeface="Courier New"/>
              </a:rPr>
              <a:t>"data-theme"</a:t>
            </a:r>
            <a:r>
              <a:rPr sz="1100">
                <a:solidFill>
                  <a:srgbClr val="E7EAEE"/>
                </a:solidFill>
                <a:latin typeface="Courier New"/>
              </a:rPr>
              <a:t>, theme);</a:t>
            </a:r>
            <a:r>
              <a:rPr sz="1100">
                <a:solidFill>
                  <a:srgbClr val="7C8590"/>
                </a:solidFill>
                <a:latin typeface="Courier New"/>
              </a:rPr>
              <a:t>  // CSS reacts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5193792"/>
            <a:ext cx="51206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22252B"/>
                </a:solidFill>
                <a:latin typeface="Arial"/>
              </a:rPr>
              <a:t>Same tokens, two themes.  </a:t>
            </a:r>
          </a:p>
          <a:p>
            <a:pPr algn="l">
              <a:lnSpc>
                <a:spcPct val="122000"/>
              </a:lnSpc>
            </a:pPr>
            <a:r>
              <a:rPr sz="1150" b="1">
                <a:solidFill>
                  <a:srgbClr val="455A50"/>
                </a:solidFill>
                <a:latin typeface="Courier New"/>
              </a:rPr>
              <a:t>data-theme</a:t>
            </a:r>
            <a:r>
              <a:rPr sz="1150" b="0">
                <a:solidFill>
                  <a:srgbClr val="606772"/>
                </a:solidFill>
                <a:latin typeface="Arial"/>
              </a:rPr>
              <a:t> on </a:t>
            </a:r>
            <a:r>
              <a:rPr sz="1150" b="1">
                <a:solidFill>
                  <a:srgbClr val="455A50"/>
                </a:solidFill>
                <a:latin typeface="Courier New"/>
              </a:rPr>
              <a:t>&lt;html&gt;</a:t>
            </a:r>
            <a:r>
              <a:rPr sz="1150" b="0">
                <a:solidFill>
                  <a:srgbClr val="606772"/>
                </a:solidFill>
                <a:latin typeface="Arial"/>
              </a:rPr>
              <a:t> swaps every token; the choice is saved to localStorage and applied before first paint — no flash.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246831" y="68580"/>
            <a:ext cx="548640" cy="548640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774407" y="857249"/>
            <a:ext cx="274320" cy="274320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804606" y="1117854"/>
            <a:ext cx="164592" cy="164592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37974" y="313182"/>
            <a:ext cx="128016" cy="128016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10882" y="5934456"/>
            <a:ext cx="475488" cy="475488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292316" y="5376672"/>
            <a:ext cx="219456" cy="219456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70681" y="5070348"/>
            <a:ext cx="146304" cy="146304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50568" y="116586"/>
            <a:ext cx="109728" cy="109728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1636969" y="4946904"/>
            <a:ext cx="256032" cy="256032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575212" y="6535674"/>
            <a:ext cx="164592" cy="164592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0080" y="580644"/>
            <a:ext cx="123444" cy="123444"/>
          </a:xfrm>
          <a:prstGeom prst="ellips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" y="5486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80">
                <a:solidFill>
                  <a:srgbClr val="B09F95"/>
                </a:solidFill>
                <a:latin typeface="Arial"/>
              </a:rPr>
              <a:t>04 · CSS3 · USER EXPERIENCE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822959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22252B"/>
                </a:solidFill>
                <a:latin typeface="Arial"/>
              </a:rPr>
              <a:t>Before Synora appears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1783080"/>
            <a:ext cx="5623560" cy="351472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91440" dist="50292" dir="5400000" rotWithShape="0">
              <a:srgbClr val="22252B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loa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5623560" cy="3514725"/>
          </a:xfrm>
          <a:prstGeom prst="rect">
            <a:avLst/>
          </a:prstGeom>
          <a:effectLst/>
        </p:spPr>
      </p:pic>
      <p:sp>
        <p:nvSpPr>
          <p:cNvPr id="18" name="TextBox 17"/>
          <p:cNvSpPr txBox="1"/>
          <p:nvPr/>
        </p:nvSpPr>
        <p:spPr>
          <a:xfrm>
            <a:off x="640080" y="5389245"/>
            <a:ext cx="5623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1">
                <a:solidFill>
                  <a:srgbClr val="A3AEB1"/>
                </a:solidFill>
                <a:latin typeface="Arial"/>
              </a:rPr>
              <a:t>The Synora splash — logo, ring and wordmark.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181051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60">
                <a:solidFill>
                  <a:srgbClr val="B09F95"/>
                </a:solidFill>
                <a:latin typeface="Arial"/>
              </a:rPr>
              <a:t>THE FLOW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0" y="2148840"/>
            <a:ext cx="475488" cy="475488"/>
          </a:xfrm>
          <a:prstGeom prst="ellipse">
            <a:avLst/>
          </a:prstGeom>
          <a:solidFill>
            <a:srgbClr val="536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zap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2117" y="2262957"/>
            <a:ext cx="247253" cy="247253"/>
          </a:xfrm>
          <a:prstGeom prst="rect">
            <a:avLst/>
          </a:prstGeom>
          <a:effectLst/>
        </p:spPr>
      </p:pic>
      <p:sp>
        <p:nvSpPr>
          <p:cNvPr id="22" name="TextBox 21"/>
          <p:cNvSpPr txBox="1"/>
          <p:nvPr/>
        </p:nvSpPr>
        <p:spPr>
          <a:xfrm>
            <a:off x="7479792" y="2130552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2252B"/>
                </a:solidFill>
                <a:latin typeface="Arial"/>
              </a:rPr>
              <a:t>Splash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9792" y="2432304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06772"/>
                </a:solidFill>
                <a:latin typeface="Arial"/>
              </a:rPr>
              <a:t>logo, ring &amp; wordmark animate in</a:t>
            </a:r>
          </a:p>
        </p:txBody>
      </p:sp>
      <p:sp>
        <p:nvSpPr>
          <p:cNvPr id="24" name="Oval 23"/>
          <p:cNvSpPr/>
          <p:nvPr/>
        </p:nvSpPr>
        <p:spPr>
          <a:xfrm>
            <a:off x="6858000" y="2825496"/>
            <a:ext cx="475488" cy="475488"/>
          </a:xfrm>
          <a:prstGeom prst="ellipse">
            <a:avLst/>
          </a:prstGeom>
          <a:solidFill>
            <a:srgbClr val="536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move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2117" y="2939613"/>
            <a:ext cx="247253" cy="247253"/>
          </a:xfrm>
          <a:prstGeom prst="rect">
            <a:avLst/>
          </a:prstGeom>
          <a:effectLst/>
        </p:spPr>
      </p:pic>
      <p:sp>
        <p:nvSpPr>
          <p:cNvPr id="26" name="TextBox 25"/>
          <p:cNvSpPr txBox="1"/>
          <p:nvPr/>
        </p:nvSpPr>
        <p:spPr>
          <a:xfrm>
            <a:off x="7479792" y="2807208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2252B"/>
                </a:solidFill>
                <a:latin typeface="Arial"/>
              </a:rPr>
              <a:t>Handover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79792" y="3108960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06772"/>
                </a:solidFill>
                <a:latin typeface="Arial"/>
              </a:rPr>
              <a:t>the splash fades and lifts away</a:t>
            </a:r>
          </a:p>
        </p:txBody>
      </p:sp>
      <p:sp>
        <p:nvSpPr>
          <p:cNvPr id="28" name="Oval 27"/>
          <p:cNvSpPr/>
          <p:nvPr/>
        </p:nvSpPr>
        <p:spPr>
          <a:xfrm>
            <a:off x="6858000" y="3502152"/>
            <a:ext cx="475488" cy="475488"/>
          </a:xfrm>
          <a:prstGeom prst="ellipse">
            <a:avLst/>
          </a:prstGeom>
          <a:solidFill>
            <a:srgbClr val="536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layout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2117" y="3616269"/>
            <a:ext cx="247253" cy="247253"/>
          </a:xfrm>
          <a:prstGeom prst="rect">
            <a:avLst/>
          </a:prstGeom>
          <a:effectLst/>
        </p:spPr>
      </p:pic>
      <p:sp>
        <p:nvSpPr>
          <p:cNvPr id="30" name="TextBox 29"/>
          <p:cNvSpPr txBox="1"/>
          <p:nvPr/>
        </p:nvSpPr>
        <p:spPr>
          <a:xfrm>
            <a:off x="7479792" y="3483864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2252B"/>
                </a:solidFill>
                <a:latin typeface="Arial"/>
              </a:rPr>
              <a:t>Landing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79792" y="3785615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06772"/>
                </a:solidFill>
                <a:latin typeface="Arial"/>
              </a:rPr>
              <a:t>the hero arrives underneath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0" y="4407408"/>
            <a:ext cx="4663440" cy="0"/>
          </a:xfrm>
          <a:prstGeom prst="line">
            <a:avLst/>
          </a:prstGeom>
          <a:ln w="15240">
            <a:solidFill>
              <a:srgbClr val="E5E8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858000" y="45720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60">
                <a:solidFill>
                  <a:srgbClr val="B09F95"/>
                </a:solidFill>
                <a:latin typeface="Arial"/>
              </a:rPr>
              <a:t>HOW IT WORKS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4901184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55A50"/>
                </a:solidFill>
                <a:latin typeface="Courier New"/>
              </a:rPr>
              <a:t>CSS @keyframes  —  </a:t>
            </a:r>
            <a:r>
              <a:rPr sz="1100" b="0">
                <a:solidFill>
                  <a:srgbClr val="606772"/>
                </a:solidFill>
                <a:latin typeface="Arial"/>
              </a:rPr>
              <a:t>pure-CSS animation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5303520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55A50"/>
                </a:solidFill>
                <a:latin typeface="Courier New"/>
              </a:rPr>
              <a:t>JavaScript timing  —  </a:t>
            </a:r>
            <a:r>
              <a:rPr sz="1100" b="0">
                <a:solidFill>
                  <a:srgbClr val="606772"/>
                </a:solidFill>
                <a:latin typeface="Arial"/>
              </a:rPr>
              <a:t>shows ≥ 2000ms, then loader.remove()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5705856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55A50"/>
                </a:solidFill>
                <a:latin typeface="Courier New"/>
              </a:rPr>
              <a:t>Reduced motion  —  </a:t>
            </a:r>
            <a:r>
              <a:rPr sz="1100" b="0">
                <a:solidFill>
                  <a:srgbClr val="606772"/>
                </a:solidFill>
                <a:latin typeface="Arial"/>
              </a:rPr>
              <a:t>honoured — 600ms, no animation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246831" y="68580"/>
            <a:ext cx="548640" cy="548640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774407" y="857249"/>
            <a:ext cx="274320" cy="274320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804606" y="1117854"/>
            <a:ext cx="164592" cy="164592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37974" y="313182"/>
            <a:ext cx="128016" cy="128016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10882" y="5934456"/>
            <a:ext cx="475488" cy="475488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292316" y="5376672"/>
            <a:ext cx="219456" cy="219456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70681" y="5070348"/>
            <a:ext cx="146304" cy="146304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50568" y="116586"/>
            <a:ext cx="109728" cy="109728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1636969" y="4946904"/>
            <a:ext cx="256032" cy="256032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575212" y="6535674"/>
            <a:ext cx="164592" cy="164592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0080" y="580644"/>
            <a:ext cx="123444" cy="123444"/>
          </a:xfrm>
          <a:prstGeom prst="ellips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" y="5486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80">
                <a:solidFill>
                  <a:srgbClr val="B09F95"/>
                </a:solidFill>
                <a:latin typeface="Arial"/>
              </a:rPr>
              <a:t>05 · JAVASCRIPT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822959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22252B"/>
                </a:solidFill>
                <a:latin typeface="Arial"/>
              </a:rPr>
              <a:t>Making Synora interactive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1481328"/>
            <a:ext cx="1091153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0">
                <a:solidFill>
                  <a:srgbClr val="606772"/>
                </a:solidFill>
                <a:latin typeface="Arial"/>
              </a:rPr>
              <a:t>HTML and CSS render the page — JavaScript is what makes it respond. Every click, keystroke and toggle runs code that updates the screen: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8407" y="2670048"/>
            <a:ext cx="10234879" cy="91440"/>
          </a:xfrm>
          <a:prstGeom prst="roundRect">
            <a:avLst>
              <a:gd name="adj" fmla="val 50000"/>
            </a:avLst>
          </a:prstGeom>
          <a:solidFill>
            <a:srgbClr val="E7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Isosceles Triangle 17"/>
          <p:cNvSpPr/>
          <p:nvPr/>
        </p:nvSpPr>
        <p:spPr>
          <a:xfrm rot="5400000">
            <a:off x="2191473" y="2615184"/>
            <a:ext cx="201168" cy="201168"/>
          </a:xfrm>
          <a:prstGeom prst="triangle">
            <a:avLst/>
          </a:prstGeom>
          <a:solidFill>
            <a:srgbClr val="536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Isosceles Triangle 18"/>
          <p:cNvSpPr/>
          <p:nvPr/>
        </p:nvSpPr>
        <p:spPr>
          <a:xfrm rot="5400000">
            <a:off x="4727333" y="2615184"/>
            <a:ext cx="201168" cy="201168"/>
          </a:xfrm>
          <a:prstGeom prst="triangl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Isosceles Triangle 19"/>
          <p:cNvSpPr/>
          <p:nvPr/>
        </p:nvSpPr>
        <p:spPr>
          <a:xfrm rot="5400000">
            <a:off x="7263193" y="2615184"/>
            <a:ext cx="201168" cy="201168"/>
          </a:xfrm>
          <a:prstGeom prst="triangle">
            <a:avLst/>
          </a:prstGeom>
          <a:solidFill>
            <a:srgbClr val="536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Isosceles Triangle 20"/>
          <p:cNvSpPr/>
          <p:nvPr/>
        </p:nvSpPr>
        <p:spPr>
          <a:xfrm rot="5400000">
            <a:off x="9799053" y="2615184"/>
            <a:ext cx="201168" cy="201168"/>
          </a:xfrm>
          <a:prstGeom prst="triangl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40080" y="2331720"/>
            <a:ext cx="768096" cy="768096"/>
          </a:xfrm>
          <a:prstGeom prst="ellipse">
            <a:avLst/>
          </a:prstGeom>
          <a:solidFill>
            <a:srgbClr val="53655C"/>
          </a:solidFill>
          <a:ln>
            <a:noFill/>
          </a:ln>
          <a:effectLst>
            <a:outerShdw blurRad="91440" dist="50292" dir="5400000" rotWithShape="0">
              <a:srgbClr val="22252B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move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423" y="2516063"/>
            <a:ext cx="399409" cy="399409"/>
          </a:xfrm>
          <a:prstGeom prst="rect">
            <a:avLst/>
          </a:prstGeom>
          <a:effectLst/>
        </p:spPr>
      </p:pic>
      <p:sp>
        <p:nvSpPr>
          <p:cNvPr id="24" name="TextBox 23"/>
          <p:cNvSpPr txBox="1"/>
          <p:nvPr/>
        </p:nvSpPr>
        <p:spPr>
          <a:xfrm>
            <a:off x="-27432" y="3218687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22252B"/>
                </a:solidFill>
                <a:latin typeface="Arial"/>
              </a:rPr>
              <a:t>You act</a:t>
            </a:r>
          </a:p>
        </p:txBody>
      </p:sp>
      <p:sp>
        <p:nvSpPr>
          <p:cNvPr id="25" name="Oval 24"/>
          <p:cNvSpPr/>
          <p:nvPr/>
        </p:nvSpPr>
        <p:spPr>
          <a:xfrm>
            <a:off x="3175939" y="2331720"/>
            <a:ext cx="768096" cy="768096"/>
          </a:xfrm>
          <a:prstGeom prst="ellipse">
            <a:avLst/>
          </a:prstGeom>
          <a:solidFill>
            <a:srgbClr val="B09F95"/>
          </a:solidFill>
          <a:ln>
            <a:noFill/>
          </a:ln>
          <a:effectLst>
            <a:outerShdw blurRad="91440" dist="50292" dir="5400000" rotWithShape="0">
              <a:srgbClr val="22252B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zap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0282" y="2516063"/>
            <a:ext cx="399409" cy="399409"/>
          </a:xfrm>
          <a:prstGeom prst="rect">
            <a:avLst/>
          </a:prstGeom>
          <a:effectLst/>
        </p:spPr>
      </p:pic>
      <p:sp>
        <p:nvSpPr>
          <p:cNvPr id="27" name="TextBox 26"/>
          <p:cNvSpPr txBox="1"/>
          <p:nvPr/>
        </p:nvSpPr>
        <p:spPr>
          <a:xfrm>
            <a:off x="2508427" y="3218687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22252B"/>
                </a:solidFill>
                <a:latin typeface="Arial"/>
              </a:rPr>
              <a:t>Event fires</a:t>
            </a:r>
          </a:p>
        </p:txBody>
      </p:sp>
      <p:sp>
        <p:nvSpPr>
          <p:cNvPr id="28" name="Oval 27"/>
          <p:cNvSpPr/>
          <p:nvPr/>
        </p:nvSpPr>
        <p:spPr>
          <a:xfrm>
            <a:off x="5711799" y="2331720"/>
            <a:ext cx="768096" cy="768096"/>
          </a:xfrm>
          <a:prstGeom prst="ellipse">
            <a:avLst/>
          </a:prstGeom>
          <a:solidFill>
            <a:srgbClr val="53655C"/>
          </a:solidFill>
          <a:ln>
            <a:noFill/>
          </a:ln>
          <a:effectLst>
            <a:outerShdw blurRad="91440" dist="50292" dir="5400000" rotWithShape="0">
              <a:srgbClr val="22252B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cpu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96142" y="2516063"/>
            <a:ext cx="399409" cy="399409"/>
          </a:xfrm>
          <a:prstGeom prst="rect">
            <a:avLst/>
          </a:prstGeom>
          <a:effectLst/>
        </p:spPr>
      </p:pic>
      <p:sp>
        <p:nvSpPr>
          <p:cNvPr id="30" name="TextBox 29"/>
          <p:cNvSpPr txBox="1"/>
          <p:nvPr/>
        </p:nvSpPr>
        <p:spPr>
          <a:xfrm>
            <a:off x="5044287" y="3218687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22252B"/>
                </a:solidFill>
                <a:latin typeface="Arial"/>
              </a:rPr>
              <a:t>JS runs</a:t>
            </a:r>
          </a:p>
        </p:txBody>
      </p:sp>
      <p:sp>
        <p:nvSpPr>
          <p:cNvPr id="31" name="Oval 30"/>
          <p:cNvSpPr/>
          <p:nvPr/>
        </p:nvSpPr>
        <p:spPr>
          <a:xfrm>
            <a:off x="8247659" y="2331720"/>
            <a:ext cx="768096" cy="768096"/>
          </a:xfrm>
          <a:prstGeom prst="ellipse">
            <a:avLst/>
          </a:prstGeom>
          <a:solidFill>
            <a:srgbClr val="B09F95"/>
          </a:solidFill>
          <a:ln>
            <a:noFill/>
          </a:ln>
          <a:effectLst>
            <a:outerShdw blurRad="91440" dist="50292" dir="5400000" rotWithShape="0">
              <a:srgbClr val="22252B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git-branch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2002" y="2516063"/>
            <a:ext cx="399409" cy="399409"/>
          </a:xfrm>
          <a:prstGeom prst="rect">
            <a:avLst/>
          </a:prstGeom>
          <a:effectLst/>
        </p:spPr>
      </p:pic>
      <p:sp>
        <p:nvSpPr>
          <p:cNvPr id="33" name="TextBox 32"/>
          <p:cNvSpPr txBox="1"/>
          <p:nvPr/>
        </p:nvSpPr>
        <p:spPr>
          <a:xfrm>
            <a:off x="7580147" y="3218687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22252B"/>
                </a:solidFill>
                <a:latin typeface="Arial"/>
              </a:rPr>
              <a:t>DOM updates</a:t>
            </a:r>
          </a:p>
        </p:txBody>
      </p:sp>
      <p:sp>
        <p:nvSpPr>
          <p:cNvPr id="34" name="Oval 33"/>
          <p:cNvSpPr/>
          <p:nvPr/>
        </p:nvSpPr>
        <p:spPr>
          <a:xfrm>
            <a:off x="10783519" y="2331720"/>
            <a:ext cx="768096" cy="768096"/>
          </a:xfrm>
          <a:prstGeom prst="ellipse">
            <a:avLst/>
          </a:prstGeom>
          <a:solidFill>
            <a:srgbClr val="53655C"/>
          </a:solidFill>
          <a:ln>
            <a:noFill/>
          </a:ln>
          <a:effectLst>
            <a:outerShdw blurRad="91440" dist="50292" dir="5400000" rotWithShape="0">
              <a:srgbClr val="22252B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eye-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67862" y="2516063"/>
            <a:ext cx="399409" cy="399409"/>
          </a:xfrm>
          <a:prstGeom prst="rect">
            <a:avLst/>
          </a:prstGeom>
          <a:effectLst/>
        </p:spPr>
      </p:pic>
      <p:sp>
        <p:nvSpPr>
          <p:cNvPr id="36" name="TextBox 35"/>
          <p:cNvSpPr txBox="1"/>
          <p:nvPr/>
        </p:nvSpPr>
        <p:spPr>
          <a:xfrm>
            <a:off x="10116007" y="3218687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22252B"/>
                </a:solidFill>
                <a:latin typeface="Arial"/>
              </a:rPr>
              <a:t>You see it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3794760"/>
            <a:ext cx="3401568" cy="21259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91440" dist="50292" dir="5400000" rotWithShape="0">
              <a:srgbClr val="22252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Picture 37" descr="task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" y="3794760"/>
            <a:ext cx="3401568" cy="2125980"/>
          </a:xfrm>
          <a:prstGeom prst="rect">
            <a:avLst/>
          </a:prstGeom>
          <a:effectLst/>
        </p:spPr>
      </p:pic>
      <p:sp>
        <p:nvSpPr>
          <p:cNvPr id="39" name="TextBox 38"/>
          <p:cNvSpPr txBox="1"/>
          <p:nvPr/>
        </p:nvSpPr>
        <p:spPr>
          <a:xfrm>
            <a:off x="640080" y="5993892"/>
            <a:ext cx="340156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606772"/>
                </a:solidFill>
                <a:latin typeface="Arial"/>
              </a:rPr>
              <a:t>Tick a task → it completes and the counts drop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95063" y="3794760"/>
            <a:ext cx="3401568" cy="21259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91440" dist="50292" dir="5400000" rotWithShape="0">
              <a:srgbClr val="22252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Picture 40" descr="attendanc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95063" y="3794760"/>
            <a:ext cx="3401568" cy="2125980"/>
          </a:xfrm>
          <a:prstGeom prst="rect">
            <a:avLst/>
          </a:prstGeom>
          <a:effectLst/>
        </p:spPr>
      </p:pic>
      <p:sp>
        <p:nvSpPr>
          <p:cNvPr id="42" name="TextBox 41"/>
          <p:cNvSpPr txBox="1"/>
          <p:nvPr/>
        </p:nvSpPr>
        <p:spPr>
          <a:xfrm>
            <a:off x="4395063" y="5993892"/>
            <a:ext cx="340156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606772"/>
                </a:solidFill>
                <a:latin typeface="Arial"/>
              </a:rPr>
              <a:t>Tap +/− → every percentage recomputes live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50047" y="3794760"/>
            <a:ext cx="3401568" cy="21259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91440" dist="50292" dir="5400000" rotWithShape="0">
              <a:srgbClr val="22252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dark_dashboar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50047" y="3794760"/>
            <a:ext cx="3401568" cy="2125980"/>
          </a:xfrm>
          <a:prstGeom prst="rect">
            <a:avLst/>
          </a:prstGeom>
          <a:effectLst/>
        </p:spPr>
      </p:pic>
      <p:sp>
        <p:nvSpPr>
          <p:cNvPr id="45" name="TextBox 44"/>
          <p:cNvSpPr txBox="1"/>
          <p:nvPr/>
        </p:nvSpPr>
        <p:spPr>
          <a:xfrm>
            <a:off x="8150047" y="5993892"/>
            <a:ext cx="340156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606772"/>
                </a:solidFill>
                <a:latin typeface="Arial"/>
              </a:rPr>
              <a:t>Toggle the theme → the whole app repaints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246831" y="68580"/>
            <a:ext cx="548640" cy="548640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774407" y="857249"/>
            <a:ext cx="274320" cy="274320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804606" y="1117854"/>
            <a:ext cx="164592" cy="164592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37974" y="313182"/>
            <a:ext cx="128016" cy="128016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10882" y="5934456"/>
            <a:ext cx="475488" cy="475488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292316" y="5376672"/>
            <a:ext cx="219456" cy="219456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70681" y="5070348"/>
            <a:ext cx="146304" cy="146304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50568" y="116586"/>
            <a:ext cx="109728" cy="109728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1636969" y="4946904"/>
            <a:ext cx="256032" cy="256032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575212" y="6535674"/>
            <a:ext cx="164592" cy="164592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0080" y="580644"/>
            <a:ext cx="123444" cy="123444"/>
          </a:xfrm>
          <a:prstGeom prst="ellips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" y="5486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80">
                <a:solidFill>
                  <a:srgbClr val="B09F95"/>
                </a:solidFill>
                <a:latin typeface="Arial"/>
              </a:rPr>
              <a:t>05 · JAVASCRIPT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822959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22252B"/>
                </a:solidFill>
                <a:latin typeface="Arial"/>
              </a:rPr>
              <a:t>The logic we coded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1481328"/>
            <a:ext cx="1091153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06772"/>
                </a:solidFill>
                <a:latin typeface="Arial"/>
              </a:rPr>
              <a:t>The academic numbers aren't stored — JavaScript computes them live from your subjects. The real formulas behind the screens: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1874519"/>
            <a:ext cx="5358384" cy="16916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24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96112" y="2093976"/>
            <a:ext cx="457200" cy="457200"/>
          </a:xfrm>
          <a:prstGeom prst="ellipse">
            <a:avLst/>
          </a:prstGeom>
          <a:solidFill>
            <a:srgbClr val="536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percent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203704"/>
            <a:ext cx="237744" cy="237744"/>
          </a:xfrm>
          <a:prstGeom prst="rect">
            <a:avLst/>
          </a:prstGeom>
          <a:effectLst/>
        </p:spPr>
      </p:pic>
      <p:sp>
        <p:nvSpPr>
          <p:cNvPr id="20" name="TextBox 19"/>
          <p:cNvSpPr txBox="1"/>
          <p:nvPr/>
        </p:nvSpPr>
        <p:spPr>
          <a:xfrm>
            <a:off x="1481328" y="2075688"/>
            <a:ext cx="43068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2252B"/>
                </a:solidFill>
                <a:latin typeface="Arial"/>
              </a:rPr>
              <a:t>Attendance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6112" y="2624327"/>
            <a:ext cx="4846320" cy="512064"/>
          </a:xfrm>
          <a:prstGeom prst="roundRect">
            <a:avLst>
              <a:gd name="adj" fmla="val 6000"/>
            </a:avLst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05840" y="2624327"/>
            <a:ext cx="4626864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A9C3B0"/>
                </a:solidFill>
                <a:latin typeface="Courier New"/>
              </a:rPr>
              <a:t>attended / held × 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3209544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06772"/>
                </a:solidFill>
                <a:latin typeface="Arial"/>
              </a:rPr>
              <a:t>how much of each subject you've attended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3231" y="1874519"/>
            <a:ext cx="5358384" cy="16916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24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6449263" y="2093976"/>
            <a:ext cx="457200" cy="457200"/>
          </a:xfrm>
          <a:prstGeom prst="ellips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trending-up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8991" y="2203704"/>
            <a:ext cx="237744" cy="237744"/>
          </a:xfrm>
          <a:prstGeom prst="rect">
            <a:avLst/>
          </a:prstGeom>
          <a:effectLst/>
        </p:spPr>
      </p:pic>
      <p:sp>
        <p:nvSpPr>
          <p:cNvPr id="27" name="TextBox 26"/>
          <p:cNvSpPr txBox="1"/>
          <p:nvPr/>
        </p:nvSpPr>
        <p:spPr>
          <a:xfrm>
            <a:off x="7034479" y="2075688"/>
            <a:ext cx="43068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2252B"/>
                </a:solidFill>
                <a:latin typeface="Arial"/>
              </a:rPr>
              <a:t>CGPA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49263" y="2624327"/>
            <a:ext cx="4846320" cy="512064"/>
          </a:xfrm>
          <a:prstGeom prst="roundRect">
            <a:avLst>
              <a:gd name="adj" fmla="val 6000"/>
            </a:avLst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58991" y="2624327"/>
            <a:ext cx="4626864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A9C3B0"/>
                </a:solidFill>
                <a:latin typeface="Courier New"/>
              </a:rPr>
              <a:t>Σ(credits × grade point) / Σ(credits)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9263" y="3209544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06772"/>
                </a:solidFill>
                <a:latin typeface="Arial"/>
              </a:rPr>
              <a:t>weighted by each subject's credits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3721608"/>
            <a:ext cx="5358384" cy="16916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24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896112" y="3941064"/>
            <a:ext cx="457200" cy="457200"/>
          </a:xfrm>
          <a:prstGeom prst="ellipse">
            <a:avLst/>
          </a:prstGeom>
          <a:solidFill>
            <a:srgbClr val="536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check-circle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4050792"/>
            <a:ext cx="237744" cy="237744"/>
          </a:xfrm>
          <a:prstGeom prst="rect">
            <a:avLst/>
          </a:prstGeom>
          <a:effectLst/>
        </p:spPr>
      </p:pic>
      <p:sp>
        <p:nvSpPr>
          <p:cNvPr id="34" name="TextBox 33"/>
          <p:cNvSpPr txBox="1"/>
          <p:nvPr/>
        </p:nvSpPr>
        <p:spPr>
          <a:xfrm>
            <a:off x="1481328" y="3922776"/>
            <a:ext cx="43068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2252B"/>
                </a:solidFill>
                <a:latin typeface="Arial"/>
              </a:rPr>
              <a:t>Classes you can safely miss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2" y="4471416"/>
            <a:ext cx="4846320" cy="512064"/>
          </a:xfrm>
          <a:prstGeom prst="roundRect">
            <a:avLst>
              <a:gd name="adj" fmla="val 6000"/>
            </a:avLst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05840" y="4471416"/>
            <a:ext cx="4626864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A9C3B0"/>
                </a:solidFill>
                <a:latin typeface="Courier New"/>
              </a:rPr>
              <a:t>floor(attended × 100 / target) − held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6112" y="5056632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06772"/>
                </a:solidFill>
                <a:latin typeface="Arial"/>
              </a:rPr>
              <a:t>when you're already above target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93231" y="3721608"/>
            <a:ext cx="5358384" cy="16916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24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6449263" y="3941064"/>
            <a:ext cx="457200" cy="457200"/>
          </a:xfrm>
          <a:prstGeom prst="ellips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alert-triangle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8991" y="4050792"/>
            <a:ext cx="237744" cy="237744"/>
          </a:xfrm>
          <a:prstGeom prst="rect">
            <a:avLst/>
          </a:prstGeom>
          <a:effectLst/>
        </p:spPr>
      </p:pic>
      <p:sp>
        <p:nvSpPr>
          <p:cNvPr id="41" name="TextBox 40"/>
          <p:cNvSpPr txBox="1"/>
          <p:nvPr/>
        </p:nvSpPr>
        <p:spPr>
          <a:xfrm>
            <a:off x="7034479" y="3922776"/>
            <a:ext cx="43068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2252B"/>
                </a:solidFill>
                <a:latin typeface="Arial"/>
              </a:rPr>
              <a:t>Classes to attend in a row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49263" y="4471416"/>
            <a:ext cx="4846320" cy="512064"/>
          </a:xfrm>
          <a:prstGeom prst="roundRect">
            <a:avLst>
              <a:gd name="adj" fmla="val 6000"/>
            </a:avLst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558991" y="4471416"/>
            <a:ext cx="4626864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A9C3B0"/>
                </a:solidFill>
                <a:latin typeface="Courier New"/>
              </a:rPr>
              <a:t>ceil((target × held − 100 × attended) / (100 − target))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49263" y="5056632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06772"/>
                </a:solidFill>
                <a:latin typeface="Arial"/>
              </a:rPr>
              <a:t>to climb back above target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0080" y="5568696"/>
            <a:ext cx="10911535" cy="658368"/>
          </a:xfrm>
          <a:prstGeom prst="roundRect">
            <a:avLst>
              <a:gd name="adj" fmla="val 10000"/>
            </a:avLst>
          </a:prstGeom>
          <a:solidFill>
            <a:srgbClr val="22252B"/>
          </a:solidFill>
          <a:ln>
            <a:noFill/>
          </a:ln>
          <a:effectLst>
            <a:outerShdw blurRad="91440" dist="50292" dir="5400000" rotWithShape="0">
              <a:srgbClr val="22252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932688" y="5568696"/>
            <a:ext cx="10362895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9B9AE"/>
                </a:solidFill>
                <a:latin typeface="Arial"/>
              </a:rPr>
              <a:t>Subjects are the source of truth  —  </a:t>
            </a:r>
            <a:r>
              <a:rPr sz="1250" b="0">
                <a:solidFill>
                  <a:srgbClr val="F3F1EC"/>
                </a:solidFill>
                <a:latin typeface="Arial"/>
              </a:rPr>
              <a:t>attendance, CGPA, timetable and tasks all reference a subject by id, in each user's own workspace.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246831" y="68580"/>
            <a:ext cx="548640" cy="548640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774407" y="857249"/>
            <a:ext cx="274320" cy="274320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804606" y="1117854"/>
            <a:ext cx="164592" cy="164592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37974" y="313182"/>
            <a:ext cx="128016" cy="128016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10882" y="5934456"/>
            <a:ext cx="475488" cy="475488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292316" y="5376672"/>
            <a:ext cx="219456" cy="219456"/>
          </a:xfrm>
          <a:prstGeom prst="ellipse">
            <a:avLst/>
          </a:prstGeom>
          <a:solidFill>
            <a:srgbClr val="D3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70681" y="5070348"/>
            <a:ext cx="146304" cy="146304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50568" y="116586"/>
            <a:ext cx="109728" cy="109728"/>
          </a:xfrm>
          <a:prstGeom prst="ellipse">
            <a:avLst/>
          </a:prstGeom>
          <a:solidFill>
            <a:srgbClr val="EB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1636969" y="4946904"/>
            <a:ext cx="256032" cy="256032"/>
          </a:xfrm>
          <a:prstGeom prst="ellipse">
            <a:avLst/>
          </a:prstGeom>
          <a:solidFill>
            <a:srgbClr val="E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575212" y="6535674"/>
            <a:ext cx="164592" cy="164592"/>
          </a:xfrm>
          <a:prstGeom prst="ellipse">
            <a:avLst/>
          </a:prstGeom>
          <a:solidFill>
            <a:srgbClr val="DCC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0080" y="580644"/>
            <a:ext cx="123444" cy="123444"/>
          </a:xfrm>
          <a:prstGeom prst="ellipse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" y="5486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80">
                <a:solidFill>
                  <a:srgbClr val="B09F95"/>
                </a:solidFill>
                <a:latin typeface="Arial"/>
              </a:rPr>
              <a:t>SUMMARY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822959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22252B"/>
                </a:solidFill>
                <a:latin typeface="Arial"/>
              </a:rPr>
              <a:t>What we built beyond the syllabus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1600200"/>
            <a:ext cx="2880360" cy="4114800"/>
          </a:xfrm>
          <a:prstGeom prst="roundRect">
            <a:avLst>
              <a:gd name="adj" fmla="val 6000"/>
            </a:avLst>
          </a:prstGeom>
          <a:solidFill>
            <a:srgbClr val="22252B"/>
          </a:solidFill>
          <a:ln>
            <a:noFill/>
          </a:ln>
          <a:effectLst>
            <a:outerShdw blurRad="91440" dist="50292" dir="5400000" rotWithShape="0">
              <a:srgbClr val="22252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1847088"/>
            <a:ext cx="2880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spc="160">
                <a:solidFill>
                  <a:srgbClr val="C9B9AE"/>
                </a:solidFill>
                <a:latin typeface="Arial"/>
              </a:rPr>
              <a:t>SYLLABUS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286000"/>
            <a:ext cx="2880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3F1EC"/>
                </a:solidFill>
                <a:latin typeface="Arial"/>
              </a:rPr>
              <a:t>HTML5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743200"/>
            <a:ext cx="2880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3F1EC"/>
                </a:solidFill>
                <a:latin typeface="Arial"/>
              </a:rPr>
              <a:t>CSS3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200400"/>
            <a:ext cx="2880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3F1EC"/>
                </a:solidFill>
                <a:latin typeface="Arial"/>
              </a:rPr>
              <a:t>JavaScript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657600"/>
            <a:ext cx="2880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3F1EC"/>
                </a:solidFill>
                <a:latin typeface="Arial"/>
              </a:rPr>
              <a:t>DOM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114800"/>
            <a:ext cx="2880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3F1EC"/>
                </a:solidFill>
                <a:latin typeface="Arial"/>
              </a:rPr>
              <a:t>Events</a:t>
            </a:r>
          </a:p>
        </p:txBody>
      </p:sp>
      <p:sp>
        <p:nvSpPr>
          <p:cNvPr id="23" name="Chevron 22"/>
          <p:cNvSpPr/>
          <p:nvPr/>
        </p:nvSpPr>
        <p:spPr>
          <a:xfrm>
            <a:off x="3703320" y="3474720"/>
            <a:ext cx="402336" cy="365760"/>
          </a:xfrm>
          <a:prstGeom prst="chevron">
            <a:avLst/>
          </a:prstGeom>
          <a:solidFill>
            <a:srgbClr val="B09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4434840" y="1627632"/>
            <a:ext cx="3401568" cy="5852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4544568" y="1737360"/>
            <a:ext cx="365760" cy="365760"/>
          </a:xfrm>
          <a:prstGeom prst="ellipse">
            <a:avLst/>
          </a:prstGeom>
          <a:solidFill>
            <a:srgbClr val="E7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lock-s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5035" y="1817827"/>
            <a:ext cx="204825" cy="204825"/>
          </a:xfrm>
          <a:prstGeom prst="rect">
            <a:avLst/>
          </a:prstGeom>
          <a:effectLst/>
        </p:spPr>
      </p:pic>
      <p:sp>
        <p:nvSpPr>
          <p:cNvPr id="27" name="TextBox 26"/>
          <p:cNvSpPr txBox="1"/>
          <p:nvPr/>
        </p:nvSpPr>
        <p:spPr>
          <a:xfrm>
            <a:off x="5020055" y="1627632"/>
            <a:ext cx="2761488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2252B"/>
                </a:solidFill>
                <a:latin typeface="Arial"/>
              </a:rPr>
              <a:t>Authentication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93227" y="1627632"/>
            <a:ext cx="3401568" cy="5852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8102955" y="1737360"/>
            <a:ext cx="365760" cy="365760"/>
          </a:xfrm>
          <a:prstGeom prst="ellipse">
            <a:avLst/>
          </a:prstGeom>
          <a:solidFill>
            <a:srgbClr val="E7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Picture 29" descr="sliders-s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422" y="1817827"/>
            <a:ext cx="204825" cy="204825"/>
          </a:xfrm>
          <a:prstGeom prst="rect">
            <a:avLst/>
          </a:prstGeom>
          <a:effectLst/>
        </p:spPr>
      </p:pic>
      <p:sp>
        <p:nvSpPr>
          <p:cNvPr id="31" name="TextBox 30"/>
          <p:cNvSpPr txBox="1"/>
          <p:nvPr/>
        </p:nvSpPr>
        <p:spPr>
          <a:xfrm>
            <a:off x="8578443" y="1627632"/>
            <a:ext cx="2761488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2252B"/>
                </a:solidFill>
                <a:latin typeface="Arial"/>
              </a:rPr>
              <a:t>Personalized onboarding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34840" y="2313432"/>
            <a:ext cx="3401568" cy="5852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4544568" y="2423160"/>
            <a:ext cx="365760" cy="365760"/>
          </a:xfrm>
          <a:prstGeom prst="ellipse">
            <a:avLst/>
          </a:prstGeom>
          <a:solidFill>
            <a:srgbClr val="E7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user-s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25035" y="2503627"/>
            <a:ext cx="204825" cy="204825"/>
          </a:xfrm>
          <a:prstGeom prst="rect">
            <a:avLst/>
          </a:prstGeom>
          <a:effectLst/>
        </p:spPr>
      </p:pic>
      <p:sp>
        <p:nvSpPr>
          <p:cNvPr id="35" name="TextBox 34"/>
          <p:cNvSpPr txBox="1"/>
          <p:nvPr/>
        </p:nvSpPr>
        <p:spPr>
          <a:xfrm>
            <a:off x="5020055" y="2313432"/>
            <a:ext cx="2761488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2252B"/>
                </a:solidFill>
                <a:latin typeface="Arial"/>
              </a:rPr>
              <a:t>Avatar system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93227" y="2313432"/>
            <a:ext cx="3401568" cy="5852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8102955" y="2423160"/>
            <a:ext cx="365760" cy="365760"/>
          </a:xfrm>
          <a:prstGeom prst="ellipse">
            <a:avLst/>
          </a:prstGeom>
          <a:solidFill>
            <a:srgbClr val="E7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Picture 37" descr="check-square-s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3422" y="2503627"/>
            <a:ext cx="204825" cy="204825"/>
          </a:xfrm>
          <a:prstGeom prst="rect">
            <a:avLst/>
          </a:prstGeom>
          <a:effectLst/>
        </p:spPr>
      </p:pic>
      <p:sp>
        <p:nvSpPr>
          <p:cNvPr id="39" name="TextBox 38"/>
          <p:cNvSpPr txBox="1"/>
          <p:nvPr/>
        </p:nvSpPr>
        <p:spPr>
          <a:xfrm>
            <a:off x="8578443" y="2313432"/>
            <a:ext cx="2761488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2252B"/>
                </a:solidFill>
                <a:latin typeface="Arial"/>
              </a:rPr>
              <a:t>Task management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34840" y="2999232"/>
            <a:ext cx="3401568" cy="5852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4544568" y="3108960"/>
            <a:ext cx="365760" cy="365760"/>
          </a:xfrm>
          <a:prstGeom prst="ellipse">
            <a:avLst/>
          </a:prstGeom>
          <a:solidFill>
            <a:srgbClr val="E7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Picture 41" descr="calendar-s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25035" y="3189427"/>
            <a:ext cx="204825" cy="204825"/>
          </a:xfrm>
          <a:prstGeom prst="rect">
            <a:avLst/>
          </a:prstGeom>
          <a:effectLst/>
        </p:spPr>
      </p:pic>
      <p:sp>
        <p:nvSpPr>
          <p:cNvPr id="43" name="TextBox 42"/>
          <p:cNvSpPr txBox="1"/>
          <p:nvPr/>
        </p:nvSpPr>
        <p:spPr>
          <a:xfrm>
            <a:off x="5020055" y="2999232"/>
            <a:ext cx="2761488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2252B"/>
                </a:solidFill>
                <a:latin typeface="Arial"/>
              </a:rPr>
              <a:t>Calendar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993227" y="2999232"/>
            <a:ext cx="3401568" cy="5852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8102955" y="3108960"/>
            <a:ext cx="365760" cy="365760"/>
          </a:xfrm>
          <a:prstGeom prst="ellipse">
            <a:avLst/>
          </a:prstGeom>
          <a:solidFill>
            <a:srgbClr val="E7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6" name="Picture 45" descr="feather-s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83422" y="3189427"/>
            <a:ext cx="204825" cy="204825"/>
          </a:xfrm>
          <a:prstGeom prst="rect">
            <a:avLst/>
          </a:prstGeom>
          <a:effectLst/>
        </p:spPr>
      </p:pic>
      <p:sp>
        <p:nvSpPr>
          <p:cNvPr id="47" name="TextBox 46"/>
          <p:cNvSpPr txBox="1"/>
          <p:nvPr/>
        </p:nvSpPr>
        <p:spPr>
          <a:xfrm>
            <a:off x="8578443" y="2999232"/>
            <a:ext cx="2761488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2252B"/>
                </a:solidFill>
                <a:latin typeface="Arial"/>
              </a:rPr>
              <a:t>Quick Notes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434840" y="3685032"/>
            <a:ext cx="3401568" cy="5852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4544568" y="3794760"/>
            <a:ext cx="365760" cy="365760"/>
          </a:xfrm>
          <a:prstGeom prst="ellipse">
            <a:avLst/>
          </a:prstGeom>
          <a:solidFill>
            <a:srgbClr val="E7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0" name="Picture 49" descr="grid-s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25035" y="3875227"/>
            <a:ext cx="204825" cy="204825"/>
          </a:xfrm>
          <a:prstGeom prst="rect">
            <a:avLst/>
          </a:prstGeom>
          <a:effectLst/>
        </p:spPr>
      </p:pic>
      <p:sp>
        <p:nvSpPr>
          <p:cNvPr id="51" name="TextBox 50"/>
          <p:cNvSpPr txBox="1"/>
          <p:nvPr/>
        </p:nvSpPr>
        <p:spPr>
          <a:xfrm>
            <a:off x="5020055" y="3685032"/>
            <a:ext cx="2761488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2252B"/>
                </a:solidFill>
                <a:latin typeface="Arial"/>
              </a:rPr>
              <a:t>Timetable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993227" y="3685032"/>
            <a:ext cx="3401568" cy="5852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8102955" y="3794760"/>
            <a:ext cx="365760" cy="365760"/>
          </a:xfrm>
          <a:prstGeom prst="ellipse">
            <a:avLst/>
          </a:prstGeom>
          <a:solidFill>
            <a:srgbClr val="E7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Picture 53" descr="percent-s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83422" y="3875227"/>
            <a:ext cx="204825" cy="204825"/>
          </a:xfrm>
          <a:prstGeom prst="rect">
            <a:avLst/>
          </a:prstGeom>
          <a:effectLst/>
        </p:spPr>
      </p:pic>
      <p:sp>
        <p:nvSpPr>
          <p:cNvPr id="55" name="TextBox 54"/>
          <p:cNvSpPr txBox="1"/>
          <p:nvPr/>
        </p:nvSpPr>
        <p:spPr>
          <a:xfrm>
            <a:off x="8578443" y="3685032"/>
            <a:ext cx="2761488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2252B"/>
                </a:solidFill>
                <a:latin typeface="Arial"/>
              </a:rPr>
              <a:t>Attendance logic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434840" y="4370832"/>
            <a:ext cx="3401568" cy="5852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4544568" y="4480560"/>
            <a:ext cx="365760" cy="365760"/>
          </a:xfrm>
          <a:prstGeom prst="ellipse">
            <a:avLst/>
          </a:prstGeom>
          <a:solidFill>
            <a:srgbClr val="E7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8" name="Picture 57" descr="trending-up-s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25035" y="4561027"/>
            <a:ext cx="204825" cy="204825"/>
          </a:xfrm>
          <a:prstGeom prst="rect">
            <a:avLst/>
          </a:prstGeom>
          <a:effectLst/>
        </p:spPr>
      </p:pic>
      <p:sp>
        <p:nvSpPr>
          <p:cNvPr id="59" name="TextBox 58"/>
          <p:cNvSpPr txBox="1"/>
          <p:nvPr/>
        </p:nvSpPr>
        <p:spPr>
          <a:xfrm>
            <a:off x="5020055" y="4370832"/>
            <a:ext cx="2761488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2252B"/>
                </a:solidFill>
                <a:latin typeface="Arial"/>
              </a:rPr>
              <a:t>CGPA logic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993227" y="4370832"/>
            <a:ext cx="3401568" cy="5852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8102955" y="4480560"/>
            <a:ext cx="365760" cy="365760"/>
          </a:xfrm>
          <a:prstGeom prst="ellipse">
            <a:avLst/>
          </a:prstGeom>
          <a:solidFill>
            <a:srgbClr val="E7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Picture 61" descr="award-s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83422" y="4561027"/>
            <a:ext cx="204825" cy="204825"/>
          </a:xfrm>
          <a:prstGeom prst="rect">
            <a:avLst/>
          </a:prstGeom>
          <a:effectLst/>
        </p:spPr>
      </p:pic>
      <p:sp>
        <p:nvSpPr>
          <p:cNvPr id="63" name="TextBox 62"/>
          <p:cNvSpPr txBox="1"/>
          <p:nvPr/>
        </p:nvSpPr>
        <p:spPr>
          <a:xfrm>
            <a:off x="8578443" y="4370832"/>
            <a:ext cx="2761488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2252B"/>
                </a:solidFill>
                <a:latin typeface="Arial"/>
              </a:rPr>
              <a:t>Achievements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434840" y="5056632"/>
            <a:ext cx="3401568" cy="5852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4544568" y="5166360"/>
            <a:ext cx="365760" cy="365760"/>
          </a:xfrm>
          <a:prstGeom prst="ellipse">
            <a:avLst/>
          </a:prstGeom>
          <a:solidFill>
            <a:srgbClr val="E7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6" name="Picture 65" descr="bell-s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625035" y="5246827"/>
            <a:ext cx="204825" cy="204825"/>
          </a:xfrm>
          <a:prstGeom prst="rect">
            <a:avLst/>
          </a:prstGeom>
          <a:effectLst/>
        </p:spPr>
      </p:pic>
      <p:sp>
        <p:nvSpPr>
          <p:cNvPr id="67" name="TextBox 66"/>
          <p:cNvSpPr txBox="1"/>
          <p:nvPr/>
        </p:nvSpPr>
        <p:spPr>
          <a:xfrm>
            <a:off x="5020055" y="5056632"/>
            <a:ext cx="2761488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2252B"/>
                </a:solidFill>
                <a:latin typeface="Arial"/>
              </a:rPr>
              <a:t>Notifications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993227" y="5056632"/>
            <a:ext cx="3401568" cy="5852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E5E8EB"/>
            </a:solidFill>
          </a:ln>
          <a:effectLst>
            <a:outerShdw blurRad="91440" dist="50292" dir="5400000" rotWithShape="0">
              <a:srgbClr val="22252B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8102955" y="5166360"/>
            <a:ext cx="365760" cy="365760"/>
          </a:xfrm>
          <a:prstGeom prst="ellipse">
            <a:avLst/>
          </a:prstGeom>
          <a:solidFill>
            <a:srgbClr val="E7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0" name="Picture 69" descr="eye-s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183422" y="5246827"/>
            <a:ext cx="204825" cy="204825"/>
          </a:xfrm>
          <a:prstGeom prst="rect">
            <a:avLst/>
          </a:prstGeom>
          <a:effectLst/>
        </p:spPr>
      </p:pic>
      <p:sp>
        <p:nvSpPr>
          <p:cNvPr id="71" name="TextBox 70"/>
          <p:cNvSpPr txBox="1"/>
          <p:nvPr/>
        </p:nvSpPr>
        <p:spPr>
          <a:xfrm>
            <a:off x="8578443" y="5056632"/>
            <a:ext cx="2761488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2252B"/>
                </a:solidFill>
                <a:latin typeface="Arial"/>
              </a:rPr>
              <a:t>Light / dark mode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exture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  <a:effectLst/>
        </p:spPr>
      </p:pic>
      <p:sp>
        <p:nvSpPr>
          <p:cNvPr id="3" name="Oval 2"/>
          <p:cNvSpPr/>
          <p:nvPr/>
        </p:nvSpPr>
        <p:spPr>
          <a:xfrm>
            <a:off x="11246831" y="68580"/>
            <a:ext cx="548640" cy="548640"/>
          </a:xfrm>
          <a:prstGeom prst="ellipse">
            <a:avLst/>
          </a:prstGeom>
          <a:solidFill>
            <a:srgbClr val="3D4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774407" y="857249"/>
            <a:ext cx="274320" cy="274320"/>
          </a:xfrm>
          <a:prstGeom prst="ellipse">
            <a:avLst/>
          </a:prstGeom>
          <a:solidFill>
            <a:srgbClr val="2E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804606" y="1117854"/>
            <a:ext cx="164592" cy="164592"/>
          </a:xfrm>
          <a:prstGeom prst="ellipse">
            <a:avLst/>
          </a:prstGeom>
          <a:solidFill>
            <a:srgbClr val="3A3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37974" y="313182"/>
            <a:ext cx="128016" cy="128016"/>
          </a:xfrm>
          <a:prstGeom prst="ellipse">
            <a:avLst/>
          </a:prstGeom>
          <a:solidFill>
            <a:srgbClr val="4C4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10882" y="5934456"/>
            <a:ext cx="475488" cy="475488"/>
          </a:xfrm>
          <a:prstGeom prst="ellipse">
            <a:avLst/>
          </a:prstGeom>
          <a:solidFill>
            <a:srgbClr val="2E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292316" y="5376672"/>
            <a:ext cx="219456" cy="219456"/>
          </a:xfrm>
          <a:prstGeom prst="ellipse">
            <a:avLst/>
          </a:prstGeom>
          <a:solidFill>
            <a:srgbClr val="3D4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70681" y="5070348"/>
            <a:ext cx="146304" cy="146304"/>
          </a:xfrm>
          <a:prstGeom prst="ellipse">
            <a:avLst/>
          </a:prstGeom>
          <a:solidFill>
            <a:srgbClr val="3A3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50568" y="116586"/>
            <a:ext cx="109728" cy="109728"/>
          </a:xfrm>
          <a:prstGeom prst="ellipse">
            <a:avLst/>
          </a:prstGeom>
          <a:solidFill>
            <a:srgbClr val="3A3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1636969" y="4946904"/>
            <a:ext cx="256032" cy="256032"/>
          </a:xfrm>
          <a:prstGeom prst="ellipse">
            <a:avLst/>
          </a:prstGeom>
          <a:solidFill>
            <a:srgbClr val="2E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575212" y="6535674"/>
            <a:ext cx="164592" cy="164592"/>
          </a:xfrm>
          <a:prstGeom prst="ellipse">
            <a:avLst/>
          </a:prstGeom>
          <a:solidFill>
            <a:srgbClr val="4C4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0080" y="534924"/>
            <a:ext cx="123444" cy="123444"/>
          </a:xfrm>
          <a:prstGeom prst="ellipse">
            <a:avLst/>
          </a:prstGeom>
          <a:solidFill>
            <a:srgbClr val="C9B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" y="5029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80">
                <a:solidFill>
                  <a:srgbClr val="C9B9AE"/>
                </a:solidFill>
                <a:latin typeface="Arial"/>
              </a:rPr>
              <a:t>THE PRODUCT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777240"/>
            <a:ext cx="1091153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3F1EC"/>
                </a:solidFill>
                <a:latin typeface="Arial"/>
              </a:rPr>
              <a:t>Synora in one 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1691640"/>
            <a:ext cx="6766560" cy="42291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91440" dist="50292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landing_deskt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91640"/>
            <a:ext cx="6766560" cy="4229100"/>
          </a:xfrm>
          <a:prstGeom prst="rect">
            <a:avLst/>
          </a:prstGeom>
          <a:effectLst/>
        </p:spPr>
      </p:pic>
      <p:sp>
        <p:nvSpPr>
          <p:cNvPr id="18" name="TextBox 17"/>
          <p:cNvSpPr txBox="1"/>
          <p:nvPr/>
        </p:nvSpPr>
        <p:spPr>
          <a:xfrm>
            <a:off x="640080" y="5943600"/>
            <a:ext cx="6766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1">
                <a:solidFill>
                  <a:srgbClr val="9AA2AC"/>
                </a:solidFill>
                <a:latin typeface="Arial"/>
              </a:rPr>
              <a:t>Landing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35240" y="1691640"/>
            <a:ext cx="1883664" cy="117728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91440" dist="50292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task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5240" y="1691640"/>
            <a:ext cx="1883664" cy="1177289"/>
          </a:xfrm>
          <a:prstGeom prst="rect">
            <a:avLst/>
          </a:prstGeom>
          <a:effectLst/>
        </p:spPr>
      </p:pic>
      <p:sp>
        <p:nvSpPr>
          <p:cNvPr id="21" name="TextBox 20"/>
          <p:cNvSpPr txBox="1"/>
          <p:nvPr/>
        </p:nvSpPr>
        <p:spPr>
          <a:xfrm>
            <a:off x="7635240" y="2914650"/>
            <a:ext cx="18836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9AA2AC"/>
                </a:solidFill>
                <a:latin typeface="Arial"/>
              </a:rPr>
              <a:t>Tasks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65208" y="1691640"/>
            <a:ext cx="1883664" cy="117728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91440" dist="50292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timetab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65208" y="1691640"/>
            <a:ext cx="1883664" cy="1177289"/>
          </a:xfrm>
          <a:prstGeom prst="rect">
            <a:avLst/>
          </a:prstGeom>
          <a:effectLst/>
        </p:spPr>
      </p:pic>
      <p:sp>
        <p:nvSpPr>
          <p:cNvPr id="24" name="TextBox 23"/>
          <p:cNvSpPr txBox="1"/>
          <p:nvPr/>
        </p:nvSpPr>
        <p:spPr>
          <a:xfrm>
            <a:off x="9665208" y="2914650"/>
            <a:ext cx="18836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9AA2AC"/>
                </a:solidFill>
                <a:latin typeface="Arial"/>
              </a:rPr>
              <a:t>Timetable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35240" y="3840480"/>
            <a:ext cx="1883664" cy="117728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91440" dist="50292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attendanc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5240" y="3840480"/>
            <a:ext cx="1883664" cy="1177289"/>
          </a:xfrm>
          <a:prstGeom prst="rect">
            <a:avLst/>
          </a:prstGeom>
          <a:effectLst/>
        </p:spPr>
      </p:pic>
      <p:sp>
        <p:nvSpPr>
          <p:cNvPr id="27" name="TextBox 26"/>
          <p:cNvSpPr txBox="1"/>
          <p:nvPr/>
        </p:nvSpPr>
        <p:spPr>
          <a:xfrm>
            <a:off x="7635240" y="5063490"/>
            <a:ext cx="18836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9AA2AC"/>
                </a:solidFill>
                <a:latin typeface="Arial"/>
              </a:rPr>
              <a:t>Attendance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65208" y="3840480"/>
            <a:ext cx="1883664" cy="117728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91440" dist="50292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cgp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65208" y="3840480"/>
            <a:ext cx="1883664" cy="1177289"/>
          </a:xfrm>
          <a:prstGeom prst="rect">
            <a:avLst/>
          </a:prstGeom>
          <a:effectLst/>
        </p:spPr>
      </p:pic>
      <p:sp>
        <p:nvSpPr>
          <p:cNvPr id="30" name="TextBox 29"/>
          <p:cNvSpPr txBox="1"/>
          <p:nvPr/>
        </p:nvSpPr>
        <p:spPr>
          <a:xfrm>
            <a:off x="9665208" y="5063490"/>
            <a:ext cx="18836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9AA2AC"/>
                </a:solidFill>
                <a:latin typeface="Arial"/>
              </a:rPr>
              <a:t>CGPA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exture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  <a:effectLst/>
        </p:spPr>
      </p:pic>
      <p:sp>
        <p:nvSpPr>
          <p:cNvPr id="3" name="Oval 2"/>
          <p:cNvSpPr/>
          <p:nvPr/>
        </p:nvSpPr>
        <p:spPr>
          <a:xfrm>
            <a:off x="11246831" y="68580"/>
            <a:ext cx="548640" cy="548640"/>
          </a:xfrm>
          <a:prstGeom prst="ellipse">
            <a:avLst/>
          </a:prstGeom>
          <a:solidFill>
            <a:srgbClr val="3D4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774407" y="857249"/>
            <a:ext cx="274320" cy="274320"/>
          </a:xfrm>
          <a:prstGeom prst="ellipse">
            <a:avLst/>
          </a:prstGeom>
          <a:solidFill>
            <a:srgbClr val="2E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804606" y="1117854"/>
            <a:ext cx="164592" cy="164592"/>
          </a:xfrm>
          <a:prstGeom prst="ellipse">
            <a:avLst/>
          </a:prstGeom>
          <a:solidFill>
            <a:srgbClr val="3A3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37974" y="313182"/>
            <a:ext cx="128016" cy="128016"/>
          </a:xfrm>
          <a:prstGeom prst="ellipse">
            <a:avLst/>
          </a:prstGeom>
          <a:solidFill>
            <a:srgbClr val="4C4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10882" y="5934456"/>
            <a:ext cx="475488" cy="475488"/>
          </a:xfrm>
          <a:prstGeom prst="ellipse">
            <a:avLst/>
          </a:prstGeom>
          <a:solidFill>
            <a:srgbClr val="2E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292316" y="5376672"/>
            <a:ext cx="219456" cy="219456"/>
          </a:xfrm>
          <a:prstGeom prst="ellipse">
            <a:avLst/>
          </a:prstGeom>
          <a:solidFill>
            <a:srgbClr val="3D4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70681" y="5070348"/>
            <a:ext cx="146304" cy="146304"/>
          </a:xfrm>
          <a:prstGeom prst="ellipse">
            <a:avLst/>
          </a:prstGeom>
          <a:solidFill>
            <a:srgbClr val="3A3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50568" y="116586"/>
            <a:ext cx="109728" cy="109728"/>
          </a:xfrm>
          <a:prstGeom prst="ellipse">
            <a:avLst/>
          </a:prstGeom>
          <a:solidFill>
            <a:srgbClr val="3A3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1636969" y="4946904"/>
            <a:ext cx="256032" cy="256032"/>
          </a:xfrm>
          <a:prstGeom prst="ellipse">
            <a:avLst/>
          </a:prstGeom>
          <a:solidFill>
            <a:srgbClr val="2E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575212" y="6535674"/>
            <a:ext cx="164592" cy="164592"/>
          </a:xfrm>
          <a:prstGeom prst="ellipse">
            <a:avLst/>
          </a:prstGeom>
          <a:solidFill>
            <a:srgbClr val="4C4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logo-mark-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1799" y="914400"/>
            <a:ext cx="768096" cy="706967"/>
          </a:xfrm>
          <a:prstGeom prst="rect">
            <a:avLst/>
          </a:prstGeom>
          <a:effectLst/>
        </p:spPr>
      </p:pic>
      <p:sp>
        <p:nvSpPr>
          <p:cNvPr id="14" name="TextBox 13"/>
          <p:cNvSpPr txBox="1"/>
          <p:nvPr/>
        </p:nvSpPr>
        <p:spPr>
          <a:xfrm>
            <a:off x="0" y="1965960"/>
            <a:ext cx="1219169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800" b="1">
                <a:solidFill>
                  <a:srgbClr val="F3F1EC"/>
                </a:solidFill>
                <a:latin typeface="Arial"/>
              </a:rPr>
              <a:t>Thank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0" y="3063240"/>
            <a:ext cx="121916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50" b="0" i="1">
                <a:solidFill>
                  <a:srgbClr val="9FB6A6"/>
                </a:solidFill>
                <a:latin typeface="Arial"/>
              </a:rPr>
              <a:t>Synora — one calm home for everything you're studying.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724247" y="3822191"/>
            <a:ext cx="2743200" cy="0"/>
          </a:xfrm>
          <a:prstGeom prst="line">
            <a:avLst/>
          </a:prstGeom>
          <a:ln w="15240">
            <a:solidFill>
              <a:srgbClr val="31363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0" y="4023360"/>
            <a:ext cx="121916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spc="200">
                <a:solidFill>
                  <a:srgbClr val="C9B9AE"/>
                </a:solidFill>
                <a:latin typeface="Arial"/>
              </a:rPr>
              <a:t>SUBMITTED BY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0" y="4334256"/>
            <a:ext cx="121916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1">
                <a:solidFill>
                  <a:srgbClr val="F3F1EC"/>
                </a:solidFill>
                <a:latin typeface="Arial"/>
              </a:rPr>
              <a:t>Manan Kochhar    ·    Arshpreet Kaur    ·    Atharv Bains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46623" y="5029200"/>
            <a:ext cx="1298448" cy="12984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1440" dist="50292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2927" y="5175504"/>
            <a:ext cx="1005839" cy="1005839"/>
          </a:xfrm>
          <a:prstGeom prst="rect">
            <a:avLst/>
          </a:prstGeom>
          <a:effectLst/>
        </p:spPr>
      </p:pic>
      <p:sp>
        <p:nvSpPr>
          <p:cNvPr id="21" name="TextBox 20"/>
          <p:cNvSpPr txBox="1"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3F1EC"/>
                </a:solidFill>
                <a:latin typeface="Arial"/>
              </a:rPr>
              <a:t>Scan for the live demo   </a:t>
            </a:r>
            <a:r>
              <a:rPr sz="1100" b="0">
                <a:solidFill>
                  <a:srgbClr val="9FB6A6"/>
                </a:solidFill>
                <a:latin typeface="Courier New"/>
              </a:rPr>
              <a:t>synora-v1.vercel.app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3548</Words>
  <Application>Microsoft Macintosh PowerPoint</Application>
  <PresentationFormat>Widescreen</PresentationFormat>
  <Paragraphs>455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Manan Kochhar</cp:lastModifiedBy>
  <cp:revision>2</cp:revision>
  <dcterms:created xsi:type="dcterms:W3CDTF">2013-01-27T09:14:16Z</dcterms:created>
  <dcterms:modified xsi:type="dcterms:W3CDTF">2026-08-23T09:42:41Z</dcterms:modified>
  <cp:category/>
</cp:coreProperties>
</file>